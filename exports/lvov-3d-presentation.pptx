
<file path=[Content_Types].xml><?xml version="1.0" encoding="utf-8"?>
<Types xmlns="http://schemas.openxmlformats.org/package/2006/content-types">
  <Default Extension="glb" ContentType="model/gltf.binary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я расскажу о Дмитрии Семёновиче Львове — советском и российском экономисте, академике Российской академии наук. Его знают прежде всего по одному громкому вопросу: кому в России должна принадлежать природная рента — доход от нефти, газа, леса и земли.
Самое интересное: по его расчётам в «Экономическом манифесте» 1999 года, около 75 процентов прироста доходов России давала именно рента от природных ресурсов. Вклад труда был в 15 раз меньше, а вклад капитала — примерно в 4 раза.
На каждом слайде будет «экспонат» — 3D-предмет, связанный с его жизнью или идеями. Первый — станок-качалка: символ той самой ренты.
План: где он родился, чем занимался, его главная мысль и что он дал теории предпринимательства.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Дмитрий Семёнович Львов родился 2 февраля 1930 года в Москве — и всю жизнь прожил и проработал в Москве. В 1954 году он окончил машиностроительный факультет Московского инженерно-экономического института имени Орджоникидзе — сегодня это Государственный университет управления.
Кандидатскую он защитил в 1961 году, докторскую — в 1969-м, то есть в 39 лет. В 1987 году его избрали членом-корреспондентом Академии наук СССР, а в 1994-м — действительным членом, академиком РАН. Умер он 6 июля 2007 года в Москве.
Экспонат — кремлёвская башня с рубиновой звездой: родом из Москвы.
Самое неожиданное: его научным руководителем был Евсей Либерман — автор идей Косыгинской реформы. В 1965 году Либерман попал на обложку американского журнала Time с заголовком о «коммунистическом флирте с прибылью».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Чем он занимался? Начинал Львов как инженер. Он окончил машиностроительный факультет, и его первая диссертация 1961 года — о технико-экономических основах механизации и автоматизации в мелкосерийном машиностроении. Проще говоря: как посчитать, окупится ли новый станок или автоматическая линия.
Докторская диссертация 1969 года — «Основы экономической оценки качества продукции»: как в деньгах измерить, что одна машина лучше другой. Отсюда его главная тема 1960–80-х годов — эффективность новой техники, капитальных вложений и научно-технического прогресса.
Экспонат — штангенциркуль, которым меряют шестерню: экономика качества буквально «в миллиметрах».
Самое интересное: экономику он начал не с лозунгов, а со станков — и этот инженерный взгляд потом помог ему увидеть технологические уклады.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Его путь — это путь советской академической экономики. 1954 год — диплом МИЭИ. В 1961–1965 годах он работает в этом же институте. С 1966 года — Институт экономики Академии наук СССР. С 1972 года и до конца жизни — Центральный экономико-математический институт, ЦЭМИ; с 1991 года он заместитель директора. В 1986 году вместе с учеником Сергеем Глазьевым вводит понятие «технологический уклад». 1994 — академик РАН. С 1996 по 2002 год — академик-секретарь Отделения экономики РАН и член Президиума академии.
Экспонат — знаменитая лента Мёбиуса с фасада ЦЭМИ.
Самое интересное: здание ЦЭМИ на Нахимовском проспекте москвичи называют «домом с ухом». На фасаде — мозаичная лента Мёбиуса, вписанная в квадрат размером около 12,7 метра — это одна миллионная диаметра Земли. «Памятником Уху» её назвал поэт Андрей Вознесенский.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Львова было четыре роли. Первая — учёный: с 1972 года в ЦЭМИ, с 1991-го — заместитель директора; его темы — теория научно-технического развития и эффективность факторов производства.
Вторая — руководитель науки: с 1996 по 2002 год он академик-секретарь Отделения экономики РАН, то есть фактически руководил всей академической экономической наукой страны, и входил в Президиум академии.
Третья — главный редактор двух журналов: «Экономическая наука современной России» и «Экономика Северо-Запада».
Четвёртая — учитель: он руководил Институтом новой экономики Государственного университета управления — того самого бывшего МИЭИ, где когда-то учился. Его самый известный ученик — академик Сергей Глазьев.
Экспонат — его книги, сверху — «Нравственная экономика».
Самое интересное: за жизнь он написал более 250 научных работ, 14 монографий и 2 вузовских учебника, а уже тяжело больным продолжал работать над учебником по институциональной теории.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большая научная идея Львова — технологические уклады. Экономика развивается не плавно, а ступенями. Каждая ступень — это связка технологий, которые тянут друг друга: например, нефть, двигатель внутреннего сгорания, автомобили и химия. Такой комплекс работает несколько десятилетий, потом выдыхается, и рост переходит к новой связке.
Обычно выделяют шесть укладов. Первый, примерно 1770–1830 годы, — текстиль и водяной двигатель. Второй — пар, уголь и железные дороги. Третий — электричество и сталь. Четвёртый — нефть, автомобили и химия. Пятый — микроэлектроника и компьютеры. Шестой, который начинается сейчас, — нано- и биотехнологии.
Экспонат — пирамида из шести ступеней, на вершине — «атом» нанотехнологий.
Самое интересное: сам термин «технологический уклад» придумали Львов и его ученик Сергей Глазьев в 1986 году, в статье в журнале «Экономика и математические методы». Это российский аналог длинных волн Кондратьева и инновационных волн, о которых писал Шумпетер.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главная мысль Львова. У любого дохода есть источник. Зарплата заработана трудом — и принадлежит работнику. Прибыль заработана вложениями и риском — и принадлежит предпринимателю. Но есть третий доход — рента. Это разница между рыночной ценой природного ресурса и затратами на его добычу вместе с нормальной прибылью. Её не создаёт ни работник, ни предприниматель: она возникает потому, что месторождение богатое и удобное.
Значит, считал Львов, рента должна принадлежать не тому, кто получил месторождение, а всему обществу — собственнику земли и недр.
Экспонат — нефтяная бочка: та самая «прибыль от природы».
И его знаменитая формулировка: рента — «это то, что не заработано ни трудом, ни капиталом, а дано России и россиянам от Бога».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для Львова это было так важно? Он посчитал, из чего складывается рост доходов России. Вывод в «Экономическом манифесте» 1999 года: на долю ренты приходится около 75 процентов прироста совокупного дохода. Вклад труда — в 15 раз меньше, то есть около пяти процентов. Вклад капитала — примерно в четыре раза меньше ренты, около двадцати процентов.
Иначе говоря, писал он, почти всё, чем прирастает Россия, — это рента от природных ресурсов. А раз так, то вопрос о том, кто её получает, — главный вопрос экономики страны.
Экспонат — трёхмерная круговая диаграмма: золотой сектор — рента.
Самое интересное: в интервью «Комсомольской правде» в 2007 году он оценивал, что правильное изъятие ренты могло бы дать «едва ли не второй бюджет страны — 50–60 миллиардов долларов в год».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Львов предлагал делать? Не национализацию и не передел собственности, а систему национального имущества и национального дивиденда.
Шаг первый: закрепить землю и недра как коллективное достояние общества. Шаг второй: компании получают месторождения в пользование на открытых конкурсах и работают по рыночным правилам — но платят обществу ренту. Шаг третий: рентные доходы собираются в общественные финансы и становятся чистым доходом всего общества. Шаг четвёртый: у каждого гражданина в этом доходе равная доля — «национальный дивиденд»; эти деньги идут на здоровье, образование, поддержку детей и семей.
Экспонат — открытый сейф с золотом: общий фонд.
Для сравнения: похожая схема реально работает на Аляске. С 1982 года каждый житель штата ежегодно получает дивиденд из Постоянного фонда, который наполняется нефтяными доходами.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Отсюда его налоговая идея. В России основная налоговая нагрузка лежит на зарплатах и на прибыли предприятий, то есть на тех, кто работает и создаёт. А природная рента в значительной части остаётся у владельцев месторождений.
Львов предлагал перевернуть эту схему: сделать ренту главным источником доходов бюджета, а налоги на труд и производство — снизить. В интервью 2007 года он говорил: рента «должна стать основным источником доходов бюджета, а не труд, за который в нашей стране и без того недоплачивают». Ещё он выступал против плоской шкалы налога и за более высокие налоги на сверхдоходы и роскошь.
Экспонат — русские счёты. Присмотритесь: на костяшках отложено число 75 — доля ренты.
И самая резкая его фраза об этом: «Это позор, когда 13 процентов берут и с олигарха, и с бедняка».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Львов дал теории предпринимательства? Его часто воспринимают как критика крупного бизнеса, но на самом деле его теория защищает предпринимателя.
Первое: он чётко разделил заработанный и незаработанный доход. Прибыль, полученная за счёт риска, вложений и организации дела, — законный доход предпринимателя. Рента от природных богатств — доход общества. Предприниматель — это создатель, а не получатель ренты.
Второе: если бюджет живёт за счёт ренты, налоги на труд и производство можно снизить. Тогда выгоднее создавать новое, чем просто перепродавать сырьё.
Третье: доходы сырьевого сектора, по его мысли, должны идти на здоровье и образование нации, поддержку молодёжи и развитие «народного предпринимательства».
Экспонат — росток из горшка с монетами: бизнес растёт, когда его не душат налоги.
Ключевая цитата из «Экономического манифеста»: «Частный собственник имеет непререкаемое право на доход, являющийся результатом его предпринимательской деятельности, вложения капитала за свой страх и риск».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Вторая часть вклада связана с инновациями. Теория технологических укладов объясняет, где появляются возможности для предпринимателей: когда один уклад выдыхается, а новый только зарождается, открывается окно — выигрывают те, кто первым осваивает ключевые технологии нового уклада.
Львов смотрел дальше сырья. Он писал, что «в завтрашнем дне на первый план будет выступать интеллектуальная рента» — доход от знаний, науки и инноваций. А про деньги Стабилизационного фонда говорил: вместо того чтобы держать их за границей, «отдайте эти деньги под 10–12 процентов годовых своему бизнесу».
Экспонат — микрочип: пятый и шестой уклады.
Так выстраивается линия идей: Кантильон — предприниматель несёт риск; Шумпетер — предприниматель-новатор и волны инноваций; Львов и Глазьев — смена технологических укладов, в которой предприниматель-новатор становится главным действующим лицом.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Львов не был кабинетным учёным. В начале 2000-х он стал одним из самых известных экономистов страны благодаря выступлениям на телевидении и в газетах. В апреле 2002 года он выступил с докладом о ренте на заседании Президиума Российской академии наук.
Его фразы запоминались. «Олигархи по отдельности милые люди, а вместе — стая волков!» — это из «Комсомольской правды». В январе 2007 года, за полгода до смерти, он дал интервью под заголовком «Справиться с бедностью можно за год, если взять налоги с Рублёвки». Там же он говорил, что даже при нынешней производительности труда зарплаты в России должны быть в два-три раза выше.
Экспонат — студийный микрофон.
Самое интересное: на вопрос, обращался ли он к Путину со своей идеей о ренте, Львов ответил: «Обращался. Разговор был хороший. Путина вопрос о ренте очень увлёк».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осталось после Львова? Во-первых, понятие «технологический уклад» вошло в экономический словарь; о «шестом укладе» говорят и сегодня.
Во-вторых, спор о ренте продолжается. С 2019 года в российской нефтянке действует налог на дополнительный доход — он берётся не с выручки, а со сверхдохода от месторождения. Это не реализация программы Львова, но сама логика — облагать именно сверхдоход — созвучна его идее.
В-третьих, школа: его ученик Сергей Глазьев стал академиком, а в Финансовом университете при Правительстве ежегодно проходит круглый стол «Творческое наследие академика Дмитрия Семёновича Львова».
Награды: орден Почёта в 1999 году, орден Дружбы в 2005-м, Булгаковская премия в 2003-м.
Экспонат — снова станок-качалка, с первого слайда.
Самое интересное: редкий случай для экономиста — кроме государственных наград у него были церковные ордена преподобного Сергия Радонежского и святого князя Даниила Московского, а одну из последних книг он назвал «Нравственная экономика».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итог. Кто он: советский и российский экономист, родился в 1930 году в Москве, инженер по образованию, академик РАН, 35 лет работал в ЦЭМИ и руководил Отделением экономики академии.
Главная мысль: природная рента — общенародное достояние. Её нужно изымать в пользу общества и сделать главным источником бюджета, а налоги на труд и производство снизить.
Вклад в предпринимательство: он отделил честную предпринимательскую прибыль от ренты, защищал право предпринимателя на доход «за свой страх и риск» и связал предпринимательство с инновациями и сменой технологических укладов.
Последний экспонат — серебряный рубль с годом его рождения, 1930. Это он всю презентацию катился по шкале вверху.
И главные его слова из «Экономического манифеста»: «Рента — стратегическое оружие России».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с источниками — вслух не читается.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Relationship Id="rIdM3d1" Type="http://schemas.microsoft.com/office/2017/06/relationships/model3d" Target="../media/model3d1.glb"/><Relationship Id="rIdM3d2" Type="http://schemas.microsoft.com/office/2017/06/relationships/model3d" Target="../media/model3d2.glb"/><Relationship Id="rIdM3d3" Type="http://schemas.microsoft.com/office/2017/06/relationships/model3d" Target="../media/model3d3.glb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2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2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Relationship Id="rIdM3d4" Type="http://schemas.microsoft.com/office/2017/06/relationships/model3d" Target="../media/model3d4.glb"/><Relationship Id="rIdM3d5" Type="http://schemas.microsoft.com/office/2017/06/relationships/model3d" Target="../media/model3d5.glb"/><Relationship Id="rIdM3d6" Type="http://schemas.microsoft.com/office/2017/06/relationships/model3d" Target="../media/model3d6.glb"/><Relationship Id="rIdM3d7" Type="http://schemas.microsoft.com/office/2017/06/relationships/model3d" Target="../media/model3d7.glb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3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Relationship Id="rIdM3d8" Type="http://schemas.microsoft.com/office/2017/06/relationships/model3d" Target="../media/model3d8.glb"/><Relationship Id="rIdM3d9" Type="http://schemas.microsoft.com/office/2017/06/relationships/model3d" Target="../media/model3d9.glb"/><Relationship Id="rIdM3d10" Type="http://schemas.microsoft.com/office/2017/06/relationships/model3d" Target="../media/model3d10.glb"/><Relationship Id="rIdM3d11" Type="http://schemas.microsoft.com/office/2017/06/relationships/model3d" Target="../media/model3d11.glb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4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4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Relationship Id="rIdM3d12" Type="http://schemas.microsoft.com/office/2017/06/relationships/model3d" Target="../media/model3d12.glb"/><Relationship Id="rIdM3d13" Type="http://schemas.microsoft.com/office/2017/06/relationships/model3d" Target="../media/model3d13.glb"/><Relationship Id="rIdM3d14" Type="http://schemas.microsoft.com/office/2017/06/relationships/model3d" Target="../media/model3d14.glb"/><Relationship Id="rIdM3d15" Type="http://schemas.microsoft.com/office/2017/06/relationships/model3d" Target="../media/model3d15.glb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5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5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Relationship Id="rIdM3d16" Type="http://schemas.microsoft.com/office/2017/06/relationships/model3d" Target="../media/model3d16.glb"/><Relationship Id="rIdM3d17" Type="http://schemas.microsoft.com/office/2017/06/relationships/model3d" Target="../media/model3d17.glb"/><Relationship Id="rIdM3d18" Type="http://schemas.microsoft.com/office/2017/06/relationships/model3d" Target="../media/model3d18.glb"/><Relationship Id="rIdM3d19" Type="http://schemas.microsoft.com/office/2017/06/relationships/model3d" Target="../media/model3d19.glb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6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Relationship Id="rIdM3d20" Type="http://schemas.microsoft.com/office/2017/06/relationships/model3d" Target="../media/model3d20.glb"/><Relationship Id="rIdM3d21" Type="http://schemas.microsoft.com/office/2017/06/relationships/model3d" Target="../media/model3d21.glb"/><Relationship Id="rIdM3d22" Type="http://schemas.microsoft.com/office/2017/06/relationships/model3d" Target="../media/model3d22.glb"/><Relationship Id="rIdM3d23" Type="http://schemas.microsoft.com/office/2017/06/relationships/model3d" Target="../media/model3d23.glb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7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7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Relationship Id="rIdM3d24" Type="http://schemas.microsoft.com/office/2017/06/relationships/model3d" Target="../media/model3d24.glb"/><Relationship Id="rIdM3d25" Type="http://schemas.microsoft.com/office/2017/06/relationships/model3d" Target="../media/model3d25.glb"/><Relationship Id="rIdM3d26" Type="http://schemas.microsoft.com/office/2017/06/relationships/model3d" Target="../media/model3d26.glb"/><Relationship Id="rIdM3d27" Type="http://schemas.microsoft.com/office/2017/06/relationships/model3d" Target="../media/model3d27.glb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8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8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Relationship Id="rIdM3d28" Type="http://schemas.microsoft.com/office/2017/06/relationships/model3d" Target="../media/model3d28.glb"/><Relationship Id="rIdM3d29" Type="http://schemas.microsoft.com/office/2017/06/relationships/model3d" Target="../media/model3d29.glb"/><Relationship Id="rIdM3d30" Type="http://schemas.microsoft.com/office/2017/06/relationships/model3d" Target="../media/model3d30.glb"/><Relationship Id="rIdM3d31" Type="http://schemas.microsoft.com/office/2017/06/relationships/model3d" Target="../media/model3d31.glb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9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9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Relationship Id="rIdM3d32" Type="http://schemas.microsoft.com/office/2017/06/relationships/model3d" Target="../media/model3d32.glb"/><Relationship Id="rIdM3d33" Type="http://schemas.microsoft.com/office/2017/06/relationships/model3d" Target="../media/model3d33.glb"/><Relationship Id="rIdM3d34" Type="http://schemas.microsoft.com/office/2017/06/relationships/model3d" Target="../media/model3d34.glb"/><Relationship Id="rIdM3d35" Type="http://schemas.microsoft.com/office/2017/06/relationships/model3d" Target="../media/model3d35.glb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0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0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Relationship Id="rIdM3d36" Type="http://schemas.microsoft.com/office/2017/06/relationships/model3d" Target="../media/model3d36.glb"/><Relationship Id="rIdM3d37" Type="http://schemas.microsoft.com/office/2017/06/relationships/model3d" Target="../media/model3d37.glb"/><Relationship Id="rIdM3d38" Type="http://schemas.microsoft.com/office/2017/06/relationships/model3d" Target="../media/model3d38.glb"/><Relationship Id="rIdM3d39" Type="http://schemas.microsoft.com/office/2017/06/relationships/model3d" Target="../media/model3d39.glb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1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Relationship Id="rIdM3d40" Type="http://schemas.microsoft.com/office/2017/06/relationships/model3d" Target="../media/model3d40.glb"/><Relationship Id="rIdM3d41" Type="http://schemas.microsoft.com/office/2017/06/relationships/model3d" Target="../media/model3d41.glb"/><Relationship Id="rIdM3d42" Type="http://schemas.microsoft.com/office/2017/06/relationships/model3d" Target="../media/model3d42.glb"/><Relationship Id="rIdM3d43" Type="http://schemas.microsoft.com/office/2017/06/relationships/model3d" Target="../media/model3d43.glb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2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2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Relationship Id="rIdM3d44" Type="http://schemas.microsoft.com/office/2017/06/relationships/model3d" Target="../media/model3d44.glb"/><Relationship Id="rIdM3d45" Type="http://schemas.microsoft.com/office/2017/06/relationships/model3d" Target="../media/model3d45.glb"/><Relationship Id="rIdM3d46" Type="http://schemas.microsoft.com/office/2017/06/relationships/model3d" Target="../media/model3d46.glb"/><Relationship Id="rIdM3d47" Type="http://schemas.microsoft.com/office/2017/06/relationships/model3d" Target="../media/model3d47.glb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3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3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Relationship Id="rIdM3d48" Type="http://schemas.microsoft.com/office/2017/06/relationships/model3d" Target="../media/model3d48.glb"/><Relationship Id="rIdM3d49" Type="http://schemas.microsoft.com/office/2017/06/relationships/model3d" Target="../media/model3d49.glb"/><Relationship Id="rIdM3d50" Type="http://schemas.microsoft.com/office/2017/06/relationships/model3d" Target="../media/model3d50.glb"/><Relationship Id="rIdM3d51" Type="http://schemas.microsoft.com/office/2017/06/relationships/model3d" Target="../media/model3d51.glb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4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4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Relationship Id="rIdM3d52" Type="http://schemas.microsoft.com/office/2017/06/relationships/model3d" Target="../media/model3d52.glb"/><Relationship Id="rIdM3d53" Type="http://schemas.microsoft.com/office/2017/06/relationships/model3d" Target="../media/model3d53.glb"/><Relationship Id="rIdM3d54" Type="http://schemas.microsoft.com/office/2017/06/relationships/model3d" Target="../media/model3d54.glb"/><Relationship Id="rIdM3d55" Type="http://schemas.microsoft.com/office/2017/06/relationships/model3d" Target="../media/model3d55.glb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5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5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Relationship Id="rIdM3d56" Type="http://schemas.microsoft.com/office/2017/06/relationships/model3d" Target="../media/model3d56.glb"/><Relationship Id="rIdM3d57" Type="http://schemas.microsoft.com/office/2017/06/relationships/model3d" Target="../media/model3d57.glb"/><Relationship Id="rIdM3d58" Type="http://schemas.microsoft.com/office/2017/06/relationships/model3d" Target="../media/model3d58.glb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6-2.png"/><Relationship Id="rId3" Type="http://schemas.openxmlformats.org/officeDocument/2006/relationships/image" Target="../media/image-1-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Relationship Id="rIdM3d59" Type="http://schemas.microsoft.com/office/2017/06/relationships/model3d" Target="../media/model3d59.glb"/><Relationship Id="rIdM3d60" Type="http://schemas.microsoft.com/office/2017/06/relationships/model3d" Target="../media/model3d60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lvov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!!coin">
                <a:extLst>
                  <a:ext uri="{FF2B5EF4-FFF2-40B4-BE49-F238E27FC236}">
                    <a16:creationId xmlns:a16="http://schemas.microsoft.com/office/drawing/2014/main" id="{9A1E02E9-F241-D40B-F581-53B1510117D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1480" y="98755"/>
              <a:ext cx="548640" cy="548640"/>
            </p:xfrm>
            <a:graphic>
              <a:graphicData uri="http://schemas.microsoft.com/office/drawing/2017/model3d">
                <am3d:model3d r:embed="rIdM3d1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!!coin">
                <a:extLst>
                  <a:ext uri="{FF2B5EF4-FFF2-40B4-BE49-F238E27FC236}">
                    <a16:creationId xmlns:a16="http://schemas.microsoft.com/office/drawing/2014/main" id="{9A1E02E9-F241-D40B-F581-53B1510117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11480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6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 ·  РЕНТА  ·  ПРЕДПРИНИМАТЕЛЬСТВО</a:t>
            </a:r>
            <a:endParaRPr lang="en-US" sz="1100" dirty="0"/>
          </a:p>
        </p:txBody>
      </p:sp>
      <p:sp>
        <p:nvSpPr>
          <p:cNvPr id="7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ЛЬВОВ  ·  1930 – 2007</a:t>
            </a:r>
            <a:endParaRPr lang="en-US" sz="900" dirty="0"/>
          </a:p>
        </p:txBody>
      </p:sp>
      <p:sp>
        <p:nvSpPr>
          <p:cNvPr id="9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16</a:t>
            </a:r>
            <a:endParaRPr lang="en-US" sz="900" dirty="0"/>
          </a:p>
        </p:txBody>
      </p:sp>
      <p:pic>
        <p:nvPicPr>
          <p:cNvPr id="10" name="!!glow" descr="/home/user/omgGame/presentations/lvov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-795528"/>
            <a:ext cx="9546336" cy="9546336"/>
          </a:xfrm>
          <a:prstGeom prst="rect">
            <a:avLst/>
          </a:prstGeom>
        </p:spPr>
      </p:pic>
      <p:sp>
        <p:nvSpPr>
          <p:cNvPr id="11" name="!!ring1"/>
          <p:cNvSpPr/>
          <p:nvPr/>
        </p:nvSpPr>
        <p:spPr>
          <a:xfrm>
            <a:off x="5592470" y="883310"/>
            <a:ext cx="6188659" cy="6188659"/>
          </a:xfrm>
          <a:prstGeom prst="ellipse">
            <a:avLst/>
          </a:prstGeom>
          <a:ln w="9525">
            <a:solidFill>
              <a:srgbClr val="E0B45E">
                <a:alpha val="18000"/>
              </a:srgbClr>
            </a:solidFill>
            <a:prstDash val="solid"/>
          </a:ln>
        </p:spPr>
      </p:sp>
      <p:sp>
        <p:nvSpPr>
          <p:cNvPr id="12" name="!!ring2"/>
          <p:cNvSpPr/>
          <p:nvPr/>
        </p:nvSpPr>
        <p:spPr>
          <a:xfrm>
            <a:off x="4736592" y="27432"/>
            <a:ext cx="7900416" cy="7900416"/>
          </a:xfrm>
          <a:prstGeom prst="ellipse">
            <a:avLst/>
          </a:prstGeom>
          <a:ln w="9525">
            <a:solidFill>
              <a:srgbClr val="E0B45E">
                <a:alpha val="12000"/>
              </a:srgbClr>
            </a:solidFill>
            <a:prstDash val="dash"/>
          </a:ln>
        </p:spPr>
      </p:sp>
      <p:pic>
        <p:nvPicPr>
          <p:cNvPr id="13" name="!!shadow" descr="/home/user/omgGame/presentations/lvov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5253228"/>
            <a:ext cx="5596128" cy="1399032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!!m-pumpjack">
                <a:extLst>
                  <a:ext uri="{FF2B5EF4-FFF2-40B4-BE49-F238E27FC236}">
                    <a16:creationId xmlns:a16="http://schemas.microsoft.com/office/drawing/2014/main" id="{DE64C61A-F96E-01D0-560A-F6A7D7C0958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94960" y="685800"/>
              <a:ext cx="6583680" cy="6583680"/>
            </p:xfrm>
            <a:graphic>
              <a:graphicData uri="http://schemas.microsoft.com/office/drawing/2017/model3d">
                <am3d:model3d r:embed="rIdM3d2">
                  <am3d:spPr>
                    <a:xfrm>
                      <a:off x="0" y="0"/>
                      <a:ext cx="6583680" cy="6583680"/>
                    </a:xfrm>
                    <a:prstGeom prst="rect">
                      <a:avLst/>
                    </a:prstGeom>
                  </am3d:spPr>
                  <am3d:camera>
                    <am3d:pos x="0" y="0" z="5669223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1523" d="1000000"/>
                    <am3d:preTrans dx="-2444444" dy="-11206642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92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6583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!!m-pumpjack">
                <a:extLst>
                  <a:ext uri="{FF2B5EF4-FFF2-40B4-BE49-F238E27FC236}">
                    <a16:creationId xmlns:a16="http://schemas.microsoft.com/office/drawing/2014/main" id="{DE64C61A-F96E-01D0-560A-F6A7D7C095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94960" y="685800"/>
                <a:ext cx="6583680" cy="658368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fx1_9_0"/>
          <p:cNvSpPr/>
          <p:nvPr/>
        </p:nvSpPr>
        <p:spPr>
          <a:xfrm>
            <a:off x="786384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01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Станок-качалка: природная рента России</a:t>
            </a:r>
            <a:endParaRPr lang="en-US" sz="900" dirty="0"/>
          </a:p>
        </p:txBody>
      </p:sp>
      <p:sp>
        <p:nvSpPr>
          <p:cNvPr id="16" name="!!title"/>
          <p:cNvSpPr/>
          <p:nvPr/>
        </p:nvSpPr>
        <p:spPr>
          <a:xfrm>
            <a:off x="685800" y="114300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1DD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Дмитрий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Львов</a:t>
            </a:r>
            <a:endParaRPr lang="en-US" sz="5200" dirty="0"/>
          </a:p>
        </p:txBody>
      </p:sp>
      <p:sp>
        <p:nvSpPr>
          <p:cNvPr id="17" name="fx1_1_1"/>
          <p:cNvSpPr/>
          <p:nvPr/>
        </p:nvSpPr>
        <p:spPr>
          <a:xfrm>
            <a:off x="685800" y="3584448"/>
            <a:ext cx="1005840" cy="36576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18" name="fx1_1_2"/>
          <p:cNvSpPr/>
          <p:nvPr/>
        </p:nvSpPr>
        <p:spPr>
          <a:xfrm>
            <a:off x="685800" y="37490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Академик, который спросил: кому в России принадлежит природная рента?</a:t>
            </a:r>
            <a:endParaRPr lang="en-US" sz="1800" dirty="0"/>
          </a:p>
        </p:txBody>
      </p:sp>
      <p:sp>
        <p:nvSpPr>
          <p:cNvPr id="19" name="fx1_2_3"/>
          <p:cNvSpPr/>
          <p:nvPr/>
        </p:nvSpPr>
        <p:spPr>
          <a:xfrm>
            <a:off x="685800" y="47731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5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1930 — 2007   ·   МОСКВА   ·   ЦЭМИ   ·   РАН</a:t>
            </a:r>
            <a:endParaRPr lang="en-US" sz="1200" dirty="0"/>
          </a:p>
        </p:txBody>
      </p:sp>
      <p:sp>
        <p:nvSpPr>
          <p:cNvPr id="20" name="fx1_8_4"/>
          <p:cNvSpPr/>
          <p:nvPr/>
        </p:nvSpPr>
        <p:spPr>
          <a:xfrm>
            <a:off x="685800" y="5349240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1E1A0C">
              <a:alpha val="92000"/>
            </a:srgbClr>
          </a:solidFill>
          <a:ln w="12700">
            <a:solidFill>
              <a:srgbClr val="E0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1" name="fx1_8_5"/>
          <p:cNvSpPr/>
          <p:nvPr/>
        </p:nvSpPr>
        <p:spPr>
          <a:xfrm>
            <a:off x="685800" y="5495544"/>
            <a:ext cx="50292" cy="548640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22" name="fx1_8_6"/>
          <p:cNvSpPr/>
          <p:nvPr/>
        </p:nvSpPr>
        <p:spPr>
          <a:xfrm>
            <a:off x="941832" y="521208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0B45E"/>
          </a:solidFill>
          <a:ln/>
        </p:spPr>
      </p:sp>
      <p:sp>
        <p:nvSpPr>
          <p:cNvPr id="23" name="fx1_8_7"/>
          <p:cNvSpPr/>
          <p:nvPr/>
        </p:nvSpPr>
        <p:spPr>
          <a:xfrm>
            <a:off x="941832" y="5212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61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24" name="fx1_8_8"/>
          <p:cNvSpPr/>
          <p:nvPr/>
        </p:nvSpPr>
        <p:spPr>
          <a:xfrm>
            <a:off x="960120" y="55321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 его расчётам,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≈75% прироста доходов России давала рента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вклад труда был в 15 раз меньше, капитала — в 4 раза.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5" name="!!m-tower">
                <a:extLst>
                  <a:ext uri="{FF2B5EF4-FFF2-40B4-BE49-F238E27FC236}">
                    <a16:creationId xmlns:a16="http://schemas.microsoft.com/office/drawing/2014/main" id="{BD4BD985-EE3D-80A7-1938-95B73D2795F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005840"/>
              <a:ext cx="4206240" cy="4206240"/>
            </p:xfrm>
            <a:graphic>
              <a:graphicData uri="http://schemas.microsoft.com/office/drawing/2017/model3d">
                <am3d:model3d r:embed="rIdM3d3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4940777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87790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" ay="312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5" name="!!m-tower">
                <a:extLst>
                  <a:ext uri="{FF2B5EF4-FFF2-40B4-BE49-F238E27FC236}">
                    <a16:creationId xmlns:a16="http://schemas.microsoft.com/office/drawing/2014/main" id="{BD4BD985-EE3D-80A7-1938-95B73D2795F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40335" y="1005840"/>
                <a:ext cx="4206240" cy="420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2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lvov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721340" cy="21946"/>
          </a:xfrm>
          <a:prstGeom prst="rect">
            <a:avLst/>
          </a:prstGeom>
          <a:solidFill>
            <a:srgbClr val="E0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5BA6A588-A434-5FF5-30AE-B471887C719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32820" y="98755"/>
              <a:ext cx="548640" cy="548640"/>
            </p:xfrm>
            <a:graphic>
              <a:graphicData uri="http://schemas.microsoft.com/office/drawing/2017/model3d">
                <am3d:model3d r:embed="rIdM3d4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876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5BA6A588-A434-5FF5-30AE-B471887C719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32820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ГДЕ РОДИЛСЯ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ЛЬВОВ  ·  1930 – 2007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16</a:t>
            </a:r>
            <a:endParaRPr lang="en-US" sz="900" dirty="0"/>
          </a:p>
        </p:txBody>
      </p:sp>
      <p:pic>
        <p:nvPicPr>
          <p:cNvPr id="11" name="!!glow" descr="/home/user/omgGame/presentations/lvov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76" y="-306324"/>
            <a:ext cx="6099048" cy="609904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852867" y="766267"/>
            <a:ext cx="3953866" cy="3953866"/>
          </a:xfrm>
          <a:prstGeom prst="ellipse">
            <a:avLst/>
          </a:prstGeom>
          <a:ln w="9525">
            <a:solidFill>
              <a:srgbClr val="E0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306056" y="219456"/>
            <a:ext cx="5047488" cy="5047488"/>
          </a:xfrm>
          <a:prstGeom prst="ellipse">
            <a:avLst/>
          </a:prstGeom>
          <a:ln w="9525">
            <a:solidFill>
              <a:srgbClr val="E0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lvov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490" y="4288993"/>
            <a:ext cx="1766621" cy="441655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tower">
                <a:extLst>
                  <a:ext uri="{FF2B5EF4-FFF2-40B4-BE49-F238E27FC236}">
                    <a16:creationId xmlns:a16="http://schemas.microsoft.com/office/drawing/2014/main" id="{139EBA44-B61C-1BB0-DCFD-843C7AF8825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26680" y="640080"/>
              <a:ext cx="4206240" cy="4206240"/>
            </p:xfrm>
            <a:graphic>
              <a:graphicData uri="http://schemas.microsoft.com/office/drawing/2017/model3d">
                <am3d:model3d r:embed="rIdM3d5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4940777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87790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" ay="-16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tower">
                <a:extLst>
                  <a:ext uri="{FF2B5EF4-FFF2-40B4-BE49-F238E27FC236}">
                    <a16:creationId xmlns:a16="http://schemas.microsoft.com/office/drawing/2014/main" id="{139EBA44-B61C-1BB0-DCFD-843C7AF8825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26680" y="640080"/>
                <a:ext cx="4206240" cy="42062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2_9_0"/>
          <p:cNvSpPr/>
          <p:nvPr/>
        </p:nvSpPr>
        <p:spPr>
          <a:xfrm>
            <a:off x="8001000" y="4956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02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Кремлёвская башня: родился в Москве в 1930 году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Москвич, инженер, академик</a:t>
            </a:r>
            <a:endParaRPr lang="en-US" sz="3300" dirty="0"/>
          </a:p>
        </p:txBody>
      </p:sp>
      <p:sp>
        <p:nvSpPr>
          <p:cNvPr id="18" name="fx2_1_1"/>
          <p:cNvSpPr/>
          <p:nvPr/>
        </p:nvSpPr>
        <p:spPr>
          <a:xfrm>
            <a:off x="685800" y="187452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0F201B">
              <a:alpha val="78000"/>
            </a:srgbClr>
          </a:solidFill>
          <a:ln w="9525">
            <a:solidFill>
              <a:srgbClr val="E0B45E">
                <a:alpha val="28000"/>
              </a:srgbClr>
            </a:solidFill>
            <a:prstDash val="solid"/>
          </a:ln>
        </p:spPr>
      </p:sp>
      <p:sp>
        <p:nvSpPr>
          <p:cNvPr id="19" name="fx2_1_2"/>
          <p:cNvSpPr/>
          <p:nvPr/>
        </p:nvSpPr>
        <p:spPr>
          <a:xfrm>
            <a:off x="685800" y="2039112"/>
            <a:ext cx="41148" cy="585216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20" name="fx2_1_3"/>
          <p:cNvSpPr/>
          <p:nvPr/>
        </p:nvSpPr>
        <p:spPr>
          <a:xfrm>
            <a:off x="914400" y="19933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РОДИЛСЯ</a:t>
            </a:r>
            <a:endParaRPr lang="en-US" sz="950" dirty="0"/>
          </a:p>
        </p:txBody>
      </p:sp>
      <p:sp>
        <p:nvSpPr>
          <p:cNvPr id="21" name="fx2_1_4"/>
          <p:cNvSpPr/>
          <p:nvPr/>
        </p:nvSpPr>
        <p:spPr>
          <a:xfrm>
            <a:off x="914400" y="22037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февраля 1930</a:t>
            </a:r>
            <a:endParaRPr lang="en-US" sz="1600" dirty="0"/>
          </a:p>
        </p:txBody>
      </p:sp>
      <p:sp>
        <p:nvSpPr>
          <p:cNvPr id="22" name="fx2_1_5"/>
          <p:cNvSpPr/>
          <p:nvPr/>
        </p:nvSpPr>
        <p:spPr>
          <a:xfrm>
            <a:off x="914400" y="250545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Москва, СССР</a:t>
            </a:r>
            <a:endParaRPr lang="en-US" sz="1050" dirty="0"/>
          </a:p>
        </p:txBody>
      </p:sp>
      <p:sp>
        <p:nvSpPr>
          <p:cNvPr id="23" name="fx2_1_6"/>
          <p:cNvSpPr/>
          <p:nvPr/>
        </p:nvSpPr>
        <p:spPr>
          <a:xfrm>
            <a:off x="3794760" y="187452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0F201B">
              <a:alpha val="78000"/>
            </a:srgbClr>
          </a:solidFill>
          <a:ln w="9525">
            <a:solidFill>
              <a:srgbClr val="E0B45E">
                <a:alpha val="28000"/>
              </a:srgbClr>
            </a:solidFill>
            <a:prstDash val="solid"/>
          </a:ln>
        </p:spPr>
      </p:sp>
      <p:sp>
        <p:nvSpPr>
          <p:cNvPr id="24" name="fx2_1_7"/>
          <p:cNvSpPr/>
          <p:nvPr/>
        </p:nvSpPr>
        <p:spPr>
          <a:xfrm>
            <a:off x="3794760" y="2039112"/>
            <a:ext cx="41148" cy="585216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25" name="fx2_1_8"/>
          <p:cNvSpPr/>
          <p:nvPr/>
        </p:nvSpPr>
        <p:spPr>
          <a:xfrm>
            <a:off x="4023360" y="19933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ОБРАЗОВАНИЕ</a:t>
            </a:r>
            <a:endParaRPr lang="en-US" sz="950" dirty="0"/>
          </a:p>
        </p:txBody>
      </p:sp>
      <p:sp>
        <p:nvSpPr>
          <p:cNvPr id="26" name="fx2_1_9"/>
          <p:cNvSpPr/>
          <p:nvPr/>
        </p:nvSpPr>
        <p:spPr>
          <a:xfrm>
            <a:off x="4023360" y="22037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МИЭИ, 1954</a:t>
            </a:r>
            <a:endParaRPr lang="en-US" sz="1600" dirty="0"/>
          </a:p>
        </p:txBody>
      </p:sp>
      <p:sp>
        <p:nvSpPr>
          <p:cNvPr id="27" name="fx2_1_10"/>
          <p:cNvSpPr/>
          <p:nvPr/>
        </p:nvSpPr>
        <p:spPr>
          <a:xfrm>
            <a:off x="4023360" y="250545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машиностроительный факультет</a:t>
            </a:r>
            <a:endParaRPr lang="en-US" sz="1050" dirty="0"/>
          </a:p>
        </p:txBody>
      </p:sp>
      <p:sp>
        <p:nvSpPr>
          <p:cNvPr id="28" name="fx2_2_11"/>
          <p:cNvSpPr/>
          <p:nvPr/>
        </p:nvSpPr>
        <p:spPr>
          <a:xfrm>
            <a:off x="685800" y="2907792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0F201B">
              <a:alpha val="78000"/>
            </a:srgbClr>
          </a:solidFill>
          <a:ln w="9525">
            <a:solidFill>
              <a:srgbClr val="E0B45E">
                <a:alpha val="28000"/>
              </a:srgbClr>
            </a:solidFill>
            <a:prstDash val="solid"/>
          </a:ln>
        </p:spPr>
      </p:sp>
      <p:sp>
        <p:nvSpPr>
          <p:cNvPr id="29" name="fx2_2_12"/>
          <p:cNvSpPr/>
          <p:nvPr/>
        </p:nvSpPr>
        <p:spPr>
          <a:xfrm>
            <a:off x="685800" y="3072384"/>
            <a:ext cx="41148" cy="585216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30" name="fx2_2_13"/>
          <p:cNvSpPr/>
          <p:nvPr/>
        </p:nvSpPr>
        <p:spPr>
          <a:xfrm>
            <a:off x="914400" y="30266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УЧИТЕЛЬ</a:t>
            </a:r>
            <a:endParaRPr lang="en-US" sz="950" dirty="0"/>
          </a:p>
        </p:txBody>
      </p:sp>
      <p:sp>
        <p:nvSpPr>
          <p:cNvPr id="31" name="fx2_2_14"/>
          <p:cNvSpPr/>
          <p:nvPr/>
        </p:nvSpPr>
        <p:spPr>
          <a:xfrm>
            <a:off x="914400" y="32369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Евсей Либерман</a:t>
            </a:r>
            <a:endParaRPr lang="en-US" sz="1600" dirty="0"/>
          </a:p>
        </p:txBody>
      </p:sp>
      <p:sp>
        <p:nvSpPr>
          <p:cNvPr id="32" name="fx2_2_15"/>
          <p:cNvSpPr/>
          <p:nvPr/>
        </p:nvSpPr>
        <p:spPr>
          <a:xfrm>
            <a:off x="914400" y="35387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 идей Косыгинской реформы</a:t>
            </a:r>
            <a:endParaRPr lang="en-US" sz="1050" dirty="0"/>
          </a:p>
        </p:txBody>
      </p:sp>
      <p:sp>
        <p:nvSpPr>
          <p:cNvPr id="33" name="fx2_2_16"/>
          <p:cNvSpPr/>
          <p:nvPr/>
        </p:nvSpPr>
        <p:spPr>
          <a:xfrm>
            <a:off x="3794760" y="2907792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0F201B">
              <a:alpha val="78000"/>
            </a:srgbClr>
          </a:solidFill>
          <a:ln w="9525">
            <a:solidFill>
              <a:srgbClr val="E0B45E">
                <a:alpha val="28000"/>
              </a:srgbClr>
            </a:solidFill>
            <a:prstDash val="solid"/>
          </a:ln>
        </p:spPr>
      </p:sp>
      <p:sp>
        <p:nvSpPr>
          <p:cNvPr id="34" name="fx2_2_17"/>
          <p:cNvSpPr/>
          <p:nvPr/>
        </p:nvSpPr>
        <p:spPr>
          <a:xfrm>
            <a:off x="3794760" y="3072384"/>
            <a:ext cx="41148" cy="585216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35" name="fx2_2_18"/>
          <p:cNvSpPr/>
          <p:nvPr/>
        </p:nvSpPr>
        <p:spPr>
          <a:xfrm>
            <a:off x="4023360" y="30266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СТЕПЕНИ</a:t>
            </a:r>
            <a:endParaRPr lang="en-US" sz="950" dirty="0"/>
          </a:p>
        </p:txBody>
      </p:sp>
      <p:sp>
        <p:nvSpPr>
          <p:cNvPr id="36" name="fx2_2_19"/>
          <p:cNvSpPr/>
          <p:nvPr/>
        </p:nvSpPr>
        <p:spPr>
          <a:xfrm>
            <a:off x="4023360" y="32369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к.э.н. 1961 · д.э.н. 1969</a:t>
            </a:r>
            <a:endParaRPr lang="en-US" sz="1600" dirty="0"/>
          </a:p>
        </p:txBody>
      </p:sp>
      <p:sp>
        <p:nvSpPr>
          <p:cNvPr id="37" name="fx2_2_20"/>
          <p:cNvSpPr/>
          <p:nvPr/>
        </p:nvSpPr>
        <p:spPr>
          <a:xfrm>
            <a:off x="4023360" y="35387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доктор наук в 39 лет</a:t>
            </a:r>
            <a:endParaRPr lang="en-US" sz="1050" dirty="0"/>
          </a:p>
        </p:txBody>
      </p:sp>
      <p:sp>
        <p:nvSpPr>
          <p:cNvPr id="38" name="fx2_3_21"/>
          <p:cNvSpPr/>
          <p:nvPr/>
        </p:nvSpPr>
        <p:spPr>
          <a:xfrm>
            <a:off x="685800" y="3941064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0F201B">
              <a:alpha val="78000"/>
            </a:srgbClr>
          </a:solidFill>
          <a:ln w="9525">
            <a:solidFill>
              <a:srgbClr val="E0B45E">
                <a:alpha val="28000"/>
              </a:srgbClr>
            </a:solidFill>
            <a:prstDash val="solid"/>
          </a:ln>
        </p:spPr>
      </p:sp>
      <p:sp>
        <p:nvSpPr>
          <p:cNvPr id="39" name="fx2_3_22"/>
          <p:cNvSpPr/>
          <p:nvPr/>
        </p:nvSpPr>
        <p:spPr>
          <a:xfrm>
            <a:off x="685800" y="4105656"/>
            <a:ext cx="41148" cy="585216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40" name="fx2_3_23"/>
          <p:cNvSpPr/>
          <p:nvPr/>
        </p:nvSpPr>
        <p:spPr>
          <a:xfrm>
            <a:off x="914400" y="405993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АКАДЕМИЯ</a:t>
            </a:r>
            <a:endParaRPr lang="en-US" sz="950" dirty="0"/>
          </a:p>
        </p:txBody>
      </p:sp>
      <p:sp>
        <p:nvSpPr>
          <p:cNvPr id="41" name="fx2_3_24"/>
          <p:cNvSpPr/>
          <p:nvPr/>
        </p:nvSpPr>
        <p:spPr>
          <a:xfrm>
            <a:off x="914400" y="42702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Академик РАН, 1994</a:t>
            </a:r>
            <a:endParaRPr lang="en-US" sz="1600" dirty="0"/>
          </a:p>
        </p:txBody>
      </p:sp>
      <p:sp>
        <p:nvSpPr>
          <p:cNvPr id="42" name="fx2_3_25"/>
          <p:cNvSpPr/>
          <p:nvPr/>
        </p:nvSpPr>
        <p:spPr>
          <a:xfrm>
            <a:off x="914400" y="45720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член-корреспондент АН СССР — 1987</a:t>
            </a:r>
            <a:endParaRPr lang="en-US" sz="1050" dirty="0"/>
          </a:p>
        </p:txBody>
      </p:sp>
      <p:sp>
        <p:nvSpPr>
          <p:cNvPr id="43" name="fx2_3_26"/>
          <p:cNvSpPr/>
          <p:nvPr/>
        </p:nvSpPr>
        <p:spPr>
          <a:xfrm>
            <a:off x="3794760" y="3941064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0F201B">
              <a:alpha val="78000"/>
            </a:srgbClr>
          </a:solidFill>
          <a:ln w="9525">
            <a:solidFill>
              <a:srgbClr val="E0B45E">
                <a:alpha val="28000"/>
              </a:srgbClr>
            </a:solidFill>
            <a:prstDash val="solid"/>
          </a:ln>
        </p:spPr>
      </p:sp>
      <p:sp>
        <p:nvSpPr>
          <p:cNvPr id="44" name="fx2_3_27"/>
          <p:cNvSpPr/>
          <p:nvPr/>
        </p:nvSpPr>
        <p:spPr>
          <a:xfrm>
            <a:off x="3794760" y="4105656"/>
            <a:ext cx="41148" cy="585216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45" name="fx2_3_28"/>
          <p:cNvSpPr/>
          <p:nvPr/>
        </p:nvSpPr>
        <p:spPr>
          <a:xfrm>
            <a:off x="4023360" y="405993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УМЕР</a:t>
            </a:r>
            <a:endParaRPr lang="en-US" sz="950" dirty="0"/>
          </a:p>
        </p:txBody>
      </p:sp>
      <p:sp>
        <p:nvSpPr>
          <p:cNvPr id="46" name="fx2_3_29"/>
          <p:cNvSpPr/>
          <p:nvPr/>
        </p:nvSpPr>
        <p:spPr>
          <a:xfrm>
            <a:off x="4023360" y="42702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июля 2007</a:t>
            </a:r>
            <a:endParaRPr lang="en-US" sz="1600" dirty="0"/>
          </a:p>
        </p:txBody>
      </p:sp>
      <p:sp>
        <p:nvSpPr>
          <p:cNvPr id="47" name="fx2_3_30"/>
          <p:cNvSpPr/>
          <p:nvPr/>
        </p:nvSpPr>
        <p:spPr>
          <a:xfrm>
            <a:off x="4023360" y="45720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</a:t>
            </a:r>
            <a:endParaRPr lang="en-US" sz="1050" dirty="0"/>
          </a:p>
        </p:txBody>
      </p:sp>
      <p:sp>
        <p:nvSpPr>
          <p:cNvPr id="48" name="fx2_8_31"/>
          <p:cNvSpPr/>
          <p:nvPr/>
        </p:nvSpPr>
        <p:spPr>
          <a:xfrm>
            <a:off x="685800" y="5166360"/>
            <a:ext cx="6080760" cy="1005840"/>
          </a:xfrm>
          <a:prstGeom prst="roundRect">
            <a:avLst>
              <a:gd name="adj" fmla="val 7273"/>
            </a:avLst>
          </a:prstGeom>
          <a:solidFill>
            <a:srgbClr val="1E1A0C">
              <a:alpha val="92000"/>
            </a:srgbClr>
          </a:solidFill>
          <a:ln w="12700">
            <a:solidFill>
              <a:srgbClr val="E0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9" name="fx2_8_32"/>
          <p:cNvSpPr/>
          <p:nvPr/>
        </p:nvSpPr>
        <p:spPr>
          <a:xfrm>
            <a:off x="685800" y="5312664"/>
            <a:ext cx="50292" cy="713232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50" name="fx2_8_33"/>
          <p:cNvSpPr/>
          <p:nvPr/>
        </p:nvSpPr>
        <p:spPr>
          <a:xfrm>
            <a:off x="941832" y="50292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E0B45E"/>
          </a:solidFill>
          <a:ln/>
        </p:spPr>
      </p:sp>
      <p:sp>
        <p:nvSpPr>
          <p:cNvPr id="51" name="fx2_8_34"/>
          <p:cNvSpPr/>
          <p:nvPr/>
        </p:nvSpPr>
        <p:spPr>
          <a:xfrm>
            <a:off x="941832" y="5029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61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НЕОЖИДАННО</a:t>
            </a:r>
            <a:endParaRPr lang="en-US" sz="850" dirty="0"/>
          </a:p>
        </p:txBody>
      </p:sp>
      <p:sp>
        <p:nvSpPr>
          <p:cNvPr id="52" name="fx2_8_35"/>
          <p:cNvSpPr/>
          <p:nvPr/>
        </p:nvSpPr>
        <p:spPr>
          <a:xfrm>
            <a:off x="960120" y="5349240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Его научный руководитель Евсей Либерман в 1965 году </a:t>
            </a:r>
            <a:pPr algn="l" indent="0" marL="0">
              <a:lnSpc>
                <a:spcPct val="105000"/>
              </a:lnSpc>
              <a:buNone/>
            </a:pPr>
            <a:r>
              <a:rPr lang="en-US" sz="1300" b="1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попал на обложку журнала Time</a:t>
            </a:r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«Коммунистический флирт с прибылью».</a:t>
            </a:r>
            <a:endParaRPr lang="en-US" sz="13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3" name="!!m-pumpjack">
                <a:extLst>
                  <a:ext uri="{FF2B5EF4-FFF2-40B4-BE49-F238E27FC236}">
                    <a16:creationId xmlns:a16="http://schemas.microsoft.com/office/drawing/2014/main" id="{CE8767F8-4EBF-E213-8A57-904444F2F90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7132320" y="1051560"/>
              <a:ext cx="6583680" cy="6583680"/>
            </p:xfrm>
            <a:graphic>
              <a:graphicData uri="http://schemas.microsoft.com/office/drawing/2017/model3d">
                <am3d:model3d r:embed="rIdM3d6">
                  <am3d:spPr>
                    <a:xfrm>
                      <a:off x="0" y="0"/>
                      <a:ext cx="6583680" cy="6583680"/>
                    </a:xfrm>
                    <a:prstGeom prst="rect">
                      <a:avLst/>
                    </a:prstGeom>
                  </am3d:spPr>
                  <am3d:camera>
                    <am3d:pos x="0" y="0" z="5669223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1523" d="1000000"/>
                    <am3d:preTrans dx="-2444444" dy="-11206642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672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6583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3" name="!!m-pumpjack">
                <a:extLst>
                  <a:ext uri="{FF2B5EF4-FFF2-40B4-BE49-F238E27FC236}">
                    <a16:creationId xmlns:a16="http://schemas.microsoft.com/office/drawing/2014/main" id="{CE8767F8-4EBF-E213-8A57-904444F2F90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7132320" y="1051560"/>
                <a:ext cx="6583680" cy="65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4" name="!!m-caliper">
                <a:extLst>
                  <a:ext uri="{FF2B5EF4-FFF2-40B4-BE49-F238E27FC236}">
                    <a16:creationId xmlns:a16="http://schemas.microsoft.com/office/drawing/2014/main" id="{E7CDB918-F320-98C2-4C52-D4E569AE85B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25880"/>
              <a:ext cx="4663440" cy="4663440"/>
            </p:xfrm>
            <a:graphic>
              <a:graphicData uri="http://schemas.microsoft.com/office/drawing/2017/model3d">
                <am3d:model3d r:embed="rIdM3d7">
                  <am3d:spPr>
                    <a:xfrm>
                      <a:off x="0" y="0"/>
                      <a:ext cx="4663440" cy="4663440"/>
                    </a:xfrm>
                    <a:prstGeom prst="rect">
                      <a:avLst/>
                    </a:prstGeom>
                  </am3d:spPr>
                  <am3d:camera>
                    <am3d:pos x="0" y="0" z="5515159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81546" d="1000000"/>
                    <am3d:preTrans dx="1438451" dy="-2535449" dz="1046783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36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6634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4" name="!!m-caliper">
                <a:extLst>
                  <a:ext uri="{FF2B5EF4-FFF2-40B4-BE49-F238E27FC236}">
                    <a16:creationId xmlns:a16="http://schemas.microsoft.com/office/drawing/2014/main" id="{E7CDB918-F320-98C2-4C52-D4E569AE85B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325880"/>
                <a:ext cx="4663440" cy="466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3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lvov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1442679" cy="21946"/>
          </a:xfrm>
          <a:prstGeom prst="rect">
            <a:avLst/>
          </a:prstGeom>
          <a:solidFill>
            <a:srgbClr val="E0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12A0E007-ECA8-02A4-EC24-107FC5338DD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54159" y="98755"/>
              <a:ext cx="548640" cy="548640"/>
            </p:xfrm>
            <a:graphic>
              <a:graphicData uri="http://schemas.microsoft.com/office/drawing/2017/model3d">
                <am3d:model3d r:embed="rIdM3d8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1752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12A0E007-ECA8-02A4-EC24-107FC5338D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854159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ЧЕМ ЗАНИМАЛСЯ: ОТ СТАНКА К ЭКОНОМИКЕ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ЛЬВОВ  ·  1930 – 2007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16</a:t>
            </a:r>
            <a:endParaRPr lang="en-US" sz="900" dirty="0"/>
          </a:p>
        </p:txBody>
      </p:sp>
      <p:pic>
        <p:nvPicPr>
          <p:cNvPr id="11" name="!!glow" descr="/home/user/omgGame/presentations/lvov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766" y="-89154"/>
            <a:ext cx="6761988" cy="676198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317943" y="1100023"/>
            <a:ext cx="4383634" cy="4383634"/>
          </a:xfrm>
          <a:prstGeom prst="ellipse">
            <a:avLst/>
          </a:prstGeom>
          <a:ln w="9525">
            <a:solidFill>
              <a:srgbClr val="E0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6711696" y="493776"/>
            <a:ext cx="5596128" cy="5596128"/>
          </a:xfrm>
          <a:prstGeom prst="ellipse">
            <a:avLst/>
          </a:prstGeom>
          <a:ln w="9525">
            <a:solidFill>
              <a:srgbClr val="E0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lvov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556" y="4282821"/>
            <a:ext cx="3264408" cy="816102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aliper">
                <a:extLst>
                  <a:ext uri="{FF2B5EF4-FFF2-40B4-BE49-F238E27FC236}">
                    <a16:creationId xmlns:a16="http://schemas.microsoft.com/office/drawing/2014/main" id="{442A3A2C-1608-37B2-B371-BF2CD3A768C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178040" y="960120"/>
              <a:ext cx="4663440" cy="4663440"/>
            </p:xfrm>
            <a:graphic>
              <a:graphicData uri="http://schemas.microsoft.com/office/drawing/2017/model3d">
                <am3d:model3d r:embed="rIdM3d9">
                  <am3d:spPr>
                    <a:xfrm>
                      <a:off x="0" y="0"/>
                      <a:ext cx="4663440" cy="4663440"/>
                    </a:xfrm>
                    <a:prstGeom prst="rect">
                      <a:avLst/>
                    </a:prstGeom>
                  </am3d:spPr>
                  <am3d:camera>
                    <am3d:pos x="0" y="0" z="5515159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81546" d="1000000"/>
                    <am3d:preTrans dx="1438451" dy="-2535449" dz="1046783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2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6634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aliper">
                <a:extLst>
                  <a:ext uri="{FF2B5EF4-FFF2-40B4-BE49-F238E27FC236}">
                    <a16:creationId xmlns:a16="http://schemas.microsoft.com/office/drawing/2014/main" id="{442A3A2C-1608-37B2-B371-BF2CD3A768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8040" y="960120"/>
                <a:ext cx="4663440" cy="46634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3_9_0"/>
          <p:cNvSpPr/>
          <p:nvPr/>
        </p:nvSpPr>
        <p:spPr>
          <a:xfrm>
            <a:off x="7726680" y="5297119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03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Штангенциркуль и шестерня: экономика качества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Инженер, который считал эффективность</a:t>
            </a:r>
            <a:endParaRPr lang="en-US" sz="3300" dirty="0"/>
          </a:p>
        </p:txBody>
      </p:sp>
      <p:sp>
        <p:nvSpPr>
          <p:cNvPr id="18" name="fx3_1_1"/>
          <p:cNvSpPr/>
          <p:nvPr/>
        </p:nvSpPr>
        <p:spPr>
          <a:xfrm>
            <a:off x="685800" y="20848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1954</a:t>
            </a:r>
            <a:endParaRPr lang="en-US" sz="2000" dirty="0"/>
          </a:p>
        </p:txBody>
      </p:sp>
      <p:sp>
        <p:nvSpPr>
          <p:cNvPr id="19" name="fx3_1_2"/>
          <p:cNvSpPr/>
          <p:nvPr/>
        </p:nvSpPr>
        <p:spPr>
          <a:xfrm>
            <a:off x="2057400" y="21031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Инженер-машиностроитель</a:t>
            </a:r>
            <a:endParaRPr lang="en-US" sz="1450" dirty="0"/>
          </a:p>
        </p:txBody>
      </p:sp>
      <p:sp>
        <p:nvSpPr>
          <p:cNvPr id="20" name="fx3_1_3"/>
          <p:cNvSpPr/>
          <p:nvPr/>
        </p:nvSpPr>
        <p:spPr>
          <a:xfrm>
            <a:off x="2057400" y="24414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Окончил машиностроительный факультет МИЭИ им. Орджоникидзе.</a:t>
            </a:r>
            <a:endParaRPr lang="en-US" sz="1100" dirty="0"/>
          </a:p>
        </p:txBody>
      </p:sp>
      <p:sp>
        <p:nvSpPr>
          <p:cNvPr id="21" name="fx3_2_4"/>
          <p:cNvSpPr/>
          <p:nvPr/>
        </p:nvSpPr>
        <p:spPr>
          <a:xfrm>
            <a:off x="685800" y="2761488"/>
            <a:ext cx="6126480" cy="91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fx3_2_5"/>
          <p:cNvSpPr/>
          <p:nvPr/>
        </p:nvSpPr>
        <p:spPr>
          <a:xfrm>
            <a:off x="685800" y="28529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1961</a:t>
            </a:r>
            <a:endParaRPr lang="en-US" sz="2000" dirty="0"/>
          </a:p>
        </p:txBody>
      </p:sp>
      <p:sp>
        <p:nvSpPr>
          <p:cNvPr id="23" name="fx3_2_6"/>
          <p:cNvSpPr/>
          <p:nvPr/>
        </p:nvSpPr>
        <p:spPr>
          <a:xfrm>
            <a:off x="2057400" y="28712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Кандидатская</a:t>
            </a:r>
            <a:endParaRPr lang="en-US" sz="1450" dirty="0"/>
          </a:p>
        </p:txBody>
      </p:sp>
      <p:sp>
        <p:nvSpPr>
          <p:cNvPr id="24" name="fx3_2_7"/>
          <p:cNvSpPr/>
          <p:nvPr/>
        </p:nvSpPr>
        <p:spPr>
          <a:xfrm>
            <a:off x="2057400" y="32095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Технико-экономические основы механизации и автоматизации в машиностроении.</a:t>
            </a:r>
            <a:endParaRPr lang="en-US" sz="1100" dirty="0"/>
          </a:p>
        </p:txBody>
      </p:sp>
      <p:sp>
        <p:nvSpPr>
          <p:cNvPr id="25" name="fx3_3_8"/>
          <p:cNvSpPr/>
          <p:nvPr/>
        </p:nvSpPr>
        <p:spPr>
          <a:xfrm>
            <a:off x="685800" y="3529584"/>
            <a:ext cx="6126480" cy="91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fx3_3_9"/>
          <p:cNvSpPr/>
          <p:nvPr/>
        </p:nvSpPr>
        <p:spPr>
          <a:xfrm>
            <a:off x="685800" y="362102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1969</a:t>
            </a:r>
            <a:endParaRPr lang="en-US" sz="2000" dirty="0"/>
          </a:p>
        </p:txBody>
      </p:sp>
      <p:sp>
        <p:nvSpPr>
          <p:cNvPr id="27" name="fx3_3_10"/>
          <p:cNvSpPr/>
          <p:nvPr/>
        </p:nvSpPr>
        <p:spPr>
          <a:xfrm>
            <a:off x="2057400" y="36393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Докторская</a:t>
            </a:r>
            <a:endParaRPr lang="en-US" sz="1450" dirty="0"/>
          </a:p>
        </p:txBody>
      </p:sp>
      <p:sp>
        <p:nvSpPr>
          <p:cNvPr id="28" name="fx3_3_11"/>
          <p:cNvSpPr/>
          <p:nvPr/>
        </p:nvSpPr>
        <p:spPr>
          <a:xfrm>
            <a:off x="2057400" y="3977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«Основы экономической оценки качества продукции».</a:t>
            </a:r>
            <a:endParaRPr lang="en-US" sz="1100" dirty="0"/>
          </a:p>
        </p:txBody>
      </p:sp>
      <p:sp>
        <p:nvSpPr>
          <p:cNvPr id="29" name="fx3_4_12"/>
          <p:cNvSpPr/>
          <p:nvPr/>
        </p:nvSpPr>
        <p:spPr>
          <a:xfrm>
            <a:off x="685800" y="4297680"/>
            <a:ext cx="6126480" cy="91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fx3_4_13"/>
          <p:cNvSpPr/>
          <p:nvPr/>
        </p:nvSpPr>
        <p:spPr>
          <a:xfrm>
            <a:off x="685800" y="4389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60–80-е</a:t>
            </a:r>
            <a:endParaRPr lang="en-US" sz="2000" dirty="0"/>
          </a:p>
        </p:txBody>
      </p:sp>
      <p:sp>
        <p:nvSpPr>
          <p:cNvPr id="31" name="fx3_4_14"/>
          <p:cNvSpPr/>
          <p:nvPr/>
        </p:nvSpPr>
        <p:spPr>
          <a:xfrm>
            <a:off x="2057400" y="44074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Главная тема</a:t>
            </a:r>
            <a:endParaRPr lang="en-US" sz="1450" dirty="0"/>
          </a:p>
        </p:txBody>
      </p:sp>
      <p:sp>
        <p:nvSpPr>
          <p:cNvPr id="32" name="fx3_4_15"/>
          <p:cNvSpPr/>
          <p:nvPr/>
        </p:nvSpPr>
        <p:spPr>
          <a:xfrm>
            <a:off x="2057400" y="47457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Эффективность новой техники, капиталовложений и научно-технического прогресса.</a:t>
            </a:r>
            <a:endParaRPr lang="en-US" sz="1100" dirty="0"/>
          </a:p>
        </p:txBody>
      </p:sp>
      <p:sp>
        <p:nvSpPr>
          <p:cNvPr id="33" name="fx3_8_16"/>
          <p:cNvSpPr/>
          <p:nvPr/>
        </p:nvSpPr>
        <p:spPr>
          <a:xfrm>
            <a:off x="685800" y="5349240"/>
            <a:ext cx="6217920" cy="841248"/>
          </a:xfrm>
          <a:prstGeom prst="roundRect">
            <a:avLst>
              <a:gd name="adj" fmla="val 8696"/>
            </a:avLst>
          </a:prstGeom>
          <a:solidFill>
            <a:srgbClr val="1E1A0C">
              <a:alpha val="92000"/>
            </a:srgbClr>
          </a:solidFill>
          <a:ln w="12700">
            <a:solidFill>
              <a:srgbClr val="E0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4" name="fx3_8_17"/>
          <p:cNvSpPr/>
          <p:nvPr/>
        </p:nvSpPr>
        <p:spPr>
          <a:xfrm>
            <a:off x="685800" y="5495544"/>
            <a:ext cx="50292" cy="548640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35" name="fx3_8_18"/>
          <p:cNvSpPr/>
          <p:nvPr/>
        </p:nvSpPr>
        <p:spPr>
          <a:xfrm>
            <a:off x="941832" y="521208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0B45E"/>
          </a:solidFill>
          <a:ln/>
        </p:spPr>
      </p:sp>
      <p:sp>
        <p:nvSpPr>
          <p:cNvPr id="36" name="fx3_8_19"/>
          <p:cNvSpPr/>
          <p:nvPr/>
        </p:nvSpPr>
        <p:spPr>
          <a:xfrm>
            <a:off x="941832" y="5212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61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7" name="fx3_8_20"/>
          <p:cNvSpPr/>
          <p:nvPr/>
        </p:nvSpPr>
        <p:spPr>
          <a:xfrm>
            <a:off x="960120" y="553212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Экономику он начал не с лозунгов, а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 станков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первая диссертация — о том, как окупается автоматизация производства.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8" name="!!m-tower">
                <a:extLst>
                  <a:ext uri="{FF2B5EF4-FFF2-40B4-BE49-F238E27FC236}">
                    <a16:creationId xmlns:a16="http://schemas.microsoft.com/office/drawing/2014/main" id="{01DA870B-D3A8-936F-9D50-79338F52A7B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754880" y="1005840"/>
              <a:ext cx="4206240" cy="4206240"/>
            </p:xfrm>
            <a:graphic>
              <a:graphicData uri="http://schemas.microsoft.com/office/drawing/2017/model3d">
                <am3d:model3d r:embed="rIdM3d10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4940777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87790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" ay="-64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8" name="!!m-tower">
                <a:extLst>
                  <a:ext uri="{FF2B5EF4-FFF2-40B4-BE49-F238E27FC236}">
                    <a16:creationId xmlns:a16="http://schemas.microsoft.com/office/drawing/2014/main" id="{01DA870B-D3A8-936F-9D50-79338F52A7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754880" y="1005840"/>
                <a:ext cx="4206240" cy="42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mobius">
                <a:extLst>
                  <a:ext uri="{FF2B5EF4-FFF2-40B4-BE49-F238E27FC236}">
                    <a16:creationId xmlns:a16="http://schemas.microsoft.com/office/drawing/2014/main" id="{C8A62D63-B4CE-8611-3311-6D0C5CB13B6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685800"/>
              <a:ext cx="3657600" cy="3657600"/>
            </p:xfrm>
            <a:graphic>
              <a:graphicData uri="http://schemas.microsoft.com/office/drawing/2017/model3d">
                <am3d:model3d r:embed="rIdM3d11">
                  <am3d:spPr>
                    <a:xfrm>
                      <a:off x="0" y="0"/>
                      <a:ext cx="3657600" cy="3657600"/>
                    </a:xfrm>
                    <a:prstGeom prst="rect">
                      <a:avLst/>
                    </a:prstGeom>
                  </am3d:spPr>
                  <am3d:camera>
                    <am3d:pos x="0" y="0" z="678514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5161" d="1000000"/>
                    <am3d:preTrans dx="0" dy="1161291" dz="-2090169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324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6576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mobius">
                <a:extLst>
                  <a:ext uri="{FF2B5EF4-FFF2-40B4-BE49-F238E27FC236}">
                    <a16:creationId xmlns:a16="http://schemas.microsoft.com/office/drawing/2014/main" id="{C8A62D63-B4CE-8611-3311-6D0C5CB13B6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685800"/>
                <a:ext cx="3657600" cy="3657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4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lvov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2164019" cy="21946"/>
          </a:xfrm>
          <a:prstGeom prst="rect">
            <a:avLst/>
          </a:prstGeom>
          <a:solidFill>
            <a:srgbClr val="E0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A0CD095D-703B-44BD-CB3A-97BF8DFA782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75499" y="98755"/>
              <a:ext cx="548640" cy="548640"/>
            </p:xfrm>
            <a:graphic>
              <a:graphicData uri="http://schemas.microsoft.com/office/drawing/2017/model3d">
                <am3d:model3d r:embed="rIdM3d12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2628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A0CD095D-703B-44BD-CB3A-97BF8DFA78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75499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ЧЕМ ЗАНИМАЛСЯ: ПУТЬ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ЛЬВОВ  ·  1930 – 2007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16</a:t>
            </a:r>
            <a:endParaRPr lang="en-US" sz="900" dirty="0"/>
          </a:p>
        </p:txBody>
      </p:sp>
      <p:pic>
        <p:nvPicPr>
          <p:cNvPr id="11" name="!!glow" descr="/home/user/omgGame/presentations/lvov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-502920"/>
            <a:ext cx="5303520" cy="5303520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8110728" y="429768"/>
            <a:ext cx="3438144" cy="3438144"/>
          </a:xfrm>
          <a:prstGeom prst="ellipse">
            <a:avLst/>
          </a:prstGeom>
          <a:ln w="9525">
            <a:solidFill>
              <a:srgbClr val="E0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635240" y="-45720"/>
            <a:ext cx="4389120" cy="4389120"/>
          </a:xfrm>
          <a:prstGeom prst="ellipse">
            <a:avLst/>
          </a:prstGeom>
          <a:ln w="9525">
            <a:solidFill>
              <a:srgbClr val="E0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lvov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3191256"/>
            <a:ext cx="2194560" cy="54864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mobius">
                <a:extLst>
                  <a:ext uri="{FF2B5EF4-FFF2-40B4-BE49-F238E27FC236}">
                    <a16:creationId xmlns:a16="http://schemas.microsoft.com/office/drawing/2014/main" id="{10D9ED73-E8F7-9244-B6FD-A016F330CBF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001000" y="320040"/>
              <a:ext cx="3657600" cy="3657600"/>
            </p:xfrm>
            <a:graphic>
              <a:graphicData uri="http://schemas.microsoft.com/office/drawing/2017/model3d">
                <am3d:model3d r:embed="rIdM3d13">
                  <am3d:spPr>
                    <a:xfrm>
                      <a:off x="0" y="0"/>
                      <a:ext cx="3657600" cy="3657600"/>
                    </a:xfrm>
                    <a:prstGeom prst="rect">
                      <a:avLst/>
                    </a:prstGeom>
                  </am3d:spPr>
                  <am3d:camera>
                    <am3d:pos x="0" y="0" z="678514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5161" d="1000000"/>
                    <am3d:preTrans dx="0" dy="1161291" dz="-2090169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56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6576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mobius">
                <a:extLst>
                  <a:ext uri="{FF2B5EF4-FFF2-40B4-BE49-F238E27FC236}">
                    <a16:creationId xmlns:a16="http://schemas.microsoft.com/office/drawing/2014/main" id="{10D9ED73-E8F7-9244-B6FD-A016F330CBF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1000" y="320040"/>
                <a:ext cx="3657600" cy="36576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4_9_0"/>
          <p:cNvSpPr/>
          <p:nvPr/>
        </p:nvSpPr>
        <p:spPr>
          <a:xfrm>
            <a:off x="507492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04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Лента Мёбиуса с фасада ЦЭМИ — «дом с ухом»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Путь: от МИЭИ до Президиума РАН</a:t>
            </a:r>
            <a:endParaRPr lang="en-US" sz="3000" dirty="0"/>
          </a:p>
        </p:txBody>
      </p:sp>
      <p:sp>
        <p:nvSpPr>
          <p:cNvPr id="18" name="fx4_1_1"/>
          <p:cNvSpPr/>
          <p:nvPr/>
        </p:nvSpPr>
        <p:spPr>
          <a:xfrm>
            <a:off x="685800" y="196596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1E1A0C">
              <a:alpha val="92000"/>
            </a:srgbClr>
          </a:solidFill>
          <a:ln w="12700">
            <a:solidFill>
              <a:srgbClr val="E0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9" name="fx4_1_2"/>
          <p:cNvSpPr/>
          <p:nvPr/>
        </p:nvSpPr>
        <p:spPr>
          <a:xfrm>
            <a:off x="685800" y="2112264"/>
            <a:ext cx="50292" cy="804672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20" name="fx4_1_3"/>
          <p:cNvSpPr/>
          <p:nvPr/>
        </p:nvSpPr>
        <p:spPr>
          <a:xfrm>
            <a:off x="941832" y="182880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0B45E"/>
          </a:solidFill>
          <a:ln/>
        </p:spPr>
      </p:sp>
      <p:sp>
        <p:nvSpPr>
          <p:cNvPr id="21" name="fx4_1_4"/>
          <p:cNvSpPr/>
          <p:nvPr/>
        </p:nvSpPr>
        <p:spPr>
          <a:xfrm>
            <a:off x="941832" y="18288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61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22" name="fx4_1_5"/>
          <p:cNvSpPr/>
          <p:nvPr/>
        </p:nvSpPr>
        <p:spPr>
          <a:xfrm>
            <a:off x="960120" y="21488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Его институт ЦЭМИ москвичи зовут </a:t>
            </a:r>
            <a:pPr algn="l" indent="0" marL="0">
              <a:lnSpc>
                <a:spcPct val="105000"/>
              </a:lnSpc>
              <a:buNone/>
            </a:pPr>
            <a:r>
              <a:rPr lang="en-US" sz="1300" b="1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«домом с ухом»</a:t>
            </a:r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на фасаде — мозаичная лента Мёбиуса в квадрате размером в одну миллионную диаметра Земли.</a:t>
            </a:r>
            <a:endParaRPr lang="en-US" sz="1300" dirty="0"/>
          </a:p>
        </p:txBody>
      </p:sp>
      <p:sp>
        <p:nvSpPr>
          <p:cNvPr id="23" name="fx4_2_6"/>
          <p:cNvSpPr/>
          <p:nvPr/>
        </p:nvSpPr>
        <p:spPr>
          <a:xfrm>
            <a:off x="1362056" y="4206240"/>
            <a:ext cx="9467583" cy="91"/>
          </a:xfrm>
          <a:prstGeom prst="line">
            <a:avLst/>
          </a:prstGeom>
          <a:noFill/>
          <a:ln w="19050">
            <a:solidFill>
              <a:srgbClr val="E0B45E">
                <a:alpha val="65000"/>
              </a:srgbClr>
            </a:solidFill>
            <a:prstDash val="solid"/>
          </a:ln>
        </p:spPr>
      </p:sp>
      <p:sp>
        <p:nvSpPr>
          <p:cNvPr id="24" name="fx4_2_7"/>
          <p:cNvSpPr/>
          <p:nvPr/>
        </p:nvSpPr>
        <p:spPr>
          <a:xfrm>
            <a:off x="1270616" y="4114800"/>
            <a:ext cx="182880" cy="182880"/>
          </a:xfrm>
          <a:prstGeom prst="ellipse">
            <a:avLst/>
          </a:prstGeom>
          <a:solidFill>
            <a:srgbClr val="06100D"/>
          </a:solidFill>
          <a:ln w="25400">
            <a:solidFill>
              <a:srgbClr val="E0B45E"/>
            </a:solidFill>
            <a:prstDash val="solid"/>
          </a:ln>
        </p:spPr>
      </p:sp>
      <p:sp>
        <p:nvSpPr>
          <p:cNvPr id="25" name="fx4_2_8"/>
          <p:cNvSpPr/>
          <p:nvPr/>
        </p:nvSpPr>
        <p:spPr>
          <a:xfrm>
            <a:off x="740664" y="4389120"/>
            <a:ext cx="12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1954</a:t>
            </a:r>
            <a:endParaRPr lang="en-US" sz="2000" dirty="0"/>
          </a:p>
        </p:txBody>
      </p:sp>
      <p:sp>
        <p:nvSpPr>
          <p:cNvPr id="26" name="fx4_2_9"/>
          <p:cNvSpPr/>
          <p:nvPr/>
        </p:nvSpPr>
        <p:spPr>
          <a:xfrm>
            <a:off x="740664" y="4791456"/>
            <a:ext cx="124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МИЭИ</a:t>
            </a:r>
            <a:endParaRPr lang="en-US" sz="1250" dirty="0"/>
          </a:p>
        </p:txBody>
      </p:sp>
      <p:sp>
        <p:nvSpPr>
          <p:cNvPr id="27" name="fx4_2_10"/>
          <p:cNvSpPr/>
          <p:nvPr/>
        </p:nvSpPr>
        <p:spPr>
          <a:xfrm>
            <a:off x="740664" y="5084064"/>
            <a:ext cx="1242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 инженера-экономиста</a:t>
            </a:r>
            <a:endParaRPr lang="en-US" sz="1000" dirty="0"/>
          </a:p>
        </p:txBody>
      </p:sp>
      <p:sp>
        <p:nvSpPr>
          <p:cNvPr id="28" name="fx4_2_11"/>
          <p:cNvSpPr/>
          <p:nvPr/>
        </p:nvSpPr>
        <p:spPr>
          <a:xfrm>
            <a:off x="2623128" y="4114800"/>
            <a:ext cx="182880" cy="182880"/>
          </a:xfrm>
          <a:prstGeom prst="ellipse">
            <a:avLst/>
          </a:prstGeom>
          <a:solidFill>
            <a:srgbClr val="06100D"/>
          </a:solidFill>
          <a:ln w="25400">
            <a:solidFill>
              <a:srgbClr val="E0B45E"/>
            </a:solidFill>
            <a:prstDash val="solid"/>
          </a:ln>
        </p:spPr>
      </p:sp>
      <p:sp>
        <p:nvSpPr>
          <p:cNvPr id="29" name="fx4_2_12"/>
          <p:cNvSpPr/>
          <p:nvPr/>
        </p:nvSpPr>
        <p:spPr>
          <a:xfrm>
            <a:off x="2093176" y="4389120"/>
            <a:ext cx="12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1966</a:t>
            </a:r>
            <a:endParaRPr lang="en-US" sz="2000" dirty="0"/>
          </a:p>
        </p:txBody>
      </p:sp>
      <p:sp>
        <p:nvSpPr>
          <p:cNvPr id="30" name="fx4_2_13"/>
          <p:cNvSpPr/>
          <p:nvPr/>
        </p:nvSpPr>
        <p:spPr>
          <a:xfrm>
            <a:off x="2093176" y="4791456"/>
            <a:ext cx="124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ИЭ АН</a:t>
            </a:r>
            <a:endParaRPr lang="en-US" sz="1250" dirty="0"/>
          </a:p>
        </p:txBody>
      </p:sp>
      <p:sp>
        <p:nvSpPr>
          <p:cNvPr id="31" name="fx4_2_14"/>
          <p:cNvSpPr/>
          <p:nvPr/>
        </p:nvSpPr>
        <p:spPr>
          <a:xfrm>
            <a:off x="2093176" y="5084064"/>
            <a:ext cx="1242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Институт экономики АН СССР</a:t>
            </a:r>
            <a:endParaRPr lang="en-US" sz="1000" dirty="0"/>
          </a:p>
        </p:txBody>
      </p:sp>
      <p:sp>
        <p:nvSpPr>
          <p:cNvPr id="32" name="fx4_3_15"/>
          <p:cNvSpPr/>
          <p:nvPr/>
        </p:nvSpPr>
        <p:spPr>
          <a:xfrm>
            <a:off x="3975640" y="4114800"/>
            <a:ext cx="182880" cy="182880"/>
          </a:xfrm>
          <a:prstGeom prst="ellipse">
            <a:avLst/>
          </a:prstGeom>
          <a:solidFill>
            <a:srgbClr val="06100D"/>
          </a:solidFill>
          <a:ln w="25400">
            <a:solidFill>
              <a:srgbClr val="E0B45E"/>
            </a:solidFill>
            <a:prstDash val="solid"/>
          </a:ln>
        </p:spPr>
      </p:sp>
      <p:sp>
        <p:nvSpPr>
          <p:cNvPr id="33" name="fx4_3_16"/>
          <p:cNvSpPr/>
          <p:nvPr/>
        </p:nvSpPr>
        <p:spPr>
          <a:xfrm>
            <a:off x="3445688" y="4389120"/>
            <a:ext cx="12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1972</a:t>
            </a:r>
            <a:endParaRPr lang="en-US" sz="2000" dirty="0"/>
          </a:p>
        </p:txBody>
      </p:sp>
      <p:sp>
        <p:nvSpPr>
          <p:cNvPr id="34" name="fx4_3_17"/>
          <p:cNvSpPr/>
          <p:nvPr/>
        </p:nvSpPr>
        <p:spPr>
          <a:xfrm>
            <a:off x="3445688" y="4791456"/>
            <a:ext cx="124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ЦЭМИ</a:t>
            </a:r>
            <a:endParaRPr lang="en-US" sz="1250" dirty="0"/>
          </a:p>
        </p:txBody>
      </p:sp>
      <p:sp>
        <p:nvSpPr>
          <p:cNvPr id="35" name="fx4_3_18"/>
          <p:cNvSpPr/>
          <p:nvPr/>
        </p:nvSpPr>
        <p:spPr>
          <a:xfrm>
            <a:off x="3445688" y="5084064"/>
            <a:ext cx="1242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институт жизни; с 1991 — замдиректора</a:t>
            </a:r>
            <a:endParaRPr lang="en-US" sz="1000" dirty="0"/>
          </a:p>
        </p:txBody>
      </p:sp>
      <p:sp>
        <p:nvSpPr>
          <p:cNvPr id="36" name="fx4_3_19"/>
          <p:cNvSpPr/>
          <p:nvPr/>
        </p:nvSpPr>
        <p:spPr>
          <a:xfrm>
            <a:off x="5328152" y="4114800"/>
            <a:ext cx="182880" cy="182880"/>
          </a:xfrm>
          <a:prstGeom prst="ellipse">
            <a:avLst/>
          </a:prstGeom>
          <a:solidFill>
            <a:srgbClr val="E0674C"/>
          </a:solidFill>
          <a:ln w="25400">
            <a:solidFill>
              <a:srgbClr val="E0674C"/>
            </a:solidFill>
            <a:prstDash val="solid"/>
          </a:ln>
        </p:spPr>
      </p:sp>
      <p:sp>
        <p:nvSpPr>
          <p:cNvPr id="37" name="fx4_3_20"/>
          <p:cNvSpPr/>
          <p:nvPr/>
        </p:nvSpPr>
        <p:spPr>
          <a:xfrm>
            <a:off x="4798200" y="4389120"/>
            <a:ext cx="12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06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1986</a:t>
            </a:r>
            <a:endParaRPr lang="en-US" sz="2000" dirty="0"/>
          </a:p>
        </p:txBody>
      </p:sp>
      <p:sp>
        <p:nvSpPr>
          <p:cNvPr id="38" name="fx4_3_21"/>
          <p:cNvSpPr/>
          <p:nvPr/>
        </p:nvSpPr>
        <p:spPr>
          <a:xfrm>
            <a:off x="4798200" y="4791456"/>
            <a:ext cx="124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Уклады</a:t>
            </a:r>
            <a:endParaRPr lang="en-US" sz="1250" dirty="0"/>
          </a:p>
        </p:txBody>
      </p:sp>
      <p:sp>
        <p:nvSpPr>
          <p:cNvPr id="39" name="fx4_3_22"/>
          <p:cNvSpPr/>
          <p:nvPr/>
        </p:nvSpPr>
        <p:spPr>
          <a:xfrm>
            <a:off x="4798200" y="5084064"/>
            <a:ext cx="1242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 вместе с С. Глазьевым</a:t>
            </a:r>
            <a:endParaRPr lang="en-US" sz="1000" dirty="0"/>
          </a:p>
        </p:txBody>
      </p:sp>
      <p:sp>
        <p:nvSpPr>
          <p:cNvPr id="40" name="fx4_4_23"/>
          <p:cNvSpPr/>
          <p:nvPr/>
        </p:nvSpPr>
        <p:spPr>
          <a:xfrm>
            <a:off x="6680664" y="4114800"/>
            <a:ext cx="182880" cy="182880"/>
          </a:xfrm>
          <a:prstGeom prst="ellipse">
            <a:avLst/>
          </a:prstGeom>
          <a:solidFill>
            <a:srgbClr val="06100D"/>
          </a:solidFill>
          <a:ln w="25400">
            <a:solidFill>
              <a:srgbClr val="E0B45E"/>
            </a:solidFill>
            <a:prstDash val="solid"/>
          </a:ln>
        </p:spPr>
      </p:sp>
      <p:sp>
        <p:nvSpPr>
          <p:cNvPr id="41" name="fx4_4_24"/>
          <p:cNvSpPr/>
          <p:nvPr/>
        </p:nvSpPr>
        <p:spPr>
          <a:xfrm>
            <a:off x="6150712" y="4389120"/>
            <a:ext cx="12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1987</a:t>
            </a:r>
            <a:endParaRPr lang="en-US" sz="2000" dirty="0"/>
          </a:p>
        </p:txBody>
      </p:sp>
      <p:sp>
        <p:nvSpPr>
          <p:cNvPr id="42" name="fx4_4_25"/>
          <p:cNvSpPr/>
          <p:nvPr/>
        </p:nvSpPr>
        <p:spPr>
          <a:xfrm>
            <a:off x="6150712" y="4791456"/>
            <a:ext cx="124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Член-корр.</a:t>
            </a:r>
            <a:endParaRPr lang="en-US" sz="1250" dirty="0"/>
          </a:p>
        </p:txBody>
      </p:sp>
      <p:sp>
        <p:nvSpPr>
          <p:cNvPr id="43" name="fx4_4_26"/>
          <p:cNvSpPr/>
          <p:nvPr/>
        </p:nvSpPr>
        <p:spPr>
          <a:xfrm>
            <a:off x="6150712" y="5084064"/>
            <a:ext cx="1242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Академия наук СССР</a:t>
            </a:r>
            <a:endParaRPr lang="en-US" sz="1000" dirty="0"/>
          </a:p>
        </p:txBody>
      </p:sp>
      <p:sp>
        <p:nvSpPr>
          <p:cNvPr id="44" name="fx4_4_27"/>
          <p:cNvSpPr/>
          <p:nvPr/>
        </p:nvSpPr>
        <p:spPr>
          <a:xfrm>
            <a:off x="8033175" y="4114800"/>
            <a:ext cx="182880" cy="182880"/>
          </a:xfrm>
          <a:prstGeom prst="ellipse">
            <a:avLst/>
          </a:prstGeom>
          <a:solidFill>
            <a:srgbClr val="06100D"/>
          </a:solidFill>
          <a:ln w="25400">
            <a:solidFill>
              <a:srgbClr val="E0B45E"/>
            </a:solidFill>
            <a:prstDash val="solid"/>
          </a:ln>
        </p:spPr>
      </p:sp>
      <p:sp>
        <p:nvSpPr>
          <p:cNvPr id="45" name="fx4_4_28"/>
          <p:cNvSpPr/>
          <p:nvPr/>
        </p:nvSpPr>
        <p:spPr>
          <a:xfrm>
            <a:off x="7503224" y="4389120"/>
            <a:ext cx="12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1994</a:t>
            </a:r>
            <a:endParaRPr lang="en-US" sz="2000" dirty="0"/>
          </a:p>
        </p:txBody>
      </p:sp>
      <p:sp>
        <p:nvSpPr>
          <p:cNvPr id="46" name="fx4_4_29"/>
          <p:cNvSpPr/>
          <p:nvPr/>
        </p:nvSpPr>
        <p:spPr>
          <a:xfrm>
            <a:off x="7503224" y="4791456"/>
            <a:ext cx="124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Академик</a:t>
            </a:r>
            <a:endParaRPr lang="en-US" sz="1250" dirty="0"/>
          </a:p>
        </p:txBody>
      </p:sp>
      <p:sp>
        <p:nvSpPr>
          <p:cNvPr id="47" name="fx4_4_30"/>
          <p:cNvSpPr/>
          <p:nvPr/>
        </p:nvSpPr>
        <p:spPr>
          <a:xfrm>
            <a:off x="7503224" y="5084064"/>
            <a:ext cx="1242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Действительный член РАН</a:t>
            </a:r>
            <a:endParaRPr lang="en-US" sz="1000" dirty="0"/>
          </a:p>
        </p:txBody>
      </p:sp>
      <p:sp>
        <p:nvSpPr>
          <p:cNvPr id="48" name="fx4_5_31"/>
          <p:cNvSpPr/>
          <p:nvPr/>
        </p:nvSpPr>
        <p:spPr>
          <a:xfrm>
            <a:off x="9385687" y="4114800"/>
            <a:ext cx="182880" cy="182880"/>
          </a:xfrm>
          <a:prstGeom prst="ellipse">
            <a:avLst/>
          </a:prstGeom>
          <a:solidFill>
            <a:srgbClr val="06100D"/>
          </a:solidFill>
          <a:ln w="25400">
            <a:solidFill>
              <a:srgbClr val="E0B45E"/>
            </a:solidFill>
            <a:prstDash val="solid"/>
          </a:ln>
        </p:spPr>
      </p:sp>
      <p:sp>
        <p:nvSpPr>
          <p:cNvPr id="49" name="fx4_5_32"/>
          <p:cNvSpPr/>
          <p:nvPr/>
        </p:nvSpPr>
        <p:spPr>
          <a:xfrm>
            <a:off x="8855735" y="4389120"/>
            <a:ext cx="12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1996</a:t>
            </a:r>
            <a:endParaRPr lang="en-US" sz="2000" dirty="0"/>
          </a:p>
        </p:txBody>
      </p:sp>
      <p:sp>
        <p:nvSpPr>
          <p:cNvPr id="50" name="fx4_5_33"/>
          <p:cNvSpPr/>
          <p:nvPr/>
        </p:nvSpPr>
        <p:spPr>
          <a:xfrm>
            <a:off x="8855735" y="4791456"/>
            <a:ext cx="124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Отделение</a:t>
            </a:r>
            <a:endParaRPr lang="en-US" sz="1250" dirty="0"/>
          </a:p>
        </p:txBody>
      </p:sp>
      <p:sp>
        <p:nvSpPr>
          <p:cNvPr id="51" name="fx4_5_34"/>
          <p:cNvSpPr/>
          <p:nvPr/>
        </p:nvSpPr>
        <p:spPr>
          <a:xfrm>
            <a:off x="8855735" y="5084064"/>
            <a:ext cx="1242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Академик-секретарь Отделения экономики</a:t>
            </a:r>
            <a:endParaRPr lang="en-US" sz="1000" dirty="0"/>
          </a:p>
        </p:txBody>
      </p:sp>
      <p:sp>
        <p:nvSpPr>
          <p:cNvPr id="52" name="fx4_5_35"/>
          <p:cNvSpPr/>
          <p:nvPr/>
        </p:nvSpPr>
        <p:spPr>
          <a:xfrm>
            <a:off x="10738199" y="4114800"/>
            <a:ext cx="182880" cy="182880"/>
          </a:xfrm>
          <a:prstGeom prst="ellipse">
            <a:avLst/>
          </a:prstGeom>
          <a:solidFill>
            <a:srgbClr val="06100D"/>
          </a:solidFill>
          <a:ln w="25400">
            <a:solidFill>
              <a:srgbClr val="E0B45E"/>
            </a:solidFill>
            <a:prstDash val="solid"/>
          </a:ln>
        </p:spPr>
      </p:sp>
      <p:sp>
        <p:nvSpPr>
          <p:cNvPr id="53" name="fx4_5_36"/>
          <p:cNvSpPr/>
          <p:nvPr/>
        </p:nvSpPr>
        <p:spPr>
          <a:xfrm>
            <a:off x="10208247" y="4389120"/>
            <a:ext cx="12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</a:t>
            </a:r>
            <a:endParaRPr lang="en-US" sz="2000" dirty="0"/>
          </a:p>
        </p:txBody>
      </p:sp>
      <p:sp>
        <p:nvSpPr>
          <p:cNvPr id="54" name="fx4_5_37"/>
          <p:cNvSpPr/>
          <p:nvPr/>
        </p:nvSpPr>
        <p:spPr>
          <a:xfrm>
            <a:off x="10208247" y="4791456"/>
            <a:ext cx="124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1250" dirty="0"/>
          </a:p>
        </p:txBody>
      </p:sp>
      <p:sp>
        <p:nvSpPr>
          <p:cNvPr id="55" name="fx4_5_38"/>
          <p:cNvSpPr/>
          <p:nvPr/>
        </p:nvSpPr>
        <p:spPr>
          <a:xfrm>
            <a:off x="10208247" y="5084064"/>
            <a:ext cx="1242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250+ работ, 14 монографий</a:t>
            </a:r>
            <a:endParaRPr lang="en-US" sz="10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6" name="!!m-caliper">
                <a:extLst>
                  <a:ext uri="{FF2B5EF4-FFF2-40B4-BE49-F238E27FC236}">
                    <a16:creationId xmlns:a16="http://schemas.microsoft.com/office/drawing/2014/main" id="{ABC01DA2-7B71-AF24-9CFF-8186C1B4889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212080" y="1325880"/>
              <a:ext cx="4663440" cy="4663440"/>
            </p:xfrm>
            <a:graphic>
              <a:graphicData uri="http://schemas.microsoft.com/office/drawing/2017/model3d">
                <am3d:model3d r:embed="rIdM3d14">
                  <am3d:spPr>
                    <a:xfrm>
                      <a:off x="0" y="0"/>
                      <a:ext cx="4663440" cy="4663440"/>
                    </a:xfrm>
                    <a:prstGeom prst="rect">
                      <a:avLst/>
                    </a:prstGeom>
                  </am3d:spPr>
                  <am3d:camera>
                    <am3d:pos x="0" y="0" z="5515159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81546" d="1000000"/>
                    <am3d:preTrans dx="1438451" dy="-2535449" dz="1046783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60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6634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6" name="!!m-caliper">
                <a:extLst>
                  <a:ext uri="{FF2B5EF4-FFF2-40B4-BE49-F238E27FC236}">
                    <a16:creationId xmlns:a16="http://schemas.microsoft.com/office/drawing/2014/main" id="{ABC01DA2-7B71-AF24-9CFF-8186C1B488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212080" y="1325880"/>
                <a:ext cx="4663440" cy="46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7" name="!!m-books">
                <a:extLst>
                  <a:ext uri="{FF2B5EF4-FFF2-40B4-BE49-F238E27FC236}">
                    <a16:creationId xmlns:a16="http://schemas.microsoft.com/office/drawing/2014/main" id="{63D75CC9-40B4-81BB-C1B9-94724D226B4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63040"/>
              <a:ext cx="4480560" cy="4480560"/>
            </p:xfrm>
            <a:graphic>
              <a:graphicData uri="http://schemas.microsoft.com/office/drawing/2017/model3d">
                <am3d:model3d r:embed="rIdM3d15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6154743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08497" d="1000000"/>
                    <am3d:preTrans dx="-45344" dy="-6101840" dz="-527068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336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7" name="!!m-books">
                <a:extLst>
                  <a:ext uri="{FF2B5EF4-FFF2-40B4-BE49-F238E27FC236}">
                    <a16:creationId xmlns:a16="http://schemas.microsoft.com/office/drawing/2014/main" id="{63D75CC9-40B4-81BB-C1B9-94724D226B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463040"/>
                <a:ext cx="4480560" cy="448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7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7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5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lvov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2885359" cy="21946"/>
          </a:xfrm>
          <a:prstGeom prst="rect">
            <a:avLst/>
          </a:prstGeom>
          <a:solidFill>
            <a:srgbClr val="E0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85BAE302-4A0A-9AF0-301C-95BD8D2D970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96839" y="98755"/>
              <a:ext cx="548640" cy="548640"/>
            </p:xfrm>
            <a:graphic>
              <a:graphicData uri="http://schemas.microsoft.com/office/drawing/2017/model3d">
                <am3d:model3d r:embed="rIdM3d16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3504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85BAE302-4A0A-9AF0-301C-95BD8D2D97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96839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ЧЕМ ЗАНИМАЛСЯ: ЧЕТЫРЕ РОЛИ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ЛЬВОВ  ·  1930 – 2007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16</a:t>
            </a:r>
            <a:endParaRPr lang="en-US" sz="900" dirty="0"/>
          </a:p>
        </p:txBody>
      </p:sp>
      <p:pic>
        <p:nvPicPr>
          <p:cNvPr id="11" name="!!glow" descr="/home/user/omgGame/presentations/lvov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514" y="89154"/>
            <a:ext cx="6496812" cy="6496812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541057" y="1231697"/>
            <a:ext cx="4211726" cy="4211726"/>
          </a:xfrm>
          <a:prstGeom prst="ellipse">
            <a:avLst/>
          </a:prstGeom>
          <a:ln w="9525">
            <a:solidFill>
              <a:srgbClr val="E0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6958584" y="649224"/>
            <a:ext cx="5376672" cy="5376672"/>
          </a:xfrm>
          <a:prstGeom prst="ellipse">
            <a:avLst/>
          </a:prstGeom>
          <a:ln w="9525">
            <a:solidFill>
              <a:srgbClr val="E0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lvov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6" y="3875227"/>
            <a:ext cx="3584448" cy="896112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books">
                <a:extLst>
                  <a:ext uri="{FF2B5EF4-FFF2-40B4-BE49-F238E27FC236}">
                    <a16:creationId xmlns:a16="http://schemas.microsoft.com/office/drawing/2014/main" id="{05DC40DE-580B-F570-1BB8-DAC04C4B97C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06640" y="1097280"/>
              <a:ext cx="4480560" cy="4480560"/>
            </p:xfrm>
            <a:graphic>
              <a:graphicData uri="http://schemas.microsoft.com/office/drawing/2017/model3d">
                <am3d:model3d r:embed="rIdM3d17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6154743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08497" d="1000000"/>
                    <am3d:preTrans dx="-45344" dy="-6101840" dz="-527068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-144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books">
                <a:extLst>
                  <a:ext uri="{FF2B5EF4-FFF2-40B4-BE49-F238E27FC236}">
                    <a16:creationId xmlns:a16="http://schemas.microsoft.com/office/drawing/2014/main" id="{05DC40DE-580B-F570-1BB8-DAC04C4B97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06640" y="1097280"/>
                <a:ext cx="4480560" cy="44805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5_9_0"/>
          <p:cNvSpPr/>
          <p:nvPr/>
        </p:nvSpPr>
        <p:spPr>
          <a:xfrm>
            <a:off x="7863840" y="5264201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05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Его книги и очки: «Нравственная экономика», 2004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Учёный, организатор, редактор, учитель</a:t>
            </a:r>
            <a:endParaRPr lang="en-US" sz="3000" dirty="0"/>
          </a:p>
        </p:txBody>
      </p:sp>
      <p:sp>
        <p:nvSpPr>
          <p:cNvPr id="18" name="fx5_1_1"/>
          <p:cNvSpPr/>
          <p:nvPr/>
        </p:nvSpPr>
        <p:spPr>
          <a:xfrm>
            <a:off x="685800" y="2057400"/>
            <a:ext cx="3227832" cy="1371600"/>
          </a:xfrm>
          <a:prstGeom prst="roundRect">
            <a:avLst>
              <a:gd name="adj" fmla="val 5333"/>
            </a:avLst>
          </a:prstGeom>
          <a:solidFill>
            <a:srgbClr val="0F201B">
              <a:alpha val="85000"/>
            </a:srgbClr>
          </a:solidFill>
          <a:ln w="9525">
            <a:solidFill>
              <a:srgbClr val="E0B45E">
                <a:alpha val="28000"/>
              </a:srgbClr>
            </a:solidFill>
            <a:prstDash val="solid"/>
          </a:ln>
        </p:spPr>
      </p:sp>
      <p:sp>
        <p:nvSpPr>
          <p:cNvPr id="19" name="fx5_1_2"/>
          <p:cNvSpPr/>
          <p:nvPr/>
        </p:nvSpPr>
        <p:spPr>
          <a:xfrm>
            <a:off x="886968" y="21854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200" dirty="0"/>
          </a:p>
        </p:txBody>
      </p:sp>
      <p:sp>
        <p:nvSpPr>
          <p:cNvPr id="20" name="fx5_1_3"/>
          <p:cNvSpPr/>
          <p:nvPr/>
        </p:nvSpPr>
        <p:spPr>
          <a:xfrm>
            <a:off x="1417320" y="224028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Учёный · ЦЭМИ</a:t>
            </a:r>
            <a:endParaRPr lang="en-US" sz="1300" dirty="0"/>
          </a:p>
        </p:txBody>
      </p:sp>
      <p:sp>
        <p:nvSpPr>
          <p:cNvPr id="21" name="fx5_1_4"/>
          <p:cNvSpPr/>
          <p:nvPr/>
        </p:nvSpPr>
        <p:spPr>
          <a:xfrm>
            <a:off x="886968" y="2660904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1972 года в ЦЭМИ, с 1991-го — заместитель директора. Теория НТП и эффективности.</a:t>
            </a:r>
            <a:endParaRPr lang="en-US" sz="1100" dirty="0"/>
          </a:p>
        </p:txBody>
      </p:sp>
      <p:sp>
        <p:nvSpPr>
          <p:cNvPr id="22" name="fx5_2_5"/>
          <p:cNvSpPr/>
          <p:nvPr/>
        </p:nvSpPr>
        <p:spPr>
          <a:xfrm>
            <a:off x="4050792" y="2057400"/>
            <a:ext cx="3227832" cy="1371600"/>
          </a:xfrm>
          <a:prstGeom prst="roundRect">
            <a:avLst>
              <a:gd name="adj" fmla="val 5333"/>
            </a:avLst>
          </a:prstGeom>
          <a:solidFill>
            <a:srgbClr val="0F201B">
              <a:alpha val="85000"/>
            </a:srgbClr>
          </a:solidFill>
          <a:ln w="9525">
            <a:solidFill>
              <a:srgbClr val="E0B45E">
                <a:alpha val="28000"/>
              </a:srgbClr>
            </a:solidFill>
            <a:prstDash val="solid"/>
          </a:ln>
        </p:spPr>
      </p:sp>
      <p:sp>
        <p:nvSpPr>
          <p:cNvPr id="23" name="fx5_2_6"/>
          <p:cNvSpPr/>
          <p:nvPr/>
        </p:nvSpPr>
        <p:spPr>
          <a:xfrm>
            <a:off x="4251960" y="21854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200" dirty="0"/>
          </a:p>
        </p:txBody>
      </p:sp>
      <p:sp>
        <p:nvSpPr>
          <p:cNvPr id="24" name="fx5_2_7"/>
          <p:cNvSpPr/>
          <p:nvPr/>
        </p:nvSpPr>
        <p:spPr>
          <a:xfrm>
            <a:off x="4782312" y="224028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науки</a:t>
            </a:r>
            <a:endParaRPr lang="en-US" sz="1300" dirty="0"/>
          </a:p>
        </p:txBody>
      </p:sp>
      <p:sp>
        <p:nvSpPr>
          <p:cNvPr id="25" name="fx5_2_8"/>
          <p:cNvSpPr/>
          <p:nvPr/>
        </p:nvSpPr>
        <p:spPr>
          <a:xfrm>
            <a:off x="4251960" y="2660904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Академик-секретарь Отделения экономики РАН (1996–2002), член Президиума РАН.</a:t>
            </a:r>
            <a:endParaRPr lang="en-US" sz="1100" dirty="0"/>
          </a:p>
        </p:txBody>
      </p:sp>
      <p:sp>
        <p:nvSpPr>
          <p:cNvPr id="26" name="fx5_3_9"/>
          <p:cNvSpPr/>
          <p:nvPr/>
        </p:nvSpPr>
        <p:spPr>
          <a:xfrm>
            <a:off x="685800" y="3575304"/>
            <a:ext cx="3227832" cy="1371600"/>
          </a:xfrm>
          <a:prstGeom prst="roundRect">
            <a:avLst>
              <a:gd name="adj" fmla="val 5333"/>
            </a:avLst>
          </a:prstGeom>
          <a:solidFill>
            <a:srgbClr val="0F201B">
              <a:alpha val="85000"/>
            </a:srgbClr>
          </a:solidFill>
          <a:ln w="9525">
            <a:solidFill>
              <a:srgbClr val="E0B45E">
                <a:alpha val="28000"/>
              </a:srgbClr>
            </a:solidFill>
            <a:prstDash val="solid"/>
          </a:ln>
        </p:spPr>
      </p:sp>
      <p:sp>
        <p:nvSpPr>
          <p:cNvPr id="27" name="fx5_3_10"/>
          <p:cNvSpPr/>
          <p:nvPr/>
        </p:nvSpPr>
        <p:spPr>
          <a:xfrm>
            <a:off x="886968" y="37033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200" dirty="0"/>
          </a:p>
        </p:txBody>
      </p:sp>
      <p:sp>
        <p:nvSpPr>
          <p:cNvPr id="28" name="fx5_3_11"/>
          <p:cNvSpPr/>
          <p:nvPr/>
        </p:nvSpPr>
        <p:spPr>
          <a:xfrm>
            <a:off x="1417320" y="375818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редактор</a:t>
            </a:r>
            <a:endParaRPr lang="en-US" sz="1300" dirty="0"/>
          </a:p>
        </p:txBody>
      </p:sp>
      <p:sp>
        <p:nvSpPr>
          <p:cNvPr id="29" name="fx5_3_12"/>
          <p:cNvSpPr/>
          <p:nvPr/>
        </p:nvSpPr>
        <p:spPr>
          <a:xfrm>
            <a:off x="886968" y="4178808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«Экономическая наука современной России» и «Экономика Северо-Запада».</a:t>
            </a:r>
            <a:endParaRPr lang="en-US" sz="1100" dirty="0"/>
          </a:p>
        </p:txBody>
      </p:sp>
      <p:sp>
        <p:nvSpPr>
          <p:cNvPr id="30" name="fx5_4_13"/>
          <p:cNvSpPr/>
          <p:nvPr/>
        </p:nvSpPr>
        <p:spPr>
          <a:xfrm>
            <a:off x="4050792" y="3575304"/>
            <a:ext cx="3227832" cy="1371600"/>
          </a:xfrm>
          <a:prstGeom prst="roundRect">
            <a:avLst>
              <a:gd name="adj" fmla="val 5333"/>
            </a:avLst>
          </a:prstGeom>
          <a:solidFill>
            <a:srgbClr val="0F201B">
              <a:alpha val="85000"/>
            </a:srgbClr>
          </a:solidFill>
          <a:ln w="9525">
            <a:solidFill>
              <a:srgbClr val="E0B45E">
                <a:alpha val="28000"/>
              </a:srgbClr>
            </a:solidFill>
            <a:prstDash val="solid"/>
          </a:ln>
        </p:spPr>
      </p:sp>
      <p:sp>
        <p:nvSpPr>
          <p:cNvPr id="31" name="fx5_4_14"/>
          <p:cNvSpPr/>
          <p:nvPr/>
        </p:nvSpPr>
        <p:spPr>
          <a:xfrm>
            <a:off x="4251960" y="37033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200" dirty="0"/>
          </a:p>
        </p:txBody>
      </p:sp>
      <p:sp>
        <p:nvSpPr>
          <p:cNvPr id="32" name="fx5_4_15"/>
          <p:cNvSpPr/>
          <p:nvPr/>
        </p:nvSpPr>
        <p:spPr>
          <a:xfrm>
            <a:off x="4782312" y="375818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Учитель</a:t>
            </a:r>
            <a:endParaRPr lang="en-US" sz="1300" dirty="0"/>
          </a:p>
        </p:txBody>
      </p:sp>
      <p:sp>
        <p:nvSpPr>
          <p:cNvPr id="33" name="fx5_4_16"/>
          <p:cNvSpPr/>
          <p:nvPr/>
        </p:nvSpPr>
        <p:spPr>
          <a:xfrm>
            <a:off x="4251960" y="4178808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Директор Института новой экономики ГУУ — бывшего МИЭИ. Ученик — академик С. Глазьев.</a:t>
            </a:r>
            <a:endParaRPr lang="en-US" sz="1100" dirty="0"/>
          </a:p>
        </p:txBody>
      </p:sp>
      <p:sp>
        <p:nvSpPr>
          <p:cNvPr id="34" name="fx5_8_17"/>
          <p:cNvSpPr/>
          <p:nvPr/>
        </p:nvSpPr>
        <p:spPr>
          <a:xfrm>
            <a:off x="685800" y="5257800"/>
            <a:ext cx="6592824" cy="932688"/>
          </a:xfrm>
          <a:prstGeom prst="roundRect">
            <a:avLst>
              <a:gd name="adj" fmla="val 7843"/>
            </a:avLst>
          </a:prstGeom>
          <a:solidFill>
            <a:srgbClr val="1E1A0C">
              <a:alpha val="92000"/>
            </a:srgbClr>
          </a:solidFill>
          <a:ln w="12700">
            <a:solidFill>
              <a:srgbClr val="E0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5" name="fx5_8_18"/>
          <p:cNvSpPr/>
          <p:nvPr/>
        </p:nvSpPr>
        <p:spPr>
          <a:xfrm>
            <a:off x="685800" y="5404104"/>
            <a:ext cx="50292" cy="640080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36" name="fx5_8_19"/>
          <p:cNvSpPr/>
          <p:nvPr/>
        </p:nvSpPr>
        <p:spPr>
          <a:xfrm>
            <a:off x="941832" y="512064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0B45E"/>
          </a:solidFill>
          <a:ln/>
        </p:spPr>
      </p:sp>
      <p:sp>
        <p:nvSpPr>
          <p:cNvPr id="37" name="fx5_8_20"/>
          <p:cNvSpPr/>
          <p:nvPr/>
        </p:nvSpPr>
        <p:spPr>
          <a:xfrm>
            <a:off x="941832" y="5120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61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8" name="fx5_8_21"/>
          <p:cNvSpPr/>
          <p:nvPr/>
        </p:nvSpPr>
        <p:spPr>
          <a:xfrm>
            <a:off x="960120" y="5440680"/>
            <a:ext cx="6135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Более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 научных работ, 14 монографий и 2 учебника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а уже тяжело больным он дописывал учебник по институциональной теории.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mobius">
                <a:extLst>
                  <a:ext uri="{FF2B5EF4-FFF2-40B4-BE49-F238E27FC236}">
                    <a16:creationId xmlns:a16="http://schemas.microsoft.com/office/drawing/2014/main" id="{AB6DDD45-4224-78B8-A2CA-362FB1148E9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206240" y="685800"/>
              <a:ext cx="3657600" cy="3657600"/>
            </p:xfrm>
            <a:graphic>
              <a:graphicData uri="http://schemas.microsoft.com/office/drawing/2017/model3d">
                <am3d:model3d r:embed="rIdM3d18">
                  <am3d:spPr>
                    <a:xfrm>
                      <a:off x="0" y="0"/>
                      <a:ext cx="3657600" cy="3657600"/>
                    </a:xfrm>
                    <a:prstGeom prst="rect">
                      <a:avLst/>
                    </a:prstGeom>
                  </am3d:spPr>
                  <am3d:camera>
                    <am3d:pos x="0" y="0" z="678514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5161" d="1000000"/>
                    <am3d:preTrans dx="0" dy="1161291" dz="-2090169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636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6576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mobius">
                <a:extLst>
                  <a:ext uri="{FF2B5EF4-FFF2-40B4-BE49-F238E27FC236}">
                    <a16:creationId xmlns:a16="http://schemas.microsoft.com/office/drawing/2014/main" id="{AB6DDD45-4224-78B8-A2CA-362FB1148E9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206240" y="685800"/>
                <a:ext cx="3657600" cy="36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0" name="!!m-uklad">
                <a:extLst>
                  <a:ext uri="{FF2B5EF4-FFF2-40B4-BE49-F238E27FC236}">
                    <a16:creationId xmlns:a16="http://schemas.microsoft.com/office/drawing/2014/main" id="{CB674600-8626-980C-4DC6-2BCF02C0D6F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280160"/>
              <a:ext cx="4297680" cy="4297680"/>
            </p:xfrm>
            <a:graphic>
              <a:graphicData uri="http://schemas.microsoft.com/office/drawing/2017/model3d">
                <am3d:model3d r:embed="rIdM3d19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7418823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0732" d="1000000"/>
                    <am3d:preTrans dx="0" dy="-12682116" dz="-78212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372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0" name="!!m-uklad">
                <a:extLst>
                  <a:ext uri="{FF2B5EF4-FFF2-40B4-BE49-F238E27FC236}">
                    <a16:creationId xmlns:a16="http://schemas.microsoft.com/office/drawing/2014/main" id="{CB674600-8626-980C-4DC6-2BCF02C0D6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280160"/>
                <a:ext cx="4297680" cy="429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6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lvov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3606698" cy="21946"/>
          </a:xfrm>
          <a:prstGeom prst="rect">
            <a:avLst/>
          </a:prstGeom>
          <a:solidFill>
            <a:srgbClr val="E0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2211B53C-6482-5629-C2C3-EC7D7354B0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18178" y="98755"/>
              <a:ext cx="548640" cy="548640"/>
            </p:xfrm>
            <a:graphic>
              <a:graphicData uri="http://schemas.microsoft.com/office/drawing/2017/model3d">
                <am3d:model3d r:embed="rIdM3d20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438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2211B53C-6482-5629-C2C3-EC7D7354B0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18178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ТЕХНОЛОГИЧЕСКИЕ УКЛАДЫ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ЛЬВОВ  ·  1930 – 2007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16</a:t>
            </a:r>
            <a:endParaRPr lang="en-US" sz="900" dirty="0"/>
          </a:p>
        </p:txBody>
      </p:sp>
      <p:pic>
        <p:nvPicPr>
          <p:cNvPr id="11" name="!!glow" descr="/home/user/omgGame/presentations/lvov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542" y="-52578"/>
            <a:ext cx="6231636" cy="6231636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718450" y="1043330"/>
            <a:ext cx="4039819" cy="4039819"/>
          </a:xfrm>
          <a:prstGeom prst="ellipse">
            <a:avLst/>
          </a:prstGeom>
          <a:ln w="9525">
            <a:solidFill>
              <a:srgbClr val="E0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159752" y="484632"/>
            <a:ext cx="5157216" cy="5157216"/>
          </a:xfrm>
          <a:prstGeom prst="ellipse">
            <a:avLst/>
          </a:prstGeom>
          <a:ln w="9525">
            <a:solidFill>
              <a:srgbClr val="E0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lvov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730" y="4035590"/>
            <a:ext cx="3223260" cy="805815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uklad">
                <a:extLst>
                  <a:ext uri="{FF2B5EF4-FFF2-40B4-BE49-F238E27FC236}">
                    <a16:creationId xmlns:a16="http://schemas.microsoft.com/office/drawing/2014/main" id="{EF76C17B-6A43-018B-D33A-F66AF0514F4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89520" y="914400"/>
              <a:ext cx="4297680" cy="4297680"/>
            </p:xfrm>
            <a:graphic>
              <a:graphicData uri="http://schemas.microsoft.com/office/drawing/2017/model3d">
                <am3d:model3d r:embed="rIdM3d21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7418823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0732" d="1000000"/>
                    <am3d:preTrans dx="0" dy="-12682116" dz="-78212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-10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uklad">
                <a:extLst>
                  <a:ext uri="{FF2B5EF4-FFF2-40B4-BE49-F238E27FC236}">
                    <a16:creationId xmlns:a16="http://schemas.microsoft.com/office/drawing/2014/main" id="{EF76C17B-6A43-018B-D33A-F66AF0514F4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89520" y="914400"/>
                <a:ext cx="4297680" cy="42976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6_9_0"/>
          <p:cNvSpPr/>
          <p:nvPr/>
        </p:nvSpPr>
        <p:spPr>
          <a:xfrm>
            <a:off x="7955280" y="491124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06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ступеней — шесть технологических укладов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Экономика растёт ступенями</a:t>
            </a:r>
            <a:endParaRPr lang="en-US" sz="3300" dirty="0"/>
          </a:p>
        </p:txBody>
      </p:sp>
      <p:sp>
        <p:nvSpPr>
          <p:cNvPr id="18" name="fx6_1_1"/>
          <p:cNvSpPr/>
          <p:nvPr/>
        </p:nvSpPr>
        <p:spPr>
          <a:xfrm>
            <a:off x="685800" y="1691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Уклад — связка технологий, которая тянет экономику несколько десятилетий, а потом уступает место новой.</a:t>
            </a:r>
            <a:endParaRPr lang="en-US" sz="1250" dirty="0"/>
          </a:p>
        </p:txBody>
      </p:sp>
      <p:sp>
        <p:nvSpPr>
          <p:cNvPr id="19" name="fx6_2_2"/>
          <p:cNvSpPr/>
          <p:nvPr/>
        </p:nvSpPr>
        <p:spPr>
          <a:xfrm>
            <a:off x="685800" y="2331720"/>
            <a:ext cx="3227832" cy="786384"/>
          </a:xfrm>
          <a:prstGeom prst="roundRect">
            <a:avLst>
              <a:gd name="adj" fmla="val 9302"/>
            </a:avLst>
          </a:prstGeom>
          <a:solidFill>
            <a:srgbClr val="0F201B">
              <a:alpha val="88000"/>
            </a:srgbClr>
          </a:solidFill>
          <a:ln w="9525">
            <a:solidFill>
              <a:srgbClr val="E0B45E">
                <a:alpha val="30000"/>
              </a:srgbClr>
            </a:solidFill>
            <a:prstDash val="solid"/>
          </a:ln>
        </p:spPr>
      </p:sp>
      <p:sp>
        <p:nvSpPr>
          <p:cNvPr id="20" name="fx6_2_3"/>
          <p:cNvSpPr/>
          <p:nvPr/>
        </p:nvSpPr>
        <p:spPr>
          <a:xfrm>
            <a:off x="822960" y="244144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21" name="fx6_2_4"/>
          <p:cNvSpPr/>
          <p:nvPr/>
        </p:nvSpPr>
        <p:spPr>
          <a:xfrm>
            <a:off x="1417320" y="244144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≈1770</a:t>
            </a:r>
            <a:endParaRPr lang="en-US" sz="1000" dirty="0"/>
          </a:p>
        </p:txBody>
      </p:sp>
      <p:sp>
        <p:nvSpPr>
          <p:cNvPr id="22" name="fx6_2_5"/>
          <p:cNvSpPr/>
          <p:nvPr/>
        </p:nvSpPr>
        <p:spPr>
          <a:xfrm>
            <a:off x="1417320" y="267919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Текстиль, водяной двигатель</a:t>
            </a:r>
            <a:endParaRPr lang="en-US" sz="1250" dirty="0"/>
          </a:p>
        </p:txBody>
      </p:sp>
      <p:sp>
        <p:nvSpPr>
          <p:cNvPr id="23" name="fx6_2_6"/>
          <p:cNvSpPr/>
          <p:nvPr/>
        </p:nvSpPr>
        <p:spPr>
          <a:xfrm>
            <a:off x="4050792" y="2331720"/>
            <a:ext cx="3227832" cy="786384"/>
          </a:xfrm>
          <a:prstGeom prst="roundRect">
            <a:avLst>
              <a:gd name="adj" fmla="val 9302"/>
            </a:avLst>
          </a:prstGeom>
          <a:solidFill>
            <a:srgbClr val="0F201B">
              <a:alpha val="88000"/>
            </a:srgbClr>
          </a:solidFill>
          <a:ln w="9525">
            <a:solidFill>
              <a:srgbClr val="E0B45E">
                <a:alpha val="30000"/>
              </a:srgbClr>
            </a:solidFill>
            <a:prstDash val="solid"/>
          </a:ln>
        </p:spPr>
      </p:sp>
      <p:sp>
        <p:nvSpPr>
          <p:cNvPr id="24" name="fx6_2_7"/>
          <p:cNvSpPr/>
          <p:nvPr/>
        </p:nvSpPr>
        <p:spPr>
          <a:xfrm>
            <a:off x="4187952" y="244144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25" name="fx6_2_8"/>
          <p:cNvSpPr/>
          <p:nvPr/>
        </p:nvSpPr>
        <p:spPr>
          <a:xfrm>
            <a:off x="4782312" y="244144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≈1830</a:t>
            </a:r>
            <a:endParaRPr lang="en-US" sz="1000" dirty="0"/>
          </a:p>
        </p:txBody>
      </p:sp>
      <p:sp>
        <p:nvSpPr>
          <p:cNvPr id="26" name="fx6_2_9"/>
          <p:cNvSpPr/>
          <p:nvPr/>
        </p:nvSpPr>
        <p:spPr>
          <a:xfrm>
            <a:off x="4782312" y="267919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Пар, уголь, железные дороги</a:t>
            </a:r>
            <a:endParaRPr lang="en-US" sz="1250" dirty="0"/>
          </a:p>
        </p:txBody>
      </p:sp>
      <p:sp>
        <p:nvSpPr>
          <p:cNvPr id="27" name="fx6_3_10"/>
          <p:cNvSpPr/>
          <p:nvPr/>
        </p:nvSpPr>
        <p:spPr>
          <a:xfrm>
            <a:off x="685800" y="3227832"/>
            <a:ext cx="3227832" cy="786384"/>
          </a:xfrm>
          <a:prstGeom prst="roundRect">
            <a:avLst>
              <a:gd name="adj" fmla="val 9302"/>
            </a:avLst>
          </a:prstGeom>
          <a:solidFill>
            <a:srgbClr val="0F201B">
              <a:alpha val="88000"/>
            </a:srgbClr>
          </a:solidFill>
          <a:ln w="9525">
            <a:solidFill>
              <a:srgbClr val="E0B45E">
                <a:alpha val="30000"/>
              </a:srgbClr>
            </a:solidFill>
            <a:prstDash val="solid"/>
          </a:ln>
        </p:spPr>
      </p:sp>
      <p:sp>
        <p:nvSpPr>
          <p:cNvPr id="28" name="fx6_3_11"/>
          <p:cNvSpPr/>
          <p:nvPr/>
        </p:nvSpPr>
        <p:spPr>
          <a:xfrm>
            <a:off x="822960" y="33375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9" name="fx6_3_12"/>
          <p:cNvSpPr/>
          <p:nvPr/>
        </p:nvSpPr>
        <p:spPr>
          <a:xfrm>
            <a:off x="1417320" y="333756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≈1880</a:t>
            </a:r>
            <a:endParaRPr lang="en-US" sz="1000" dirty="0"/>
          </a:p>
        </p:txBody>
      </p:sp>
      <p:sp>
        <p:nvSpPr>
          <p:cNvPr id="30" name="fx6_3_13"/>
          <p:cNvSpPr/>
          <p:nvPr/>
        </p:nvSpPr>
        <p:spPr>
          <a:xfrm>
            <a:off x="1417320" y="357530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Электричество, сталь</a:t>
            </a:r>
            <a:endParaRPr lang="en-US" sz="1250" dirty="0"/>
          </a:p>
        </p:txBody>
      </p:sp>
      <p:sp>
        <p:nvSpPr>
          <p:cNvPr id="31" name="fx6_3_14"/>
          <p:cNvSpPr/>
          <p:nvPr/>
        </p:nvSpPr>
        <p:spPr>
          <a:xfrm>
            <a:off x="4050792" y="3227832"/>
            <a:ext cx="3227832" cy="786384"/>
          </a:xfrm>
          <a:prstGeom prst="roundRect">
            <a:avLst>
              <a:gd name="adj" fmla="val 9302"/>
            </a:avLst>
          </a:prstGeom>
          <a:solidFill>
            <a:srgbClr val="0F201B">
              <a:alpha val="88000"/>
            </a:srgbClr>
          </a:solidFill>
          <a:ln w="9525">
            <a:solidFill>
              <a:srgbClr val="E0B45E">
                <a:alpha val="30000"/>
              </a:srgbClr>
            </a:solidFill>
            <a:prstDash val="solid"/>
          </a:ln>
        </p:spPr>
      </p:sp>
      <p:sp>
        <p:nvSpPr>
          <p:cNvPr id="32" name="fx6_3_15"/>
          <p:cNvSpPr/>
          <p:nvPr/>
        </p:nvSpPr>
        <p:spPr>
          <a:xfrm>
            <a:off x="4187952" y="33375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33" name="fx6_3_16"/>
          <p:cNvSpPr/>
          <p:nvPr/>
        </p:nvSpPr>
        <p:spPr>
          <a:xfrm>
            <a:off x="4782312" y="333756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≈1930</a:t>
            </a:r>
            <a:endParaRPr lang="en-US" sz="1000" dirty="0"/>
          </a:p>
        </p:txBody>
      </p:sp>
      <p:sp>
        <p:nvSpPr>
          <p:cNvPr id="34" name="fx6_3_17"/>
          <p:cNvSpPr/>
          <p:nvPr/>
        </p:nvSpPr>
        <p:spPr>
          <a:xfrm>
            <a:off x="4782312" y="357530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Нефть, автомобили, химия</a:t>
            </a:r>
            <a:endParaRPr lang="en-US" sz="1250" dirty="0"/>
          </a:p>
        </p:txBody>
      </p:sp>
      <p:sp>
        <p:nvSpPr>
          <p:cNvPr id="35" name="fx6_4_18"/>
          <p:cNvSpPr/>
          <p:nvPr/>
        </p:nvSpPr>
        <p:spPr>
          <a:xfrm>
            <a:off x="685800" y="4123944"/>
            <a:ext cx="3227832" cy="786384"/>
          </a:xfrm>
          <a:prstGeom prst="roundRect">
            <a:avLst>
              <a:gd name="adj" fmla="val 9302"/>
            </a:avLst>
          </a:prstGeom>
          <a:solidFill>
            <a:srgbClr val="0F201B">
              <a:alpha val="88000"/>
            </a:srgbClr>
          </a:solidFill>
          <a:ln w="9525">
            <a:solidFill>
              <a:srgbClr val="E0B45E">
                <a:alpha val="30000"/>
              </a:srgbClr>
            </a:solidFill>
            <a:prstDash val="solid"/>
          </a:ln>
        </p:spPr>
      </p:sp>
      <p:sp>
        <p:nvSpPr>
          <p:cNvPr id="36" name="fx6_4_19"/>
          <p:cNvSpPr/>
          <p:nvPr/>
        </p:nvSpPr>
        <p:spPr>
          <a:xfrm>
            <a:off x="822960" y="42336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37" name="fx6_4_20"/>
          <p:cNvSpPr/>
          <p:nvPr/>
        </p:nvSpPr>
        <p:spPr>
          <a:xfrm>
            <a:off x="1417320" y="423367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≈1980</a:t>
            </a:r>
            <a:endParaRPr lang="en-US" sz="1000" dirty="0"/>
          </a:p>
        </p:txBody>
      </p:sp>
      <p:sp>
        <p:nvSpPr>
          <p:cNvPr id="38" name="fx6_4_21"/>
          <p:cNvSpPr/>
          <p:nvPr/>
        </p:nvSpPr>
        <p:spPr>
          <a:xfrm>
            <a:off x="1417320" y="447141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Микроэлектроника, компьютеры</a:t>
            </a:r>
            <a:endParaRPr lang="en-US" sz="1250" dirty="0"/>
          </a:p>
        </p:txBody>
      </p:sp>
      <p:sp>
        <p:nvSpPr>
          <p:cNvPr id="39" name="fx6_4_22"/>
          <p:cNvSpPr/>
          <p:nvPr/>
        </p:nvSpPr>
        <p:spPr>
          <a:xfrm>
            <a:off x="4050792" y="4123944"/>
            <a:ext cx="3227832" cy="786384"/>
          </a:xfrm>
          <a:prstGeom prst="roundRect">
            <a:avLst>
              <a:gd name="adj" fmla="val 9302"/>
            </a:avLst>
          </a:prstGeom>
          <a:solidFill>
            <a:srgbClr val="0F201B">
              <a:alpha val="88000"/>
            </a:srgbClr>
          </a:solidFill>
          <a:ln w="9525">
            <a:solidFill>
              <a:srgbClr val="E0674C">
                <a:alpha val="65000"/>
              </a:srgbClr>
            </a:solidFill>
            <a:prstDash val="solid"/>
          </a:ln>
        </p:spPr>
      </p:sp>
      <p:sp>
        <p:nvSpPr>
          <p:cNvPr id="40" name="fx6_4_23"/>
          <p:cNvSpPr/>
          <p:nvPr/>
        </p:nvSpPr>
        <p:spPr>
          <a:xfrm>
            <a:off x="4187952" y="42336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06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41" name="fx6_4_24"/>
          <p:cNvSpPr/>
          <p:nvPr/>
        </p:nvSpPr>
        <p:spPr>
          <a:xfrm>
            <a:off x="4782312" y="4233672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50" kern="0" dirty="0">
                <a:solidFill>
                  <a:srgbClr val="E06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2010-е</a:t>
            </a:r>
            <a:endParaRPr lang="en-US" sz="1000" dirty="0"/>
          </a:p>
        </p:txBody>
      </p:sp>
      <p:sp>
        <p:nvSpPr>
          <p:cNvPr id="42" name="fx6_4_25"/>
          <p:cNvSpPr/>
          <p:nvPr/>
        </p:nvSpPr>
        <p:spPr>
          <a:xfrm>
            <a:off x="4782312" y="447141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Нано- и биотехнологии</a:t>
            </a:r>
            <a:endParaRPr lang="en-US" sz="1250" dirty="0"/>
          </a:p>
        </p:txBody>
      </p:sp>
      <p:sp>
        <p:nvSpPr>
          <p:cNvPr id="43" name="fx6_8_26"/>
          <p:cNvSpPr/>
          <p:nvPr/>
        </p:nvSpPr>
        <p:spPr>
          <a:xfrm>
            <a:off x="685800" y="5166360"/>
            <a:ext cx="6592824" cy="1024128"/>
          </a:xfrm>
          <a:prstGeom prst="roundRect">
            <a:avLst>
              <a:gd name="adj" fmla="val 7143"/>
            </a:avLst>
          </a:prstGeom>
          <a:solidFill>
            <a:srgbClr val="1E1A0C">
              <a:alpha val="92000"/>
            </a:srgbClr>
          </a:solidFill>
          <a:ln w="12700">
            <a:solidFill>
              <a:srgbClr val="E0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4" name="fx6_8_27"/>
          <p:cNvSpPr/>
          <p:nvPr/>
        </p:nvSpPr>
        <p:spPr>
          <a:xfrm>
            <a:off x="685800" y="5312664"/>
            <a:ext cx="50292" cy="731520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45" name="fx6_8_28"/>
          <p:cNvSpPr/>
          <p:nvPr/>
        </p:nvSpPr>
        <p:spPr>
          <a:xfrm>
            <a:off x="941832" y="502920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0B45E"/>
          </a:solidFill>
          <a:ln/>
        </p:spPr>
      </p:sp>
      <p:sp>
        <p:nvSpPr>
          <p:cNvPr id="46" name="fx6_8_29"/>
          <p:cNvSpPr/>
          <p:nvPr/>
        </p:nvSpPr>
        <p:spPr>
          <a:xfrm>
            <a:off x="941832" y="5029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61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47" name="fx6_8_30"/>
          <p:cNvSpPr/>
          <p:nvPr/>
        </p:nvSpPr>
        <p:spPr>
          <a:xfrm>
            <a:off x="960120" y="5349240"/>
            <a:ext cx="6135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Сам термин «технологический уклад»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придумали Львов и его ученик Сергей Глазьев в 1986 году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российский аналог длинных волн Кондратьева.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!!m-books">
                <a:extLst>
                  <a:ext uri="{FF2B5EF4-FFF2-40B4-BE49-F238E27FC236}">
                    <a16:creationId xmlns:a16="http://schemas.microsoft.com/office/drawing/2014/main" id="{62C4A945-179C-ABFD-AA57-00DB3E6539F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029200" y="1463040"/>
              <a:ext cx="4480560" cy="4480560"/>
            </p:xfrm>
            <a:graphic>
              <a:graphicData uri="http://schemas.microsoft.com/office/drawing/2017/model3d">
                <am3d:model3d r:embed="rIdM3d22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6154743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08497" d="1000000"/>
                    <am3d:preTrans dx="-45344" dy="-6101840" dz="-527068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-624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!!m-books">
                <a:extLst>
                  <a:ext uri="{FF2B5EF4-FFF2-40B4-BE49-F238E27FC236}">
                    <a16:creationId xmlns:a16="http://schemas.microsoft.com/office/drawing/2014/main" id="{62C4A945-179C-ABFD-AA57-00DB3E6539F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029200" y="1463040"/>
                <a:ext cx="4480560" cy="44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9" name="!!m-barrel">
                <a:extLst>
                  <a:ext uri="{FF2B5EF4-FFF2-40B4-BE49-F238E27FC236}">
                    <a16:creationId xmlns:a16="http://schemas.microsoft.com/office/drawing/2014/main" id="{31C7BAAF-8537-7D17-D9FC-906BE783AD1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280160"/>
              <a:ext cx="3931920" cy="3931920"/>
            </p:xfrm>
            <a:graphic>
              <a:graphicData uri="http://schemas.microsoft.com/office/drawing/2017/model3d">
                <am3d:model3d r:embed="rIdM3d23">
                  <am3d:spPr>
                    <a:xfrm>
                      <a:off x="0" y="0"/>
                      <a:ext cx="3931920" cy="3931920"/>
                    </a:xfrm>
                    <a:prstGeom prst="rect">
                      <a:avLst/>
                    </a:prstGeom>
                  </am3d:spPr>
                  <am3d:camera>
                    <am3d:pos x="0" y="0" z="6894217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28505" d="1000000"/>
                    <am3d:preTrans dx="0" dy="-17598886" dz="-401114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36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9319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9" name="!!m-barrel">
                <a:extLst>
                  <a:ext uri="{FF2B5EF4-FFF2-40B4-BE49-F238E27FC236}">
                    <a16:creationId xmlns:a16="http://schemas.microsoft.com/office/drawing/2014/main" id="{31C7BAAF-8537-7D17-D9FC-906BE783AD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280160"/>
                <a:ext cx="3931920" cy="3931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7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lvov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4328038" cy="21946"/>
          </a:xfrm>
          <a:prstGeom prst="rect">
            <a:avLst/>
          </a:prstGeom>
          <a:solidFill>
            <a:srgbClr val="E0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475BC4AB-5B80-D192-9BBB-7708C1D3B09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39518" y="98755"/>
              <a:ext cx="548640" cy="548640"/>
            </p:xfrm>
            <a:graphic>
              <a:graphicData uri="http://schemas.microsoft.com/office/drawing/2017/model3d">
                <am3d:model3d r:embed="rIdM3d24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5256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475BC4AB-5B80-D192-9BBB-7708C1D3B0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39518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ГЛАВНАЯ МЫСЛЬ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ЛЬВОВ  ·  1930 – 2007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16</a:t>
            </a:r>
            <a:endParaRPr lang="en-US" sz="900" dirty="0"/>
          </a:p>
        </p:txBody>
      </p:sp>
      <p:pic>
        <p:nvPicPr>
          <p:cNvPr id="11" name="!!glow" descr="/home/user/omgGame/presentations/lvov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318" y="29718"/>
            <a:ext cx="5701284" cy="570128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8118958" y="1032358"/>
            <a:ext cx="3696005" cy="3696005"/>
          </a:xfrm>
          <a:prstGeom prst="ellipse">
            <a:avLst/>
          </a:prstGeom>
          <a:ln w="9525">
            <a:solidFill>
              <a:srgbClr val="E0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607808" y="521208"/>
            <a:ext cx="4718304" cy="4718304"/>
          </a:xfrm>
          <a:prstGeom prst="ellipse">
            <a:avLst/>
          </a:prstGeom>
          <a:ln w="9525">
            <a:solidFill>
              <a:srgbClr val="E0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lvov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980" y="4128745"/>
            <a:ext cx="1965960" cy="49149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barrel">
                <a:extLst>
                  <a:ext uri="{FF2B5EF4-FFF2-40B4-BE49-F238E27FC236}">
                    <a16:creationId xmlns:a16="http://schemas.microsoft.com/office/drawing/2014/main" id="{89381BA7-7373-2055-64AF-67527802593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001000" y="914400"/>
              <a:ext cx="3931920" cy="3931920"/>
            </p:xfrm>
            <a:graphic>
              <a:graphicData uri="http://schemas.microsoft.com/office/drawing/2017/model3d">
                <am3d:model3d r:embed="rIdM3d25">
                  <am3d:spPr>
                    <a:xfrm>
                      <a:off x="0" y="0"/>
                      <a:ext cx="3931920" cy="3931920"/>
                    </a:xfrm>
                    <a:prstGeom prst="rect">
                      <a:avLst/>
                    </a:prstGeom>
                  </am3d:spPr>
                  <am3d:camera>
                    <am3d:pos x="0" y="0" z="6894217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28505" d="1000000"/>
                    <am3d:preTrans dx="0" dy="-17598886" dz="-401114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2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9319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barrel">
                <a:extLst>
                  <a:ext uri="{FF2B5EF4-FFF2-40B4-BE49-F238E27FC236}">
                    <a16:creationId xmlns:a16="http://schemas.microsoft.com/office/drawing/2014/main" id="{89381BA7-7373-2055-64AF-67527802593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1000" y="914400"/>
                <a:ext cx="3931920" cy="39319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7_9_0"/>
          <p:cNvSpPr/>
          <p:nvPr/>
        </p:nvSpPr>
        <p:spPr>
          <a:xfrm>
            <a:off x="8229600" y="457108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07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Нефтяная бочка: доход, который дала природа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Рента — общее богатство, а не чья-то прибыль</a:t>
            </a:r>
            <a:endParaRPr lang="en-US" sz="3100" dirty="0"/>
          </a:p>
        </p:txBody>
      </p:sp>
      <p:sp>
        <p:nvSpPr>
          <p:cNvPr id="18" name="fx7_1_1"/>
          <p:cNvSpPr/>
          <p:nvPr/>
        </p:nvSpPr>
        <p:spPr>
          <a:xfrm>
            <a:off x="685800" y="2148840"/>
            <a:ext cx="2176272" cy="1828800"/>
          </a:xfrm>
          <a:prstGeom prst="roundRect">
            <a:avLst>
              <a:gd name="adj" fmla="val 4000"/>
            </a:avLst>
          </a:prstGeom>
          <a:solidFill>
            <a:srgbClr val="0F201B">
              <a:alpha val="88000"/>
            </a:srgbClr>
          </a:solidFill>
          <a:ln w="9525">
            <a:solidFill>
              <a:srgbClr val="8FA39A">
                <a:alpha val="30000"/>
              </a:srgbClr>
            </a:solidFill>
            <a:prstDash val="solid"/>
          </a:ln>
        </p:spPr>
      </p:sp>
      <p:sp>
        <p:nvSpPr>
          <p:cNvPr id="19" name="fx7_1_2"/>
          <p:cNvSpPr/>
          <p:nvPr/>
        </p:nvSpPr>
        <p:spPr>
          <a:xfrm>
            <a:off x="868680" y="2331720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</a:t>
            </a:r>
            <a:endParaRPr lang="en-US" sz="950" dirty="0"/>
          </a:p>
        </p:txBody>
      </p:sp>
      <p:sp>
        <p:nvSpPr>
          <p:cNvPr id="20" name="fx7_1_3"/>
          <p:cNvSpPr/>
          <p:nvPr/>
        </p:nvSpPr>
        <p:spPr>
          <a:xfrm>
            <a:off x="868680" y="26060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Зарплата</a:t>
            </a:r>
            <a:endParaRPr lang="en-US" sz="2200" dirty="0"/>
          </a:p>
        </p:txBody>
      </p:sp>
      <p:sp>
        <p:nvSpPr>
          <p:cNvPr id="21" name="fx7_1_4"/>
          <p:cNvSpPr/>
          <p:nvPr/>
        </p:nvSpPr>
        <p:spPr>
          <a:xfrm>
            <a:off x="868680" y="310896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Заработана трудом — принадлежит работнику.</a:t>
            </a:r>
            <a:endParaRPr lang="en-US" sz="1150" dirty="0"/>
          </a:p>
        </p:txBody>
      </p:sp>
      <p:sp>
        <p:nvSpPr>
          <p:cNvPr id="22" name="fx7_2_5"/>
          <p:cNvSpPr/>
          <p:nvPr/>
        </p:nvSpPr>
        <p:spPr>
          <a:xfrm>
            <a:off x="2971800" y="2148840"/>
            <a:ext cx="2176272" cy="1828800"/>
          </a:xfrm>
          <a:prstGeom prst="roundRect">
            <a:avLst>
              <a:gd name="adj" fmla="val 4000"/>
            </a:avLst>
          </a:prstGeom>
          <a:solidFill>
            <a:srgbClr val="0F201B">
              <a:alpha val="88000"/>
            </a:srgbClr>
          </a:solidFill>
          <a:ln w="9525">
            <a:solidFill>
              <a:srgbClr val="8FA39A">
                <a:alpha val="30000"/>
              </a:srgbClr>
            </a:solidFill>
            <a:prstDash val="solid"/>
          </a:ln>
        </p:spPr>
      </p:sp>
      <p:sp>
        <p:nvSpPr>
          <p:cNvPr id="23" name="fx7_2_6"/>
          <p:cNvSpPr/>
          <p:nvPr/>
        </p:nvSpPr>
        <p:spPr>
          <a:xfrm>
            <a:off x="3154680" y="2331720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 И РИСК</a:t>
            </a:r>
            <a:endParaRPr lang="en-US" sz="950" dirty="0"/>
          </a:p>
        </p:txBody>
      </p:sp>
      <p:sp>
        <p:nvSpPr>
          <p:cNvPr id="24" name="fx7_2_7"/>
          <p:cNvSpPr/>
          <p:nvPr/>
        </p:nvSpPr>
        <p:spPr>
          <a:xfrm>
            <a:off x="3154680" y="26060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Прибыль</a:t>
            </a:r>
            <a:endParaRPr lang="en-US" sz="2200" dirty="0"/>
          </a:p>
        </p:txBody>
      </p:sp>
      <p:sp>
        <p:nvSpPr>
          <p:cNvPr id="25" name="fx7_2_8"/>
          <p:cNvSpPr/>
          <p:nvPr/>
        </p:nvSpPr>
        <p:spPr>
          <a:xfrm>
            <a:off x="3154680" y="310896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Заработана вложениями и риском — принадлежит предпринимателю.</a:t>
            </a:r>
            <a:endParaRPr lang="en-US" sz="1150" dirty="0"/>
          </a:p>
        </p:txBody>
      </p:sp>
      <p:sp>
        <p:nvSpPr>
          <p:cNvPr id="26" name="fx7_3_9"/>
          <p:cNvSpPr/>
          <p:nvPr/>
        </p:nvSpPr>
        <p:spPr>
          <a:xfrm>
            <a:off x="5257800" y="2148840"/>
            <a:ext cx="2176272" cy="1828800"/>
          </a:xfrm>
          <a:prstGeom prst="roundRect">
            <a:avLst>
              <a:gd name="adj" fmla="val 4000"/>
            </a:avLst>
          </a:prstGeom>
          <a:solidFill>
            <a:srgbClr val="2A2410"/>
          </a:solidFill>
          <a:ln w="9525">
            <a:solidFill>
              <a:srgbClr val="E0B45E">
                <a:alpha val="70000"/>
              </a:srgbClr>
            </a:solidFill>
            <a:prstDash val="solid"/>
          </a:ln>
        </p:spPr>
      </p:sp>
      <p:sp>
        <p:nvSpPr>
          <p:cNvPr id="27" name="fx7_3_10"/>
          <p:cNvSpPr/>
          <p:nvPr/>
        </p:nvSpPr>
        <p:spPr>
          <a:xfrm>
            <a:off x="5440680" y="2331720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ПРИРОДА</a:t>
            </a:r>
            <a:endParaRPr lang="en-US" sz="950" dirty="0"/>
          </a:p>
        </p:txBody>
      </p:sp>
      <p:sp>
        <p:nvSpPr>
          <p:cNvPr id="28" name="fx7_3_11"/>
          <p:cNvSpPr/>
          <p:nvPr/>
        </p:nvSpPr>
        <p:spPr>
          <a:xfrm>
            <a:off x="5440680" y="26060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Рента</a:t>
            </a:r>
            <a:endParaRPr lang="en-US" sz="2200" dirty="0"/>
          </a:p>
        </p:txBody>
      </p:sp>
      <p:sp>
        <p:nvSpPr>
          <p:cNvPr id="29" name="fx7_3_12"/>
          <p:cNvSpPr/>
          <p:nvPr/>
        </p:nvSpPr>
        <p:spPr>
          <a:xfrm>
            <a:off x="5440680" y="310896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заработана никем — должна принадлежать обществу.</a:t>
            </a:r>
            <a:endParaRPr lang="en-US" sz="1150" dirty="0"/>
          </a:p>
        </p:txBody>
      </p:sp>
      <p:sp>
        <p:nvSpPr>
          <p:cNvPr id="30" name="fx7_4_13"/>
          <p:cNvSpPr/>
          <p:nvPr/>
        </p:nvSpPr>
        <p:spPr>
          <a:xfrm>
            <a:off x="685800" y="4160520"/>
            <a:ext cx="6766560" cy="621792"/>
          </a:xfrm>
          <a:prstGeom prst="roundRect">
            <a:avLst>
              <a:gd name="adj" fmla="val 11765"/>
            </a:avLst>
          </a:prstGeom>
          <a:solidFill>
            <a:srgbClr val="0F201B">
              <a:alpha val="85000"/>
            </a:srgbClr>
          </a:solidFill>
          <a:ln w="9525">
            <a:solidFill>
              <a:srgbClr val="E0B45E">
                <a:alpha val="45000"/>
              </a:srgbClr>
            </a:solidFill>
            <a:prstDash val="solid"/>
          </a:ln>
        </p:spPr>
      </p:sp>
      <p:sp>
        <p:nvSpPr>
          <p:cNvPr id="31" name="fx7_4_14"/>
          <p:cNvSpPr/>
          <p:nvPr/>
        </p:nvSpPr>
        <p:spPr>
          <a:xfrm>
            <a:off x="914400" y="416052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Рента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рыночная цена ресурса − затраты на добычу − нормальная прибыль</a:t>
            </a:r>
            <a:endParaRPr lang="en-US" sz="1300" dirty="0"/>
          </a:p>
        </p:txBody>
      </p:sp>
      <p:sp>
        <p:nvSpPr>
          <p:cNvPr id="32" name="fx7_8_15"/>
          <p:cNvSpPr/>
          <p:nvPr/>
        </p:nvSpPr>
        <p:spPr>
          <a:xfrm>
            <a:off x="685800" y="5257800"/>
            <a:ext cx="6766560" cy="932688"/>
          </a:xfrm>
          <a:prstGeom prst="roundRect">
            <a:avLst>
              <a:gd name="adj" fmla="val 7843"/>
            </a:avLst>
          </a:prstGeom>
          <a:solidFill>
            <a:srgbClr val="1E1A0C">
              <a:alpha val="92000"/>
            </a:srgbClr>
          </a:solidFill>
          <a:ln w="12700">
            <a:solidFill>
              <a:srgbClr val="E0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3" name="fx7_8_16"/>
          <p:cNvSpPr/>
          <p:nvPr/>
        </p:nvSpPr>
        <p:spPr>
          <a:xfrm>
            <a:off x="685800" y="5404104"/>
            <a:ext cx="50292" cy="640080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34" name="fx7_8_17"/>
          <p:cNvSpPr/>
          <p:nvPr/>
        </p:nvSpPr>
        <p:spPr>
          <a:xfrm>
            <a:off x="941832" y="5120640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0B45E"/>
          </a:solidFill>
          <a:ln/>
        </p:spPr>
      </p:sp>
      <p:sp>
        <p:nvSpPr>
          <p:cNvPr id="35" name="fx7_8_18"/>
          <p:cNvSpPr/>
          <p:nvPr/>
        </p:nvSpPr>
        <p:spPr>
          <a:xfrm>
            <a:off x="941832" y="512064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61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ЦИТАТА</a:t>
            </a:r>
            <a:endParaRPr lang="en-US" sz="850" dirty="0"/>
          </a:p>
        </p:txBody>
      </p:sp>
      <p:sp>
        <p:nvSpPr>
          <p:cNvPr id="36" name="fx7_8_19"/>
          <p:cNvSpPr/>
          <p:nvPr/>
        </p:nvSpPr>
        <p:spPr>
          <a:xfrm>
            <a:off x="960120" y="544068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«Это то, что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заработано ни трудом, ни капиталом</a:t>
            </a:r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а дано России и россиянам от Бога».</a:t>
            </a:r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— Д. С. Львов о ренте</a:t>
            </a:r>
            <a:endParaRPr lang="en-US" sz="13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7" name="!!m-uklad">
                <a:extLst>
                  <a:ext uri="{FF2B5EF4-FFF2-40B4-BE49-F238E27FC236}">
                    <a16:creationId xmlns:a16="http://schemas.microsoft.com/office/drawing/2014/main" id="{D28970D3-815D-BEB0-C838-93754D215F8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846320" y="1280160"/>
              <a:ext cx="4297680" cy="4297680"/>
            </p:xfrm>
            <a:graphic>
              <a:graphicData uri="http://schemas.microsoft.com/office/drawing/2017/model3d">
                <am3d:model3d r:embed="rIdM3d26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7418823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0732" d="1000000"/>
                    <am3d:preTrans dx="0" dy="-12682116" dz="-78212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-58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7" name="!!m-uklad">
                <a:extLst>
                  <a:ext uri="{FF2B5EF4-FFF2-40B4-BE49-F238E27FC236}">
                    <a16:creationId xmlns:a16="http://schemas.microsoft.com/office/drawing/2014/main" id="{D28970D3-815D-BEB0-C838-93754D215F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846320" y="1280160"/>
                <a:ext cx="4297680" cy="42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8" name="!!m-pie">
                <a:extLst>
                  <a:ext uri="{FF2B5EF4-FFF2-40B4-BE49-F238E27FC236}">
                    <a16:creationId xmlns:a16="http://schemas.microsoft.com/office/drawing/2014/main" id="{724898F8-6413-F7B9-B24E-AEB6B2BF6D4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71600"/>
              <a:ext cx="4389120" cy="4389120"/>
            </p:xfrm>
            <a:graphic>
              <a:graphicData uri="http://schemas.microsoft.com/office/drawing/2017/model3d">
                <am3d:model3d r:embed="rIdM3d27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718992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57895" d="1000000"/>
                    <am3d:preTrans dx="0" dy="-2913158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040000" ay="384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8" name="!!m-pie">
                <a:extLst>
                  <a:ext uri="{FF2B5EF4-FFF2-40B4-BE49-F238E27FC236}">
                    <a16:creationId xmlns:a16="http://schemas.microsoft.com/office/drawing/2014/main" id="{724898F8-6413-F7B9-B24E-AEB6B2BF6D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371600"/>
                <a:ext cx="4389120" cy="438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8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lvov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5049378" cy="21946"/>
          </a:xfrm>
          <a:prstGeom prst="rect">
            <a:avLst/>
          </a:prstGeom>
          <a:solidFill>
            <a:srgbClr val="E0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85914BAC-DE10-4720-A199-79F92D00755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460858" y="98755"/>
              <a:ext cx="548640" cy="548640"/>
            </p:xfrm>
            <a:graphic>
              <a:graphicData uri="http://schemas.microsoft.com/office/drawing/2017/model3d">
                <am3d:model3d r:embed="rIdM3d28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6132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85914BAC-DE10-4720-A199-79F92D0075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460858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ГЛАВНАЯ МЫСЛЬ: ЦИФРЫ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ЛЬВОВ  ·  1930 – 2007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16</a:t>
            </a:r>
            <a:endParaRPr lang="en-US" sz="900" dirty="0"/>
          </a:p>
        </p:txBody>
      </p:sp>
      <p:pic>
        <p:nvPicPr>
          <p:cNvPr id="11" name="!!glow" descr="/home/user/omgGame/presentations/lvov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8288"/>
            <a:ext cx="6364224" cy="636422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629754" y="1137514"/>
            <a:ext cx="4125773" cy="4125773"/>
          </a:xfrm>
          <a:prstGeom prst="ellipse">
            <a:avLst/>
          </a:prstGeom>
          <a:ln w="9525">
            <a:solidFill>
              <a:srgbClr val="E0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059168" y="566928"/>
            <a:ext cx="5266944" cy="5266944"/>
          </a:xfrm>
          <a:prstGeom prst="ellipse">
            <a:avLst/>
          </a:prstGeom>
          <a:ln w="9525">
            <a:solidFill>
              <a:srgbClr val="E0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lvov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4" y="3787445"/>
            <a:ext cx="3730752" cy="932688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pie">
                <a:extLst>
                  <a:ext uri="{FF2B5EF4-FFF2-40B4-BE49-F238E27FC236}">
                    <a16:creationId xmlns:a16="http://schemas.microsoft.com/office/drawing/2014/main" id="{CE5C2850-4DFF-601D-C00E-F43F178A1A5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98080" y="1005840"/>
              <a:ext cx="4389120" cy="4389120"/>
            </p:xfrm>
            <a:graphic>
              <a:graphicData uri="http://schemas.microsoft.com/office/drawing/2017/model3d">
                <am3d:model3d r:embed="rIdM3d29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718992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57895" d="1000000"/>
                    <am3d:preTrans dx="0" dy="-2913158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040000" ay="-96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pie">
                <a:extLst>
                  <a:ext uri="{FF2B5EF4-FFF2-40B4-BE49-F238E27FC236}">
                    <a16:creationId xmlns:a16="http://schemas.microsoft.com/office/drawing/2014/main" id="{CE5C2850-4DFF-601D-C00E-F43F178A1A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98080" y="1005840"/>
                <a:ext cx="4389120" cy="43891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8_9_0"/>
          <p:cNvSpPr/>
          <p:nvPr/>
        </p:nvSpPr>
        <p:spPr>
          <a:xfrm>
            <a:off x="7909560" y="508772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08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Золотой сектор — рента: 75% прироста доходов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Чем на самом деле прирастает Россия</a:t>
            </a:r>
            <a:endParaRPr lang="en-US" sz="3200" dirty="0"/>
          </a:p>
        </p:txBody>
      </p:sp>
      <p:sp>
        <p:nvSpPr>
          <p:cNvPr id="18" name="fx8_1_1"/>
          <p:cNvSpPr/>
          <p:nvPr/>
        </p:nvSpPr>
        <p:spPr>
          <a:xfrm>
            <a:off x="685800" y="2240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Рента</a:t>
            </a:r>
            <a:endParaRPr lang="en-US" sz="1800" dirty="0"/>
          </a:p>
        </p:txBody>
      </p:sp>
      <p:sp>
        <p:nvSpPr>
          <p:cNvPr id="19" name="fx8_1_2"/>
          <p:cNvSpPr/>
          <p:nvPr/>
        </p:nvSpPr>
        <p:spPr>
          <a:xfrm>
            <a:off x="2011680" y="2313432"/>
            <a:ext cx="4846320" cy="310896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fx8_1_3"/>
          <p:cNvSpPr/>
          <p:nvPr/>
        </p:nvSpPr>
        <p:spPr>
          <a:xfrm>
            <a:off x="2011680" y="2313432"/>
            <a:ext cx="4846320" cy="310896"/>
          </a:xfrm>
          <a:prstGeom prst="roundRect">
            <a:avLst>
              <a:gd name="adj" fmla="val 11765"/>
            </a:avLst>
          </a:prstGeom>
          <a:solidFill>
            <a:srgbClr val="E0B45E"/>
          </a:solidFill>
          <a:ln/>
        </p:spPr>
      </p:sp>
      <p:sp>
        <p:nvSpPr>
          <p:cNvPr id="21" name="fx8_1_4"/>
          <p:cNvSpPr/>
          <p:nvPr/>
        </p:nvSpPr>
        <p:spPr>
          <a:xfrm>
            <a:off x="6949440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≈75%</a:t>
            </a:r>
            <a:endParaRPr lang="en-US" sz="1600" dirty="0"/>
          </a:p>
        </p:txBody>
      </p:sp>
      <p:sp>
        <p:nvSpPr>
          <p:cNvPr id="22" name="fx8_2_5"/>
          <p:cNvSpPr/>
          <p:nvPr/>
        </p:nvSpPr>
        <p:spPr>
          <a:xfrm>
            <a:off x="6858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Капитал</a:t>
            </a:r>
            <a:endParaRPr lang="en-US" sz="1800" dirty="0"/>
          </a:p>
        </p:txBody>
      </p:sp>
      <p:sp>
        <p:nvSpPr>
          <p:cNvPr id="23" name="fx8_2_6"/>
          <p:cNvSpPr/>
          <p:nvPr/>
        </p:nvSpPr>
        <p:spPr>
          <a:xfrm>
            <a:off x="2011680" y="3182112"/>
            <a:ext cx="4846320" cy="310896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fx8_2_7"/>
          <p:cNvSpPr/>
          <p:nvPr/>
        </p:nvSpPr>
        <p:spPr>
          <a:xfrm>
            <a:off x="2011680" y="3182112"/>
            <a:ext cx="1227734" cy="310896"/>
          </a:xfrm>
          <a:prstGeom prst="roundRect">
            <a:avLst>
              <a:gd name="adj" fmla="val 11765"/>
            </a:avLst>
          </a:prstGeom>
          <a:solidFill>
            <a:srgbClr val="C98A5A"/>
          </a:solidFill>
          <a:ln/>
        </p:spPr>
      </p:sp>
      <p:sp>
        <p:nvSpPr>
          <p:cNvPr id="25" name="fx8_2_8"/>
          <p:cNvSpPr/>
          <p:nvPr/>
        </p:nvSpPr>
        <p:spPr>
          <a:xfrm>
            <a:off x="3330854" y="3108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≈20%</a:t>
            </a:r>
            <a:endParaRPr lang="en-US" sz="1600" dirty="0"/>
          </a:p>
        </p:txBody>
      </p:sp>
      <p:sp>
        <p:nvSpPr>
          <p:cNvPr id="26" name="fx8_3_9"/>
          <p:cNvSpPr/>
          <p:nvPr/>
        </p:nvSpPr>
        <p:spPr>
          <a:xfrm>
            <a:off x="685800" y="3977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Труд</a:t>
            </a:r>
            <a:endParaRPr lang="en-US" sz="1800" dirty="0"/>
          </a:p>
        </p:txBody>
      </p:sp>
      <p:sp>
        <p:nvSpPr>
          <p:cNvPr id="27" name="fx8_3_10"/>
          <p:cNvSpPr/>
          <p:nvPr/>
        </p:nvSpPr>
        <p:spPr>
          <a:xfrm>
            <a:off x="2011680" y="4050792"/>
            <a:ext cx="4846320" cy="310896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fx8_3_11"/>
          <p:cNvSpPr/>
          <p:nvPr/>
        </p:nvSpPr>
        <p:spPr>
          <a:xfrm>
            <a:off x="2011680" y="4050792"/>
            <a:ext cx="323088" cy="310896"/>
          </a:xfrm>
          <a:prstGeom prst="roundRect">
            <a:avLst>
              <a:gd name="adj" fmla="val 11765"/>
            </a:avLst>
          </a:prstGeom>
          <a:solidFill>
            <a:srgbClr val="E8E2D4"/>
          </a:solidFill>
          <a:ln/>
        </p:spPr>
      </p:sp>
      <p:sp>
        <p:nvSpPr>
          <p:cNvPr id="29" name="fx8_3_12"/>
          <p:cNvSpPr/>
          <p:nvPr/>
        </p:nvSpPr>
        <p:spPr>
          <a:xfrm>
            <a:off x="2426208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≈5%</a:t>
            </a:r>
            <a:endParaRPr lang="en-US" sz="1600" dirty="0"/>
          </a:p>
        </p:txBody>
      </p:sp>
      <p:sp>
        <p:nvSpPr>
          <p:cNvPr id="30" name="fx8_4_13"/>
          <p:cNvSpPr/>
          <p:nvPr/>
        </p:nvSpPr>
        <p:spPr>
          <a:xfrm>
            <a:off x="685800" y="48463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Доли в приросте совокупного дохода России. Расчёт Д. С. Львова, «Экономический манифест», 1999.</a:t>
            </a:r>
            <a:endParaRPr lang="en-US" sz="1000" dirty="0"/>
          </a:p>
        </p:txBody>
      </p:sp>
      <p:sp>
        <p:nvSpPr>
          <p:cNvPr id="31" name="fx8_8_14"/>
          <p:cNvSpPr/>
          <p:nvPr/>
        </p:nvSpPr>
        <p:spPr>
          <a:xfrm>
            <a:off x="685800" y="5349240"/>
            <a:ext cx="6675120" cy="841248"/>
          </a:xfrm>
          <a:prstGeom prst="roundRect">
            <a:avLst>
              <a:gd name="adj" fmla="val 8696"/>
            </a:avLst>
          </a:prstGeom>
          <a:solidFill>
            <a:srgbClr val="1E1A0C">
              <a:alpha val="92000"/>
            </a:srgbClr>
          </a:solidFill>
          <a:ln w="12700">
            <a:solidFill>
              <a:srgbClr val="E0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2" name="fx8_8_15"/>
          <p:cNvSpPr/>
          <p:nvPr/>
        </p:nvSpPr>
        <p:spPr>
          <a:xfrm>
            <a:off x="685800" y="5495544"/>
            <a:ext cx="50292" cy="548640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33" name="fx8_8_16"/>
          <p:cNvSpPr/>
          <p:nvPr/>
        </p:nvSpPr>
        <p:spPr>
          <a:xfrm>
            <a:off x="941832" y="521208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0B45E"/>
          </a:solidFill>
          <a:ln/>
        </p:spPr>
      </p:sp>
      <p:sp>
        <p:nvSpPr>
          <p:cNvPr id="34" name="fx8_8_17"/>
          <p:cNvSpPr/>
          <p:nvPr/>
        </p:nvSpPr>
        <p:spPr>
          <a:xfrm>
            <a:off x="941832" y="5212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61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5" name="fx8_8_18"/>
          <p:cNvSpPr/>
          <p:nvPr/>
        </p:nvSpPr>
        <p:spPr>
          <a:xfrm>
            <a:off x="960120" y="55321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Рента могла бы дать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«едва ли не второй бюджет страны — 50–60 миллиардов долларов в год»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— интервью «КП», 2007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barrel">
                <a:extLst>
                  <a:ext uri="{FF2B5EF4-FFF2-40B4-BE49-F238E27FC236}">
                    <a16:creationId xmlns:a16="http://schemas.microsoft.com/office/drawing/2014/main" id="{97A50A7D-2A79-4D73-F83F-519F0D6D279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480560" y="1280160"/>
              <a:ext cx="3931920" cy="3931920"/>
            </p:xfrm>
            <a:graphic>
              <a:graphicData uri="http://schemas.microsoft.com/office/drawing/2017/model3d">
                <am3d:model3d r:embed="rIdM3d30">
                  <am3d:spPr>
                    <a:xfrm>
                      <a:off x="0" y="0"/>
                      <a:ext cx="3931920" cy="3931920"/>
                    </a:xfrm>
                    <a:prstGeom prst="rect">
                      <a:avLst/>
                    </a:prstGeom>
                  </am3d:spPr>
                  <am3d:camera>
                    <am3d:pos x="0" y="0" z="6894217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28505" d="1000000"/>
                    <am3d:preTrans dx="0" dy="-17598886" dz="-401114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60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9319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barrel">
                <a:extLst>
                  <a:ext uri="{FF2B5EF4-FFF2-40B4-BE49-F238E27FC236}">
                    <a16:creationId xmlns:a16="http://schemas.microsoft.com/office/drawing/2014/main" id="{97A50A7D-2A79-4D73-F83F-519F0D6D279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480560" y="1280160"/>
                <a:ext cx="3931920" cy="39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7" name="!!m-safe">
                <a:extLst>
                  <a:ext uri="{FF2B5EF4-FFF2-40B4-BE49-F238E27FC236}">
                    <a16:creationId xmlns:a16="http://schemas.microsoft.com/office/drawing/2014/main" id="{157F1E5C-132A-6E8D-977C-F13DB49F77A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25880"/>
              <a:ext cx="4297680" cy="4297680"/>
            </p:xfrm>
            <a:graphic>
              <a:graphicData uri="http://schemas.microsoft.com/office/drawing/2017/model3d">
                <am3d:model3d r:embed="rIdM3d31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676152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2429" d="1000000"/>
                    <am3d:preTrans dx="4534948" dy="-10362293" dz="-9181027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348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7" name="!!m-safe">
                <a:extLst>
                  <a:ext uri="{FF2B5EF4-FFF2-40B4-BE49-F238E27FC236}">
                    <a16:creationId xmlns:a16="http://schemas.microsoft.com/office/drawing/2014/main" id="{157F1E5C-132A-6E8D-977C-F13DB49F77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325880"/>
                <a:ext cx="4297680" cy="429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9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lvov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5770717" cy="21946"/>
          </a:xfrm>
          <a:prstGeom prst="rect">
            <a:avLst/>
          </a:prstGeom>
          <a:solidFill>
            <a:srgbClr val="E0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7B1FC48D-2562-AAC4-6EEF-A6442D96278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182197" y="98755"/>
              <a:ext cx="548640" cy="548640"/>
            </p:xfrm>
            <a:graphic>
              <a:graphicData uri="http://schemas.microsoft.com/office/drawing/2017/model3d">
                <am3d:model3d r:embed="rIdM3d32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7008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7B1FC48D-2562-AAC4-6EEF-A6442D96278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82197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ГЛАВНАЯ МЫСЛЬ: КАК ВЕРНУТЬ РЕНТУ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ЛЬВОВ  ·  1930 – 2007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16</a:t>
            </a:r>
            <a:endParaRPr lang="en-US" sz="900" dirty="0"/>
          </a:p>
        </p:txBody>
      </p:sp>
      <p:pic>
        <p:nvPicPr>
          <p:cNvPr id="11" name="!!glow" descr="/home/user/omgGame/presentations/lvov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822" y="-6858"/>
            <a:ext cx="6231636" cy="6231636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672730" y="1089050"/>
            <a:ext cx="4039819" cy="4039819"/>
          </a:xfrm>
          <a:prstGeom prst="ellipse">
            <a:avLst/>
          </a:prstGeom>
          <a:ln w="9525">
            <a:solidFill>
              <a:srgbClr val="E0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114032" y="530352"/>
            <a:ext cx="5157216" cy="5157216"/>
          </a:xfrm>
          <a:prstGeom prst="ellipse">
            <a:avLst/>
          </a:prstGeom>
          <a:ln w="9525">
            <a:solidFill>
              <a:srgbClr val="E0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lvov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894" y="4220985"/>
            <a:ext cx="2793492" cy="698373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safe">
                <a:extLst>
                  <a:ext uri="{FF2B5EF4-FFF2-40B4-BE49-F238E27FC236}">
                    <a16:creationId xmlns:a16="http://schemas.microsoft.com/office/drawing/2014/main" id="{6DBD589A-DB66-99AD-1112-F2B13ABEF20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43800" y="960120"/>
              <a:ext cx="4297680" cy="4297680"/>
            </p:xfrm>
            <a:graphic>
              <a:graphicData uri="http://schemas.microsoft.com/office/drawing/2017/model3d">
                <am3d:model3d r:embed="rIdM3d33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676152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2429" d="1000000"/>
                    <am3d:preTrans dx="4534948" dy="-10362293" dz="-9181027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32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safe">
                <a:extLst>
                  <a:ext uri="{FF2B5EF4-FFF2-40B4-BE49-F238E27FC236}">
                    <a16:creationId xmlns:a16="http://schemas.microsoft.com/office/drawing/2014/main" id="{6DBD589A-DB66-99AD-1112-F2B13ABEF2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43800" y="960120"/>
                <a:ext cx="4297680" cy="42976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9_9_0"/>
          <p:cNvSpPr/>
          <p:nvPr/>
        </p:nvSpPr>
        <p:spPr>
          <a:xfrm>
            <a:off x="7909560" y="495696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09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Открытый сейф: общий фонд национального имущества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Национальное имущество и национальный дивиденд</a:t>
            </a:r>
            <a:endParaRPr lang="en-US" sz="3000" dirty="0"/>
          </a:p>
        </p:txBody>
      </p:sp>
      <p:sp>
        <p:nvSpPr>
          <p:cNvPr id="18" name="fx9_1_1"/>
          <p:cNvSpPr/>
          <p:nvPr/>
        </p:nvSpPr>
        <p:spPr>
          <a:xfrm>
            <a:off x="685800" y="215798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fx9_1_2"/>
          <p:cNvSpPr/>
          <p:nvPr/>
        </p:nvSpPr>
        <p:spPr>
          <a:xfrm>
            <a:off x="1280160" y="2194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 — достояние общества</a:t>
            </a:r>
            <a:endParaRPr lang="en-US" sz="1400" dirty="0"/>
          </a:p>
        </p:txBody>
      </p:sp>
      <p:sp>
        <p:nvSpPr>
          <p:cNvPr id="20" name="fx9_1_3"/>
          <p:cNvSpPr/>
          <p:nvPr/>
        </p:nvSpPr>
        <p:spPr>
          <a:xfrm>
            <a:off x="1280160" y="246888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Земля и недра закреплены как коллективная собственность народа.</a:t>
            </a:r>
            <a:endParaRPr lang="en-US" sz="1150" dirty="0"/>
          </a:p>
        </p:txBody>
      </p:sp>
      <p:sp>
        <p:nvSpPr>
          <p:cNvPr id="21" name="fx9_2_4"/>
          <p:cNvSpPr/>
          <p:nvPr/>
        </p:nvSpPr>
        <p:spPr>
          <a:xfrm>
            <a:off x="685800" y="290779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fx9_2_5"/>
          <p:cNvSpPr/>
          <p:nvPr/>
        </p:nvSpPr>
        <p:spPr>
          <a:xfrm>
            <a:off x="1280160" y="29443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 работает на конкурсе</a:t>
            </a:r>
            <a:endParaRPr lang="en-US" sz="1400" dirty="0"/>
          </a:p>
        </p:txBody>
      </p:sp>
      <p:sp>
        <p:nvSpPr>
          <p:cNvPr id="23" name="fx9_2_6"/>
          <p:cNvSpPr/>
          <p:nvPr/>
        </p:nvSpPr>
        <p:spPr>
          <a:xfrm>
            <a:off x="1280160" y="321868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Компании получают месторождения в пользование и платят обществу ренту.</a:t>
            </a:r>
            <a:endParaRPr lang="en-US" sz="1150" dirty="0"/>
          </a:p>
        </p:txBody>
      </p:sp>
      <p:sp>
        <p:nvSpPr>
          <p:cNvPr id="24" name="fx9_3_7"/>
          <p:cNvSpPr/>
          <p:nvPr/>
        </p:nvSpPr>
        <p:spPr>
          <a:xfrm>
            <a:off x="685800" y="36576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fx9_3_8"/>
          <p:cNvSpPr/>
          <p:nvPr/>
        </p:nvSpPr>
        <p:spPr>
          <a:xfrm>
            <a:off x="1280160" y="369417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Рента — в общий фонд</a:t>
            </a:r>
            <a:endParaRPr lang="en-US" sz="1400" dirty="0"/>
          </a:p>
        </p:txBody>
      </p:sp>
      <p:sp>
        <p:nvSpPr>
          <p:cNvPr id="26" name="fx9_3_9"/>
          <p:cNvSpPr/>
          <p:nvPr/>
        </p:nvSpPr>
        <p:spPr>
          <a:xfrm>
            <a:off x="1280160" y="396849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Рентные доходы становятся чистым доходом всего общества.</a:t>
            </a:r>
            <a:endParaRPr lang="en-US" sz="1150" dirty="0"/>
          </a:p>
        </p:txBody>
      </p:sp>
      <p:sp>
        <p:nvSpPr>
          <p:cNvPr id="27" name="fx9_4_10"/>
          <p:cNvSpPr/>
          <p:nvPr/>
        </p:nvSpPr>
        <p:spPr>
          <a:xfrm>
            <a:off x="685800" y="440740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fx9_4_11"/>
          <p:cNvSpPr/>
          <p:nvPr/>
        </p:nvSpPr>
        <p:spPr>
          <a:xfrm>
            <a:off x="1280160" y="44439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 каждому</a:t>
            </a:r>
            <a:endParaRPr lang="en-US" sz="1400" dirty="0"/>
          </a:p>
        </p:txBody>
      </p:sp>
      <p:sp>
        <p:nvSpPr>
          <p:cNvPr id="29" name="fx9_4_12"/>
          <p:cNvSpPr/>
          <p:nvPr/>
        </p:nvSpPr>
        <p:spPr>
          <a:xfrm>
            <a:off x="1280160" y="471830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каждого гражданина равная доля; деньги идут на здоровье, образование, детей.</a:t>
            </a:r>
            <a:endParaRPr lang="en-US" sz="1150" dirty="0"/>
          </a:p>
        </p:txBody>
      </p:sp>
      <p:sp>
        <p:nvSpPr>
          <p:cNvPr id="30" name="fx9_8_13"/>
          <p:cNvSpPr/>
          <p:nvPr/>
        </p:nvSpPr>
        <p:spPr>
          <a:xfrm>
            <a:off x="685800" y="5349240"/>
            <a:ext cx="6492240" cy="841248"/>
          </a:xfrm>
          <a:prstGeom prst="roundRect">
            <a:avLst>
              <a:gd name="adj" fmla="val 8696"/>
            </a:avLst>
          </a:prstGeom>
          <a:solidFill>
            <a:srgbClr val="1E1A0C">
              <a:alpha val="92000"/>
            </a:srgbClr>
          </a:solidFill>
          <a:ln w="12700">
            <a:solidFill>
              <a:srgbClr val="E0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1" name="fx9_8_14"/>
          <p:cNvSpPr/>
          <p:nvPr/>
        </p:nvSpPr>
        <p:spPr>
          <a:xfrm>
            <a:off x="685800" y="5495544"/>
            <a:ext cx="50292" cy="548640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32" name="fx9_8_15"/>
          <p:cNvSpPr/>
          <p:nvPr/>
        </p:nvSpPr>
        <p:spPr>
          <a:xfrm>
            <a:off x="941832" y="5212080"/>
            <a:ext cx="1705356" cy="274320"/>
          </a:xfrm>
          <a:prstGeom prst="roundRect">
            <a:avLst>
              <a:gd name="adj" fmla="val 50000"/>
            </a:avLst>
          </a:prstGeom>
          <a:solidFill>
            <a:srgbClr val="E0B45E"/>
          </a:solidFill>
          <a:ln/>
        </p:spPr>
      </p:sp>
      <p:sp>
        <p:nvSpPr>
          <p:cNvPr id="33" name="fx9_8_16"/>
          <p:cNvSpPr/>
          <p:nvPr/>
        </p:nvSpPr>
        <p:spPr>
          <a:xfrm>
            <a:off x="941832" y="521208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61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ДЛЯ СРАВНЕНИЯ</a:t>
            </a:r>
            <a:endParaRPr lang="en-US" sz="850" dirty="0"/>
          </a:p>
        </p:txBody>
      </p:sp>
      <p:sp>
        <p:nvSpPr>
          <p:cNvPr id="34" name="fx9_8_17"/>
          <p:cNvSpPr/>
          <p:nvPr/>
        </p:nvSpPr>
        <p:spPr>
          <a:xfrm>
            <a:off x="960120" y="55321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Похожая схема работает на Аляске: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 1982 года каждый житель получает дивиденд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из нефтяного фонда штата.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pie">
                <a:extLst>
                  <a:ext uri="{FF2B5EF4-FFF2-40B4-BE49-F238E27FC236}">
                    <a16:creationId xmlns:a16="http://schemas.microsoft.com/office/drawing/2014/main" id="{CC11A73A-A85B-1114-2E68-3BC5A4FEB9D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937760" y="1371600"/>
              <a:ext cx="4389120" cy="4389120"/>
            </p:xfrm>
            <a:graphic>
              <a:graphicData uri="http://schemas.microsoft.com/office/drawing/2017/model3d">
                <am3d:model3d r:embed="rIdM3d34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718992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57895" d="1000000"/>
                    <am3d:preTrans dx="0" dy="-2913158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040000" ay="-576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pie">
                <a:extLst>
                  <a:ext uri="{FF2B5EF4-FFF2-40B4-BE49-F238E27FC236}">
                    <a16:creationId xmlns:a16="http://schemas.microsoft.com/office/drawing/2014/main" id="{CC11A73A-A85B-1114-2E68-3BC5A4FEB9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937760" y="1371600"/>
                <a:ext cx="4389120" cy="438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abacus">
                <a:extLst>
                  <a:ext uri="{FF2B5EF4-FFF2-40B4-BE49-F238E27FC236}">
                    <a16:creationId xmlns:a16="http://schemas.microsoft.com/office/drawing/2014/main" id="{89541F70-7F8F-CA0E-0A67-327BE7A0AFD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17320"/>
              <a:ext cx="4206240" cy="4206240"/>
            </p:xfrm>
            <a:graphic>
              <a:graphicData uri="http://schemas.microsoft.com/office/drawing/2017/model3d">
                <am3d:model3d r:embed="rIdM3d35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6130417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29927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348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abacus">
                <a:extLst>
                  <a:ext uri="{FF2B5EF4-FFF2-40B4-BE49-F238E27FC236}">
                    <a16:creationId xmlns:a16="http://schemas.microsoft.com/office/drawing/2014/main" id="{89541F70-7F8F-CA0E-0A67-327BE7A0AF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417320"/>
                <a:ext cx="4206240" cy="420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0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lvov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6492057" cy="21946"/>
          </a:xfrm>
          <a:prstGeom prst="rect">
            <a:avLst/>
          </a:prstGeom>
          <a:solidFill>
            <a:srgbClr val="E0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C3CF7894-BBB3-3850-CE8B-EADC98FC2A7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903537" y="98755"/>
              <a:ext cx="548640" cy="548640"/>
            </p:xfrm>
            <a:graphic>
              <a:graphicData uri="http://schemas.microsoft.com/office/drawing/2017/model3d">
                <am3d:model3d r:embed="rIdM3d36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7884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C3CF7894-BBB3-3850-CE8B-EADC98FC2A7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903537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НАЛОГИ: НЕ НА ТРУД, А НА РЕНТУ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ЛЬВОВ  ·  1930 – 2007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900" dirty="0"/>
          </a:p>
        </p:txBody>
      </p:sp>
      <p:pic>
        <p:nvPicPr>
          <p:cNvPr id="11" name="!!glow" descr="/home/user/omgGame/presentations/lvov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105156"/>
            <a:ext cx="6099048" cy="609904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715707" y="1177747"/>
            <a:ext cx="3953866" cy="3953866"/>
          </a:xfrm>
          <a:prstGeom prst="ellipse">
            <a:avLst/>
          </a:prstGeom>
          <a:ln w="9525">
            <a:solidFill>
              <a:srgbClr val="E0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168896" y="630936"/>
            <a:ext cx="5047488" cy="5047488"/>
          </a:xfrm>
          <a:prstGeom prst="ellipse">
            <a:avLst/>
          </a:prstGeom>
          <a:ln w="9525">
            <a:solidFill>
              <a:srgbClr val="E0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lvov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4300880"/>
            <a:ext cx="2944368" cy="736092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abacus">
                <a:extLst>
                  <a:ext uri="{FF2B5EF4-FFF2-40B4-BE49-F238E27FC236}">
                    <a16:creationId xmlns:a16="http://schemas.microsoft.com/office/drawing/2014/main" id="{620061B4-2C94-7AC2-8354-3CE4FEFB659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89520" y="1051560"/>
              <a:ext cx="4206240" cy="4206240"/>
            </p:xfrm>
            <a:graphic>
              <a:graphicData uri="http://schemas.microsoft.com/office/drawing/2017/model3d">
                <am3d:model3d r:embed="rIdM3d37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6130417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29927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32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abacus">
                <a:extLst>
                  <a:ext uri="{FF2B5EF4-FFF2-40B4-BE49-F238E27FC236}">
                    <a16:creationId xmlns:a16="http://schemas.microsoft.com/office/drawing/2014/main" id="{620061B4-2C94-7AC2-8354-3CE4FEFB65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89520" y="1051560"/>
                <a:ext cx="4206240" cy="42062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0_9_0"/>
          <p:cNvSpPr/>
          <p:nvPr/>
        </p:nvSpPr>
        <p:spPr>
          <a:xfrm>
            <a:off x="8046720" y="4963363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10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Русские счёты: на костяшках отложено 75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Брать налог с ренты, а не с труда</a:t>
            </a:r>
            <a:endParaRPr lang="en-US" sz="3100" dirty="0"/>
          </a:p>
        </p:txBody>
      </p:sp>
      <p:sp>
        <p:nvSpPr>
          <p:cNvPr id="18" name="fx10_1_1"/>
          <p:cNvSpPr/>
          <p:nvPr/>
        </p:nvSpPr>
        <p:spPr>
          <a:xfrm>
            <a:off x="685800" y="2011680"/>
            <a:ext cx="3291840" cy="2697480"/>
          </a:xfrm>
          <a:prstGeom prst="roundRect">
            <a:avLst>
              <a:gd name="adj" fmla="val 2712"/>
            </a:avLst>
          </a:prstGeom>
          <a:solidFill>
            <a:srgbClr val="0F201B">
              <a:alpha val="88000"/>
            </a:srgbClr>
          </a:solidFill>
          <a:ln w="9525">
            <a:solidFill>
              <a:srgbClr val="8FA39A">
                <a:alpha val="30000"/>
              </a:srgbClr>
            </a:solidFill>
            <a:prstDash val="solid"/>
          </a:ln>
        </p:spPr>
      </p:sp>
      <p:sp>
        <p:nvSpPr>
          <p:cNvPr id="19" name="fx10_1_2"/>
          <p:cNvSpPr/>
          <p:nvPr/>
        </p:nvSpPr>
        <p:spPr>
          <a:xfrm>
            <a:off x="886968" y="21945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БЫЛО</a:t>
            </a:r>
            <a:endParaRPr lang="en-US" sz="950" dirty="0"/>
          </a:p>
        </p:txBody>
      </p:sp>
      <p:sp>
        <p:nvSpPr>
          <p:cNvPr id="20" name="fx10_1_3"/>
          <p:cNvSpPr/>
          <p:nvPr/>
        </p:nvSpPr>
        <p:spPr>
          <a:xfrm>
            <a:off x="868680" y="25786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A9B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fx10_1_4"/>
          <p:cNvSpPr/>
          <p:nvPr/>
        </p:nvSpPr>
        <p:spPr>
          <a:xfrm>
            <a:off x="1161288" y="25786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Главная нагрузка — на зарплаты и прибыль</a:t>
            </a:r>
            <a:endParaRPr lang="en-US" sz="1400" dirty="0"/>
          </a:p>
        </p:txBody>
      </p:sp>
      <p:sp>
        <p:nvSpPr>
          <p:cNvPr id="22" name="fx10_1_5"/>
          <p:cNvSpPr/>
          <p:nvPr/>
        </p:nvSpPr>
        <p:spPr>
          <a:xfrm>
            <a:off x="868680" y="32644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A9B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fx10_1_6"/>
          <p:cNvSpPr/>
          <p:nvPr/>
        </p:nvSpPr>
        <p:spPr>
          <a:xfrm>
            <a:off x="1161288" y="32644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Рента остаётся у владельцев месторождений</a:t>
            </a:r>
            <a:endParaRPr lang="en-US" sz="1400" dirty="0"/>
          </a:p>
        </p:txBody>
      </p:sp>
      <p:sp>
        <p:nvSpPr>
          <p:cNvPr id="24" name="fx10_1_7"/>
          <p:cNvSpPr/>
          <p:nvPr/>
        </p:nvSpPr>
        <p:spPr>
          <a:xfrm>
            <a:off x="868680" y="39502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A9B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fx10_1_8"/>
          <p:cNvSpPr/>
          <p:nvPr/>
        </p:nvSpPr>
        <p:spPr>
          <a:xfrm>
            <a:off x="1161288" y="39502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Плоская шкала: 13% для всех</a:t>
            </a:r>
            <a:endParaRPr lang="en-US" sz="1400" dirty="0"/>
          </a:p>
        </p:txBody>
      </p:sp>
      <p:sp>
        <p:nvSpPr>
          <p:cNvPr id="26" name="fx10_2_9"/>
          <p:cNvSpPr/>
          <p:nvPr/>
        </p:nvSpPr>
        <p:spPr>
          <a:xfrm>
            <a:off x="4160520" y="2011680"/>
            <a:ext cx="3291840" cy="2697480"/>
          </a:xfrm>
          <a:prstGeom prst="roundRect">
            <a:avLst>
              <a:gd name="adj" fmla="val 2712"/>
            </a:avLst>
          </a:prstGeom>
          <a:solidFill>
            <a:srgbClr val="2A2410"/>
          </a:solidFill>
          <a:ln w="9525">
            <a:solidFill>
              <a:srgbClr val="E0B45E">
                <a:alpha val="70000"/>
              </a:srgbClr>
            </a:solidFill>
            <a:prstDash val="solid"/>
          </a:ln>
        </p:spPr>
      </p:sp>
      <p:sp>
        <p:nvSpPr>
          <p:cNvPr id="27" name="fx10_2_10"/>
          <p:cNvSpPr/>
          <p:nvPr/>
        </p:nvSpPr>
        <p:spPr>
          <a:xfrm>
            <a:off x="4361688" y="21945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ПРЕДЛАГАЛ ЛЬВОВ</a:t>
            </a:r>
            <a:endParaRPr lang="en-US" sz="950" dirty="0"/>
          </a:p>
        </p:txBody>
      </p:sp>
      <p:sp>
        <p:nvSpPr>
          <p:cNvPr id="28" name="fx10_2_11"/>
          <p:cNvSpPr/>
          <p:nvPr/>
        </p:nvSpPr>
        <p:spPr>
          <a:xfrm>
            <a:off x="4343400" y="25786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1600" dirty="0"/>
          </a:p>
        </p:txBody>
      </p:sp>
      <p:sp>
        <p:nvSpPr>
          <p:cNvPr id="29" name="fx10_2_12"/>
          <p:cNvSpPr/>
          <p:nvPr/>
        </p:nvSpPr>
        <p:spPr>
          <a:xfrm>
            <a:off x="4636008" y="25786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Рента — главный источник бюджета</a:t>
            </a:r>
            <a:endParaRPr lang="en-US" sz="1400" dirty="0"/>
          </a:p>
        </p:txBody>
      </p:sp>
      <p:sp>
        <p:nvSpPr>
          <p:cNvPr id="30" name="fx10_2_13"/>
          <p:cNvSpPr/>
          <p:nvPr/>
        </p:nvSpPr>
        <p:spPr>
          <a:xfrm>
            <a:off x="4343400" y="32644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1600" dirty="0"/>
          </a:p>
        </p:txBody>
      </p:sp>
      <p:sp>
        <p:nvSpPr>
          <p:cNvPr id="31" name="fx10_2_14"/>
          <p:cNvSpPr/>
          <p:nvPr/>
        </p:nvSpPr>
        <p:spPr>
          <a:xfrm>
            <a:off x="4636008" y="32644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Налоги на труд и производство — ниже</a:t>
            </a:r>
            <a:endParaRPr lang="en-US" sz="1400" dirty="0"/>
          </a:p>
        </p:txBody>
      </p:sp>
      <p:sp>
        <p:nvSpPr>
          <p:cNvPr id="32" name="fx10_2_15"/>
          <p:cNvSpPr/>
          <p:nvPr/>
        </p:nvSpPr>
        <p:spPr>
          <a:xfrm>
            <a:off x="4343400" y="39502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1600" dirty="0"/>
          </a:p>
        </p:txBody>
      </p:sp>
      <p:sp>
        <p:nvSpPr>
          <p:cNvPr id="33" name="fx10_2_16"/>
          <p:cNvSpPr/>
          <p:nvPr/>
        </p:nvSpPr>
        <p:spPr>
          <a:xfrm>
            <a:off x="4636008" y="39502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Выше налоги на сверхдоходы и роскошь</a:t>
            </a:r>
            <a:endParaRPr lang="en-US" sz="1400" dirty="0"/>
          </a:p>
        </p:txBody>
      </p:sp>
      <p:sp>
        <p:nvSpPr>
          <p:cNvPr id="34" name="fx10_8_17"/>
          <p:cNvSpPr/>
          <p:nvPr/>
        </p:nvSpPr>
        <p:spPr>
          <a:xfrm>
            <a:off x="685800" y="5166360"/>
            <a:ext cx="6766560" cy="1005840"/>
          </a:xfrm>
          <a:prstGeom prst="roundRect">
            <a:avLst>
              <a:gd name="adj" fmla="val 7273"/>
            </a:avLst>
          </a:prstGeom>
          <a:solidFill>
            <a:srgbClr val="1E1A0C">
              <a:alpha val="92000"/>
            </a:srgbClr>
          </a:solidFill>
          <a:ln w="12700">
            <a:solidFill>
              <a:srgbClr val="E0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5" name="fx10_8_18"/>
          <p:cNvSpPr/>
          <p:nvPr/>
        </p:nvSpPr>
        <p:spPr>
          <a:xfrm>
            <a:off x="685800" y="5312664"/>
            <a:ext cx="50292" cy="713232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36" name="fx10_8_19"/>
          <p:cNvSpPr/>
          <p:nvPr/>
        </p:nvSpPr>
        <p:spPr>
          <a:xfrm>
            <a:off x="941832" y="5029200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0B45E"/>
          </a:solidFill>
          <a:ln/>
        </p:spPr>
      </p:sp>
      <p:sp>
        <p:nvSpPr>
          <p:cNvPr id="37" name="fx10_8_20"/>
          <p:cNvSpPr/>
          <p:nvPr/>
        </p:nvSpPr>
        <p:spPr>
          <a:xfrm>
            <a:off x="941832" y="502920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61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ЦИТАТА</a:t>
            </a:r>
            <a:endParaRPr lang="en-US" sz="850" dirty="0"/>
          </a:p>
        </p:txBody>
      </p:sp>
      <p:sp>
        <p:nvSpPr>
          <p:cNvPr id="38" name="fx10_8_21"/>
          <p:cNvSpPr/>
          <p:nvPr/>
        </p:nvSpPr>
        <p:spPr>
          <a:xfrm>
            <a:off x="960120" y="53492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«Это позор, когда 13 процентов берут и с олигарха, и с бедняка».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интервью «Комсомольской правде», январь 2007</a:t>
            </a:r>
            <a:endParaRPr lang="en-US" sz="16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safe">
                <a:extLst>
                  <a:ext uri="{FF2B5EF4-FFF2-40B4-BE49-F238E27FC236}">
                    <a16:creationId xmlns:a16="http://schemas.microsoft.com/office/drawing/2014/main" id="{F22B9F9D-8EE8-F828-9C92-66C97F0B07E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846320" y="1325880"/>
              <a:ext cx="4297680" cy="4297680"/>
            </p:xfrm>
            <a:graphic>
              <a:graphicData uri="http://schemas.microsoft.com/office/drawing/2017/model3d">
                <am3d:model3d r:embed="rIdM3d38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676152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2429" d="1000000"/>
                    <am3d:preTrans dx="4534948" dy="-10362293" dz="-9181027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612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safe">
                <a:extLst>
                  <a:ext uri="{FF2B5EF4-FFF2-40B4-BE49-F238E27FC236}">
                    <a16:creationId xmlns:a16="http://schemas.microsoft.com/office/drawing/2014/main" id="{F22B9F9D-8EE8-F828-9C92-66C97F0B07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846320" y="1325880"/>
                <a:ext cx="4297680" cy="42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0" name="!!m-sprout">
                <a:extLst>
                  <a:ext uri="{FF2B5EF4-FFF2-40B4-BE49-F238E27FC236}">
                    <a16:creationId xmlns:a16="http://schemas.microsoft.com/office/drawing/2014/main" id="{A3DC09E1-F832-061A-A98F-FE0A60BA10F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280160"/>
              <a:ext cx="4114800" cy="4114800"/>
            </p:xfrm>
            <a:graphic>
              <a:graphicData uri="http://schemas.microsoft.com/office/drawing/2017/model3d">
                <am3d:model3d r:embed="rIdM3d39">
                  <am3d:spPr>
                    <a:xfrm>
                      <a:off x="0" y="0"/>
                      <a:ext cx="4114800" cy="4114800"/>
                    </a:xfrm>
                    <a:prstGeom prst="rect">
                      <a:avLst/>
                    </a:prstGeom>
                  </am3d:spPr>
                  <am3d:camera>
                    <am3d:pos x="0" y="0" z="619145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17156" d="1000000"/>
                    <am3d:preTrans dx="-20418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372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1148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0" name="!!m-sprout">
                <a:extLst>
                  <a:ext uri="{FF2B5EF4-FFF2-40B4-BE49-F238E27FC236}">
                    <a16:creationId xmlns:a16="http://schemas.microsoft.com/office/drawing/2014/main" id="{A3DC09E1-F832-061A-A98F-FE0A60BA10F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280160"/>
                <a:ext cx="4114800" cy="4114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1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lvov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7213397" cy="21946"/>
          </a:xfrm>
          <a:prstGeom prst="rect">
            <a:avLst/>
          </a:prstGeom>
          <a:solidFill>
            <a:srgbClr val="E0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125583AA-71F4-D095-59C0-5E18035892A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624877" y="98755"/>
              <a:ext cx="548640" cy="548640"/>
            </p:xfrm>
            <a:graphic>
              <a:graphicData uri="http://schemas.microsoft.com/office/drawing/2017/model3d">
                <am3d:model3d r:embed="rIdM3d40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876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125583AA-71F4-D095-59C0-5E18035892A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624877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ВКЛАД В ПРЕДПРИНИМАТЕЛЬСТВО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ЛЬВОВ  ·  1930 – 2007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900" dirty="0"/>
          </a:p>
        </p:txBody>
      </p:sp>
      <p:pic>
        <p:nvPicPr>
          <p:cNvPr id="11" name="!!glow" descr="/home/user/omgGame/presentations/lvov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-11430"/>
            <a:ext cx="5966460" cy="5966460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850124" y="1037844"/>
            <a:ext cx="3867912" cy="3867912"/>
          </a:xfrm>
          <a:prstGeom prst="ellipse">
            <a:avLst/>
          </a:prstGeom>
          <a:ln w="9525">
            <a:solidFill>
              <a:srgbClr val="E0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315200" y="502920"/>
            <a:ext cx="4937760" cy="4937760"/>
          </a:xfrm>
          <a:prstGeom prst="ellipse">
            <a:avLst/>
          </a:prstGeom>
          <a:ln w="9525">
            <a:solidFill>
              <a:srgbClr val="E0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lvov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380" y="4278249"/>
            <a:ext cx="2057400" cy="51435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sprout">
                <a:extLst>
                  <a:ext uri="{FF2B5EF4-FFF2-40B4-BE49-F238E27FC236}">
                    <a16:creationId xmlns:a16="http://schemas.microsoft.com/office/drawing/2014/main" id="{9B8C21C8-3A4B-094C-8F85-A50AFC1B191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26680" y="914400"/>
              <a:ext cx="4114800" cy="4114800"/>
            </p:xfrm>
            <a:graphic>
              <a:graphicData uri="http://schemas.microsoft.com/office/drawing/2017/model3d">
                <am3d:model3d r:embed="rIdM3d41">
                  <am3d:spPr>
                    <a:xfrm>
                      <a:off x="0" y="0"/>
                      <a:ext cx="4114800" cy="4114800"/>
                    </a:xfrm>
                    <a:prstGeom prst="rect">
                      <a:avLst/>
                    </a:prstGeom>
                  </am3d:spPr>
                  <am3d:camera>
                    <am3d:pos x="0" y="0" z="619145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17156" d="1000000"/>
                    <am3d:preTrans dx="-20418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0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1148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sprout">
                <a:extLst>
                  <a:ext uri="{FF2B5EF4-FFF2-40B4-BE49-F238E27FC236}">
                    <a16:creationId xmlns:a16="http://schemas.microsoft.com/office/drawing/2014/main" id="{9B8C21C8-3A4B-094C-8F85-A50AFC1B191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26680" y="914400"/>
                <a:ext cx="4114800" cy="41148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1_9_0"/>
          <p:cNvSpPr/>
          <p:nvPr/>
        </p:nvSpPr>
        <p:spPr>
          <a:xfrm>
            <a:off x="7909560" y="47411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11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Росток из монет: бизнес растёт, когда его не душат налоги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Честный доход предпринимателя неприкосновенен</a:t>
            </a:r>
            <a:endParaRPr lang="en-US" sz="3000" dirty="0"/>
          </a:p>
        </p:txBody>
      </p:sp>
      <p:sp>
        <p:nvSpPr>
          <p:cNvPr id="18" name="fx11_1_1"/>
          <p:cNvSpPr/>
          <p:nvPr/>
        </p:nvSpPr>
        <p:spPr>
          <a:xfrm>
            <a:off x="685800" y="2103120"/>
            <a:ext cx="2148840" cy="2606040"/>
          </a:xfrm>
          <a:prstGeom prst="roundRect">
            <a:avLst>
              <a:gd name="adj" fmla="val 3404"/>
            </a:avLst>
          </a:prstGeom>
          <a:solidFill>
            <a:srgbClr val="0F201B">
              <a:alpha val="95000"/>
            </a:srgbClr>
          </a:solidFill>
          <a:ln w="9525">
            <a:solidFill>
              <a:srgbClr val="E0B45E">
                <a:alpha val="3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9" name="fx11_1_2"/>
          <p:cNvSpPr/>
          <p:nvPr/>
        </p:nvSpPr>
        <p:spPr>
          <a:xfrm>
            <a:off x="685800" y="2103120"/>
            <a:ext cx="2148840" cy="45720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20" name="fx11_1_3"/>
          <p:cNvSpPr/>
          <p:nvPr/>
        </p:nvSpPr>
        <p:spPr>
          <a:xfrm>
            <a:off x="850392" y="22494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21" name="fx11_1_4"/>
          <p:cNvSpPr/>
          <p:nvPr/>
        </p:nvSpPr>
        <p:spPr>
          <a:xfrm>
            <a:off x="850392" y="276148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Разделил заработанное и незаработанное</a:t>
            </a:r>
            <a:endParaRPr lang="en-US" sz="1300" dirty="0"/>
          </a:p>
        </p:txBody>
      </p:sp>
      <p:sp>
        <p:nvSpPr>
          <p:cNvPr id="22" name="fx11_1_5"/>
          <p:cNvSpPr/>
          <p:nvPr/>
        </p:nvSpPr>
        <p:spPr>
          <a:xfrm>
            <a:off x="850392" y="3520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 за риск и вложения — предпринимателю; рента от природы — обществу.</a:t>
            </a:r>
            <a:endParaRPr lang="en-US" sz="1050" dirty="0"/>
          </a:p>
        </p:txBody>
      </p:sp>
      <p:sp>
        <p:nvSpPr>
          <p:cNvPr id="23" name="fx11_2_6"/>
          <p:cNvSpPr/>
          <p:nvPr/>
        </p:nvSpPr>
        <p:spPr>
          <a:xfrm>
            <a:off x="2971800" y="2103120"/>
            <a:ext cx="2148840" cy="2606040"/>
          </a:xfrm>
          <a:prstGeom prst="roundRect">
            <a:avLst>
              <a:gd name="adj" fmla="val 3404"/>
            </a:avLst>
          </a:prstGeom>
          <a:solidFill>
            <a:srgbClr val="0F201B">
              <a:alpha val="95000"/>
            </a:srgbClr>
          </a:solidFill>
          <a:ln w="9525">
            <a:solidFill>
              <a:srgbClr val="E0B45E">
                <a:alpha val="3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4" name="fx11_2_7"/>
          <p:cNvSpPr/>
          <p:nvPr/>
        </p:nvSpPr>
        <p:spPr>
          <a:xfrm>
            <a:off x="2971800" y="2103120"/>
            <a:ext cx="2148840" cy="45720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25" name="fx11_2_8"/>
          <p:cNvSpPr/>
          <p:nvPr/>
        </p:nvSpPr>
        <p:spPr>
          <a:xfrm>
            <a:off x="3136392" y="22494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26" name="fx11_2_9"/>
          <p:cNvSpPr/>
          <p:nvPr/>
        </p:nvSpPr>
        <p:spPr>
          <a:xfrm>
            <a:off x="3136392" y="276148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Снять налоги с созидания</a:t>
            </a:r>
            <a:endParaRPr lang="en-US" sz="1300" dirty="0"/>
          </a:p>
        </p:txBody>
      </p:sp>
      <p:sp>
        <p:nvSpPr>
          <p:cNvPr id="27" name="fx11_2_10"/>
          <p:cNvSpPr/>
          <p:nvPr/>
        </p:nvSpPr>
        <p:spPr>
          <a:xfrm>
            <a:off x="3136392" y="3520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бюджет живёт на ренте, налоги на труд и бизнес можно снизить.</a:t>
            </a:r>
            <a:endParaRPr lang="en-US" sz="1050" dirty="0"/>
          </a:p>
        </p:txBody>
      </p:sp>
      <p:sp>
        <p:nvSpPr>
          <p:cNvPr id="28" name="fx11_3_11"/>
          <p:cNvSpPr/>
          <p:nvPr/>
        </p:nvSpPr>
        <p:spPr>
          <a:xfrm>
            <a:off x="5257800" y="2103120"/>
            <a:ext cx="2148840" cy="2606040"/>
          </a:xfrm>
          <a:prstGeom prst="roundRect">
            <a:avLst>
              <a:gd name="adj" fmla="val 3404"/>
            </a:avLst>
          </a:prstGeom>
          <a:solidFill>
            <a:srgbClr val="0F201B">
              <a:alpha val="95000"/>
            </a:srgbClr>
          </a:solidFill>
          <a:ln w="9525">
            <a:solidFill>
              <a:srgbClr val="E0B45E">
                <a:alpha val="3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9" name="fx11_3_12"/>
          <p:cNvSpPr/>
          <p:nvPr/>
        </p:nvSpPr>
        <p:spPr>
          <a:xfrm>
            <a:off x="5257800" y="2103120"/>
            <a:ext cx="2148840" cy="45720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30" name="fx11_3_13"/>
          <p:cNvSpPr/>
          <p:nvPr/>
        </p:nvSpPr>
        <p:spPr>
          <a:xfrm>
            <a:off x="5422392" y="22494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31" name="fx11_3_14"/>
          <p:cNvSpPr/>
          <p:nvPr/>
        </p:nvSpPr>
        <p:spPr>
          <a:xfrm>
            <a:off x="5422392" y="276148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Народное предпринимательство</a:t>
            </a:r>
            <a:endParaRPr lang="en-US" sz="1300" dirty="0"/>
          </a:p>
        </p:txBody>
      </p:sp>
      <p:sp>
        <p:nvSpPr>
          <p:cNvPr id="32" name="fx11_3_15"/>
          <p:cNvSpPr/>
          <p:nvPr/>
        </p:nvSpPr>
        <p:spPr>
          <a:xfrm>
            <a:off x="5422392" y="35204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Доходы от сырья — на образование, здоровье и развитие народного предпринимательства.</a:t>
            </a:r>
            <a:endParaRPr lang="en-US" sz="1050" dirty="0"/>
          </a:p>
        </p:txBody>
      </p:sp>
      <p:sp>
        <p:nvSpPr>
          <p:cNvPr id="33" name="fx11_8_16"/>
          <p:cNvSpPr/>
          <p:nvPr/>
        </p:nvSpPr>
        <p:spPr>
          <a:xfrm>
            <a:off x="685800" y="5074920"/>
            <a:ext cx="6720840" cy="1115568"/>
          </a:xfrm>
          <a:prstGeom prst="roundRect">
            <a:avLst>
              <a:gd name="adj" fmla="val 6557"/>
            </a:avLst>
          </a:prstGeom>
          <a:solidFill>
            <a:srgbClr val="1E1A0C">
              <a:alpha val="92000"/>
            </a:srgbClr>
          </a:solidFill>
          <a:ln w="12700">
            <a:solidFill>
              <a:srgbClr val="E0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4" name="fx11_8_17"/>
          <p:cNvSpPr/>
          <p:nvPr/>
        </p:nvSpPr>
        <p:spPr>
          <a:xfrm>
            <a:off x="685800" y="5221224"/>
            <a:ext cx="50292" cy="822960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35" name="fx11_8_18"/>
          <p:cNvSpPr/>
          <p:nvPr/>
        </p:nvSpPr>
        <p:spPr>
          <a:xfrm>
            <a:off x="941832" y="4937760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0B45E"/>
          </a:solidFill>
          <a:ln/>
        </p:spPr>
      </p:sp>
      <p:sp>
        <p:nvSpPr>
          <p:cNvPr id="36" name="fx11_8_19"/>
          <p:cNvSpPr/>
          <p:nvPr/>
        </p:nvSpPr>
        <p:spPr>
          <a:xfrm>
            <a:off x="941832" y="493776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61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ЦИТАТА</a:t>
            </a:r>
            <a:endParaRPr lang="en-US" sz="850" dirty="0"/>
          </a:p>
        </p:txBody>
      </p:sp>
      <p:sp>
        <p:nvSpPr>
          <p:cNvPr id="37" name="fx11_8_20"/>
          <p:cNvSpPr/>
          <p:nvPr/>
        </p:nvSpPr>
        <p:spPr>
          <a:xfrm>
            <a:off x="960120" y="5257800"/>
            <a:ext cx="6263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«Частный собственник имеет </a:t>
            </a:r>
            <a:pPr algn="l" indent="0" marL="0">
              <a:lnSpc>
                <a:spcPct val="105000"/>
              </a:lnSpc>
              <a:buNone/>
            </a:pPr>
            <a:r>
              <a:rPr lang="en-US" sz="1200" b="1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непререкаемое право на доход</a:t>
            </a:r>
            <a:pPr algn="l"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являющийся результатом его предпринимательской деятельности, вложения капитала за свой страх и риск». — «Экономический манифест», 1999</a:t>
            </a:r>
            <a:endParaRPr lang="en-US" sz="12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8" name="!!m-abacus">
                <a:extLst>
                  <a:ext uri="{FF2B5EF4-FFF2-40B4-BE49-F238E27FC236}">
                    <a16:creationId xmlns:a16="http://schemas.microsoft.com/office/drawing/2014/main" id="{C55CE234-617E-B8E6-20F0-C38DDC60DC7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754880" y="1417320"/>
              <a:ext cx="4206240" cy="4206240"/>
            </p:xfrm>
            <a:graphic>
              <a:graphicData uri="http://schemas.microsoft.com/office/drawing/2017/model3d">
                <am3d:model3d r:embed="rIdM3d42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6130417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29927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612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8" name="!!m-abacus">
                <a:extLst>
                  <a:ext uri="{FF2B5EF4-FFF2-40B4-BE49-F238E27FC236}">
                    <a16:creationId xmlns:a16="http://schemas.microsoft.com/office/drawing/2014/main" id="{C55CE234-617E-B8E6-20F0-C38DDC60DC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754880" y="1417320"/>
                <a:ext cx="4206240" cy="42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chip">
                <a:extLst>
                  <a:ext uri="{FF2B5EF4-FFF2-40B4-BE49-F238E27FC236}">
                    <a16:creationId xmlns:a16="http://schemas.microsoft.com/office/drawing/2014/main" id="{2D751121-87A2-A29E-D3B2-B5FC0000449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548640"/>
              <a:ext cx="2697480" cy="2697480"/>
            </p:xfrm>
            <a:graphic>
              <a:graphicData uri="http://schemas.microsoft.com/office/drawing/2017/model3d">
                <am3d:model3d r:embed="rIdM3d43">
                  <am3d:spPr>
                    <a:xfrm>
                      <a:off x="0" y="0"/>
                      <a:ext cx="2697480" cy="2697480"/>
                    </a:xfrm>
                    <a:prstGeom prst="rect">
                      <a:avLst/>
                    </a:prstGeom>
                  </am3d:spPr>
                  <am3d:camera>
                    <am3d:pos x="0" y="0" z="6675334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82366" d="1000000"/>
                    <am3d:preTrans dx="0" dy="-152304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20000" ay="372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chip">
                <a:extLst>
                  <a:ext uri="{FF2B5EF4-FFF2-40B4-BE49-F238E27FC236}">
                    <a16:creationId xmlns:a16="http://schemas.microsoft.com/office/drawing/2014/main" id="{2D751121-87A2-A29E-D3B2-B5FC000044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548640"/>
                <a:ext cx="2697480" cy="269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2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lvov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7934736" cy="21946"/>
          </a:xfrm>
          <a:prstGeom prst="rect">
            <a:avLst/>
          </a:prstGeom>
          <a:solidFill>
            <a:srgbClr val="E0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F1FFD5E0-2589-B9B2-D25D-C250CE14C2C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346216" y="98755"/>
              <a:ext cx="548640" cy="548640"/>
            </p:xfrm>
            <a:graphic>
              <a:graphicData uri="http://schemas.microsoft.com/office/drawing/2017/model3d">
                <am3d:model3d r:embed="rIdM3d44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9636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F1FFD5E0-2589-B9B2-D25D-C250CE14C2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46216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ВКЛАД: ИННОВАЦИИ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ЛЬВОВ  ·  1930 – 2007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900" dirty="0"/>
          </a:p>
        </p:txBody>
      </p:sp>
      <p:pic>
        <p:nvPicPr>
          <p:cNvPr id="11" name="!!glow" descr="/home/user/omgGame/presentations/lvov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778" y="-221742"/>
            <a:ext cx="3506724" cy="350672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8996324" y="263804"/>
            <a:ext cx="2535631" cy="2535631"/>
          </a:xfrm>
          <a:prstGeom prst="ellipse">
            <a:avLst/>
          </a:prstGeom>
          <a:ln w="9525">
            <a:solidFill>
              <a:srgbClr val="E0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8645652" y="-86868"/>
            <a:ext cx="3236976" cy="3236976"/>
          </a:xfrm>
          <a:prstGeom prst="ellipse">
            <a:avLst/>
          </a:prstGeom>
          <a:ln w="9525">
            <a:solidFill>
              <a:srgbClr val="E0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lvov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148" y="1801368"/>
            <a:ext cx="2157984" cy="53949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hip">
                <a:extLst>
                  <a:ext uri="{FF2B5EF4-FFF2-40B4-BE49-F238E27FC236}">
                    <a16:creationId xmlns:a16="http://schemas.microsoft.com/office/drawing/2014/main" id="{D174D92C-1EF9-EF9E-248C-105AE885976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915400" y="182880"/>
              <a:ext cx="2697480" cy="2697480"/>
            </p:xfrm>
            <a:graphic>
              <a:graphicData uri="http://schemas.microsoft.com/office/drawing/2017/model3d">
                <am3d:model3d r:embed="rIdM3d45">
                  <am3d:spPr>
                    <a:xfrm>
                      <a:off x="0" y="0"/>
                      <a:ext cx="2697480" cy="2697480"/>
                    </a:xfrm>
                    <a:prstGeom prst="rect">
                      <a:avLst/>
                    </a:prstGeom>
                  </am3d:spPr>
                  <am3d:camera>
                    <am3d:pos x="0" y="0" z="6675334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82366" d="1000000"/>
                    <am3d:preTrans dx="0" dy="-152304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20000" ay="-10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hip">
                <a:extLst>
                  <a:ext uri="{FF2B5EF4-FFF2-40B4-BE49-F238E27FC236}">
                    <a16:creationId xmlns:a16="http://schemas.microsoft.com/office/drawing/2014/main" id="{D174D92C-1EF9-EF9E-248C-105AE885976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15400" y="182880"/>
                <a:ext cx="2697480" cy="26974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2_9_0"/>
          <p:cNvSpPr/>
          <p:nvPr/>
        </p:nvSpPr>
        <p:spPr>
          <a:xfrm>
            <a:off x="6400800" y="914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12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Микрочип — пятый и шестой уклады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Предприниматель-новатор и интеллектуальная рента</a:t>
            </a:r>
            <a:endParaRPr lang="en-US" sz="3000" dirty="0"/>
          </a:p>
        </p:txBody>
      </p:sp>
      <p:sp>
        <p:nvSpPr>
          <p:cNvPr id="18" name="fx12_1_1"/>
          <p:cNvSpPr/>
          <p:nvPr/>
        </p:nvSpPr>
        <p:spPr>
          <a:xfrm>
            <a:off x="685800" y="217627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fx12_1_2"/>
          <p:cNvSpPr/>
          <p:nvPr/>
        </p:nvSpPr>
        <p:spPr>
          <a:xfrm>
            <a:off x="1280160" y="22128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Смена укладов — окно возможностей</a:t>
            </a:r>
            <a:endParaRPr lang="en-US" sz="1400" dirty="0"/>
          </a:p>
        </p:txBody>
      </p:sp>
      <p:sp>
        <p:nvSpPr>
          <p:cNvPr id="20" name="fx12_1_3"/>
          <p:cNvSpPr/>
          <p:nvPr/>
        </p:nvSpPr>
        <p:spPr>
          <a:xfrm>
            <a:off x="1280160" y="24871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Выигрывает тот, кто первым осваивает ключевые технологии нового уклада.</a:t>
            </a:r>
            <a:endParaRPr lang="en-US" sz="1150" dirty="0"/>
          </a:p>
        </p:txBody>
      </p:sp>
      <p:sp>
        <p:nvSpPr>
          <p:cNvPr id="21" name="fx12_2_4"/>
          <p:cNvSpPr/>
          <p:nvPr/>
        </p:nvSpPr>
        <p:spPr>
          <a:xfrm>
            <a:off x="685800" y="281635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fx12_2_5"/>
          <p:cNvSpPr/>
          <p:nvPr/>
        </p:nvSpPr>
        <p:spPr>
          <a:xfrm>
            <a:off x="1280160" y="28529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Интеллектуальная рента</a:t>
            </a:r>
            <a:endParaRPr lang="en-US" sz="1400" dirty="0"/>
          </a:p>
        </p:txBody>
      </p:sp>
      <p:sp>
        <p:nvSpPr>
          <p:cNvPr id="23" name="fx12_2_6"/>
          <p:cNvSpPr/>
          <p:nvPr/>
        </p:nvSpPr>
        <p:spPr>
          <a:xfrm>
            <a:off x="1280160" y="31272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 завтрашнем дне на первый план будет выступать интеллектуальная рента».</a:t>
            </a:r>
            <a:endParaRPr lang="en-US" sz="1150" dirty="0"/>
          </a:p>
        </p:txBody>
      </p:sp>
      <p:sp>
        <p:nvSpPr>
          <p:cNvPr id="24" name="fx12_3_7"/>
          <p:cNvSpPr/>
          <p:nvPr/>
        </p:nvSpPr>
        <p:spPr>
          <a:xfrm>
            <a:off x="685800" y="34564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fx12_3_8"/>
          <p:cNvSpPr/>
          <p:nvPr/>
        </p:nvSpPr>
        <p:spPr>
          <a:xfrm>
            <a:off x="1280160" y="34930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— своему бизнесу</a:t>
            </a:r>
            <a:endParaRPr lang="en-US" sz="1400" dirty="0"/>
          </a:p>
        </p:txBody>
      </p:sp>
      <p:sp>
        <p:nvSpPr>
          <p:cNvPr id="26" name="fx12_3_9"/>
          <p:cNvSpPr/>
          <p:nvPr/>
        </p:nvSpPr>
        <p:spPr>
          <a:xfrm>
            <a:off x="1280160" y="376732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Стабфонд предлагал отдать «под 10–12 процентов годовых своему бизнесу».</a:t>
            </a:r>
            <a:endParaRPr lang="en-US" sz="1150" dirty="0"/>
          </a:p>
        </p:txBody>
      </p:sp>
      <p:sp>
        <p:nvSpPr>
          <p:cNvPr id="27" name="fx12_4_10"/>
          <p:cNvSpPr/>
          <p:nvPr/>
        </p:nvSpPr>
        <p:spPr>
          <a:xfrm>
            <a:off x="685800" y="4224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ЛИНИЯ ИДЕЙ</a:t>
            </a:r>
            <a:endParaRPr lang="en-US" sz="950" dirty="0"/>
          </a:p>
        </p:txBody>
      </p:sp>
      <p:sp>
        <p:nvSpPr>
          <p:cNvPr id="28" name="fx12_4_11"/>
          <p:cNvSpPr/>
          <p:nvPr/>
        </p:nvSpPr>
        <p:spPr>
          <a:xfrm>
            <a:off x="2038312" y="4645152"/>
            <a:ext cx="8115071" cy="91"/>
          </a:xfrm>
          <a:prstGeom prst="line">
            <a:avLst/>
          </a:prstGeom>
          <a:noFill/>
          <a:ln w="19050">
            <a:solidFill>
              <a:srgbClr val="E0B45E">
                <a:alpha val="60000"/>
              </a:srgbClr>
            </a:solidFill>
            <a:prstDash val="solid"/>
          </a:ln>
        </p:spPr>
      </p:sp>
      <p:sp>
        <p:nvSpPr>
          <p:cNvPr id="29" name="fx12_4_12"/>
          <p:cNvSpPr/>
          <p:nvPr/>
        </p:nvSpPr>
        <p:spPr>
          <a:xfrm>
            <a:off x="1937728" y="4544568"/>
            <a:ext cx="201168" cy="201168"/>
          </a:xfrm>
          <a:prstGeom prst="ellipse">
            <a:avLst/>
          </a:prstGeom>
          <a:solidFill>
            <a:srgbClr val="06100D"/>
          </a:solidFill>
          <a:ln w="25400">
            <a:solidFill>
              <a:srgbClr val="E0B45E"/>
            </a:solidFill>
            <a:prstDash val="solid"/>
          </a:ln>
        </p:spPr>
      </p:sp>
      <p:sp>
        <p:nvSpPr>
          <p:cNvPr id="30" name="fx12_4_13"/>
          <p:cNvSpPr/>
          <p:nvPr/>
        </p:nvSpPr>
        <p:spPr>
          <a:xfrm>
            <a:off x="685800" y="4800600"/>
            <a:ext cx="270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Кантильон  </a:t>
            </a:r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≈1730</a:t>
            </a:r>
            <a:endParaRPr lang="en-US" sz="1300" dirty="0"/>
          </a:p>
        </p:txBody>
      </p:sp>
      <p:sp>
        <p:nvSpPr>
          <p:cNvPr id="31" name="fx12_4_14"/>
          <p:cNvSpPr/>
          <p:nvPr/>
        </p:nvSpPr>
        <p:spPr>
          <a:xfrm>
            <a:off x="777240" y="507492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предприниматель несёт риск</a:t>
            </a:r>
            <a:endParaRPr lang="en-US" sz="1050" dirty="0"/>
          </a:p>
        </p:txBody>
      </p:sp>
      <p:sp>
        <p:nvSpPr>
          <p:cNvPr id="32" name="fx12_4_15"/>
          <p:cNvSpPr/>
          <p:nvPr/>
        </p:nvSpPr>
        <p:spPr>
          <a:xfrm>
            <a:off x="4642752" y="4544568"/>
            <a:ext cx="201168" cy="201168"/>
          </a:xfrm>
          <a:prstGeom prst="ellipse">
            <a:avLst/>
          </a:prstGeom>
          <a:solidFill>
            <a:srgbClr val="06100D"/>
          </a:solidFill>
          <a:ln w="25400">
            <a:solidFill>
              <a:srgbClr val="E0B45E"/>
            </a:solidFill>
            <a:prstDash val="solid"/>
          </a:ln>
        </p:spPr>
      </p:sp>
      <p:sp>
        <p:nvSpPr>
          <p:cNvPr id="33" name="fx12_4_16"/>
          <p:cNvSpPr/>
          <p:nvPr/>
        </p:nvSpPr>
        <p:spPr>
          <a:xfrm>
            <a:off x="3390824" y="4800600"/>
            <a:ext cx="270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Шумпетер  </a:t>
            </a:r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1911</a:t>
            </a:r>
            <a:endParaRPr lang="en-US" sz="1300" dirty="0"/>
          </a:p>
        </p:txBody>
      </p:sp>
      <p:sp>
        <p:nvSpPr>
          <p:cNvPr id="34" name="fx12_4_17"/>
          <p:cNvSpPr/>
          <p:nvPr/>
        </p:nvSpPr>
        <p:spPr>
          <a:xfrm>
            <a:off x="3482264" y="507492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новатор и новые комбинации</a:t>
            </a:r>
            <a:endParaRPr lang="en-US" sz="1050" dirty="0"/>
          </a:p>
        </p:txBody>
      </p:sp>
      <p:sp>
        <p:nvSpPr>
          <p:cNvPr id="35" name="fx12_5_18"/>
          <p:cNvSpPr/>
          <p:nvPr/>
        </p:nvSpPr>
        <p:spPr>
          <a:xfrm>
            <a:off x="7347776" y="4544568"/>
            <a:ext cx="201168" cy="201168"/>
          </a:xfrm>
          <a:prstGeom prst="ellipse">
            <a:avLst/>
          </a:prstGeom>
          <a:solidFill>
            <a:srgbClr val="06100D"/>
          </a:solidFill>
          <a:ln w="25400">
            <a:solidFill>
              <a:srgbClr val="E0B45E"/>
            </a:solidFill>
            <a:prstDash val="solid"/>
          </a:ln>
        </p:spPr>
      </p:sp>
      <p:sp>
        <p:nvSpPr>
          <p:cNvPr id="36" name="fx12_5_19"/>
          <p:cNvSpPr/>
          <p:nvPr/>
        </p:nvSpPr>
        <p:spPr>
          <a:xfrm>
            <a:off x="6095848" y="4800600"/>
            <a:ext cx="270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Кондратьев  </a:t>
            </a:r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1920-е</a:t>
            </a:r>
            <a:endParaRPr lang="en-US" sz="1300" dirty="0"/>
          </a:p>
        </p:txBody>
      </p:sp>
      <p:sp>
        <p:nvSpPr>
          <p:cNvPr id="37" name="fx12_5_20"/>
          <p:cNvSpPr/>
          <p:nvPr/>
        </p:nvSpPr>
        <p:spPr>
          <a:xfrm>
            <a:off x="6187288" y="507492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длинные волны экономики</a:t>
            </a:r>
            <a:endParaRPr lang="en-US" sz="1050" dirty="0"/>
          </a:p>
        </p:txBody>
      </p:sp>
      <p:sp>
        <p:nvSpPr>
          <p:cNvPr id="38" name="fx12_5_21"/>
          <p:cNvSpPr/>
          <p:nvPr/>
        </p:nvSpPr>
        <p:spPr>
          <a:xfrm>
            <a:off x="10052799" y="4544568"/>
            <a:ext cx="201168" cy="201168"/>
          </a:xfrm>
          <a:prstGeom prst="ellipse">
            <a:avLst/>
          </a:prstGeom>
          <a:solidFill>
            <a:srgbClr val="E0B45E"/>
          </a:solidFill>
          <a:ln w="25400">
            <a:solidFill>
              <a:srgbClr val="E0B45E"/>
            </a:solidFill>
            <a:prstDash val="solid"/>
          </a:ln>
        </p:spPr>
      </p:sp>
      <p:sp>
        <p:nvSpPr>
          <p:cNvPr id="39" name="fx12_5_22"/>
          <p:cNvSpPr/>
          <p:nvPr/>
        </p:nvSpPr>
        <p:spPr>
          <a:xfrm>
            <a:off x="8800871" y="4800600"/>
            <a:ext cx="270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Львов и Глазьев  </a:t>
            </a:r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1986</a:t>
            </a:r>
            <a:endParaRPr lang="en-US" sz="1300" dirty="0"/>
          </a:p>
        </p:txBody>
      </p:sp>
      <p:sp>
        <p:nvSpPr>
          <p:cNvPr id="40" name="fx12_5_23"/>
          <p:cNvSpPr/>
          <p:nvPr/>
        </p:nvSpPr>
        <p:spPr>
          <a:xfrm>
            <a:off x="8892311" y="507492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технологические уклады</a:t>
            </a:r>
            <a:endParaRPr lang="en-US" sz="1050" dirty="0"/>
          </a:p>
        </p:txBody>
      </p:sp>
      <p:sp>
        <p:nvSpPr>
          <p:cNvPr id="41" name="fx12_7_24"/>
          <p:cNvSpPr/>
          <p:nvPr/>
        </p:nvSpPr>
        <p:spPr>
          <a:xfrm>
            <a:off x="685800" y="5559552"/>
            <a:ext cx="7863840" cy="658368"/>
          </a:xfrm>
          <a:prstGeom prst="roundRect">
            <a:avLst>
              <a:gd name="adj" fmla="val 11111"/>
            </a:avLst>
          </a:prstGeom>
          <a:solidFill>
            <a:srgbClr val="1E1A0C">
              <a:alpha val="92000"/>
            </a:srgbClr>
          </a:solidFill>
          <a:ln w="12700">
            <a:solidFill>
              <a:srgbClr val="E0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2" name="fx12_7_25"/>
          <p:cNvSpPr/>
          <p:nvPr/>
        </p:nvSpPr>
        <p:spPr>
          <a:xfrm>
            <a:off x="685800" y="5705856"/>
            <a:ext cx="50292" cy="365760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43" name="fx12_7_26"/>
          <p:cNvSpPr/>
          <p:nvPr/>
        </p:nvSpPr>
        <p:spPr>
          <a:xfrm>
            <a:off x="941832" y="5422392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0B45E"/>
          </a:solidFill>
          <a:ln/>
        </p:spPr>
      </p:sp>
      <p:sp>
        <p:nvSpPr>
          <p:cNvPr id="44" name="fx12_7_27"/>
          <p:cNvSpPr/>
          <p:nvPr/>
        </p:nvSpPr>
        <p:spPr>
          <a:xfrm>
            <a:off x="941832" y="54223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61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45" name="fx12_7_28"/>
          <p:cNvSpPr/>
          <p:nvPr/>
        </p:nvSpPr>
        <p:spPr>
          <a:xfrm>
            <a:off x="960120" y="574243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 «шестом технологическом укладе»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 сих пор говорят в российских стратегиях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это наследие статьи Львова и Глазьева 1986 года.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6" name="!!m-sprout">
                <a:extLst>
                  <a:ext uri="{FF2B5EF4-FFF2-40B4-BE49-F238E27FC236}">
                    <a16:creationId xmlns:a16="http://schemas.microsoft.com/office/drawing/2014/main" id="{285FDBD3-EB77-DF45-19F3-EB22C80A6B4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663440" y="1280160"/>
              <a:ext cx="4114800" cy="4114800"/>
            </p:xfrm>
            <a:graphic>
              <a:graphicData uri="http://schemas.microsoft.com/office/drawing/2017/model3d">
                <am3d:model3d r:embed="rIdM3d46">
                  <am3d:spPr>
                    <a:xfrm>
                      <a:off x="0" y="0"/>
                      <a:ext cx="4114800" cy="4114800"/>
                    </a:xfrm>
                    <a:prstGeom prst="rect">
                      <a:avLst/>
                    </a:prstGeom>
                  </am3d:spPr>
                  <am3d:camera>
                    <am3d:pos x="0" y="0" z="6191457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17156" d="1000000"/>
                    <am3d:preTrans dx="-20418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58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1148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6" name="!!m-sprout">
                <a:extLst>
                  <a:ext uri="{FF2B5EF4-FFF2-40B4-BE49-F238E27FC236}">
                    <a16:creationId xmlns:a16="http://schemas.microsoft.com/office/drawing/2014/main" id="{285FDBD3-EB77-DF45-19F3-EB22C80A6B4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663440" y="1280160"/>
                <a:ext cx="4114800" cy="411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7" name="!!m-mic">
                <a:extLst>
                  <a:ext uri="{FF2B5EF4-FFF2-40B4-BE49-F238E27FC236}">
                    <a16:creationId xmlns:a16="http://schemas.microsoft.com/office/drawing/2014/main" id="{9B7AB595-BBF1-9AA8-F04F-1E9B11500E9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234440"/>
              <a:ext cx="4114800" cy="4114800"/>
            </p:xfrm>
            <a:graphic>
              <a:graphicData uri="http://schemas.microsoft.com/office/drawing/2017/model3d">
                <am3d:model3d r:embed="rIdM3d47">
                  <am3d:spPr>
                    <a:xfrm>
                      <a:off x="0" y="0"/>
                      <a:ext cx="4114800" cy="4114800"/>
                    </a:xfrm>
                    <a:prstGeom prst="rect">
                      <a:avLst/>
                    </a:prstGeom>
                  </am3d:spPr>
                  <am3d:camera>
                    <am3d:pos x="0" y="0" z="6631984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75683" d="1000000"/>
                    <am3d:preTrans dx="-4652020" dy="-17938048" dz="812689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36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1148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7" name="!!m-mic">
                <a:extLst>
                  <a:ext uri="{FF2B5EF4-FFF2-40B4-BE49-F238E27FC236}">
                    <a16:creationId xmlns:a16="http://schemas.microsoft.com/office/drawing/2014/main" id="{9B7AB595-BBF1-9AA8-F04F-1E9B11500E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234440"/>
                <a:ext cx="4114800" cy="4114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3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lvov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8656076" cy="21946"/>
          </a:xfrm>
          <a:prstGeom prst="rect">
            <a:avLst/>
          </a:prstGeom>
          <a:solidFill>
            <a:srgbClr val="E0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F9FDCE8E-B503-134F-8B5E-39055B30390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067556" y="98755"/>
              <a:ext cx="548640" cy="548640"/>
            </p:xfrm>
            <a:graphic>
              <a:graphicData uri="http://schemas.microsoft.com/office/drawing/2017/model3d">
                <am3d:model3d r:embed="rIdM3d48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10512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F9FDCE8E-B503-134F-8B5E-39055B3039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67556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ГОЛОС В ЭФИРЕ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ЛЬВОВ  ·  1930 – 2007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900" dirty="0"/>
          </a:p>
        </p:txBody>
      </p:sp>
      <p:pic>
        <p:nvPicPr>
          <p:cNvPr id="11" name="!!glow" descr="/home/user/omgGame/presentations/lvov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290" y="-57150"/>
            <a:ext cx="5966460" cy="5966460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941564" y="992124"/>
            <a:ext cx="3867912" cy="3867912"/>
          </a:xfrm>
          <a:prstGeom prst="ellipse">
            <a:avLst/>
          </a:prstGeom>
          <a:ln w="9525">
            <a:solidFill>
              <a:srgbClr val="E0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406640" y="457200"/>
            <a:ext cx="4937760" cy="4937760"/>
          </a:xfrm>
          <a:prstGeom prst="ellipse">
            <a:avLst/>
          </a:prstGeom>
          <a:ln w="9525">
            <a:solidFill>
              <a:srgbClr val="E0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lvov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4098798"/>
            <a:ext cx="2468880" cy="61722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mic">
                <a:extLst>
                  <a:ext uri="{FF2B5EF4-FFF2-40B4-BE49-F238E27FC236}">
                    <a16:creationId xmlns:a16="http://schemas.microsoft.com/office/drawing/2014/main" id="{715E2E78-99E4-DF33-E0D7-BA27D966641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818120" y="868680"/>
              <a:ext cx="4114800" cy="4114800"/>
            </p:xfrm>
            <a:graphic>
              <a:graphicData uri="http://schemas.microsoft.com/office/drawing/2017/model3d">
                <am3d:model3d r:embed="rIdM3d49">
                  <am3d:spPr>
                    <a:xfrm>
                      <a:off x="0" y="0"/>
                      <a:ext cx="4114800" cy="4114800"/>
                    </a:xfrm>
                    <a:prstGeom prst="rect">
                      <a:avLst/>
                    </a:prstGeom>
                  </am3d:spPr>
                  <am3d:camera>
                    <am3d:pos x="0" y="0" z="6631984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75683" d="1000000"/>
                    <am3d:preTrans dx="-4652020" dy="-17938048" dz="812689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2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1148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mic">
                <a:extLst>
                  <a:ext uri="{FF2B5EF4-FFF2-40B4-BE49-F238E27FC236}">
                    <a16:creationId xmlns:a16="http://schemas.microsoft.com/office/drawing/2014/main" id="{715E2E78-99E4-DF33-E0D7-BA27D96664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18120" y="868680"/>
                <a:ext cx="4114800" cy="41148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3_9_0"/>
          <p:cNvSpPr/>
          <p:nvPr/>
        </p:nvSpPr>
        <p:spPr>
          <a:xfrm>
            <a:off x="8092440" y="46954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13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Студийный микрофон: телевыступления начала 2000-х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Академик, которого слушала вся страна</a:t>
            </a:r>
            <a:endParaRPr lang="en-US" sz="3000" dirty="0"/>
          </a:p>
        </p:txBody>
      </p:sp>
      <p:sp>
        <p:nvSpPr>
          <p:cNvPr id="18" name="fx13_1_1"/>
          <p:cNvSpPr/>
          <p:nvPr/>
        </p:nvSpPr>
        <p:spPr>
          <a:xfrm>
            <a:off x="685800" y="2121408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0F201B">
              <a:alpha val="88000"/>
            </a:srgbClr>
          </a:solidFill>
          <a:ln w="9525">
            <a:solidFill>
              <a:srgbClr val="E0B45E">
                <a:alpha val="60000"/>
              </a:srgbClr>
            </a:solidFill>
            <a:prstDash val="solid"/>
          </a:ln>
        </p:spPr>
      </p:sp>
      <p:sp>
        <p:nvSpPr>
          <p:cNvPr id="19" name="fx13_1_2"/>
          <p:cNvSpPr/>
          <p:nvPr/>
        </p:nvSpPr>
        <p:spPr>
          <a:xfrm>
            <a:off x="914400" y="22585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«КОМСОМОЛЬСКАЯ ПРАВДА»</a:t>
            </a:r>
            <a:endParaRPr lang="en-US" sz="950" dirty="0"/>
          </a:p>
        </p:txBody>
      </p:sp>
      <p:sp>
        <p:nvSpPr>
          <p:cNvPr id="20" name="fx13_1_3"/>
          <p:cNvSpPr/>
          <p:nvPr/>
        </p:nvSpPr>
        <p:spPr>
          <a:xfrm>
            <a:off x="914400" y="2487168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«Олигархи по отдельности милые люди, а вместе — стая волков!»</a:t>
            </a:r>
            <a:endParaRPr lang="en-US" sz="1400" dirty="0"/>
          </a:p>
        </p:txBody>
      </p:sp>
      <p:sp>
        <p:nvSpPr>
          <p:cNvPr id="21" name="fx13_2_4"/>
          <p:cNvSpPr/>
          <p:nvPr/>
        </p:nvSpPr>
        <p:spPr>
          <a:xfrm>
            <a:off x="685800" y="310896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0F201B">
              <a:alpha val="88000"/>
            </a:srgbClr>
          </a:solidFill>
          <a:ln w="9525">
            <a:solidFill>
              <a:srgbClr val="8FA39A">
                <a:alpha val="30000"/>
              </a:srgbClr>
            </a:solidFill>
            <a:prstDash val="solid"/>
          </a:ln>
        </p:spPr>
      </p:sp>
      <p:sp>
        <p:nvSpPr>
          <p:cNvPr id="22" name="fx13_2_5"/>
          <p:cNvSpPr/>
          <p:nvPr/>
        </p:nvSpPr>
        <p:spPr>
          <a:xfrm>
            <a:off x="914400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«КП», ЯНВАРЬ 2007</a:t>
            </a:r>
            <a:endParaRPr lang="en-US" sz="950" dirty="0"/>
          </a:p>
        </p:txBody>
      </p:sp>
      <p:sp>
        <p:nvSpPr>
          <p:cNvPr id="23" name="fx13_2_6"/>
          <p:cNvSpPr/>
          <p:nvPr/>
        </p:nvSpPr>
        <p:spPr>
          <a:xfrm>
            <a:off x="914400" y="3474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«Справиться с бедностью можно за год, если взять налоги с Рублёвки»</a:t>
            </a:r>
            <a:endParaRPr lang="en-US" sz="1400" dirty="0"/>
          </a:p>
        </p:txBody>
      </p:sp>
      <p:sp>
        <p:nvSpPr>
          <p:cNvPr id="24" name="fx13_2_7"/>
          <p:cNvSpPr/>
          <p:nvPr/>
        </p:nvSpPr>
        <p:spPr>
          <a:xfrm>
            <a:off x="4160520" y="310896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0F201B">
              <a:alpha val="88000"/>
            </a:srgbClr>
          </a:solidFill>
          <a:ln w="9525">
            <a:solidFill>
              <a:srgbClr val="8FA39A">
                <a:alpha val="30000"/>
              </a:srgbClr>
            </a:solidFill>
            <a:prstDash val="solid"/>
          </a:ln>
        </p:spPr>
      </p:sp>
      <p:sp>
        <p:nvSpPr>
          <p:cNvPr id="25" name="fx13_2_8"/>
          <p:cNvSpPr/>
          <p:nvPr/>
        </p:nvSpPr>
        <p:spPr>
          <a:xfrm>
            <a:off x="4389120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«КП», ЯНВАРЬ 2007</a:t>
            </a:r>
            <a:endParaRPr lang="en-US" sz="950" dirty="0"/>
          </a:p>
        </p:txBody>
      </p:sp>
      <p:sp>
        <p:nvSpPr>
          <p:cNvPr id="26" name="fx13_2_9"/>
          <p:cNvSpPr/>
          <p:nvPr/>
        </p:nvSpPr>
        <p:spPr>
          <a:xfrm>
            <a:off x="4389120" y="3474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«Заработки в России должны быть в 2–3 раза выше»</a:t>
            </a:r>
            <a:endParaRPr lang="en-US" sz="1400" dirty="0"/>
          </a:p>
        </p:txBody>
      </p:sp>
      <p:sp>
        <p:nvSpPr>
          <p:cNvPr id="27" name="fx13_3_10"/>
          <p:cNvSpPr/>
          <p:nvPr/>
        </p:nvSpPr>
        <p:spPr>
          <a:xfrm>
            <a:off x="685800" y="446227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Апрель 2002: 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доклад о ренте на заседании Президиума РАН.</a:t>
            </a:r>
            <a:endParaRPr lang="en-US" sz="1200" dirty="0"/>
          </a:p>
        </p:txBody>
      </p:sp>
      <p:sp>
        <p:nvSpPr>
          <p:cNvPr id="28" name="fx13_8_11"/>
          <p:cNvSpPr/>
          <p:nvPr/>
        </p:nvSpPr>
        <p:spPr>
          <a:xfrm>
            <a:off x="685800" y="5166360"/>
            <a:ext cx="6766560" cy="1005840"/>
          </a:xfrm>
          <a:prstGeom prst="roundRect">
            <a:avLst>
              <a:gd name="adj" fmla="val 7273"/>
            </a:avLst>
          </a:prstGeom>
          <a:solidFill>
            <a:srgbClr val="1E1A0C">
              <a:alpha val="92000"/>
            </a:srgbClr>
          </a:solidFill>
          <a:ln w="12700">
            <a:solidFill>
              <a:srgbClr val="E0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9" name="fx13_8_12"/>
          <p:cNvSpPr/>
          <p:nvPr/>
        </p:nvSpPr>
        <p:spPr>
          <a:xfrm>
            <a:off x="685800" y="5312664"/>
            <a:ext cx="50292" cy="713232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30" name="fx13_8_13"/>
          <p:cNvSpPr/>
          <p:nvPr/>
        </p:nvSpPr>
        <p:spPr>
          <a:xfrm>
            <a:off x="941832" y="5029200"/>
            <a:ext cx="1513332" cy="274320"/>
          </a:xfrm>
          <a:prstGeom prst="roundRect">
            <a:avLst>
              <a:gd name="adj" fmla="val 50000"/>
            </a:avLst>
          </a:prstGeom>
          <a:solidFill>
            <a:srgbClr val="E0B45E"/>
          </a:solidFill>
          <a:ln/>
        </p:spPr>
      </p:sp>
      <p:sp>
        <p:nvSpPr>
          <p:cNvPr id="31" name="fx13_8_14"/>
          <p:cNvSpPr/>
          <p:nvPr/>
        </p:nvSpPr>
        <p:spPr>
          <a:xfrm>
            <a:off x="941832" y="5029200"/>
            <a:ext cx="1513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61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ИЗ ИНТЕРВЬЮ</a:t>
            </a:r>
            <a:endParaRPr lang="en-US" sz="850" dirty="0"/>
          </a:p>
        </p:txBody>
      </p:sp>
      <p:sp>
        <p:nvSpPr>
          <p:cNvPr id="32" name="fx13_8_15"/>
          <p:cNvSpPr/>
          <p:nvPr/>
        </p:nvSpPr>
        <p:spPr>
          <a:xfrm>
            <a:off x="960120" y="53492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Обращался ли он к Путину с идеей ренты?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«Обращался. Разговор был хороший. Путина вопрос о ренте очень увлёк»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— «КП», 2007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!!m-chip">
                <a:extLst>
                  <a:ext uri="{FF2B5EF4-FFF2-40B4-BE49-F238E27FC236}">
                    <a16:creationId xmlns:a16="http://schemas.microsoft.com/office/drawing/2014/main" id="{D7BD1617-0A0A-C27C-762C-0B1FB853C9B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246120" y="548640"/>
              <a:ext cx="2697480" cy="2697480"/>
            </p:xfrm>
            <a:graphic>
              <a:graphicData uri="http://schemas.microsoft.com/office/drawing/2017/model3d">
                <am3d:model3d r:embed="rIdM3d50">
                  <am3d:spPr>
                    <a:xfrm>
                      <a:off x="0" y="0"/>
                      <a:ext cx="2697480" cy="2697480"/>
                    </a:xfrm>
                    <a:prstGeom prst="rect">
                      <a:avLst/>
                    </a:prstGeom>
                  </am3d:spPr>
                  <am3d:camera>
                    <am3d:pos x="0" y="0" z="6675334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82366" d="1000000"/>
                    <am3d:preTrans dx="0" dy="-152304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20000" ay="-58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!!m-chip">
                <a:extLst>
                  <a:ext uri="{FF2B5EF4-FFF2-40B4-BE49-F238E27FC236}">
                    <a16:creationId xmlns:a16="http://schemas.microsoft.com/office/drawing/2014/main" id="{D7BD1617-0A0A-C27C-762C-0B1FB853C9B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3246120" y="548640"/>
                <a:ext cx="2697480" cy="269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4" name="!!m-pumpjack">
                <a:extLst>
                  <a:ext uri="{FF2B5EF4-FFF2-40B4-BE49-F238E27FC236}">
                    <a16:creationId xmlns:a16="http://schemas.microsoft.com/office/drawing/2014/main" id="{2C864EA4-9325-CA6E-4C08-7929C474EB1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71600"/>
              <a:ext cx="4846320" cy="4846320"/>
            </p:xfrm>
            <a:graphic>
              <a:graphicData uri="http://schemas.microsoft.com/office/drawing/2017/model3d">
                <am3d:model3d r:embed="rIdM3d51">
                  <am3d:spPr>
                    <a:xfrm>
                      <a:off x="0" y="0"/>
                      <a:ext cx="4846320" cy="4846320"/>
                    </a:xfrm>
                    <a:prstGeom prst="rect">
                      <a:avLst/>
                    </a:prstGeom>
                  </am3d:spPr>
                  <am3d:camera>
                    <am3d:pos x="0" y="0" z="5669223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1523" d="1000000"/>
                    <am3d:preTrans dx="-2444444" dy="-11206642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648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8463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4" name="!!m-pumpjack">
                <a:extLst>
                  <a:ext uri="{FF2B5EF4-FFF2-40B4-BE49-F238E27FC236}">
                    <a16:creationId xmlns:a16="http://schemas.microsoft.com/office/drawing/2014/main" id="{2C864EA4-9325-CA6E-4C08-7929C474EB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371600"/>
                <a:ext cx="4846320" cy="484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4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lvov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9377416" cy="21946"/>
          </a:xfrm>
          <a:prstGeom prst="rect">
            <a:avLst/>
          </a:prstGeom>
          <a:solidFill>
            <a:srgbClr val="E0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E489371D-3E06-9DF7-FE71-7DD4746760F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788896" y="98755"/>
              <a:ext cx="548640" cy="548640"/>
            </p:xfrm>
            <a:graphic>
              <a:graphicData uri="http://schemas.microsoft.com/office/drawing/2017/model3d">
                <am3d:model3d r:embed="rIdM3d52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11388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E489371D-3E06-9DF7-FE71-7DD4746760F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788896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— НАСЛЕДИЕ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ЛЬВОВ  ·  1930 – 2007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900" dirty="0"/>
          </a:p>
        </p:txBody>
      </p:sp>
      <p:pic>
        <p:nvPicPr>
          <p:cNvPr id="11" name="!!glow" descr="/home/user/omgGame/presentations/lvov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898" y="-84582"/>
            <a:ext cx="7027164" cy="702716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277710" y="1151230"/>
            <a:ext cx="4555541" cy="4555541"/>
          </a:xfrm>
          <a:prstGeom prst="ellipse">
            <a:avLst/>
          </a:prstGeom>
          <a:ln w="9525">
            <a:solidFill>
              <a:srgbClr val="E0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6647688" y="521208"/>
            <a:ext cx="5815584" cy="5815584"/>
          </a:xfrm>
          <a:prstGeom prst="ellipse">
            <a:avLst/>
          </a:prstGeom>
          <a:ln w="9525">
            <a:solidFill>
              <a:srgbClr val="E0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lvov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794" y="4367975"/>
            <a:ext cx="4119372" cy="1029843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pumpjack">
                <a:extLst>
                  <a:ext uri="{FF2B5EF4-FFF2-40B4-BE49-F238E27FC236}">
                    <a16:creationId xmlns:a16="http://schemas.microsoft.com/office/drawing/2014/main" id="{E39D4B14-8932-D94B-0593-7AC3B1EE3AC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132320" y="1005840"/>
              <a:ext cx="4846320" cy="4846320"/>
            </p:xfrm>
            <a:graphic>
              <a:graphicData uri="http://schemas.microsoft.com/office/drawing/2017/model3d">
                <am3d:model3d r:embed="rIdM3d53">
                  <am3d:spPr>
                    <a:xfrm>
                      <a:off x="0" y="0"/>
                      <a:ext cx="4846320" cy="4846320"/>
                    </a:xfrm>
                    <a:prstGeom prst="rect">
                      <a:avLst/>
                    </a:prstGeom>
                  </am3d:spPr>
                  <am3d:camera>
                    <am3d:pos x="0" y="0" z="5669223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1523" d="1000000"/>
                    <am3d:preTrans dx="-2444444" dy="-11206642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16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8463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pumpjack">
                <a:extLst>
                  <a:ext uri="{FF2B5EF4-FFF2-40B4-BE49-F238E27FC236}">
                    <a16:creationId xmlns:a16="http://schemas.microsoft.com/office/drawing/2014/main" id="{E39D4B14-8932-D94B-0593-7AC3B1EE3A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32320" y="1005840"/>
                <a:ext cx="4846320" cy="48463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4_9_0"/>
          <p:cNvSpPr/>
          <p:nvPr/>
        </p:nvSpPr>
        <p:spPr>
          <a:xfrm>
            <a:off x="7772400" y="551291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14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Тот же станок-качалка: спор о ренте продолжается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осталось после Львова</a:t>
            </a:r>
            <a:endParaRPr lang="en-US" sz="3600" dirty="0"/>
          </a:p>
        </p:txBody>
      </p:sp>
      <p:sp>
        <p:nvSpPr>
          <p:cNvPr id="18" name="fx14_1_1"/>
          <p:cNvSpPr/>
          <p:nvPr/>
        </p:nvSpPr>
        <p:spPr>
          <a:xfrm>
            <a:off x="685800" y="188366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19" name="fx14_1_2"/>
          <p:cNvSpPr/>
          <p:nvPr/>
        </p:nvSpPr>
        <p:spPr>
          <a:xfrm>
            <a:off x="1280160" y="1920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Технологические уклады</a:t>
            </a:r>
            <a:endParaRPr lang="en-US" sz="1400" dirty="0"/>
          </a:p>
        </p:txBody>
      </p:sp>
      <p:sp>
        <p:nvSpPr>
          <p:cNvPr id="20" name="fx14_1_3"/>
          <p:cNvSpPr/>
          <p:nvPr/>
        </p:nvSpPr>
        <p:spPr>
          <a:xfrm>
            <a:off x="1280160" y="2194560"/>
            <a:ext cx="5943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 вошёл в экономический словарь; о «шестом укладе» говорят и сегодня.</a:t>
            </a:r>
            <a:endParaRPr lang="en-US" sz="1150" dirty="0"/>
          </a:p>
        </p:txBody>
      </p:sp>
      <p:sp>
        <p:nvSpPr>
          <p:cNvPr id="21" name="fx14_2_4"/>
          <p:cNvSpPr/>
          <p:nvPr/>
        </p:nvSpPr>
        <p:spPr>
          <a:xfrm>
            <a:off x="685800" y="267919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800" dirty="0"/>
          </a:p>
        </p:txBody>
      </p:sp>
      <p:sp>
        <p:nvSpPr>
          <p:cNvPr id="22" name="fx14_2_5"/>
          <p:cNvSpPr/>
          <p:nvPr/>
        </p:nvSpPr>
        <p:spPr>
          <a:xfrm>
            <a:off x="1280160" y="27157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 о ренте</a:t>
            </a:r>
            <a:endParaRPr lang="en-US" sz="1400" dirty="0"/>
          </a:p>
        </p:txBody>
      </p:sp>
      <p:sp>
        <p:nvSpPr>
          <p:cNvPr id="23" name="fx14_2_6"/>
          <p:cNvSpPr/>
          <p:nvPr/>
        </p:nvSpPr>
        <p:spPr>
          <a:xfrm>
            <a:off x="1280160" y="2990088"/>
            <a:ext cx="5943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2019 года нефтянка платит налог на дополнительный доход (НДД) — со сверхдохода, а не с выручки.</a:t>
            </a:r>
            <a:endParaRPr lang="en-US" sz="1150" dirty="0"/>
          </a:p>
        </p:txBody>
      </p:sp>
      <p:sp>
        <p:nvSpPr>
          <p:cNvPr id="24" name="fx14_3_7"/>
          <p:cNvSpPr/>
          <p:nvPr/>
        </p:nvSpPr>
        <p:spPr>
          <a:xfrm>
            <a:off x="685800" y="34747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800" dirty="0"/>
          </a:p>
        </p:txBody>
      </p:sp>
      <p:sp>
        <p:nvSpPr>
          <p:cNvPr id="25" name="fx14_3_8"/>
          <p:cNvSpPr/>
          <p:nvPr/>
        </p:nvSpPr>
        <p:spPr>
          <a:xfrm>
            <a:off x="1280160" y="35112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Школа</a:t>
            </a:r>
            <a:endParaRPr lang="en-US" sz="1400" dirty="0"/>
          </a:p>
        </p:txBody>
      </p:sp>
      <p:sp>
        <p:nvSpPr>
          <p:cNvPr id="26" name="fx14_3_9"/>
          <p:cNvSpPr/>
          <p:nvPr/>
        </p:nvSpPr>
        <p:spPr>
          <a:xfrm>
            <a:off x="1280160" y="3785616"/>
            <a:ext cx="5943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Ученик — академик С. Глазьев; в Финуниверситете ежегодно — круглый стол о наследии Львова.</a:t>
            </a:r>
            <a:endParaRPr lang="en-US" sz="1150" dirty="0"/>
          </a:p>
        </p:txBody>
      </p:sp>
      <p:sp>
        <p:nvSpPr>
          <p:cNvPr id="27" name="fx14_4_10"/>
          <p:cNvSpPr/>
          <p:nvPr/>
        </p:nvSpPr>
        <p:spPr>
          <a:xfrm>
            <a:off x="685800" y="42702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0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800" dirty="0"/>
          </a:p>
        </p:txBody>
      </p:sp>
      <p:sp>
        <p:nvSpPr>
          <p:cNvPr id="28" name="fx14_4_11"/>
          <p:cNvSpPr/>
          <p:nvPr/>
        </p:nvSpPr>
        <p:spPr>
          <a:xfrm>
            <a:off x="1280160" y="430682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Награды</a:t>
            </a:r>
            <a:endParaRPr lang="en-US" sz="1400" dirty="0"/>
          </a:p>
        </p:txBody>
      </p:sp>
      <p:sp>
        <p:nvSpPr>
          <p:cNvPr id="29" name="fx14_4_12"/>
          <p:cNvSpPr/>
          <p:nvPr/>
        </p:nvSpPr>
        <p:spPr>
          <a:xfrm>
            <a:off x="1280160" y="4581144"/>
            <a:ext cx="5943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Орден Почёта (1999), орден Дружбы (2005), Булгаковская премия (2003).</a:t>
            </a:r>
            <a:endParaRPr lang="en-US" sz="1150" dirty="0"/>
          </a:p>
        </p:txBody>
      </p:sp>
      <p:sp>
        <p:nvSpPr>
          <p:cNvPr id="30" name="fx14_8_13"/>
          <p:cNvSpPr/>
          <p:nvPr/>
        </p:nvSpPr>
        <p:spPr>
          <a:xfrm>
            <a:off x="685800" y="5230368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1E1A0C">
              <a:alpha val="92000"/>
            </a:srgbClr>
          </a:solidFill>
          <a:ln w="12700">
            <a:solidFill>
              <a:srgbClr val="E0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1" name="fx14_8_14"/>
          <p:cNvSpPr/>
          <p:nvPr/>
        </p:nvSpPr>
        <p:spPr>
          <a:xfrm>
            <a:off x="685800" y="5376672"/>
            <a:ext cx="50292" cy="667512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32" name="fx14_8_15"/>
          <p:cNvSpPr/>
          <p:nvPr/>
        </p:nvSpPr>
        <p:spPr>
          <a:xfrm>
            <a:off x="941832" y="5093208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0B45E"/>
          </a:solidFill>
          <a:ln/>
        </p:spPr>
      </p:sp>
      <p:sp>
        <p:nvSpPr>
          <p:cNvPr id="33" name="fx14_8_16"/>
          <p:cNvSpPr/>
          <p:nvPr/>
        </p:nvSpPr>
        <p:spPr>
          <a:xfrm>
            <a:off x="941832" y="509320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61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4" name="fx14_8_17"/>
          <p:cNvSpPr/>
          <p:nvPr/>
        </p:nvSpPr>
        <p:spPr>
          <a:xfrm>
            <a:off x="960120" y="5413248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Редкость для экономиста: у него были и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церковные ордена Сергия Радонежского и Даниила Московского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а книгу 2004 года он назвал «Нравственная экономика».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mic">
                <a:extLst>
                  <a:ext uri="{FF2B5EF4-FFF2-40B4-BE49-F238E27FC236}">
                    <a16:creationId xmlns:a16="http://schemas.microsoft.com/office/drawing/2014/main" id="{F715CA61-6E5F-2D2A-490F-AAC25090283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663440" y="1234440"/>
              <a:ext cx="4114800" cy="4114800"/>
            </p:xfrm>
            <a:graphic>
              <a:graphicData uri="http://schemas.microsoft.com/office/drawing/2017/model3d">
                <am3d:model3d r:embed="rIdM3d54">
                  <am3d:spPr>
                    <a:xfrm>
                      <a:off x="0" y="0"/>
                      <a:ext cx="4114800" cy="4114800"/>
                    </a:xfrm>
                    <a:prstGeom prst="rect">
                      <a:avLst/>
                    </a:prstGeom>
                  </am3d:spPr>
                  <am3d:camera>
                    <am3d:pos x="0" y="0" z="6631984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75683" d="1000000"/>
                    <am3d:preTrans dx="-4652020" dy="-17938048" dz="812689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60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1148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mic">
                <a:extLst>
                  <a:ext uri="{FF2B5EF4-FFF2-40B4-BE49-F238E27FC236}">
                    <a16:creationId xmlns:a16="http://schemas.microsoft.com/office/drawing/2014/main" id="{F715CA61-6E5F-2D2A-490F-AAC25090283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663440" y="1234440"/>
                <a:ext cx="4114800" cy="411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rub">
                <a:extLst>
                  <a:ext uri="{FF2B5EF4-FFF2-40B4-BE49-F238E27FC236}">
                    <a16:creationId xmlns:a16="http://schemas.microsoft.com/office/drawing/2014/main" id="{6D55F2BF-D2E1-BC22-0D59-67A47A1DEC9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143000"/>
              <a:ext cx="4023360" cy="4023360"/>
            </p:xfrm>
            <a:graphic>
              <a:graphicData uri="http://schemas.microsoft.com/office/drawing/2017/model3d">
                <am3d:model3d r:embed="rIdM3d55">
                  <am3d:spPr>
                    <a:xfrm>
                      <a:off x="0" y="0"/>
                      <a:ext cx="4023360" cy="402336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3120000" az="-72000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023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rub">
                <a:extLst>
                  <a:ext uri="{FF2B5EF4-FFF2-40B4-BE49-F238E27FC236}">
                    <a16:creationId xmlns:a16="http://schemas.microsoft.com/office/drawing/2014/main" id="{6D55F2BF-D2E1-BC22-0D59-67A47A1DEC9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143000"/>
                <a:ext cx="4023360" cy="4023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5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lvov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10098756" cy="21946"/>
          </a:xfrm>
          <a:prstGeom prst="rect">
            <a:avLst/>
          </a:prstGeom>
          <a:solidFill>
            <a:srgbClr val="E0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CB74C61A-BA55-D308-355C-987FAB4E1A3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510236" y="98755"/>
              <a:ext cx="548640" cy="548640"/>
            </p:xfrm>
            <a:graphic>
              <a:graphicData uri="http://schemas.microsoft.com/office/drawing/2017/model3d">
                <am3d:model3d r:embed="rIdM3d56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12264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CB74C61A-BA55-D308-355C-987FAB4E1A3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510236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ЛЬВОВ  ·  1930 – 2007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900" dirty="0"/>
          </a:p>
        </p:txBody>
      </p:sp>
      <p:pic>
        <p:nvPicPr>
          <p:cNvPr id="11" name="!!glow" descr="/home/user/omgGame/presentations/lvov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-128016"/>
            <a:ext cx="5833872" cy="5833872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755941" y="897941"/>
            <a:ext cx="3781958" cy="3781958"/>
          </a:xfrm>
          <a:prstGeom prst="ellipse">
            <a:avLst/>
          </a:prstGeom>
          <a:ln w="9525">
            <a:solidFill>
              <a:srgbClr val="E0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232904" y="374904"/>
            <a:ext cx="4828032" cy="4828032"/>
          </a:xfrm>
          <a:prstGeom prst="ellipse">
            <a:avLst/>
          </a:prstGeom>
          <a:ln w="9525">
            <a:solidFill>
              <a:srgbClr val="E0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lvov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496" y="3960724"/>
            <a:ext cx="2212848" cy="553212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rub">
                <a:extLst>
                  <a:ext uri="{FF2B5EF4-FFF2-40B4-BE49-F238E27FC236}">
                    <a16:creationId xmlns:a16="http://schemas.microsoft.com/office/drawing/2014/main" id="{0724672A-F235-AB01-CE54-BEB30DA60BC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635240" y="777240"/>
              <a:ext cx="4023360" cy="4023360"/>
            </p:xfrm>
            <a:graphic>
              <a:graphicData uri="http://schemas.microsoft.com/office/drawing/2017/model3d">
                <am3d:model3d r:embed="rIdM3d57">
                  <am3d:spPr>
                    <a:xfrm>
                      <a:off x="0" y="0"/>
                      <a:ext cx="4023360" cy="402336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680000" az="-72000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023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rub">
                <a:extLst>
                  <a:ext uri="{FF2B5EF4-FFF2-40B4-BE49-F238E27FC236}">
                    <a16:creationId xmlns:a16="http://schemas.microsoft.com/office/drawing/2014/main" id="{0724672A-F235-AB01-CE54-BEB30DA60BC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35240" y="777240"/>
                <a:ext cx="4023360" cy="40233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5_9_0"/>
          <p:cNvSpPr/>
          <p:nvPr/>
        </p:nvSpPr>
        <p:spPr>
          <a:xfrm>
            <a:off x="781812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15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Рубль с годом рождения — тот, что катился по шкале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Главное за 30 секунд</a:t>
            </a:r>
            <a:endParaRPr lang="en-US" sz="3600" dirty="0"/>
          </a:p>
        </p:txBody>
      </p:sp>
      <p:sp>
        <p:nvSpPr>
          <p:cNvPr id="18" name="fx15_1_1"/>
          <p:cNvSpPr/>
          <p:nvPr/>
        </p:nvSpPr>
        <p:spPr>
          <a:xfrm>
            <a:off x="685800" y="1874520"/>
            <a:ext cx="6035040" cy="1024128"/>
          </a:xfrm>
          <a:prstGeom prst="roundRect">
            <a:avLst>
              <a:gd name="adj" fmla="val 7143"/>
            </a:avLst>
          </a:prstGeom>
          <a:solidFill>
            <a:srgbClr val="0F201B">
              <a:alpha val="75000"/>
            </a:srgbClr>
          </a:solidFill>
          <a:ln w="9525">
            <a:solidFill>
              <a:srgbClr val="E0B45E">
                <a:alpha val="28000"/>
              </a:srgbClr>
            </a:solidFill>
            <a:prstDash val="solid"/>
          </a:ln>
        </p:spPr>
      </p:sp>
      <p:sp>
        <p:nvSpPr>
          <p:cNvPr id="19" name="fx15_1_2"/>
          <p:cNvSpPr/>
          <p:nvPr/>
        </p:nvSpPr>
        <p:spPr>
          <a:xfrm>
            <a:off x="685800" y="2057400"/>
            <a:ext cx="45720" cy="658368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20" name="fx15_1_3"/>
          <p:cNvSpPr/>
          <p:nvPr/>
        </p:nvSpPr>
        <p:spPr>
          <a:xfrm>
            <a:off x="960120" y="200253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</a:t>
            </a:r>
            <a:endParaRPr lang="en-US" sz="950" dirty="0"/>
          </a:p>
        </p:txBody>
      </p:sp>
      <p:sp>
        <p:nvSpPr>
          <p:cNvPr id="21" name="fx15_1_4"/>
          <p:cNvSpPr/>
          <p:nvPr/>
        </p:nvSpPr>
        <p:spPr>
          <a:xfrm>
            <a:off x="960120" y="224028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Советский и российский экономист (1930–2007), инженер по образованию, академик РАН, 35 лет в ЦЭМИ.</a:t>
            </a:r>
            <a:endParaRPr lang="en-US" sz="1400" dirty="0"/>
          </a:p>
        </p:txBody>
      </p:sp>
      <p:sp>
        <p:nvSpPr>
          <p:cNvPr id="22" name="fx15_2_5"/>
          <p:cNvSpPr/>
          <p:nvPr/>
        </p:nvSpPr>
        <p:spPr>
          <a:xfrm>
            <a:off x="685800" y="3044952"/>
            <a:ext cx="6035040" cy="1024128"/>
          </a:xfrm>
          <a:prstGeom prst="roundRect">
            <a:avLst>
              <a:gd name="adj" fmla="val 7143"/>
            </a:avLst>
          </a:prstGeom>
          <a:solidFill>
            <a:srgbClr val="0F201B">
              <a:alpha val="75000"/>
            </a:srgbClr>
          </a:solidFill>
          <a:ln w="9525">
            <a:solidFill>
              <a:srgbClr val="E0B45E">
                <a:alpha val="28000"/>
              </a:srgbClr>
            </a:solidFill>
            <a:prstDash val="solid"/>
          </a:ln>
        </p:spPr>
      </p:sp>
      <p:sp>
        <p:nvSpPr>
          <p:cNvPr id="23" name="fx15_2_6"/>
          <p:cNvSpPr/>
          <p:nvPr/>
        </p:nvSpPr>
        <p:spPr>
          <a:xfrm>
            <a:off x="685800" y="3227832"/>
            <a:ext cx="45720" cy="658368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24" name="fx15_2_7"/>
          <p:cNvSpPr/>
          <p:nvPr/>
        </p:nvSpPr>
        <p:spPr>
          <a:xfrm>
            <a:off x="960120" y="3172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МЫСЛЬ</a:t>
            </a:r>
            <a:endParaRPr lang="en-US" sz="950" dirty="0"/>
          </a:p>
        </p:txBody>
      </p:sp>
      <p:sp>
        <p:nvSpPr>
          <p:cNvPr id="25" name="fx15_2_8"/>
          <p:cNvSpPr/>
          <p:nvPr/>
        </p:nvSpPr>
        <p:spPr>
          <a:xfrm>
            <a:off x="960120" y="3410712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Природная рента — общенародное достояние: её — в бюджет и обществу, а налоги на труд — снизить.</a:t>
            </a:r>
            <a:endParaRPr lang="en-US" sz="1400" dirty="0"/>
          </a:p>
        </p:txBody>
      </p:sp>
      <p:sp>
        <p:nvSpPr>
          <p:cNvPr id="26" name="fx15_3_9"/>
          <p:cNvSpPr/>
          <p:nvPr/>
        </p:nvSpPr>
        <p:spPr>
          <a:xfrm>
            <a:off x="685800" y="4215384"/>
            <a:ext cx="6035040" cy="1024128"/>
          </a:xfrm>
          <a:prstGeom prst="roundRect">
            <a:avLst>
              <a:gd name="adj" fmla="val 7143"/>
            </a:avLst>
          </a:prstGeom>
          <a:solidFill>
            <a:srgbClr val="0F201B">
              <a:alpha val="75000"/>
            </a:srgbClr>
          </a:solidFill>
          <a:ln w="9525">
            <a:solidFill>
              <a:srgbClr val="E0B45E">
                <a:alpha val="28000"/>
              </a:srgbClr>
            </a:solidFill>
            <a:prstDash val="solid"/>
          </a:ln>
        </p:spPr>
      </p:sp>
      <p:sp>
        <p:nvSpPr>
          <p:cNvPr id="27" name="fx15_3_10"/>
          <p:cNvSpPr/>
          <p:nvPr/>
        </p:nvSpPr>
        <p:spPr>
          <a:xfrm>
            <a:off x="685800" y="4398264"/>
            <a:ext cx="45720" cy="658368"/>
          </a:xfrm>
          <a:prstGeom prst="rect">
            <a:avLst/>
          </a:prstGeom>
          <a:solidFill>
            <a:srgbClr val="E0674C"/>
          </a:solidFill>
          <a:ln/>
        </p:spPr>
      </p:sp>
      <p:sp>
        <p:nvSpPr>
          <p:cNvPr id="28" name="fx15_3_11"/>
          <p:cNvSpPr/>
          <p:nvPr/>
        </p:nvSpPr>
        <p:spPr>
          <a:xfrm>
            <a:off x="960120" y="4343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06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ВКЛАД В ПРЕДПРИНИМАТЕЛЬСТВО</a:t>
            </a:r>
            <a:endParaRPr lang="en-US" sz="950" dirty="0"/>
          </a:p>
        </p:txBody>
      </p:sp>
      <p:sp>
        <p:nvSpPr>
          <p:cNvPr id="29" name="fx15_3_12"/>
          <p:cNvSpPr/>
          <p:nvPr/>
        </p:nvSpPr>
        <p:spPr>
          <a:xfrm>
            <a:off x="960120" y="4581144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Отделил честную прибыль предпринимателя от ренты и связал предпринимательство с инновациями и укладами.</a:t>
            </a:r>
            <a:endParaRPr lang="en-US" sz="1400" dirty="0"/>
          </a:p>
        </p:txBody>
      </p:sp>
      <p:sp>
        <p:nvSpPr>
          <p:cNvPr id="30" name="fx15_5_13"/>
          <p:cNvSpPr/>
          <p:nvPr/>
        </p:nvSpPr>
        <p:spPr>
          <a:xfrm>
            <a:off x="685800" y="54864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F1DD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2600" dirty="0"/>
          </a:p>
        </p:txBody>
      </p:sp>
      <p:sp>
        <p:nvSpPr>
          <p:cNvPr id="31" name="fx15_4_14"/>
          <p:cNvSpPr/>
          <p:nvPr/>
        </p:nvSpPr>
        <p:spPr>
          <a:xfrm>
            <a:off x="7086600" y="5257800"/>
            <a:ext cx="4419295" cy="932688"/>
          </a:xfrm>
          <a:prstGeom prst="roundRect">
            <a:avLst>
              <a:gd name="adj" fmla="val 7843"/>
            </a:avLst>
          </a:prstGeom>
          <a:solidFill>
            <a:srgbClr val="1E1A0C">
              <a:alpha val="92000"/>
            </a:srgbClr>
          </a:solidFill>
          <a:ln w="12700">
            <a:solidFill>
              <a:srgbClr val="E0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2" name="fx15_4_15"/>
          <p:cNvSpPr/>
          <p:nvPr/>
        </p:nvSpPr>
        <p:spPr>
          <a:xfrm>
            <a:off x="7086600" y="5404104"/>
            <a:ext cx="50292" cy="640080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33" name="fx15_4_16"/>
          <p:cNvSpPr/>
          <p:nvPr/>
        </p:nvSpPr>
        <p:spPr>
          <a:xfrm>
            <a:off x="7342632" y="5120640"/>
            <a:ext cx="1705356" cy="274320"/>
          </a:xfrm>
          <a:prstGeom prst="roundRect">
            <a:avLst>
              <a:gd name="adj" fmla="val 50000"/>
            </a:avLst>
          </a:prstGeom>
          <a:solidFill>
            <a:srgbClr val="E0B45E"/>
          </a:solidFill>
          <a:ln/>
        </p:spPr>
      </p:sp>
      <p:sp>
        <p:nvSpPr>
          <p:cNvPr id="34" name="fx15_4_17"/>
          <p:cNvSpPr/>
          <p:nvPr/>
        </p:nvSpPr>
        <p:spPr>
          <a:xfrm>
            <a:off x="7342632" y="51206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61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ГЛАВНЫЕ СЛОВА</a:t>
            </a:r>
            <a:endParaRPr lang="en-US" sz="850" dirty="0"/>
          </a:p>
        </p:txBody>
      </p:sp>
      <p:sp>
        <p:nvSpPr>
          <p:cNvPr id="35" name="fx15_4_18"/>
          <p:cNvSpPr/>
          <p:nvPr/>
        </p:nvSpPr>
        <p:spPr>
          <a:xfrm>
            <a:off x="7360920" y="5440680"/>
            <a:ext cx="3962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«Рента — </a:t>
            </a:r>
            <a:pPr algn="l" indent="0" marL="0">
              <a:lnSpc>
                <a:spcPct val="105000"/>
              </a:lnSpc>
              <a:buNone/>
            </a:pPr>
            <a:r>
              <a:rPr lang="en-US" sz="1500" b="1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стратегическое оружие России</a:t>
            </a:r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».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9B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— «Экономический манифест», 1999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pumpjack">
                <a:extLst>
                  <a:ext uri="{FF2B5EF4-FFF2-40B4-BE49-F238E27FC236}">
                    <a16:creationId xmlns:a16="http://schemas.microsoft.com/office/drawing/2014/main" id="{0CB99A87-31BE-01E6-586F-FEF7B653C1C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94960" y="1371600"/>
              <a:ext cx="4846320" cy="4846320"/>
            </p:xfrm>
            <a:graphic>
              <a:graphicData uri="http://schemas.microsoft.com/office/drawing/2017/model3d">
                <am3d:model3d r:embed="rIdM3d58">
                  <am3d:spPr>
                    <a:xfrm>
                      <a:off x="0" y="0"/>
                      <a:ext cx="4846320" cy="4846320"/>
                    </a:xfrm>
                    <a:prstGeom prst="rect">
                      <a:avLst/>
                    </a:prstGeom>
                  </am3d:spPr>
                  <am3d:camera>
                    <am3d:pos x="0" y="0" z="5669223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1523" d="1000000"/>
                    <am3d:preTrans dx="-2444444" dy="-11206642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312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8463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pumpjack">
                <a:extLst>
                  <a:ext uri="{FF2B5EF4-FFF2-40B4-BE49-F238E27FC236}">
                    <a16:creationId xmlns:a16="http://schemas.microsoft.com/office/drawing/2014/main" id="{0CB99A87-31BE-01E6-586F-FEF7B653C1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394960" y="1371600"/>
                <a:ext cx="4846320" cy="484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0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6">
    <p:bg>
      <p:bgPr>
        <a:solidFill>
          <a:srgbClr val="07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lvov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10820095" cy="21946"/>
          </a:xfrm>
          <a:prstGeom prst="rect">
            <a:avLst/>
          </a:prstGeom>
          <a:solidFill>
            <a:srgbClr val="E0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1BB4DC81-403E-A546-5CEF-D3FB43819AC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231575" y="98755"/>
              <a:ext cx="548640" cy="548640"/>
            </p:xfrm>
            <a:graphic>
              <a:graphicData uri="http://schemas.microsoft.com/office/drawing/2017/model3d">
                <am3d:model3d r:embed="rIdM3d59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1314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1BB4DC81-403E-A546-5CEF-D3FB43819AC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231575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0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ПРОВЕРКИ ФАКТОВ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ЛЬВОВ  ·  1930 – 2007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A9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900" dirty="0"/>
          </a:p>
        </p:txBody>
      </p:sp>
      <p:sp>
        <p:nvSpPr>
          <p:cNvPr id="11" name="!!title"/>
          <p:cNvSpPr/>
          <p:nvPr/>
        </p:nvSpPr>
        <p:spPr>
          <a:xfrm>
            <a:off x="685800" y="98755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Источники</a:t>
            </a:r>
            <a:endParaRPr lang="en-US" sz="3400" dirty="0"/>
          </a:p>
        </p:txBody>
      </p:sp>
      <p:sp>
        <p:nvSpPr>
          <p:cNvPr id="12" name="fx16_1_0"/>
          <p:cNvSpPr/>
          <p:nvPr/>
        </p:nvSpPr>
        <p:spPr>
          <a:xfrm>
            <a:off x="685800" y="178308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БИОГРАФИЯ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РАН: профиль академика Д. С. Львова (ras.ru)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Википедия: Львов, Дмитрий Семёнович (экономист)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Некролог: «Экономика и математические методы», 2007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Международная академия менеджмента: биография Д. С. Львова</a:t>
            </a:r>
            <a:endParaRPr lang="en-US" sz="10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ТРУДЫ ЛЬВОВА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Львов Д. С., Глазьев С. Ю. Теоретические и прикладные аспекты управления НТП // ЭММ. 1986. № 5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Львов Д. С. Будущее российской экономики. Экономический манифест // ЭНСР. 1999. № 3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Львов Д. С. Вернуть народу ренту. Резерв для бедных. М.: Эксмо, Алгоритм, 2004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Львов Д. С. Нравственная экономика. М., 2004</a:t>
            </a:r>
            <a:endParaRPr lang="en-US" sz="1000" dirty="0"/>
          </a:p>
        </p:txBody>
      </p:sp>
      <p:sp>
        <p:nvSpPr>
          <p:cNvPr id="13" name="fx16_2_1"/>
          <p:cNvSpPr/>
          <p:nvPr/>
        </p:nvSpPr>
        <p:spPr>
          <a:xfrm>
            <a:off x="6263640" y="178308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ИНТЕРВЬЮ И ПРЕССА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«Комсомольская правда», 16.01.2007: «Справиться с бедностью можно за год…»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«Комсомольская правда», 09.07.2007: «Ушёл академик Львов»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«Независимая газета», 25.12.2014: «Природная рента — это народное достояние»</a:t>
            </a:r>
            <a:endParaRPr lang="en-US" sz="10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Либерман Е. Г. «План, прибыль, премия» // Правда, 9.09.1962; обложка Time, 12.02.1965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ЦЭМИ, «дом с ухом»: Большой город (2013), moscowwalks.ru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Технологический уклад — Википедия; Alaska Permanent Fund Dividend; НДД (НК РФ, гл. 25.4)</a:t>
            </a:r>
            <a:endParaRPr lang="en-US" sz="10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E0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3D-экспонаты смоделированы в Blender специально для этой презентации (models/).</a:t>
            </a:r>
            <a:endParaRPr lang="en-US" sz="10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!!m-rub">
                <a:extLst>
                  <a:ext uri="{FF2B5EF4-FFF2-40B4-BE49-F238E27FC236}">
                    <a16:creationId xmlns:a16="http://schemas.microsoft.com/office/drawing/2014/main" id="{26895297-5C8E-8094-72C7-B27DB906CDF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572000" y="1143000"/>
              <a:ext cx="4023360" cy="4023360"/>
            </p:xfrm>
            <a:graphic>
              <a:graphicData uri="http://schemas.microsoft.com/office/drawing/2017/model3d">
                <am3d:model3d r:embed="rIdM3d60">
                  <am3d:spPr>
                    <a:xfrm>
                      <a:off x="0" y="0"/>
                      <a:ext cx="4023360" cy="402336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6480000" az="-72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023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!!m-rub">
                <a:extLst>
                  <a:ext uri="{FF2B5EF4-FFF2-40B4-BE49-F238E27FC236}">
                    <a16:creationId xmlns:a16="http://schemas.microsoft.com/office/drawing/2014/main" id="{26895297-5C8E-8094-72C7-B27DB906CDF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572000" y="1143000"/>
                <a:ext cx="4023360" cy="4023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Дмитрий Львов — 3D-презентация</dc:title>
  <dc:subject>Биография, главная мысль (рента) и вклад в теорию предпринимательства</dc:subject>
  <dc:creator>omgGame</dc:creator>
  <cp:lastModifiedBy>omgGame</cp:lastModifiedBy>
  <cp:revision>1</cp:revision>
  <dcterms:created xsi:type="dcterms:W3CDTF">2026-10-06T17:45:50Z</dcterms:created>
  <dcterms:modified xsi:type="dcterms:W3CDTF">2026-10-06T17:45:50Z</dcterms:modified>
</cp:coreProperties>
</file>