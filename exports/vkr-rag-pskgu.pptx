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В качестве примера интеллектуальной системы я расскажу о своей выпускной работе бакалавриата — «Разработка интеллектуальной информационно-справочной системы ПсковГУ на основе RAG-архитектуры и больших языковых моделей».
Если коротко: это чат-ассистент, которому можно задать вопрос об университете обычными словами — про проходные баллы, документы, расписание — и он отвечает, опираясь на официальные материалы сайта, и обязательно показывает источники. Его можно открыть как отдельное веб-приложение или прямо на сайте университета в виде виджета — его вы видите на скриншоте.
Чтобы был понятен масштаб: система обработала больше полумиллиона файлов с сайтов ПсковГУ, в её базе знаний около 50 тысяч фрагментов текста, а на пилотном тестировании ответы получили в среднем 8,5 балла из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чего всё началось — с проблемы. На сайтах университета тысячи документов: приказы, положения, учебные планы, расписания, и всё это разбросано по десяткам поддоменов. По данным исследований, до 60 процентов обращений в справочные службы вузов — это вопросы, ответ на которые уже есть на сайте, просто его невозможно найти.
Почему не помогает обычный поиск? Он ищет совпадения слов, а не смысл. Если спросить «когда начинается сессия», он не найдёт документ «график промежуточной аттестации», хотя это одно и то же.
Почему бы не взять ChatGPT? Во-первых, внутренние документы нельзя отправлять на зарубежные серверы — этого не позволяют 152-ФЗ и политика вуза. Во-вторых, модель не знает локальных данных и начинает выдумывать — это называется галлюцинациями.
Отсюда противоречие, которое и определяет актуальность: людям нужен быстрый доступ к информации вуза, а инструментов смыслового поиска, работающих локально и по-русски, нет. Решение — архитектура RAG: сначала найти нужные документы, потом сгенерировать ответ по ним.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спроектировать, реализовать и экспериментально проверить интеллектуальную справочную систему ПсковГУ, которая отвечает на вопросы студентов и преподавателей на естественном языке, указывает источники и работает в локальной инфраструктуре на основе RAG и больших языковых моделей.
Объект исследования — информационно-справочные системы образовательных организаций, основанные на обработке естественного языка. Предмет — методы семантического поиска, извлечения текста и генерации ответов в RAG-системах для русскоязычных баз знаний вузов.
Для достижения цели я решил семь задач: изучил языковые модели и RAG, сделал обзор аналогов и выбрал стек технологий, спроектировал архитектуру из двух контуров, реализовал сбор и обработку данных с сайта, построил векторный индекс, сделал сервер, чат и админ-панель и, наконец, провёл экспериментальную проверку.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Прежде чем проектировать систему, важно понять, для кого она делается и кто в ней заинтересован. Я выделил шесть групп заинтересованных сторон.
Первые три — это пользователи. Студентам нужно быстро узнать расписание и правила, найти нужный документ — для них есть профиль с номером группы. Преподавателям нужно своё расписание и нормативные документы — для них профиль по фамилии. Абитуриенты и их родители спрашивают про проходные баллы, стоимость и бюджетные места — они работают в гостевом режиме, и поэтому в базу знаний включён сайт приёмной комиссии abit.pskgu.ru.
Ещё три группы — это сама организация. Администратору системы важно контролировать качество ответов — для этого сделана админ-панель. Руководству и справочным службам важно снизить поток однотипных вопросов. А ИТ-службе и тем, кто отвечает за защиту информации, — чтобы данные не покидали вуз и соблюдался 152-ФЗ.
Интересы этих групп и превратились в требования к системе — это видно на следующем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 у нас курс системного анализа, посмотрим на работу как на систему.
Вход системы — вопрос пользователя на естественном языке и его профиль: студент с номером группы, преподаватель или гость. Выход — краткий ответ со ссылками на источники.
Внешняя среда — это заинтересованные стороны, о которых я только что рассказал, сайты ПсковГУ, откуда берутся данные, и сервис расписания, к которому система обращается напрямую.
Сама система состоит из двух подсистем. Offline-пайплайн один раз собирает и готовит базу знаний. Online-сервис постоянно обслуживает запросы. Связывает их общая база знаний: векторный индекс FAISS и база данных SQLite.
Есть и ограничения: всё должно работать локально, на обычной видеокарте RTX 3060 с 12 гигабайтами памяти, соблюдать 152-ФЗ и понимать русский язык.
И критерии качества: правильность ответа, наличие источников, отсутствие галлюцинаций и время ответа — поиск за 3–5 секунд, весь ответ не дольше минуты.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— как это устроено. Слева общая архитектура из диплома.
Справа — offline-пайплайн в цифрах. Сначала система собирает стартовые ссылки из карты сайта и поиска — около 12 тысяч адресов. Затем обходит страницы — больше 40 тысяч. Потом скачивает документы — получилось 543 963 файла общим объёмом 468 гигабайт. Из них извлекается текст: для PDF сделан каскад из четырёх библиотек, для сканов — распознавание через Tesseract, а для таблиц с объединёнными ячейками, например проходных баллов, — отдельный парсер. Текст режется на фрагменты — около 50 тысяч, — и каждый превращается в вектор моделью bge-m3 и попадает в индекс FAISS.
Важная деталь — прослеживаемость: для каждого фрагмента хранится, из какого документа и с какой страницы он взят. Поэтому система всегда может показать источник.
Стек: Python, FastAPI для чата, Flask для админки, SQLite, FAISS, языковая модель подключается через Ollama — это Qwen или GPT-OSS.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система отвечает на конкретный вопрос — цепочка сверху.
Пользователь пишет вопрос, например «проходной балл 09 03 03». Вопрос превращается в вектор той же моделью bge-m3. В индексе FAISS ищутся десять самых близких по смыслу фрагментов с порогом релевантности 0,3. Дальше они проверяются по базе: администратор мог исключить фрагмент или исправить его текст — и это учитывается без переиндексации. Отобранные фрагменты вместе со строгими правилами попадают в промпт языковой модели, и ответ выводится пользователю постепенно, по мере генерации.
На скриншоте слева — реальный ответ: таблица проходных баллов за пять лет и три источника со ссылками на страницы ПсковГУ. Вопросы о расписании идут отдельным маршрутом — система обращается напрямую к сервису rasp.pskgu.ru, чтобы данные были актуальными.
Справа — админ-панель: здесь видно базу знаний, все запросы пользователей, и можно править или исключать фрагменты.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я проверял качество. Было пилотное тестирование: 30 вопросов в шести категориях — общие вопросы о вузе, нормативные документы, вопросы абитуриентов, расписание, вопросы-ловушки и вопросы с синонимами, сокращениями и опечатками. Каждый ответ сверялся с официальными страницами и оценивался по шкале от 1 до 10.
Итог — 254 балла из 300, то есть в среднем 8,47 из 10, или почти 85 процентов. Лучше всего система справилась с абитуриентскими вопросами — 9,2: там данные структурированы в таблицах. Слабее всего — расписание и вопросы с опечатками и сокращениями, по 8 баллов.
Ошибки делятся на три группы: в базе просто нет ответа; поиск или маршрутизация выбрали не тот сценарий — например, вопрос о расписании в гостевом режиме; и лишние обобщения самой модели. При этом на вопрос о проходном балле на 2026 год система правильно ответила, что данных ещё нет. После анализа я доработал системный промпт: без профиля система больше не пытается дать персональный ответ, а при нехватке данных честно говорит об этом, а не угадывает.
Честно называю и ограничения: маленькая выборка, оценивал я сам, и не было сравнения с моделью без поиска.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итоги. Цель работы достигнута: создан рабочий программный комплекс, который проходит весь путь от автоматического сбора данных с сайтов университета до ответа пользователю с указанием источников. Всё работает локально, поэтому данные никуда не уходят и требования 152-ФЗ соблюдаются. Систему можно использовать как отдельный сайт или как виджет прямо на страницах ПсковГУ, а администратор может управлять качеством базы знаний.
Что можно развивать дальше — это и есть задел для магистерской работы. Во-первых, строгая оценка: сравнить систему с языковой моделью без поиска и ввести автоматические метрики качества RAG. Во-вторых, расширить тестовый набор и привлечь нескольких экспертов. В-третьих, инкрементальное обновление базы знаний, чтобы не пересобирать индекс целиком. В-четвёртых, более умная маршрутизация запросов, вплоть до агентного подхода. И в перспективе — официальное внедрение в университете и перенос решения в другие организации.
Спасибо за внимание!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image" Target="../media/image-2-3.png"/><Relationship Id="rId4" Type="http://schemas.openxmlformats.org/officeDocument/2006/relationships/image" Target="../media/image-1-5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Relationship Id="rIdM3d3" Type="http://schemas.microsoft.com/office/2017/06/relationships/model3d" Target="../media/model3d3.glb"/><Relationship Id="rIdM3d4" Type="http://schemas.microsoft.com/office/2017/06/relationships/model3d" Target="../media/model3d4.glb"/><Relationship Id="rIdM3d5" Type="http://schemas.microsoft.com/office/2017/06/relationships/model3d" Target="../media/model3d5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image" Target="../media/image-3-3.png"/><Relationship Id="rId4" Type="http://schemas.openxmlformats.org/officeDocument/2006/relationships/image" Target="../media/image-1-5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Relationship Id="rIdM3d6" Type="http://schemas.microsoft.com/office/2017/06/relationships/model3d" Target="../media/model3d6.glb"/><Relationship Id="rIdM3d7" Type="http://schemas.microsoft.com/office/2017/06/relationships/model3d" Target="../media/model3d7.glb"/><Relationship Id="rIdM3d8" Type="http://schemas.microsoft.com/office/2017/06/relationships/model3d" Target="../media/model3d8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image" Target="../media/image-4-3.png"/><Relationship Id="rId4" Type="http://schemas.openxmlformats.org/officeDocument/2006/relationships/image" Target="../media/image-1-5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image" Target="../media/image-5-3.png"/><Relationship Id="rId4" Type="http://schemas.openxmlformats.org/officeDocument/2006/relationships/image" Target="../media/image-1-5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6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Relationship Id="rIdM3d15" Type="http://schemas.microsoft.com/office/2017/06/relationships/model3d" Target="../media/model3d15.glb"/><Relationship Id="rIdM3d16" Type="http://schemas.microsoft.com/office/2017/06/relationships/model3d" Target="../media/model3d16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5.png"/><Relationship Id="rId4" Type="http://schemas.openxmlformats.org/officeDocument/2006/relationships/image" Target="../media/image-1-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Relationship Id="rIdM3d17" Type="http://schemas.microsoft.com/office/2017/06/relationships/model3d" Target="../media/model3d17.glb"/><Relationship Id="rIdM3d18" Type="http://schemas.microsoft.com/office/2017/06/relationships/model3d" Target="../media/model3d18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image" Target="../media/image-8-3.png"/><Relationship Id="rId4" Type="http://schemas.openxmlformats.org/officeDocument/2006/relationships/image" Target="../media/image-1-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Relationship Id="rIdM3d19" Type="http://schemas.microsoft.com/office/2017/06/relationships/model3d" Target="../media/model3d19.glb"/><Relationship Id="rIdM3d20" Type="http://schemas.microsoft.com/office/2017/06/relationships/model3d" Target="../media/model3d20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image" Target="../media/image-9-3.png"/><Relationship Id="rId4" Type="http://schemas.openxmlformats.org/officeDocument/2006/relationships/image" Target="../media/image-1-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Relationship Id="rIdM3d21" Type="http://schemas.microsoft.com/office/2017/06/relationships/model3d" Target="../media/model3d21.glb"/><Relationship Id="rIdM3d22" Type="http://schemas.microsoft.com/office/2017/06/relationships/model3d" Target="../media/model3d22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ИНТЕЛЛЕКТУАЛЬНОЙ СИСТЕМЫ  ·  ВКР БАКАЛАВРИАТА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ВКР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109728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Интеллектуальная справочная система ПсковГУ</a:t>
            </a:r>
            <a:endParaRPr lang="en-US" sz="3600" dirty="0"/>
          </a:p>
        </p:txBody>
      </p:sp>
      <p:sp>
        <p:nvSpPr>
          <p:cNvPr id="9" name="fx1_1_0"/>
          <p:cNvSpPr/>
          <p:nvPr/>
        </p:nvSpPr>
        <p:spPr>
          <a:xfrm>
            <a:off x="640080" y="2852928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основе RAG-архитектуры и больших языковых моделей</a:t>
            </a:r>
            <a:endParaRPr lang="en-US" sz="1800" dirty="0"/>
          </a:p>
        </p:txBody>
      </p:sp>
      <p:sp>
        <p:nvSpPr>
          <p:cNvPr id="10" name="fx1_1_1"/>
          <p:cNvSpPr/>
          <p:nvPr/>
        </p:nvSpPr>
        <p:spPr>
          <a:xfrm>
            <a:off x="640080" y="36576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Владислав Алексеевич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09.03.03 Прикладная информатика · ПсковГУ, 2026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Руководитель: ст. преп. А. А. Гаврилов</a:t>
            </a:r>
            <a:endParaRPr lang="en-US" sz="1200" dirty="0"/>
          </a:p>
        </p:txBody>
      </p:sp>
      <p:sp>
        <p:nvSpPr>
          <p:cNvPr id="11" name="fx1_1_2"/>
          <p:cNvSpPr/>
          <p:nvPr/>
        </p:nvSpPr>
        <p:spPr>
          <a:xfrm>
            <a:off x="640080" y="44988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Системный анализ и моделирование интеллектуальных систем</a:t>
            </a:r>
            <a:endParaRPr lang="en-US" sz="1000" dirty="0"/>
          </a:p>
        </p:txBody>
      </p:sp>
      <p:sp>
        <p:nvSpPr>
          <p:cNvPr id="12" name="fx1_2_3"/>
          <p:cNvSpPr/>
          <p:nvPr/>
        </p:nvSpPr>
        <p:spPr>
          <a:xfrm>
            <a:off x="640080" y="4956048"/>
            <a:ext cx="1700784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3" name="fx1_2_4"/>
          <p:cNvSpPr/>
          <p:nvPr/>
        </p:nvSpPr>
        <p:spPr>
          <a:xfrm>
            <a:off x="777240" y="50840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543 963</a:t>
            </a:r>
            <a:endParaRPr lang="en-US" sz="2000" dirty="0"/>
          </a:p>
        </p:txBody>
      </p:sp>
      <p:sp>
        <p:nvSpPr>
          <p:cNvPr id="14" name="fx1_2_5"/>
          <p:cNvSpPr/>
          <p:nvPr/>
        </p:nvSpPr>
        <p:spPr>
          <a:xfrm>
            <a:off x="777240" y="5559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файла обработано</a:t>
            </a:r>
            <a:endParaRPr lang="en-US" sz="1000" dirty="0"/>
          </a:p>
        </p:txBody>
      </p:sp>
      <p:sp>
        <p:nvSpPr>
          <p:cNvPr id="15" name="fx1_2_6"/>
          <p:cNvSpPr/>
          <p:nvPr/>
        </p:nvSpPr>
        <p:spPr>
          <a:xfrm>
            <a:off x="2450592" y="4956048"/>
            <a:ext cx="1700784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6" name="fx1_2_7"/>
          <p:cNvSpPr/>
          <p:nvPr/>
        </p:nvSpPr>
        <p:spPr>
          <a:xfrm>
            <a:off x="2587752" y="50840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50 000</a:t>
            </a:r>
            <a:endParaRPr lang="en-US" sz="2000" dirty="0"/>
          </a:p>
        </p:txBody>
      </p:sp>
      <p:sp>
        <p:nvSpPr>
          <p:cNvPr id="17" name="fx1_2_8"/>
          <p:cNvSpPr/>
          <p:nvPr/>
        </p:nvSpPr>
        <p:spPr>
          <a:xfrm>
            <a:off x="2587752" y="5559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фрагментов в базе знаний</a:t>
            </a:r>
            <a:endParaRPr lang="en-US" sz="1000" dirty="0"/>
          </a:p>
        </p:txBody>
      </p:sp>
      <p:sp>
        <p:nvSpPr>
          <p:cNvPr id="18" name="fx1_2_9"/>
          <p:cNvSpPr/>
          <p:nvPr/>
        </p:nvSpPr>
        <p:spPr>
          <a:xfrm>
            <a:off x="4261104" y="4956048"/>
            <a:ext cx="1700784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9" name="fx1_2_10"/>
          <p:cNvSpPr/>
          <p:nvPr/>
        </p:nvSpPr>
        <p:spPr>
          <a:xfrm>
            <a:off x="4398264" y="50840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8,47 / 10</a:t>
            </a:r>
            <a:endParaRPr lang="en-US" sz="2000" dirty="0"/>
          </a:p>
        </p:txBody>
      </p:sp>
      <p:sp>
        <p:nvSpPr>
          <p:cNvPr id="20" name="fx1_2_11"/>
          <p:cNvSpPr/>
          <p:nvPr/>
        </p:nvSpPr>
        <p:spPr>
          <a:xfrm>
            <a:off x="4398264" y="5559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оценка ответов</a:t>
            </a:r>
            <a:endParaRPr lang="en-US" sz="1000" dirty="0"/>
          </a:p>
        </p:txBody>
      </p:sp>
      <p:sp>
        <p:nvSpPr>
          <p:cNvPr id="21" name="fx1_1_12"/>
          <p:cNvSpPr/>
          <p:nvPr/>
        </p:nvSpPr>
        <p:spPr>
          <a:xfrm>
            <a:off x="6400800" y="3200400"/>
            <a:ext cx="5120640" cy="2660211"/>
          </a:xfrm>
          <a:prstGeom prst="roundRect">
            <a:avLst>
              <a:gd name="adj" fmla="val 2750"/>
            </a:avLst>
          </a:prstGeom>
          <a:solidFill>
            <a:srgbClr val="CBD1DF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2" name="fx1_1_13" descr="/home/user/omgGame/presentations/vkr-rag/assets/wid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3246120"/>
            <a:ext cx="5029200" cy="2568771"/>
          </a:xfrm>
          <a:prstGeom prst="rect">
            <a:avLst/>
          </a:prstGeom>
        </p:spPr>
      </p:pic>
      <p:sp>
        <p:nvSpPr>
          <p:cNvPr id="23" name="fx1_1_14"/>
          <p:cNvSpPr/>
          <p:nvPr/>
        </p:nvSpPr>
        <p:spPr>
          <a:xfrm>
            <a:off x="6446520" y="5906331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Ассистент встроен в сайт pskgu.ru как виджет</a:t>
            </a:r>
            <a:endParaRPr lang="en-US" sz="950" dirty="0"/>
          </a:p>
        </p:txBody>
      </p:sp>
      <p:pic>
        <p:nvPicPr>
          <p:cNvPr id="24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148" y="86868"/>
            <a:ext cx="3895344" cy="3895344"/>
          </a:xfrm>
          <a:prstGeom prst="rect">
            <a:avLst/>
          </a:prstGeom>
        </p:spPr>
      </p:pic>
      <p:pic>
        <p:nvPicPr>
          <p:cNvPr id="25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678" y="2724341"/>
            <a:ext cx="2272284" cy="56807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!!m-chat">
                <a:extLst>
                  <a:ext uri="{FF2B5EF4-FFF2-40B4-BE49-F238E27FC236}">
                    <a16:creationId xmlns:a16="http://schemas.microsoft.com/office/drawing/2014/main" id="{23172BEF-5401-E775-E93B-0CC70AA439F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366760" y="411480"/>
              <a:ext cx="3246120" cy="3246120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3246120" cy="3246120"/>
                    </a:xfrm>
                    <a:prstGeom prst="rect">
                      <a:avLst/>
                    </a:prstGeom>
                  </am3d:spPr>
                  <am3d:camera>
                    <am3d:pos x="0" y="0" z="6171442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17145" d="1000000"/>
                    <am3d:preTrans dx="-20654" dy="73008" dz="127646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32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3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46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!!m-chat">
                <a:extLst>
                  <a:ext uri="{FF2B5EF4-FFF2-40B4-BE49-F238E27FC236}">
                    <a16:creationId xmlns:a16="http://schemas.microsoft.com/office/drawing/2014/main" id="{23172BEF-5401-E775-E93B-0CC70AA439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66760" y="411480"/>
                <a:ext cx="3246120" cy="32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7" name="!!m-search">
                <a:extLst>
                  <a:ext uri="{FF2B5EF4-FFF2-40B4-BE49-F238E27FC236}">
                    <a16:creationId xmlns:a16="http://schemas.microsoft.com/office/drawing/2014/main" id="{458D55BF-B0FA-CDBB-85BA-4C2D458C32C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554480"/>
              <a:ext cx="3246120" cy="324612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3246120" cy="3246120"/>
                    </a:xfrm>
                    <a:prstGeom prst="rect">
                      <a:avLst/>
                    </a:prstGeom>
                  </am3d:spPr>
                  <am3d:camera>
                    <am3d:pos x="0" y="0" z="712465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3236" d="1000000"/>
                    <am3d:preTrans dx="1321642" dy="-4736618" dz="881159"/>
                    <am3d:scale>
                      <am3d:sx n="1000000" d="1000000"/>
                      <am3d:sy n="1000000" d="1000000"/>
                      <am3d:sz n="1000000" d="1000000"/>
                    </am3d:scale>
                    <am3d:rot ax="2100000" ay="39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46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7" name="!!m-search">
                <a:extLst>
                  <a:ext uri="{FF2B5EF4-FFF2-40B4-BE49-F238E27FC236}">
                    <a16:creationId xmlns:a16="http://schemas.microsoft.com/office/drawing/2014/main" id="{458D55BF-B0FA-CDBB-85BA-4C2D458C3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1554480"/>
                <a:ext cx="3246120" cy="3246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1" dur="3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21" grpId="0" animBg="1"/>
      <p:bldP spid="23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АКТУАЛЬНОСТЬ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ВКР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Информация есть — но её не найти</a:t>
            </a:r>
            <a:endParaRPr lang="en-US" sz="3200" dirty="0"/>
          </a:p>
        </p:txBody>
      </p:sp>
      <p:sp>
        <p:nvSpPr>
          <p:cNvPr id="9" name="fx2_1_0"/>
          <p:cNvSpPr/>
          <p:nvPr/>
        </p:nvSpPr>
        <p:spPr>
          <a:xfrm>
            <a:off x="640080" y="1737360"/>
            <a:ext cx="5806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0" name="fx2_1_1"/>
          <p:cNvSpPr/>
          <p:nvPr/>
        </p:nvSpPr>
        <p:spPr>
          <a:xfrm>
            <a:off x="640080" y="1883664"/>
            <a:ext cx="64008" cy="6217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fx2_1_2"/>
          <p:cNvSpPr/>
          <p:nvPr/>
        </p:nvSpPr>
        <p:spPr>
          <a:xfrm>
            <a:off x="914400" y="1810512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60 %</a:t>
            </a:r>
            <a:endParaRPr lang="en-US" sz="1700" dirty="0"/>
          </a:p>
        </p:txBody>
      </p:sp>
      <p:sp>
        <p:nvSpPr>
          <p:cNvPr id="12" name="fx2_1_3"/>
          <p:cNvSpPr/>
          <p:nvPr/>
        </p:nvSpPr>
        <p:spPr>
          <a:xfrm>
            <a:off x="914400" y="215798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обращений в справочные службы вузов — о том, что уже опубликовано на сайте</a:t>
            </a:r>
            <a:endParaRPr lang="en-US" sz="1150" dirty="0"/>
          </a:p>
        </p:txBody>
      </p:sp>
      <p:sp>
        <p:nvSpPr>
          <p:cNvPr id="13" name="fx2_2_4"/>
          <p:cNvSpPr/>
          <p:nvPr/>
        </p:nvSpPr>
        <p:spPr>
          <a:xfrm>
            <a:off x="640080" y="2761488"/>
            <a:ext cx="5806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4" name="fx2_2_5"/>
          <p:cNvSpPr/>
          <p:nvPr/>
        </p:nvSpPr>
        <p:spPr>
          <a:xfrm>
            <a:off x="640080" y="2907792"/>
            <a:ext cx="64008" cy="62179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15" name="fx2_2_6"/>
          <p:cNvSpPr/>
          <p:nvPr/>
        </p:nvSpPr>
        <p:spPr>
          <a:xfrm>
            <a:off x="914400" y="2834640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слова ≠ смысл</a:t>
            </a:r>
            <a:endParaRPr lang="en-US" sz="1700" dirty="0"/>
          </a:p>
        </p:txBody>
      </p:sp>
      <p:sp>
        <p:nvSpPr>
          <p:cNvPr id="16" name="fx2_2_7"/>
          <p:cNvSpPr/>
          <p:nvPr/>
        </p:nvSpPr>
        <p:spPr>
          <a:xfrm>
            <a:off x="914400" y="31821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по ключевым словам: «когда начинается сессия» не находит «график промежуточной аттестации»</a:t>
            </a:r>
            <a:endParaRPr lang="en-US" sz="1150" dirty="0"/>
          </a:p>
        </p:txBody>
      </p:sp>
      <p:sp>
        <p:nvSpPr>
          <p:cNvPr id="17" name="fx2_3_8"/>
          <p:cNvSpPr/>
          <p:nvPr/>
        </p:nvSpPr>
        <p:spPr>
          <a:xfrm>
            <a:off x="640080" y="3785616"/>
            <a:ext cx="5806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8" name="fx2_3_9"/>
          <p:cNvSpPr/>
          <p:nvPr/>
        </p:nvSpPr>
        <p:spPr>
          <a:xfrm>
            <a:off x="640080" y="3931920"/>
            <a:ext cx="64008" cy="6217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fx2_3_10"/>
          <p:cNvSpPr/>
          <p:nvPr/>
        </p:nvSpPr>
        <p:spPr>
          <a:xfrm>
            <a:off x="914400" y="3858768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облако нельзя</a:t>
            </a:r>
            <a:endParaRPr lang="en-US" sz="1700" dirty="0"/>
          </a:p>
        </p:txBody>
      </p:sp>
      <p:sp>
        <p:nvSpPr>
          <p:cNvPr id="20" name="fx2_3_11"/>
          <p:cNvSpPr/>
          <p:nvPr/>
        </p:nvSpPr>
        <p:spPr>
          <a:xfrm>
            <a:off x="914400" y="4206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Облачные LLM: документы уходят на внешние серверы (152-ФЗ), а без локальных данных модель «галлюцинирует»</a:t>
            </a:r>
            <a:endParaRPr lang="en-US" sz="1150" dirty="0"/>
          </a:p>
        </p:txBody>
      </p:sp>
      <p:sp>
        <p:nvSpPr>
          <p:cNvPr id="21" name="fx2_4_12"/>
          <p:cNvSpPr/>
          <p:nvPr/>
        </p:nvSpPr>
        <p:spPr>
          <a:xfrm>
            <a:off x="640080" y="4846320"/>
            <a:ext cx="5806440" cy="1371600"/>
          </a:xfrm>
          <a:prstGeom prst="roundRect">
            <a:avLst>
              <a:gd name="adj" fmla="val 6667"/>
            </a:avLst>
          </a:prstGeom>
          <a:solidFill>
            <a:srgbClr val="FFF5E6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22" name="fx2_4_13"/>
          <p:cNvSpPr/>
          <p:nvPr/>
        </p:nvSpPr>
        <p:spPr>
          <a:xfrm>
            <a:off x="9144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ПРОТИВОРЕЧИЕ</a:t>
            </a:r>
            <a:endParaRPr lang="en-US" sz="1050" dirty="0"/>
          </a:p>
        </p:txBody>
      </p:sp>
      <p:sp>
        <p:nvSpPr>
          <p:cNvPr id="23" name="fx2_4_14"/>
          <p:cNvSpPr/>
          <p:nvPr/>
        </p:nvSpPr>
        <p:spPr>
          <a:xfrm>
            <a:off x="914400" y="523036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Нужен быстрый доступ к актуальной информации вуза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нет инструментов смыслового поиска по русскоязычным документам, работающих в локальном контуре</a:t>
            </a:r>
            <a:endParaRPr lang="en-US" sz="1250" dirty="0"/>
          </a:p>
        </p:txBody>
      </p:sp>
      <p:pic>
        <p:nvPicPr>
          <p:cNvPr id="24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8901" y="945261"/>
            <a:ext cx="3733038" cy="3733038"/>
          </a:xfrm>
          <a:prstGeom prst="rect">
            <a:avLst/>
          </a:prstGeom>
        </p:spPr>
      </p:pic>
      <p:pic>
        <p:nvPicPr>
          <p:cNvPr id="25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278" y="3436658"/>
            <a:ext cx="2272284" cy="56807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!!m-search">
                <a:extLst>
                  <a:ext uri="{FF2B5EF4-FFF2-40B4-BE49-F238E27FC236}">
                    <a16:creationId xmlns:a16="http://schemas.microsoft.com/office/drawing/2014/main" id="{4743CF07-A3D0-A1B3-A6AD-FDC1D5694DE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52360" y="1188720"/>
              <a:ext cx="3246120" cy="324612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3246120" cy="3246120"/>
                    </a:xfrm>
                    <a:prstGeom prst="rect">
                      <a:avLst/>
                    </a:prstGeom>
                  </am3d:spPr>
                  <am3d:camera>
                    <am3d:pos x="0" y="0" z="712465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3236" d="1000000"/>
                    <am3d:preTrans dx="1321642" dy="-4736618" dz="881159"/>
                    <am3d:scale>
                      <am3d:sx n="1000000" d="1000000"/>
                      <am3d:sy n="1000000" d="1000000"/>
                      <am3d:sz n="1000000" d="1000000"/>
                    </am3d:scale>
                    <am3d:rot ax="2100000" ay="-90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46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!!m-search">
                <a:extLst>
                  <a:ext uri="{FF2B5EF4-FFF2-40B4-BE49-F238E27FC236}">
                    <a16:creationId xmlns:a16="http://schemas.microsoft.com/office/drawing/2014/main" id="{4743CF07-A3D0-A1B3-A6AD-FDC1D5694DE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52360" y="1188720"/>
                <a:ext cx="3246120" cy="3246120"/>
              </a:xfrm>
              <a:prstGeom prst="rect">
                <a:avLst/>
              </a:prstGeom>
            </p:spPr>
          </p:pic>
        </mc:Fallback>
      </mc:AlternateContent>
      <p:sp>
        <p:nvSpPr>
          <p:cNvPr id="27" name="fx2_5_15"/>
          <p:cNvSpPr/>
          <p:nvPr/>
        </p:nvSpPr>
        <p:spPr>
          <a:xfrm>
            <a:off x="6720840" y="4343400"/>
            <a:ext cx="4830775" cy="1874520"/>
          </a:xfrm>
          <a:prstGeom prst="roundRect">
            <a:avLst>
              <a:gd name="adj" fmla="val 4878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28" name="fx2_5_16"/>
          <p:cNvSpPr/>
          <p:nvPr/>
        </p:nvSpPr>
        <p:spPr>
          <a:xfrm>
            <a:off x="6995160" y="4443984"/>
            <a:ext cx="4373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— RAG</a:t>
            </a:r>
            <a:endParaRPr lang="en-US" sz="1050" dirty="0"/>
          </a:p>
        </p:txBody>
      </p:sp>
      <p:sp>
        <p:nvSpPr>
          <p:cNvPr id="29" name="fx2_5_17"/>
          <p:cNvSpPr/>
          <p:nvPr/>
        </p:nvSpPr>
        <p:spPr>
          <a:xfrm>
            <a:off x="6995160" y="470916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 (Lewis et al., 2020): найти фрагменты в своей базе знаний → сгенерировать ответ по ним</a:t>
            </a:r>
            <a:endParaRPr lang="en-US" sz="1150" dirty="0"/>
          </a:p>
        </p:txBody>
      </p:sp>
      <p:sp>
        <p:nvSpPr>
          <p:cNvPr id="30" name="fx2_5_18"/>
          <p:cNvSpPr/>
          <p:nvPr/>
        </p:nvSpPr>
        <p:spPr>
          <a:xfrm>
            <a:off x="6995160" y="5440680"/>
            <a:ext cx="1366418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1" name="fx2_5_19"/>
          <p:cNvSpPr/>
          <p:nvPr/>
        </p:nvSpPr>
        <p:spPr>
          <a:xfrm>
            <a:off x="6995160" y="5440680"/>
            <a:ext cx="1366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переобучения</a:t>
            </a:r>
            <a:endParaRPr lang="en-US" sz="1050" dirty="0"/>
          </a:p>
        </p:txBody>
      </p:sp>
      <p:sp>
        <p:nvSpPr>
          <p:cNvPr id="32" name="fx2_5_20"/>
          <p:cNvSpPr/>
          <p:nvPr/>
        </p:nvSpPr>
        <p:spPr>
          <a:xfrm>
            <a:off x="8453018" y="5440680"/>
            <a:ext cx="1366418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3" name="fx2_5_21"/>
          <p:cNvSpPr/>
          <p:nvPr/>
        </p:nvSpPr>
        <p:spPr>
          <a:xfrm>
            <a:off x="8453018" y="5440680"/>
            <a:ext cx="1366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достоверно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источниками</a:t>
            </a:r>
            <a:endParaRPr lang="en-US" sz="1050" dirty="0"/>
          </a:p>
        </p:txBody>
      </p:sp>
      <p:sp>
        <p:nvSpPr>
          <p:cNvPr id="34" name="fx2_5_22"/>
          <p:cNvSpPr/>
          <p:nvPr/>
        </p:nvSpPr>
        <p:spPr>
          <a:xfrm>
            <a:off x="9910877" y="5440680"/>
            <a:ext cx="1366418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5" name="fx2_5_23"/>
          <p:cNvSpPr/>
          <p:nvPr/>
        </p:nvSpPr>
        <p:spPr>
          <a:xfrm>
            <a:off x="9910877" y="5440680"/>
            <a:ext cx="1366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конфиденциально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локально</a:t>
            </a:r>
            <a:endParaRPr lang="en-US" sz="9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chat">
                <a:extLst>
                  <a:ext uri="{FF2B5EF4-FFF2-40B4-BE49-F238E27FC236}">
                    <a16:creationId xmlns:a16="http://schemas.microsoft.com/office/drawing/2014/main" id="{13439D2D-BCB4-654E-EEB5-CE3BDABDB98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794760" y="777240"/>
              <a:ext cx="3246120" cy="3246120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3246120" cy="3246120"/>
                    </a:xfrm>
                    <a:prstGeom prst="rect">
                      <a:avLst/>
                    </a:prstGeom>
                  </am3d:spPr>
                  <am3d:camera>
                    <am3d:pos x="0" y="0" z="6171442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17145" d="1000000"/>
                    <am3d:preTrans dx="-20654" dy="73008" dz="127646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612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3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46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chat">
                <a:extLst>
                  <a:ext uri="{FF2B5EF4-FFF2-40B4-BE49-F238E27FC236}">
                    <a16:creationId xmlns:a16="http://schemas.microsoft.com/office/drawing/2014/main" id="{13439D2D-BCB4-654E-EEB5-CE3BDABDB98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794760" y="777240"/>
                <a:ext cx="3246120" cy="32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target">
                <a:extLst>
                  <a:ext uri="{FF2B5EF4-FFF2-40B4-BE49-F238E27FC236}">
                    <a16:creationId xmlns:a16="http://schemas.microsoft.com/office/drawing/2014/main" id="{B640D885-0EC5-C4E6-919B-6804C0151A1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2926080" cy="2926080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6948431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9133" d="1000000"/>
                    <am3d:preTrans dx="-6585179" dy="3566873" dz="-34158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12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target">
                <a:extLst>
                  <a:ext uri="{FF2B5EF4-FFF2-40B4-BE49-F238E27FC236}">
                    <a16:creationId xmlns:a16="http://schemas.microsoft.com/office/drawing/2014/main" id="{B640D885-0EC5-C4E6-919B-6804C0151A1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1234440"/>
                <a:ext cx="2926080" cy="2926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6" dur="4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ЦЕЛЬ, ОБЪЕКТ, ПРЕДМЕТ, ЗАДАЧИ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ВКР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и задачи работы</a:t>
            </a:r>
            <a:endParaRPr lang="en-US" sz="3200" dirty="0"/>
          </a:p>
        </p:txBody>
      </p:sp>
      <p:sp>
        <p:nvSpPr>
          <p:cNvPr id="9" name="fx3_1_0"/>
          <p:cNvSpPr/>
          <p:nvPr/>
        </p:nvSpPr>
        <p:spPr>
          <a:xfrm>
            <a:off x="640080" y="1691640"/>
            <a:ext cx="7818120" cy="1161288"/>
          </a:xfrm>
          <a:prstGeom prst="roundRect">
            <a:avLst>
              <a:gd name="adj" fmla="val 7874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10" name="fx3_1_1"/>
          <p:cNvSpPr/>
          <p:nvPr/>
        </p:nvSpPr>
        <p:spPr>
          <a:xfrm>
            <a:off x="914400" y="1764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</a:t>
            </a:r>
            <a:endParaRPr lang="en-US" sz="1050" dirty="0"/>
          </a:p>
        </p:txBody>
      </p:sp>
      <p:sp>
        <p:nvSpPr>
          <p:cNvPr id="11" name="fx3_1_2"/>
          <p:cNvSpPr/>
          <p:nvPr/>
        </p:nvSpPr>
        <p:spPr>
          <a:xfrm>
            <a:off x="914400" y="2029968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Спроектировать, реализовать и проверить справочную систему ПсковГУ, которая отвечает на вопросы на естественном языке с указанием источников и работает локально на основе RAG и LLM</a:t>
            </a:r>
            <a:endParaRPr lang="en-US" sz="1250" dirty="0"/>
          </a:p>
        </p:txBody>
      </p:sp>
      <p:sp>
        <p:nvSpPr>
          <p:cNvPr id="12" name="fx3_2_3"/>
          <p:cNvSpPr/>
          <p:nvPr/>
        </p:nvSpPr>
        <p:spPr>
          <a:xfrm>
            <a:off x="640080" y="2990088"/>
            <a:ext cx="38176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3" name="fx3_2_4"/>
          <p:cNvSpPr/>
          <p:nvPr/>
        </p:nvSpPr>
        <p:spPr>
          <a:xfrm>
            <a:off x="868680" y="3081528"/>
            <a:ext cx="3451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</a:t>
            </a:r>
            <a:endParaRPr lang="en-US" sz="1050" dirty="0"/>
          </a:p>
        </p:txBody>
      </p:sp>
      <p:sp>
        <p:nvSpPr>
          <p:cNvPr id="14" name="fx3_2_5"/>
          <p:cNvSpPr/>
          <p:nvPr/>
        </p:nvSpPr>
        <p:spPr>
          <a:xfrm>
            <a:off x="868680" y="3355848"/>
            <a:ext cx="34061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Информационно-справочные системы образовательных организаций на основе обработки естественного языка</a:t>
            </a:r>
            <a:endParaRPr lang="en-US" sz="1150" dirty="0"/>
          </a:p>
        </p:txBody>
      </p:sp>
      <p:sp>
        <p:nvSpPr>
          <p:cNvPr id="15" name="fx3_2_6"/>
          <p:cNvSpPr/>
          <p:nvPr/>
        </p:nvSpPr>
        <p:spPr>
          <a:xfrm>
            <a:off x="4640580" y="2990088"/>
            <a:ext cx="38176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6" name="fx3_2_7"/>
          <p:cNvSpPr/>
          <p:nvPr/>
        </p:nvSpPr>
        <p:spPr>
          <a:xfrm>
            <a:off x="4869180" y="3081528"/>
            <a:ext cx="3451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ПРЕДМЕТ</a:t>
            </a:r>
            <a:endParaRPr lang="en-US" sz="1050" dirty="0"/>
          </a:p>
        </p:txBody>
      </p:sp>
      <p:sp>
        <p:nvSpPr>
          <p:cNvPr id="17" name="fx3_2_8"/>
          <p:cNvSpPr/>
          <p:nvPr/>
        </p:nvSpPr>
        <p:spPr>
          <a:xfrm>
            <a:off x="4869180" y="3355848"/>
            <a:ext cx="34061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семантического поиска, извлечения текста и генерации ответов в RAG-системах для русскоязычных баз знаний вузов</a:t>
            </a:r>
            <a:endParaRPr lang="en-US" sz="1150" dirty="0"/>
          </a:p>
        </p:txBody>
      </p:sp>
      <p:pic>
        <p:nvPicPr>
          <p:cNvPr id="18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13064" y="649224"/>
            <a:ext cx="3364992" cy="3364992"/>
          </a:xfrm>
          <a:prstGeom prst="rect">
            <a:avLst/>
          </a:prstGeom>
        </p:spPr>
      </p:pic>
      <p:pic>
        <p:nvPicPr>
          <p:cNvPr id="19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432" y="3129077"/>
            <a:ext cx="2048256" cy="51206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0" name="!!m-target">
                <a:extLst>
                  <a:ext uri="{FF2B5EF4-FFF2-40B4-BE49-F238E27FC236}">
                    <a16:creationId xmlns:a16="http://schemas.microsoft.com/office/drawing/2014/main" id="{EA0BDC22-6C67-2B4C-8C88-762747CA36E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732520" y="868680"/>
              <a:ext cx="2926080" cy="2926080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6948431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9133" d="1000000"/>
                    <am3d:preTrans dx="-6585179" dy="3566873" dz="-34158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68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0" name="!!m-target">
                <a:extLst>
                  <a:ext uri="{FF2B5EF4-FFF2-40B4-BE49-F238E27FC236}">
                    <a16:creationId xmlns:a16="http://schemas.microsoft.com/office/drawing/2014/main" id="{EA0BDC22-6C67-2B4C-8C88-762747CA36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2520" y="868680"/>
                <a:ext cx="2926080" cy="292608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fx3_3_9"/>
          <p:cNvSpPr/>
          <p:nvPr/>
        </p:nvSpPr>
        <p:spPr>
          <a:xfrm>
            <a:off x="640080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</a:t>
            </a:r>
            <a:endParaRPr lang="en-US" sz="1050" dirty="0"/>
          </a:p>
        </p:txBody>
      </p:sp>
      <p:sp>
        <p:nvSpPr>
          <p:cNvPr id="22" name="fx3_3_10"/>
          <p:cNvSpPr/>
          <p:nvPr/>
        </p:nvSpPr>
        <p:spPr>
          <a:xfrm>
            <a:off x="640080" y="4572000"/>
            <a:ext cx="310896" cy="310896"/>
          </a:xfrm>
          <a:prstGeom prst="ellipse">
            <a:avLst/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23" name="fx3_3_11"/>
          <p:cNvSpPr/>
          <p:nvPr/>
        </p:nvSpPr>
        <p:spPr>
          <a:xfrm>
            <a:off x="640080" y="4572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24" name="fx3_3_12"/>
          <p:cNvSpPr/>
          <p:nvPr/>
        </p:nvSpPr>
        <p:spPr>
          <a:xfrm>
            <a:off x="1078992" y="454456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Изучить принципы LLM и RAG-архитектуры</a:t>
            </a:r>
            <a:endParaRPr lang="en-US" sz="1200" dirty="0"/>
          </a:p>
        </p:txBody>
      </p:sp>
      <p:sp>
        <p:nvSpPr>
          <p:cNvPr id="25" name="fx3_3_13"/>
          <p:cNvSpPr/>
          <p:nvPr/>
        </p:nvSpPr>
        <p:spPr>
          <a:xfrm>
            <a:off x="640080" y="4992624"/>
            <a:ext cx="310896" cy="310896"/>
          </a:xfrm>
          <a:prstGeom prst="ellipse">
            <a:avLst/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26" name="fx3_3_14"/>
          <p:cNvSpPr/>
          <p:nvPr/>
        </p:nvSpPr>
        <p:spPr>
          <a:xfrm>
            <a:off x="640080" y="4992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27" name="fx3_3_15"/>
          <p:cNvSpPr/>
          <p:nvPr/>
        </p:nvSpPr>
        <p:spPr>
          <a:xfrm>
            <a:off x="1078992" y="496519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Обзор аналогов и выбор технологического стека</a:t>
            </a:r>
            <a:endParaRPr lang="en-US" sz="1200" dirty="0"/>
          </a:p>
        </p:txBody>
      </p:sp>
      <p:sp>
        <p:nvSpPr>
          <p:cNvPr id="28" name="fx3_3_16"/>
          <p:cNvSpPr/>
          <p:nvPr/>
        </p:nvSpPr>
        <p:spPr>
          <a:xfrm>
            <a:off x="640080" y="5413248"/>
            <a:ext cx="310896" cy="310896"/>
          </a:xfrm>
          <a:prstGeom prst="ellipse">
            <a:avLst/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29" name="fx3_3_17"/>
          <p:cNvSpPr/>
          <p:nvPr/>
        </p:nvSpPr>
        <p:spPr>
          <a:xfrm>
            <a:off x="640080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fx3_3_18"/>
          <p:cNvSpPr/>
          <p:nvPr/>
        </p:nvSpPr>
        <p:spPr>
          <a:xfrm>
            <a:off x="1078992" y="538581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Спроектировать архитектуру: offline-пайплайн + online-сервис</a:t>
            </a:r>
            <a:endParaRPr lang="en-US" sz="1200" dirty="0"/>
          </a:p>
        </p:txBody>
      </p:sp>
      <p:sp>
        <p:nvSpPr>
          <p:cNvPr id="31" name="fx3_3_19"/>
          <p:cNvSpPr/>
          <p:nvPr/>
        </p:nvSpPr>
        <p:spPr>
          <a:xfrm>
            <a:off x="640080" y="5833872"/>
            <a:ext cx="310896" cy="310896"/>
          </a:xfrm>
          <a:prstGeom prst="ellipse">
            <a:avLst/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32" name="fx3_3_20"/>
          <p:cNvSpPr/>
          <p:nvPr/>
        </p:nvSpPr>
        <p:spPr>
          <a:xfrm>
            <a:off x="640080" y="5833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33" name="fx3_3_21"/>
          <p:cNvSpPr/>
          <p:nvPr/>
        </p:nvSpPr>
        <p:spPr>
          <a:xfrm>
            <a:off x="1078992" y="58064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сбор и обработку данных сайта ПсковГУ</a:t>
            </a:r>
            <a:endParaRPr lang="en-US" sz="1200" dirty="0"/>
          </a:p>
        </p:txBody>
      </p:sp>
      <p:sp>
        <p:nvSpPr>
          <p:cNvPr id="34" name="fx3_4_22"/>
          <p:cNvSpPr/>
          <p:nvPr/>
        </p:nvSpPr>
        <p:spPr>
          <a:xfrm>
            <a:off x="6172200" y="4572000"/>
            <a:ext cx="310896" cy="310896"/>
          </a:xfrm>
          <a:prstGeom prst="ellipse">
            <a:avLst/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35" name="fx3_4_23"/>
          <p:cNvSpPr/>
          <p:nvPr/>
        </p:nvSpPr>
        <p:spPr>
          <a:xfrm>
            <a:off x="6172200" y="4572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36" name="fx3_4_24"/>
          <p:cNvSpPr/>
          <p:nvPr/>
        </p:nvSpPr>
        <p:spPr>
          <a:xfrm>
            <a:off x="6611112" y="454456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Построить векторный индекс FAISS (модель bge-m3)</a:t>
            </a:r>
            <a:endParaRPr lang="en-US" sz="1200" dirty="0"/>
          </a:p>
        </p:txBody>
      </p:sp>
      <p:sp>
        <p:nvSpPr>
          <p:cNvPr id="37" name="fx3_4_25"/>
          <p:cNvSpPr/>
          <p:nvPr/>
        </p:nvSpPr>
        <p:spPr>
          <a:xfrm>
            <a:off x="6172200" y="4992624"/>
            <a:ext cx="310896" cy="310896"/>
          </a:xfrm>
          <a:prstGeom prst="ellipse">
            <a:avLst/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38" name="fx3_4_26"/>
          <p:cNvSpPr/>
          <p:nvPr/>
        </p:nvSpPr>
        <p:spPr>
          <a:xfrm>
            <a:off x="6172200" y="4992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39" name="fx3_4_27"/>
          <p:cNvSpPr/>
          <p:nvPr/>
        </p:nvSpPr>
        <p:spPr>
          <a:xfrm>
            <a:off x="6611112" y="496519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API, веб-чат и админ-панель</a:t>
            </a:r>
            <a:endParaRPr lang="en-US" sz="1200" dirty="0"/>
          </a:p>
        </p:txBody>
      </p:sp>
      <p:sp>
        <p:nvSpPr>
          <p:cNvPr id="40" name="fx3_4_28"/>
          <p:cNvSpPr/>
          <p:nvPr/>
        </p:nvSpPr>
        <p:spPr>
          <a:xfrm>
            <a:off x="6172200" y="5413248"/>
            <a:ext cx="310896" cy="310896"/>
          </a:xfrm>
          <a:prstGeom prst="ellipse">
            <a:avLst/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41" name="fx3_4_29"/>
          <p:cNvSpPr/>
          <p:nvPr/>
        </p:nvSpPr>
        <p:spPr>
          <a:xfrm>
            <a:off x="6172200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42" name="fx3_4_30"/>
          <p:cNvSpPr/>
          <p:nvPr/>
        </p:nvSpPr>
        <p:spPr>
          <a:xfrm>
            <a:off x="6611112" y="538581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Провести экспериментальную проверку</a:t>
            </a:r>
            <a:endParaRPr lang="en-US" sz="12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3" name="!!m-search">
                <a:extLst>
                  <a:ext uri="{FF2B5EF4-FFF2-40B4-BE49-F238E27FC236}">
                    <a16:creationId xmlns:a16="http://schemas.microsoft.com/office/drawing/2014/main" id="{AA9140AA-088F-1D8A-E929-CDB4A09CF9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794760" y="1554480"/>
              <a:ext cx="3246120" cy="324612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3246120" cy="3246120"/>
                    </a:xfrm>
                    <a:prstGeom prst="rect">
                      <a:avLst/>
                    </a:prstGeom>
                  </am3d:spPr>
                  <am3d:camera>
                    <am3d:pos x="0" y="0" z="712465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3236" d="1000000"/>
                    <am3d:preTrans dx="1321642" dy="-4736618" dz="881159"/>
                    <am3d:scale>
                      <am3d:sx n="1000000" d="1000000"/>
                      <am3d:sy n="1000000" d="1000000"/>
                      <am3d:sz n="1000000" d="1000000"/>
                    </am3d:scale>
                    <am3d:rot ax="2100000" ay="-570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46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3" name="!!m-search">
                <a:extLst>
                  <a:ext uri="{FF2B5EF4-FFF2-40B4-BE49-F238E27FC236}">
                    <a16:creationId xmlns:a16="http://schemas.microsoft.com/office/drawing/2014/main" id="{AA9140AA-088F-1D8A-E929-CDB4A09CF9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794760" y="1554480"/>
                <a:ext cx="3246120" cy="32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!!m-people">
                <a:extLst>
                  <a:ext uri="{FF2B5EF4-FFF2-40B4-BE49-F238E27FC236}">
                    <a16:creationId xmlns:a16="http://schemas.microsoft.com/office/drawing/2014/main" id="{14329951-4AE3-6409-D349-74C87E16FA2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783080"/>
              <a:ext cx="3429000" cy="3429000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3429000" cy="3429000"/>
                    </a:xfrm>
                    <a:prstGeom prst="rect">
                      <a:avLst/>
                    </a:prstGeom>
                  </am3d:spPr>
                  <am3d:camera>
                    <am3d:pos x="0" y="0" z="722584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00" d="1000000"/>
                    <am3d:preTrans dx="0" dy="-288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4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29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!!m-people">
                <a:extLst>
                  <a:ext uri="{FF2B5EF4-FFF2-40B4-BE49-F238E27FC236}">
                    <a16:creationId xmlns:a16="http://schemas.microsoft.com/office/drawing/2014/main" id="{14329951-4AE3-6409-D349-74C87E16FA2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1783080"/>
                <a:ext cx="34290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1" dur="4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ЗАИНТЕРЕСОВАННЫЕ СТОРОНЫ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ВКР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 система и кому она важна</a:t>
            </a:r>
            <a:endParaRPr lang="en-US" sz="3200" dirty="0"/>
          </a:p>
        </p:txBody>
      </p:sp>
      <p:sp>
        <p:nvSpPr>
          <p:cNvPr id="9" name="fx4_1_0"/>
          <p:cNvSpPr/>
          <p:nvPr/>
        </p:nvSpPr>
        <p:spPr>
          <a:xfrm>
            <a:off x="640080" y="16642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ПОЛЬЗОВАТЕЛИ</a:t>
            </a:r>
            <a:endParaRPr lang="en-US" sz="950" dirty="0"/>
          </a:p>
        </p:txBody>
      </p:sp>
      <p:sp>
        <p:nvSpPr>
          <p:cNvPr id="10" name="fx4_1_1"/>
          <p:cNvSpPr/>
          <p:nvPr/>
        </p:nvSpPr>
        <p:spPr>
          <a:xfrm>
            <a:off x="4434840" y="16642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ОРГАНИЗАЦИЯ</a:t>
            </a:r>
            <a:endParaRPr lang="en-US" sz="950" dirty="0"/>
          </a:p>
        </p:txBody>
      </p:sp>
      <p:sp>
        <p:nvSpPr>
          <p:cNvPr id="11" name="fx4_1_2"/>
          <p:cNvSpPr/>
          <p:nvPr/>
        </p:nvSpPr>
        <p:spPr>
          <a:xfrm>
            <a:off x="640080" y="196596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2" name="fx4_1_3"/>
          <p:cNvSpPr/>
          <p:nvPr/>
        </p:nvSpPr>
        <p:spPr>
          <a:xfrm>
            <a:off x="841248" y="2148840"/>
            <a:ext cx="182880" cy="18288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3" name="fx4_1_4"/>
          <p:cNvSpPr/>
          <p:nvPr/>
        </p:nvSpPr>
        <p:spPr>
          <a:xfrm>
            <a:off x="1115568" y="20756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Студенты</a:t>
            </a:r>
            <a:endParaRPr lang="en-US" sz="1250" dirty="0"/>
          </a:p>
        </p:txBody>
      </p:sp>
      <p:sp>
        <p:nvSpPr>
          <p:cNvPr id="14" name="fx4_1_5"/>
          <p:cNvSpPr/>
          <p:nvPr/>
        </p:nvSpPr>
        <p:spPr>
          <a:xfrm>
            <a:off x="841248" y="24231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Быстро узнать расписание, правила, найти документ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по группе, расписание вживую, ответы 24/7</a:t>
            </a:r>
            <a:endParaRPr lang="en-US" sz="1050" dirty="0"/>
          </a:p>
        </p:txBody>
      </p:sp>
      <p:sp>
        <p:nvSpPr>
          <p:cNvPr id="15" name="fx4_1_6"/>
          <p:cNvSpPr/>
          <p:nvPr/>
        </p:nvSpPr>
        <p:spPr>
          <a:xfrm>
            <a:off x="4434840" y="196596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6" name="fx4_1_7"/>
          <p:cNvSpPr/>
          <p:nvPr/>
        </p:nvSpPr>
        <p:spPr>
          <a:xfrm>
            <a:off x="4636008" y="2148840"/>
            <a:ext cx="182880" cy="182880"/>
          </a:xfrm>
          <a:prstGeom prst="ellipse">
            <a:avLst/>
          </a:prstGeom>
          <a:solidFill>
            <a:srgbClr val="1F2433"/>
          </a:solidFill>
          <a:ln/>
        </p:spPr>
      </p:sp>
      <p:sp>
        <p:nvSpPr>
          <p:cNvPr id="17" name="fx4_1_8"/>
          <p:cNvSpPr/>
          <p:nvPr/>
        </p:nvSpPr>
        <p:spPr>
          <a:xfrm>
            <a:off x="4910328" y="20756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Администратор системы</a:t>
            </a:r>
            <a:endParaRPr lang="en-US" sz="1250" dirty="0"/>
          </a:p>
        </p:txBody>
      </p:sp>
      <p:sp>
        <p:nvSpPr>
          <p:cNvPr id="18" name="fx4_1_9"/>
          <p:cNvSpPr/>
          <p:nvPr/>
        </p:nvSpPr>
        <p:spPr>
          <a:xfrm>
            <a:off x="4636008" y="24231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качества ответов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админ-панель: правка и исключение фрагментов, аудит запросов</a:t>
            </a:r>
            <a:endParaRPr lang="en-US" sz="1050" dirty="0"/>
          </a:p>
        </p:txBody>
      </p:sp>
      <p:sp>
        <p:nvSpPr>
          <p:cNvPr id="19" name="fx4_2_10"/>
          <p:cNvSpPr/>
          <p:nvPr/>
        </p:nvSpPr>
        <p:spPr>
          <a:xfrm>
            <a:off x="640080" y="3447288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0" name="fx4_2_11"/>
          <p:cNvSpPr/>
          <p:nvPr/>
        </p:nvSpPr>
        <p:spPr>
          <a:xfrm>
            <a:off x="841248" y="363016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fx4_2_12"/>
          <p:cNvSpPr/>
          <p:nvPr/>
        </p:nvSpPr>
        <p:spPr>
          <a:xfrm>
            <a:off x="1115568" y="355701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Преподаватели</a:t>
            </a:r>
            <a:endParaRPr lang="en-US" sz="1250" dirty="0"/>
          </a:p>
        </p:txBody>
      </p:sp>
      <p:sp>
        <p:nvSpPr>
          <p:cNvPr id="22" name="fx4_2_13"/>
          <p:cNvSpPr/>
          <p:nvPr/>
        </p:nvSpPr>
        <p:spPr>
          <a:xfrm>
            <a:off x="841248" y="390448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Своё расписание, нормативные документы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по ФИО, ссылки на первоисточник</a:t>
            </a:r>
            <a:endParaRPr lang="en-US" sz="1050" dirty="0"/>
          </a:p>
        </p:txBody>
      </p:sp>
      <p:sp>
        <p:nvSpPr>
          <p:cNvPr id="23" name="fx4_2_14"/>
          <p:cNvSpPr/>
          <p:nvPr/>
        </p:nvSpPr>
        <p:spPr>
          <a:xfrm>
            <a:off x="4434840" y="3447288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4" name="fx4_2_15"/>
          <p:cNvSpPr/>
          <p:nvPr/>
        </p:nvSpPr>
        <p:spPr>
          <a:xfrm>
            <a:off x="4636008" y="3630168"/>
            <a:ext cx="182880" cy="182880"/>
          </a:xfrm>
          <a:prstGeom prst="ellipse">
            <a:avLst/>
          </a:prstGeom>
          <a:solidFill>
            <a:srgbClr val="4F5BEA"/>
          </a:solidFill>
          <a:ln/>
        </p:spPr>
      </p:sp>
      <p:sp>
        <p:nvSpPr>
          <p:cNvPr id="25" name="fx4_2_16"/>
          <p:cNvSpPr/>
          <p:nvPr/>
        </p:nvSpPr>
        <p:spPr>
          <a:xfrm>
            <a:off x="4910328" y="355701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Руководство и справочные службы</a:t>
            </a:r>
            <a:endParaRPr lang="en-US" sz="1250" dirty="0"/>
          </a:p>
        </p:txBody>
      </p:sp>
      <p:sp>
        <p:nvSpPr>
          <p:cNvPr id="26" name="fx4_2_17"/>
          <p:cNvSpPr/>
          <p:nvPr/>
        </p:nvSpPr>
        <p:spPr>
          <a:xfrm>
            <a:off x="4636008" y="390448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Меньше однотипных обращений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снимает типовые вопросы (до 60 % обращений)</a:t>
            </a:r>
            <a:endParaRPr lang="en-US" sz="1050" dirty="0"/>
          </a:p>
        </p:txBody>
      </p:sp>
      <p:sp>
        <p:nvSpPr>
          <p:cNvPr id="27" name="fx4_3_18"/>
          <p:cNvSpPr/>
          <p:nvPr/>
        </p:nvSpPr>
        <p:spPr>
          <a:xfrm>
            <a:off x="640080" y="4928616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8" name="fx4_3_19"/>
          <p:cNvSpPr/>
          <p:nvPr/>
        </p:nvSpPr>
        <p:spPr>
          <a:xfrm>
            <a:off x="841248" y="5111496"/>
            <a:ext cx="182880" cy="18288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9" name="fx4_3_20"/>
          <p:cNvSpPr/>
          <p:nvPr/>
        </p:nvSpPr>
        <p:spPr>
          <a:xfrm>
            <a:off x="1115568" y="50383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Абитуриенты и родители</a:t>
            </a:r>
            <a:endParaRPr lang="en-US" sz="1250" dirty="0"/>
          </a:p>
        </p:txBody>
      </p:sp>
      <p:sp>
        <p:nvSpPr>
          <p:cNvPr id="30" name="fx4_3_21"/>
          <p:cNvSpPr/>
          <p:nvPr/>
        </p:nvSpPr>
        <p:spPr>
          <a:xfrm>
            <a:off x="841248" y="538581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Проходные баллы, стоимость, бюджетные места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гостевой режим, данные abit.pskgu.ru с источниками</a:t>
            </a:r>
            <a:endParaRPr lang="en-US" sz="1050" dirty="0"/>
          </a:p>
        </p:txBody>
      </p:sp>
      <p:sp>
        <p:nvSpPr>
          <p:cNvPr id="31" name="fx4_3_22"/>
          <p:cNvSpPr/>
          <p:nvPr/>
        </p:nvSpPr>
        <p:spPr>
          <a:xfrm>
            <a:off x="4434840" y="4928616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2" name="fx4_3_23"/>
          <p:cNvSpPr/>
          <p:nvPr/>
        </p:nvSpPr>
        <p:spPr>
          <a:xfrm>
            <a:off x="4636008" y="5111496"/>
            <a:ext cx="182880" cy="18288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33" name="fx4_3_24"/>
          <p:cNvSpPr/>
          <p:nvPr/>
        </p:nvSpPr>
        <p:spPr>
          <a:xfrm>
            <a:off x="4910328" y="50383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 и защита информации</a:t>
            </a:r>
            <a:endParaRPr lang="en-US" sz="1250" dirty="0"/>
          </a:p>
        </p:txBody>
      </p:sp>
      <p:sp>
        <p:nvSpPr>
          <p:cNvPr id="34" name="fx4_3_25"/>
          <p:cNvSpPr/>
          <p:nvPr/>
        </p:nvSpPr>
        <p:spPr>
          <a:xfrm>
            <a:off x="4636008" y="538581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Безопасность, соответствие 152-ФЗ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Система: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локально — данные не покидают вуз</a:t>
            </a:r>
            <a:endParaRPr lang="en-US" sz="1050" dirty="0"/>
          </a:p>
        </p:txBody>
      </p:sp>
      <p:pic>
        <p:nvPicPr>
          <p:cNvPr id="35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6705" y="1160145"/>
            <a:ext cx="3943350" cy="3943350"/>
          </a:xfrm>
          <a:prstGeom prst="rect">
            <a:avLst/>
          </a:prstGeom>
        </p:spPr>
      </p:pic>
      <p:pic>
        <p:nvPicPr>
          <p:cNvPr id="36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8230" y="3860483"/>
            <a:ext cx="2400300" cy="600075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people">
                <a:extLst>
                  <a:ext uri="{FF2B5EF4-FFF2-40B4-BE49-F238E27FC236}">
                    <a16:creationId xmlns:a16="http://schemas.microsoft.com/office/drawing/2014/main" id="{1899370C-7C8D-8525-636C-E5EA91FE267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183880" y="1417320"/>
              <a:ext cx="3429000" cy="3429000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3429000" cy="3429000"/>
                    </a:xfrm>
                    <a:prstGeom prst="rect">
                      <a:avLst/>
                    </a:prstGeom>
                  </am3d:spPr>
                  <am3d:camera>
                    <am3d:pos x="0" y="0" z="722584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00" d="1000000"/>
                    <am3d:preTrans dx="0" dy="-288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72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29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people">
                <a:extLst>
                  <a:ext uri="{FF2B5EF4-FFF2-40B4-BE49-F238E27FC236}">
                    <a16:creationId xmlns:a16="http://schemas.microsoft.com/office/drawing/2014/main" id="{1899370C-7C8D-8525-636C-E5EA91FE267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83880" y="1417320"/>
                <a:ext cx="3429000" cy="3429000"/>
              </a:xfrm>
              <a:prstGeom prst="rect">
                <a:avLst/>
              </a:prstGeom>
            </p:spPr>
          </p:pic>
        </mc:Fallback>
      </mc:AlternateContent>
      <p:sp>
        <p:nvSpPr>
          <p:cNvPr id="38" name="fx4_9_26"/>
          <p:cNvSpPr/>
          <p:nvPr/>
        </p:nvSpPr>
        <p:spPr>
          <a:xfrm>
            <a:off x="8183880" y="502920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роль получает ответ под свою задачу</a:t>
            </a:r>
            <a:endParaRPr lang="en-US" sz="950" dirty="0"/>
          </a:p>
        </p:txBody>
      </p:sp>
      <p:sp>
        <p:nvSpPr>
          <p:cNvPr id="39" name="fx4_4_27"/>
          <p:cNvSpPr/>
          <p:nvPr/>
        </p:nvSpPr>
        <p:spPr>
          <a:xfrm>
            <a:off x="8321040" y="5440680"/>
            <a:ext cx="3230575" cy="777240"/>
          </a:xfrm>
          <a:prstGeom prst="roundRect">
            <a:avLst>
              <a:gd name="adj" fmla="val 11765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40" name="fx4_4_28"/>
          <p:cNvSpPr/>
          <p:nvPr/>
        </p:nvSpPr>
        <p:spPr>
          <a:xfrm>
            <a:off x="8458200" y="544068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сторон → 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требования к системе: точность, источники, приватность, роли</a:t>
            </a:r>
            <a:endParaRPr lang="en-US" sz="10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!!m-target">
                <a:extLst>
                  <a:ext uri="{FF2B5EF4-FFF2-40B4-BE49-F238E27FC236}">
                    <a16:creationId xmlns:a16="http://schemas.microsoft.com/office/drawing/2014/main" id="{3D5EE8DF-4A7D-7EFB-559A-23346B6D5E9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474720" y="1234440"/>
              <a:ext cx="2926080" cy="2926080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6948431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9133" d="1000000"/>
                    <am3d:preTrans dx="-6585179" dy="3566873" dz="-34158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48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!!m-target">
                <a:extLst>
                  <a:ext uri="{FF2B5EF4-FFF2-40B4-BE49-F238E27FC236}">
                    <a16:creationId xmlns:a16="http://schemas.microsoft.com/office/drawing/2014/main" id="{3D5EE8DF-4A7D-7EFB-559A-23346B6D5E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474720" y="1234440"/>
                <a:ext cx="2926080" cy="29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!!m-gears">
                <a:extLst>
                  <a:ext uri="{FF2B5EF4-FFF2-40B4-BE49-F238E27FC236}">
                    <a16:creationId xmlns:a16="http://schemas.microsoft.com/office/drawing/2014/main" id="{D95C8C61-6C8B-089A-B3ED-1B10A3B1620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685800"/>
              <a:ext cx="2057400" cy="205740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2057400" cy="2057400"/>
                    </a:xfrm>
                    <a:prstGeom prst="rect">
                      <a:avLst/>
                    </a:prstGeom>
                  </am3d:spPr>
                  <am3d:camera>
                    <am3d:pos x="0" y="0" z="630583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8832" d="1000000"/>
                    <am3d:preTrans dx="2026663" dy="-270647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3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0574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!!m-gears">
                <a:extLst>
                  <a:ext uri="{FF2B5EF4-FFF2-40B4-BE49-F238E27FC236}">
                    <a16:creationId xmlns:a16="http://schemas.microsoft.com/office/drawing/2014/main" id="{D95C8C61-6C8B-089A-B3ED-1B10A3B1620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685800"/>
                <a:ext cx="2057400" cy="2057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1" dur="5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9" grpId="0" animBg="1"/>
      <p:bldP spid="40" grpId="0" animBg="1"/>
      <p:bldP spid="3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СИСТЕМНЫЙ ВЗГЛЯД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ВКР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глазами системного анализа</a:t>
            </a:r>
            <a:endParaRPr lang="en-US" sz="3200" dirty="0"/>
          </a:p>
        </p:txBody>
      </p:sp>
      <p:pic>
        <p:nvPicPr>
          <p:cNvPr id="9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8330" y="217170"/>
            <a:ext cx="2263140" cy="2263140"/>
          </a:xfrm>
          <a:prstGeom prst="rect">
            <a:avLst/>
          </a:prstGeom>
        </p:spPr>
      </p:pic>
      <p:pic>
        <p:nvPicPr>
          <p:cNvPr id="10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9810" y="1991678"/>
            <a:ext cx="1440180" cy="360045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!!m-gears">
                <a:extLst>
                  <a:ext uri="{FF2B5EF4-FFF2-40B4-BE49-F238E27FC236}">
                    <a16:creationId xmlns:a16="http://schemas.microsoft.com/office/drawing/2014/main" id="{3743C409-5AA6-C996-D8E7-B2A16BA79D8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601200" y="320040"/>
              <a:ext cx="2057400" cy="2057400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2057400" cy="2057400"/>
                    </a:xfrm>
                    <a:prstGeom prst="rect">
                      <a:avLst/>
                    </a:prstGeom>
                  </am3d:spPr>
                  <am3d:camera>
                    <am3d:pos x="0" y="0" z="630583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8832" d="1000000"/>
                    <am3d:preTrans dx="2026663" dy="-270647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50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0574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!!m-gears">
                <a:extLst>
                  <a:ext uri="{FF2B5EF4-FFF2-40B4-BE49-F238E27FC236}">
                    <a16:creationId xmlns:a16="http://schemas.microsoft.com/office/drawing/2014/main" id="{3743C409-5AA6-C996-D8E7-B2A16BA79D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01200" y="320040"/>
                <a:ext cx="2057400" cy="20574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fx5_1_0"/>
          <p:cNvSpPr/>
          <p:nvPr/>
        </p:nvSpPr>
        <p:spPr>
          <a:xfrm>
            <a:off x="2514600" y="1691640"/>
            <a:ext cx="6583680" cy="38404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13" name="fx5_1_1"/>
          <p:cNvSpPr/>
          <p:nvPr/>
        </p:nvSpPr>
        <p:spPr>
          <a:xfrm>
            <a:off x="2514600" y="169164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ЦЕЛЬ: точный ответ из документов вуза — с источниками и без утечки данных</a:t>
            </a:r>
            <a:endParaRPr lang="en-US" sz="1100" dirty="0"/>
          </a:p>
        </p:txBody>
      </p:sp>
      <p:sp>
        <p:nvSpPr>
          <p:cNvPr id="14" name="fx5_2_2"/>
          <p:cNvSpPr/>
          <p:nvPr/>
        </p:nvSpPr>
        <p:spPr>
          <a:xfrm>
            <a:off x="640080" y="2514600"/>
            <a:ext cx="2011680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5" name="fx5_2_3"/>
          <p:cNvSpPr/>
          <p:nvPr/>
        </p:nvSpPr>
        <p:spPr>
          <a:xfrm>
            <a:off x="822960" y="2624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</a:t>
            </a:r>
            <a:endParaRPr lang="en-US" sz="1050" dirty="0"/>
          </a:p>
        </p:txBody>
      </p:sp>
      <p:sp>
        <p:nvSpPr>
          <p:cNvPr id="16" name="fx5_2_4"/>
          <p:cNvSpPr/>
          <p:nvPr/>
        </p:nvSpPr>
        <p:spPr>
          <a:xfrm>
            <a:off x="822960" y="292608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 на естественном языке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Профиль: студент (группа), преподаватель, гость</a:t>
            </a:r>
            <a:endParaRPr lang="en-US" sz="1150" dirty="0"/>
          </a:p>
        </p:txBody>
      </p:sp>
      <p:sp>
        <p:nvSpPr>
          <p:cNvPr id="17" name="fx5_4_5"/>
          <p:cNvSpPr/>
          <p:nvPr/>
        </p:nvSpPr>
        <p:spPr>
          <a:xfrm>
            <a:off x="9539935" y="2514600"/>
            <a:ext cx="2011680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8" name="fx5_4_6"/>
          <p:cNvSpPr/>
          <p:nvPr/>
        </p:nvSpPr>
        <p:spPr>
          <a:xfrm>
            <a:off x="9722815" y="2624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</a:t>
            </a:r>
            <a:endParaRPr lang="en-US" sz="1050" dirty="0"/>
          </a:p>
        </p:txBody>
      </p:sp>
      <p:sp>
        <p:nvSpPr>
          <p:cNvPr id="19" name="fx5_4_7"/>
          <p:cNvSpPr/>
          <p:nvPr/>
        </p:nvSpPr>
        <p:spPr>
          <a:xfrm>
            <a:off x="9722815" y="292608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Краткий ответ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 на источники (страницы и документы ПсковГУ)</a:t>
            </a:r>
            <a:endParaRPr lang="en-US" sz="1150" dirty="0"/>
          </a:p>
        </p:txBody>
      </p:sp>
      <p:sp>
        <p:nvSpPr>
          <p:cNvPr id="20" name="fx5_2_8"/>
          <p:cNvSpPr/>
          <p:nvPr/>
        </p:nvSpPr>
        <p:spPr>
          <a:xfrm>
            <a:off x="265176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fx5_4_9"/>
          <p:cNvSpPr/>
          <p:nvPr/>
        </p:nvSpPr>
        <p:spPr>
          <a:xfrm>
            <a:off x="8991295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2" name="fx5_3_10"/>
          <p:cNvSpPr/>
          <p:nvPr/>
        </p:nvSpPr>
        <p:spPr>
          <a:xfrm>
            <a:off x="3246120" y="2331720"/>
            <a:ext cx="5696712" cy="2514600"/>
          </a:xfrm>
          <a:prstGeom prst="roundRect">
            <a:avLst>
              <a:gd name="adj" fmla="val 4364"/>
            </a:avLst>
          </a:prstGeom>
          <a:solidFill>
            <a:srgbClr val="F9FAFF"/>
          </a:solidFill>
          <a:ln w="19050">
            <a:solidFill>
              <a:srgbClr val="4F5BEA"/>
            </a:solidFill>
            <a:prstDash val="solid"/>
          </a:ln>
        </p:spPr>
      </p:sp>
      <p:sp>
        <p:nvSpPr>
          <p:cNvPr id="23" name="fx5_3_11"/>
          <p:cNvSpPr/>
          <p:nvPr/>
        </p:nvSpPr>
        <p:spPr>
          <a:xfrm>
            <a:off x="342900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</a:t>
            </a:r>
            <a:endParaRPr lang="en-US" sz="1000" dirty="0"/>
          </a:p>
        </p:txBody>
      </p:sp>
      <p:sp>
        <p:nvSpPr>
          <p:cNvPr id="24" name="fx5_3_12"/>
          <p:cNvSpPr/>
          <p:nvPr/>
        </p:nvSpPr>
        <p:spPr>
          <a:xfrm>
            <a:off x="3474720" y="278892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5" name="fx5_3_13"/>
          <p:cNvSpPr/>
          <p:nvPr/>
        </p:nvSpPr>
        <p:spPr>
          <a:xfrm>
            <a:off x="3584448" y="2788920"/>
            <a:ext cx="2157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Offline-пайплайн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сбор, извлечение, OCR, нарезка, индексация</a:t>
            </a:r>
            <a:endParaRPr lang="en-US" sz="1200" dirty="0"/>
          </a:p>
        </p:txBody>
      </p:sp>
      <p:sp>
        <p:nvSpPr>
          <p:cNvPr id="26" name="fx5_3_14"/>
          <p:cNvSpPr/>
          <p:nvPr/>
        </p:nvSpPr>
        <p:spPr>
          <a:xfrm>
            <a:off x="6336792" y="278892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7" name="fx5_3_15"/>
          <p:cNvSpPr/>
          <p:nvPr/>
        </p:nvSpPr>
        <p:spPr>
          <a:xfrm>
            <a:off x="6446520" y="2788920"/>
            <a:ext cx="2157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Online-сервис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поиск, фильтрация, LLM, чат, виджет</a:t>
            </a:r>
            <a:endParaRPr lang="en-US" sz="1200" dirty="0"/>
          </a:p>
        </p:txBody>
      </p:sp>
      <p:sp>
        <p:nvSpPr>
          <p:cNvPr id="28" name="fx5_3_16"/>
          <p:cNvSpPr/>
          <p:nvPr/>
        </p:nvSpPr>
        <p:spPr>
          <a:xfrm>
            <a:off x="4709160" y="3904488"/>
            <a:ext cx="2770632" cy="749808"/>
          </a:xfrm>
          <a:prstGeom prst="roundRect">
            <a:avLst>
              <a:gd name="adj" fmla="val 9756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29" name="fx5_3_17"/>
          <p:cNvSpPr/>
          <p:nvPr/>
        </p:nvSpPr>
        <p:spPr>
          <a:xfrm>
            <a:off x="4818888" y="3904488"/>
            <a:ext cx="2551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знаний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(≈50 000 векторов) + SQLite</a:t>
            </a:r>
            <a:endParaRPr lang="en-US" sz="1200" dirty="0"/>
          </a:p>
        </p:txBody>
      </p:sp>
      <p:sp>
        <p:nvSpPr>
          <p:cNvPr id="30" name="fx5_3_18"/>
          <p:cNvSpPr/>
          <p:nvPr/>
        </p:nvSpPr>
        <p:spPr>
          <a:xfrm>
            <a:off x="4663440" y="3703320"/>
            <a:ext cx="594360" cy="201168"/>
          </a:xfrm>
          <a:prstGeom prst="line">
            <a:avLst/>
          </a:prstGeom>
          <a:noFill/>
          <a:ln w="15875">
            <a:solidFill>
              <a:srgbClr val="4F5BEA"/>
            </a:solidFill>
            <a:prstDash val="solid"/>
          </a:ln>
        </p:spPr>
      </p:sp>
      <p:sp>
        <p:nvSpPr>
          <p:cNvPr id="31" name="fx5_3_19"/>
          <p:cNvSpPr/>
          <p:nvPr/>
        </p:nvSpPr>
        <p:spPr>
          <a:xfrm flipV="1">
            <a:off x="6931152" y="3703320"/>
            <a:ext cx="594360" cy="201168"/>
          </a:xfrm>
          <a:prstGeom prst="line">
            <a:avLst/>
          </a:prstGeom>
          <a:noFill/>
          <a:ln w="15875">
            <a:solidFill>
              <a:srgbClr val="4F5BEA"/>
            </a:solidFill>
            <a:prstDash val="solid"/>
          </a:ln>
        </p:spPr>
      </p:sp>
      <p:sp>
        <p:nvSpPr>
          <p:cNvPr id="32" name="fx5_5_20"/>
          <p:cNvSpPr/>
          <p:nvPr/>
        </p:nvSpPr>
        <p:spPr>
          <a:xfrm>
            <a:off x="640080" y="5029200"/>
            <a:ext cx="351525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3" name="fx5_5_21"/>
          <p:cNvSpPr/>
          <p:nvPr/>
        </p:nvSpPr>
        <p:spPr>
          <a:xfrm>
            <a:off x="822960" y="512064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СРЕДА</a:t>
            </a:r>
            <a:endParaRPr lang="en-US" sz="1000" dirty="0"/>
          </a:p>
        </p:txBody>
      </p:sp>
      <p:sp>
        <p:nvSpPr>
          <p:cNvPr id="34" name="fx5_5_22"/>
          <p:cNvSpPr/>
          <p:nvPr/>
        </p:nvSpPr>
        <p:spPr>
          <a:xfrm>
            <a:off x="822960" y="5413248"/>
            <a:ext cx="3195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Заинтересованные стороны · сайты ПсковГУ (источник данных) · сервис расписания rasp.pskgu.ru</a:t>
            </a:r>
            <a:endParaRPr lang="en-US" sz="1050" dirty="0"/>
          </a:p>
        </p:txBody>
      </p:sp>
      <p:sp>
        <p:nvSpPr>
          <p:cNvPr id="35" name="fx5_5_23"/>
          <p:cNvSpPr/>
          <p:nvPr/>
        </p:nvSpPr>
        <p:spPr>
          <a:xfrm>
            <a:off x="4338218" y="5029200"/>
            <a:ext cx="351525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6" name="fx5_5_24"/>
          <p:cNvSpPr/>
          <p:nvPr/>
        </p:nvSpPr>
        <p:spPr>
          <a:xfrm>
            <a:off x="4521098" y="512064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</a:t>
            </a:r>
            <a:endParaRPr lang="en-US" sz="1000" dirty="0"/>
          </a:p>
        </p:txBody>
      </p:sp>
      <p:sp>
        <p:nvSpPr>
          <p:cNvPr id="37" name="fx5_5_25"/>
          <p:cNvSpPr/>
          <p:nvPr/>
        </p:nvSpPr>
        <p:spPr>
          <a:xfrm>
            <a:off x="4521098" y="5413248"/>
            <a:ext cx="3195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Локальный контур, 152-ФЗ · видеокарта RTX 3060 (12 ГБ) · русский язык, сканы, таблицы</a:t>
            </a:r>
            <a:endParaRPr lang="en-US" sz="1050" dirty="0"/>
          </a:p>
        </p:txBody>
      </p:sp>
      <p:sp>
        <p:nvSpPr>
          <p:cNvPr id="38" name="fx5_5_26"/>
          <p:cNvSpPr/>
          <p:nvPr/>
        </p:nvSpPr>
        <p:spPr>
          <a:xfrm>
            <a:off x="8036357" y="5029200"/>
            <a:ext cx="351525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9" name="fx5_5_27"/>
          <p:cNvSpPr/>
          <p:nvPr/>
        </p:nvSpPr>
        <p:spPr>
          <a:xfrm>
            <a:off x="8219237" y="512064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КАЧЕСТВА</a:t>
            </a:r>
            <a:endParaRPr lang="en-US" sz="1000" dirty="0"/>
          </a:p>
        </p:txBody>
      </p:sp>
      <p:sp>
        <p:nvSpPr>
          <p:cNvPr id="40" name="fx5_5_28"/>
          <p:cNvSpPr/>
          <p:nvPr/>
        </p:nvSpPr>
        <p:spPr>
          <a:xfrm>
            <a:off x="8219237" y="5413248"/>
            <a:ext cx="3195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Верность ответа и источники · нет галлюцинаций · поиск ≤ 3–5 с, ответ ≤ 60 с</a:t>
            </a:r>
            <a:endParaRPr lang="en-US" sz="10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!!m-people">
                <a:extLst>
                  <a:ext uri="{FF2B5EF4-FFF2-40B4-BE49-F238E27FC236}">
                    <a16:creationId xmlns:a16="http://schemas.microsoft.com/office/drawing/2014/main" id="{B24E3137-2D7B-D2CC-7543-4F298A16ADC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977640" y="1783080"/>
              <a:ext cx="3429000" cy="3429000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3429000" cy="3429000"/>
                    </a:xfrm>
                    <a:prstGeom prst="rect">
                      <a:avLst/>
                    </a:prstGeom>
                  </am3d:spPr>
                  <am3d:camera>
                    <am3d:pos x="0" y="0" z="722584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00" d="1000000"/>
                    <am3d:preTrans dx="0" dy="-288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552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29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!!m-people">
                <a:extLst>
                  <a:ext uri="{FF2B5EF4-FFF2-40B4-BE49-F238E27FC236}">
                    <a16:creationId xmlns:a16="http://schemas.microsoft.com/office/drawing/2014/main" id="{B24E3137-2D7B-D2CC-7543-4F298A16AD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977640" y="1783080"/>
                <a:ext cx="3429000" cy="342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!!m-gpu">
                <a:extLst>
                  <a:ext uri="{FF2B5EF4-FFF2-40B4-BE49-F238E27FC236}">
                    <a16:creationId xmlns:a16="http://schemas.microsoft.com/office/drawing/2014/main" id="{341D49F5-D5CF-867D-C9BE-BBCC00478C5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4434840"/>
              <a:ext cx="2240280" cy="224028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2240280" cy="2240280"/>
                    </a:xfrm>
                    <a:prstGeom prst="rect">
                      <a:avLst/>
                    </a:prstGeom>
                  </am3d:spPr>
                  <am3d:camera>
                    <am3d:pos x="0" y="0" z="5298221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63380" d="1000000"/>
                    <am3d:preTrans dx="557746" dy="507042" dz="405634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0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2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240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!!m-gpu">
                <a:extLst>
                  <a:ext uri="{FF2B5EF4-FFF2-40B4-BE49-F238E27FC236}">
                    <a16:creationId xmlns:a16="http://schemas.microsoft.com/office/drawing/2014/main" id="{341D49F5-D5CF-867D-C9BE-BBCC00478C5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4434840"/>
                <a:ext cx="2240280" cy="2240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1" dur="6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17" grpId="0" animBg="1"/>
      <p:bldP spid="18" grpId="0" animBg="1"/>
      <p:bldP spid="19" grpId="0" animBg="1"/>
      <p:bldP spid="2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И ДАННЫЕ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ВКР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Архитектура: два контура и одна база знаний</a:t>
            </a:r>
            <a:endParaRPr lang="en-US" sz="3200" dirty="0"/>
          </a:p>
        </p:txBody>
      </p:sp>
      <p:sp>
        <p:nvSpPr>
          <p:cNvPr id="9" name="fx6_1_0"/>
          <p:cNvSpPr/>
          <p:nvPr/>
        </p:nvSpPr>
        <p:spPr>
          <a:xfrm>
            <a:off x="594360" y="1645920"/>
            <a:ext cx="5806440" cy="336515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0" name="fx6_1_1" descr="/home/user/omgGame/presentations/vkr-rag/assets/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5715000" cy="3273718"/>
          </a:xfrm>
          <a:prstGeom prst="rect">
            <a:avLst/>
          </a:prstGeom>
        </p:spPr>
      </p:pic>
      <p:sp>
        <p:nvSpPr>
          <p:cNvPr id="11" name="fx6_1_2"/>
          <p:cNvSpPr/>
          <p:nvPr/>
        </p:nvSpPr>
        <p:spPr>
          <a:xfrm>
            <a:off x="640080" y="503851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архитектура системы (рисунок из ВКР)</a:t>
            </a:r>
            <a:endParaRPr lang="en-US" sz="950" dirty="0"/>
          </a:p>
        </p:txBody>
      </p:sp>
      <p:sp>
        <p:nvSpPr>
          <p:cNvPr id="12" name="fx6_6_3"/>
          <p:cNvSpPr/>
          <p:nvPr/>
        </p:nvSpPr>
        <p:spPr>
          <a:xfrm>
            <a:off x="640080" y="5468112"/>
            <a:ext cx="802843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3" name="fx6_6_4"/>
          <p:cNvSpPr/>
          <p:nvPr/>
        </p:nvSpPr>
        <p:spPr>
          <a:xfrm>
            <a:off x="640080" y="5468112"/>
            <a:ext cx="8028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000" dirty="0"/>
          </a:p>
        </p:txBody>
      </p:sp>
      <p:sp>
        <p:nvSpPr>
          <p:cNvPr id="14" name="fx6_6_5"/>
          <p:cNvSpPr/>
          <p:nvPr/>
        </p:nvSpPr>
        <p:spPr>
          <a:xfrm>
            <a:off x="1534363" y="5468112"/>
            <a:ext cx="87873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5" name="fx6_6_6"/>
          <p:cNvSpPr/>
          <p:nvPr/>
        </p:nvSpPr>
        <p:spPr>
          <a:xfrm>
            <a:off x="1534363" y="5468112"/>
            <a:ext cx="878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000" dirty="0"/>
          </a:p>
        </p:txBody>
      </p:sp>
      <p:sp>
        <p:nvSpPr>
          <p:cNvPr id="16" name="fx6_6_7"/>
          <p:cNvSpPr/>
          <p:nvPr/>
        </p:nvSpPr>
        <p:spPr>
          <a:xfrm>
            <a:off x="2504542" y="5468112"/>
            <a:ext cx="72694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7" name="fx6_6_8"/>
          <p:cNvSpPr/>
          <p:nvPr/>
        </p:nvSpPr>
        <p:spPr>
          <a:xfrm>
            <a:off x="2504542" y="5468112"/>
            <a:ext cx="7269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</a:t>
            </a:r>
            <a:endParaRPr lang="en-US" sz="1000" dirty="0"/>
          </a:p>
        </p:txBody>
      </p:sp>
      <p:sp>
        <p:nvSpPr>
          <p:cNvPr id="18" name="fx6_6_9"/>
          <p:cNvSpPr/>
          <p:nvPr/>
        </p:nvSpPr>
        <p:spPr>
          <a:xfrm>
            <a:off x="3322930" y="5468112"/>
            <a:ext cx="802843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9" name="fx6_6_10"/>
          <p:cNvSpPr/>
          <p:nvPr/>
        </p:nvSpPr>
        <p:spPr>
          <a:xfrm>
            <a:off x="3322930" y="5468112"/>
            <a:ext cx="8028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000" dirty="0"/>
          </a:p>
        </p:txBody>
      </p:sp>
      <p:sp>
        <p:nvSpPr>
          <p:cNvPr id="20" name="fx6_6_11"/>
          <p:cNvSpPr/>
          <p:nvPr/>
        </p:nvSpPr>
        <p:spPr>
          <a:xfrm>
            <a:off x="4217213" y="5468112"/>
            <a:ext cx="72694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1" name="fx6_6_12"/>
          <p:cNvSpPr/>
          <p:nvPr/>
        </p:nvSpPr>
        <p:spPr>
          <a:xfrm>
            <a:off x="4217213" y="5468112"/>
            <a:ext cx="7269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</a:t>
            </a:r>
            <a:endParaRPr lang="en-US" sz="1000" dirty="0"/>
          </a:p>
        </p:txBody>
      </p:sp>
      <p:sp>
        <p:nvSpPr>
          <p:cNvPr id="22" name="fx6_6_13"/>
          <p:cNvSpPr/>
          <p:nvPr/>
        </p:nvSpPr>
        <p:spPr>
          <a:xfrm>
            <a:off x="640080" y="5888736"/>
            <a:ext cx="11823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3" name="fx6_6_14"/>
          <p:cNvSpPr/>
          <p:nvPr/>
        </p:nvSpPr>
        <p:spPr>
          <a:xfrm>
            <a:off x="640080" y="5888736"/>
            <a:ext cx="11823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BAAI/bge-m3</a:t>
            </a:r>
            <a:endParaRPr lang="en-US" sz="1000" dirty="0"/>
          </a:p>
        </p:txBody>
      </p:sp>
      <p:sp>
        <p:nvSpPr>
          <p:cNvPr id="24" name="fx6_6_15"/>
          <p:cNvSpPr/>
          <p:nvPr/>
        </p:nvSpPr>
        <p:spPr>
          <a:xfrm>
            <a:off x="1913839" y="5888736"/>
            <a:ext cx="133411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5" name="fx6_6_16"/>
          <p:cNvSpPr/>
          <p:nvPr/>
        </p:nvSpPr>
        <p:spPr>
          <a:xfrm>
            <a:off x="1913839" y="5888736"/>
            <a:ext cx="13341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Tesseract OCR</a:t>
            </a:r>
            <a:endParaRPr lang="en-US" sz="1000" dirty="0"/>
          </a:p>
        </p:txBody>
      </p:sp>
      <p:sp>
        <p:nvSpPr>
          <p:cNvPr id="26" name="fx6_6_17"/>
          <p:cNvSpPr/>
          <p:nvPr/>
        </p:nvSpPr>
        <p:spPr>
          <a:xfrm>
            <a:off x="3339389" y="5888736"/>
            <a:ext cx="209306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7" name="fx6_6_18"/>
          <p:cNvSpPr/>
          <p:nvPr/>
        </p:nvSpPr>
        <p:spPr>
          <a:xfrm>
            <a:off x="3339389" y="5888736"/>
            <a:ext cx="2093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· Qwen / GPT-OSS</a:t>
            </a:r>
            <a:endParaRPr lang="en-US" sz="1000" dirty="0"/>
          </a:p>
        </p:txBody>
      </p:sp>
      <p:sp>
        <p:nvSpPr>
          <p:cNvPr id="28" name="fx6_2_19"/>
          <p:cNvSpPr/>
          <p:nvPr/>
        </p:nvSpPr>
        <p:spPr>
          <a:xfrm>
            <a:off x="6720840" y="1673352"/>
            <a:ext cx="4830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OFFLINE-ПАЙПЛАЙН В ЦИФРАХ</a:t>
            </a:r>
            <a:endParaRPr lang="en-US" sz="1050" dirty="0"/>
          </a:p>
        </p:txBody>
      </p:sp>
      <p:sp>
        <p:nvSpPr>
          <p:cNvPr id="29" name="fx6_2_20"/>
          <p:cNvSpPr/>
          <p:nvPr/>
        </p:nvSpPr>
        <p:spPr>
          <a:xfrm>
            <a:off x="6720840" y="2011680"/>
            <a:ext cx="4830775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0" name="fx6_2_21"/>
          <p:cNvSpPr/>
          <p:nvPr/>
        </p:nvSpPr>
        <p:spPr>
          <a:xfrm>
            <a:off x="6903720" y="2011680"/>
            <a:ext cx="4556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12 000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стартовых URL (sitemap + поиск)</a:t>
            </a:r>
            <a:endParaRPr lang="en-US" sz="1450" dirty="0"/>
          </a:p>
        </p:txBody>
      </p:sp>
      <p:sp>
        <p:nvSpPr>
          <p:cNvPr id="31" name="fx6_2_22"/>
          <p:cNvSpPr/>
          <p:nvPr/>
        </p:nvSpPr>
        <p:spPr>
          <a:xfrm>
            <a:off x="6720840" y="2560320"/>
            <a:ext cx="4556455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2" name="fx6_2_23"/>
          <p:cNvSpPr/>
          <p:nvPr/>
        </p:nvSpPr>
        <p:spPr>
          <a:xfrm>
            <a:off x="6903720" y="2560320"/>
            <a:ext cx="42821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40 000+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веб-страниц, ≈ 26 ГБ</a:t>
            </a:r>
            <a:endParaRPr lang="en-US" sz="1450" dirty="0"/>
          </a:p>
        </p:txBody>
      </p:sp>
      <p:sp>
        <p:nvSpPr>
          <p:cNvPr id="33" name="fx6_3_24"/>
          <p:cNvSpPr/>
          <p:nvPr/>
        </p:nvSpPr>
        <p:spPr>
          <a:xfrm>
            <a:off x="6720840" y="3108960"/>
            <a:ext cx="4282135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4" name="fx6_3_25"/>
          <p:cNvSpPr/>
          <p:nvPr/>
        </p:nvSpPr>
        <p:spPr>
          <a:xfrm>
            <a:off x="6903720" y="3108960"/>
            <a:ext cx="4007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543 963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файла, 468 ГБ</a:t>
            </a:r>
            <a:endParaRPr lang="en-US" sz="1450" dirty="0"/>
          </a:p>
        </p:txBody>
      </p:sp>
      <p:sp>
        <p:nvSpPr>
          <p:cNvPr id="35" name="fx6_3_26"/>
          <p:cNvSpPr/>
          <p:nvPr/>
        </p:nvSpPr>
        <p:spPr>
          <a:xfrm>
            <a:off x="6720840" y="3657600"/>
            <a:ext cx="4007815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6" name="fx6_3_27"/>
          <p:cNvSpPr/>
          <p:nvPr/>
        </p:nvSpPr>
        <p:spPr>
          <a:xfrm>
            <a:off x="6903720" y="3657600"/>
            <a:ext cx="37334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50 000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чанков (49 731)</a:t>
            </a:r>
            <a:endParaRPr lang="en-US" sz="1450" dirty="0"/>
          </a:p>
        </p:txBody>
      </p:sp>
      <p:sp>
        <p:nvSpPr>
          <p:cNvPr id="37" name="fx6_4_28"/>
          <p:cNvSpPr/>
          <p:nvPr/>
        </p:nvSpPr>
        <p:spPr>
          <a:xfrm>
            <a:off x="6720840" y="4206240"/>
            <a:ext cx="3733495" cy="475488"/>
          </a:xfrm>
          <a:prstGeom prst="roundRect">
            <a:avLst>
              <a:gd name="adj" fmla="val 15385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38" name="fx6_4_29"/>
          <p:cNvSpPr/>
          <p:nvPr/>
        </p:nvSpPr>
        <p:spPr>
          <a:xfrm>
            <a:off x="6903720" y="4206240"/>
            <a:ext cx="34591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векторы bge-m3, ≈ 450 МБ</a:t>
            </a:r>
            <a:endParaRPr lang="en-US" sz="1450" dirty="0"/>
          </a:p>
        </p:txBody>
      </p:sp>
      <p:sp>
        <p:nvSpPr>
          <p:cNvPr id="39" name="fx6_5_30"/>
          <p:cNvSpPr/>
          <p:nvPr/>
        </p:nvSpPr>
        <p:spPr>
          <a:xfrm>
            <a:off x="6720840" y="4956048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Изюминки: </a:t>
            </a:r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каскад из 4 библиотек для PDF + OCR сканов · парсер таблиц с объединёнными ячейками · у каждого фрагмента сохранён путь к источнику</a:t>
            </a:r>
            <a:endParaRPr lang="en-US" sz="1000" dirty="0"/>
          </a:p>
        </p:txBody>
      </p:sp>
      <p:pic>
        <p:nvPicPr>
          <p:cNvPr id="40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0586" y="3957066"/>
            <a:ext cx="2464308" cy="2464308"/>
          </a:xfrm>
          <a:prstGeom prst="rect">
            <a:avLst/>
          </a:prstGeom>
        </p:spPr>
      </p:pic>
      <p:pic>
        <p:nvPicPr>
          <p:cNvPr id="41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8642" y="5486057"/>
            <a:ext cx="1568196" cy="392049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!!m-gpu">
                <a:extLst>
                  <a:ext uri="{FF2B5EF4-FFF2-40B4-BE49-F238E27FC236}">
                    <a16:creationId xmlns:a16="http://schemas.microsoft.com/office/drawing/2014/main" id="{EA6CBC36-586B-0551-F8E9-C31D332AA81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372600" y="4069080"/>
              <a:ext cx="2240280" cy="2240280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2240280" cy="2240280"/>
                    </a:xfrm>
                    <a:prstGeom prst="rect">
                      <a:avLst/>
                    </a:prstGeom>
                  </am3d:spPr>
                  <am3d:camera>
                    <am3d:pos x="0" y="0" z="5298221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63380" d="1000000"/>
                    <am3d:preTrans dx="557746" dy="507042" dz="405634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80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2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240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!!m-gpu">
                <a:extLst>
                  <a:ext uri="{FF2B5EF4-FFF2-40B4-BE49-F238E27FC236}">
                    <a16:creationId xmlns:a16="http://schemas.microsoft.com/office/drawing/2014/main" id="{EA6CBC36-586B-0551-F8E9-C31D332AA81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72600" y="4069080"/>
                <a:ext cx="2240280" cy="2240280"/>
              </a:xfrm>
              <a:prstGeom prst="rect">
                <a:avLst/>
              </a:prstGeom>
            </p:spPr>
          </p:pic>
        </mc:Fallback>
      </mc:AlternateContent>
      <p:sp>
        <p:nvSpPr>
          <p:cNvPr id="43" name="fx6_9_31"/>
          <p:cNvSpPr/>
          <p:nvPr/>
        </p:nvSpPr>
        <p:spPr>
          <a:xfrm>
            <a:off x="9006840" y="59893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RTX 3060, 12 ГБ — всё на одной видеокарте</a:t>
            </a:r>
            <a:endParaRPr lang="en-US" sz="9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!!m-gears">
                <a:extLst>
                  <a:ext uri="{FF2B5EF4-FFF2-40B4-BE49-F238E27FC236}">
                    <a16:creationId xmlns:a16="http://schemas.microsoft.com/office/drawing/2014/main" id="{A00542F5-72B1-0236-BE0B-E1B6204FF6A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2606040" y="685800"/>
              <a:ext cx="2057400" cy="2057400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2057400" cy="2057400"/>
                    </a:xfrm>
                    <a:prstGeom prst="rect">
                      <a:avLst/>
                    </a:prstGeom>
                  </am3d:spPr>
                  <am3d:camera>
                    <am3d:pos x="0" y="0" z="630583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8832" d="1000000"/>
                    <am3d:preTrans dx="2026663" dy="-270647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63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0574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!!m-gears">
                <a:extLst>
                  <a:ext uri="{FF2B5EF4-FFF2-40B4-BE49-F238E27FC236}">
                    <a16:creationId xmlns:a16="http://schemas.microsoft.com/office/drawing/2014/main" id="{A00542F5-72B1-0236-BE0B-E1B6204FF6A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2606040" y="685800"/>
                <a:ext cx="2057400" cy="2057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6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4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РАБОТАЕТ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ВКР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система отвечает на вопрос</a:t>
            </a:r>
            <a:endParaRPr lang="en-US" sz="3200" dirty="0"/>
          </a:p>
        </p:txBody>
      </p:sp>
      <p:sp>
        <p:nvSpPr>
          <p:cNvPr id="9" name="fx7_1_0"/>
          <p:cNvSpPr/>
          <p:nvPr/>
        </p:nvSpPr>
        <p:spPr>
          <a:xfrm>
            <a:off x="640080" y="1691640"/>
            <a:ext cx="1605229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0" name="fx7_1_1"/>
          <p:cNvSpPr/>
          <p:nvPr/>
        </p:nvSpPr>
        <p:spPr>
          <a:xfrm>
            <a:off x="640080" y="1691640"/>
            <a:ext cx="160522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профиль</a:t>
            </a:r>
            <a:endParaRPr lang="en-US" sz="1300" dirty="0"/>
          </a:p>
        </p:txBody>
      </p:sp>
      <p:sp>
        <p:nvSpPr>
          <p:cNvPr id="11" name="fx7_1_2"/>
          <p:cNvSpPr/>
          <p:nvPr/>
        </p:nvSpPr>
        <p:spPr>
          <a:xfrm>
            <a:off x="2245309" y="173736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fx7_1_3"/>
          <p:cNvSpPr/>
          <p:nvPr/>
        </p:nvSpPr>
        <p:spPr>
          <a:xfrm>
            <a:off x="2501341" y="1691640"/>
            <a:ext cx="1605229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fx7_1_4"/>
          <p:cNvSpPr/>
          <p:nvPr/>
        </p:nvSpPr>
        <p:spPr>
          <a:xfrm>
            <a:off x="2501341" y="1691640"/>
            <a:ext cx="160522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Эмбеддинг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bge-m3</a:t>
            </a:r>
            <a:endParaRPr lang="en-US" sz="1300" dirty="0"/>
          </a:p>
        </p:txBody>
      </p:sp>
      <p:sp>
        <p:nvSpPr>
          <p:cNvPr id="14" name="fx7_1_5"/>
          <p:cNvSpPr/>
          <p:nvPr/>
        </p:nvSpPr>
        <p:spPr>
          <a:xfrm>
            <a:off x="4106570" y="173736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fx7_2_6"/>
          <p:cNvSpPr/>
          <p:nvPr/>
        </p:nvSpPr>
        <p:spPr>
          <a:xfrm>
            <a:off x="4362602" y="1691640"/>
            <a:ext cx="1605229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fx7_2_7"/>
          <p:cNvSpPr/>
          <p:nvPr/>
        </p:nvSpPr>
        <p:spPr>
          <a:xfrm>
            <a:off x="4362602" y="1691640"/>
            <a:ext cx="160522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в FAISS</a:t>
            </a:r>
            <a:endParaRPr lang="en-US" sz="1300" dirty="0"/>
          </a:p>
        </p:txBody>
      </p:sp>
      <p:sp>
        <p:nvSpPr>
          <p:cNvPr id="17" name="fx7_2_8"/>
          <p:cNvSpPr/>
          <p:nvPr/>
        </p:nvSpPr>
        <p:spPr>
          <a:xfrm>
            <a:off x="5967832" y="173736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fx7_2_9"/>
          <p:cNvSpPr/>
          <p:nvPr/>
        </p:nvSpPr>
        <p:spPr>
          <a:xfrm>
            <a:off x="6223864" y="1691640"/>
            <a:ext cx="1605229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7_2_10"/>
          <p:cNvSpPr/>
          <p:nvPr/>
        </p:nvSpPr>
        <p:spPr>
          <a:xfrm>
            <a:off x="6223864" y="1691640"/>
            <a:ext cx="160522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правки админа</a:t>
            </a:r>
            <a:endParaRPr lang="en-US" sz="1300" dirty="0"/>
          </a:p>
        </p:txBody>
      </p:sp>
      <p:sp>
        <p:nvSpPr>
          <p:cNvPr id="20" name="fx7_2_11"/>
          <p:cNvSpPr/>
          <p:nvPr/>
        </p:nvSpPr>
        <p:spPr>
          <a:xfrm>
            <a:off x="7829093" y="173736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fx7_3_12"/>
          <p:cNvSpPr/>
          <p:nvPr/>
        </p:nvSpPr>
        <p:spPr>
          <a:xfrm>
            <a:off x="8085125" y="1691640"/>
            <a:ext cx="1605229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2" name="fx7_3_13"/>
          <p:cNvSpPr/>
          <p:nvPr/>
        </p:nvSpPr>
        <p:spPr>
          <a:xfrm>
            <a:off x="8085125" y="1691640"/>
            <a:ext cx="160522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промпт + правила</a:t>
            </a:r>
            <a:endParaRPr lang="en-US" sz="1300" dirty="0"/>
          </a:p>
        </p:txBody>
      </p:sp>
      <p:sp>
        <p:nvSpPr>
          <p:cNvPr id="23" name="fx7_3_14"/>
          <p:cNvSpPr/>
          <p:nvPr/>
        </p:nvSpPr>
        <p:spPr>
          <a:xfrm>
            <a:off x="9690354" y="173736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fx7_3_15"/>
          <p:cNvSpPr/>
          <p:nvPr/>
        </p:nvSpPr>
        <p:spPr>
          <a:xfrm>
            <a:off x="9946386" y="1691640"/>
            <a:ext cx="1605229" cy="713232"/>
          </a:xfrm>
          <a:prstGeom prst="roundRect">
            <a:avLst>
              <a:gd name="adj" fmla="val 12821"/>
            </a:avLst>
          </a:prstGeom>
          <a:solidFill>
            <a:srgbClr val="E7F6EF"/>
          </a:solidFill>
          <a:ln w="9525">
            <a:solidFill>
              <a:srgbClr val="05966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7_3_16"/>
          <p:cNvSpPr/>
          <p:nvPr/>
        </p:nvSpPr>
        <p:spPr>
          <a:xfrm>
            <a:off x="9946386" y="1691640"/>
            <a:ext cx="160522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источники</a:t>
            </a:r>
            <a:endParaRPr lang="en-US" sz="1300" dirty="0"/>
          </a:p>
        </p:txBody>
      </p:sp>
      <p:sp>
        <p:nvSpPr>
          <p:cNvPr id="26" name="fx7_4_17"/>
          <p:cNvSpPr/>
          <p:nvPr/>
        </p:nvSpPr>
        <p:spPr>
          <a:xfrm>
            <a:off x="594360" y="2697480"/>
            <a:ext cx="6446520" cy="3310935"/>
          </a:xfrm>
          <a:prstGeom prst="roundRect">
            <a:avLst>
              <a:gd name="adj" fmla="val 2209"/>
            </a:avLst>
          </a:prstGeom>
          <a:solidFill>
            <a:srgbClr val="CBD1DF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7" name="fx7_4_18" descr="/home/user/omgGame/presentations/vkr-rag/assets/ans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43200"/>
            <a:ext cx="6355080" cy="3219495"/>
          </a:xfrm>
          <a:prstGeom prst="rect">
            <a:avLst/>
          </a:prstGeom>
        </p:spPr>
      </p:pic>
      <p:sp>
        <p:nvSpPr>
          <p:cNvPr id="28" name="fx7_4_19"/>
          <p:cNvSpPr/>
          <p:nvPr/>
        </p:nvSpPr>
        <p:spPr>
          <a:xfrm>
            <a:off x="640080" y="6054135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ответ: проходные баллы 09.03.03 за 2021–2025 и 3 источника со ссылками</a:t>
            </a:r>
            <a:endParaRPr lang="en-US" sz="950" dirty="0"/>
          </a:p>
        </p:txBody>
      </p:sp>
      <p:sp>
        <p:nvSpPr>
          <p:cNvPr id="29" name="fx7_5_20"/>
          <p:cNvSpPr/>
          <p:nvPr/>
        </p:nvSpPr>
        <p:spPr>
          <a:xfrm>
            <a:off x="7269480" y="2697480"/>
            <a:ext cx="4327855" cy="2249392"/>
          </a:xfrm>
          <a:prstGeom prst="roundRect">
            <a:avLst>
              <a:gd name="adj" fmla="val 3252"/>
            </a:avLst>
          </a:prstGeom>
          <a:solidFill>
            <a:srgbClr val="CBD1DF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0" name="fx7_5_21" descr="/home/user/omgGame/presentations/vkr-rag/assets/adm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743200"/>
            <a:ext cx="4236415" cy="2157952"/>
          </a:xfrm>
          <a:prstGeom prst="rect">
            <a:avLst/>
          </a:prstGeom>
        </p:spPr>
      </p:pic>
      <p:sp>
        <p:nvSpPr>
          <p:cNvPr id="31" name="fx7_5_22"/>
          <p:cNvSpPr/>
          <p:nvPr/>
        </p:nvSpPr>
        <p:spPr>
          <a:xfrm>
            <a:off x="7315200" y="4992592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Админ-панель: 49 731 чанк, аудит запросов</a:t>
            </a:r>
            <a:endParaRPr lang="en-US" sz="950" dirty="0"/>
          </a:p>
        </p:txBody>
      </p:sp>
      <p:sp>
        <p:nvSpPr>
          <p:cNvPr id="32" name="fx7_5_23"/>
          <p:cNvSpPr/>
          <p:nvPr/>
        </p:nvSpPr>
        <p:spPr>
          <a:xfrm>
            <a:off x="7315200" y="5358352"/>
            <a:ext cx="4236415" cy="914400"/>
          </a:xfrm>
          <a:prstGeom prst="roundRect">
            <a:avLst>
              <a:gd name="adj" fmla="val 10000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33" name="fx7_5_24"/>
          <p:cNvSpPr/>
          <p:nvPr/>
        </p:nvSpPr>
        <p:spPr>
          <a:xfrm>
            <a:off x="7498080" y="5404072"/>
            <a:ext cx="3916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Расписание </a:t>
            </a:r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отдельный маршрут: живой запрос к rasp.pskgu.ru, ответ под группу или преподавателя из профиля</a:t>
            </a:r>
            <a:endParaRPr lang="en-US" sz="10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4" name="!!m-gpu">
                <a:extLst>
                  <a:ext uri="{FF2B5EF4-FFF2-40B4-BE49-F238E27FC236}">
                    <a16:creationId xmlns:a16="http://schemas.microsoft.com/office/drawing/2014/main" id="{9C997F81-5755-A0C6-8502-15570C0692E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2788920" y="4434840"/>
              <a:ext cx="2240280" cy="2240280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2240280" cy="2240280"/>
                    </a:xfrm>
                    <a:prstGeom prst="rect">
                      <a:avLst/>
                    </a:prstGeom>
                  </am3d:spPr>
                  <am3d:camera>
                    <am3d:pos x="0" y="0" z="5298221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63380" d="1000000"/>
                    <am3d:preTrans dx="557746" dy="507042" dz="405634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660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2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240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4" name="!!m-gpu">
                <a:extLst>
                  <a:ext uri="{FF2B5EF4-FFF2-40B4-BE49-F238E27FC236}">
                    <a16:creationId xmlns:a16="http://schemas.microsoft.com/office/drawing/2014/main" id="{9C997F81-5755-A0C6-8502-15570C0692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788920" y="4434840"/>
                <a:ext cx="2240280" cy="224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gauge">
                <a:extLst>
                  <a:ext uri="{FF2B5EF4-FFF2-40B4-BE49-F238E27FC236}">
                    <a16:creationId xmlns:a16="http://schemas.microsoft.com/office/drawing/2014/main" id="{D4719BA9-922E-E948-31EC-B46B5A343E9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828800"/>
              <a:ext cx="2331720" cy="2331720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2331720" cy="2331720"/>
                    </a:xfrm>
                    <a:prstGeom prst="rect">
                      <a:avLst/>
                    </a:prstGeom>
                  </am3d:spPr>
                  <am3d:camera>
                    <am3d:pos x="0" y="0" z="655995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19481" d="1000000"/>
                    <am3d:preTrans dx="0" dy="-2197403" dz="2244155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48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3317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gauge">
                <a:extLst>
                  <a:ext uri="{FF2B5EF4-FFF2-40B4-BE49-F238E27FC236}">
                    <a16:creationId xmlns:a16="http://schemas.microsoft.com/office/drawing/2014/main" id="{D4719BA9-922E-E948-31EC-B46B5A343E9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740335" y="1828800"/>
                <a:ext cx="2331720" cy="2331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ЭКСПЕРИМЕНТАЛЬНАЯ ПРОВЕРКА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ВКР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пилотного тестирования</a:t>
            </a:r>
            <a:endParaRPr lang="en-US" sz="3200" dirty="0"/>
          </a:p>
        </p:txBody>
      </p:sp>
      <p:pic>
        <p:nvPicPr>
          <p:cNvPr id="9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1229868"/>
            <a:ext cx="2798064" cy="2798064"/>
          </a:xfrm>
          <a:prstGeom prst="rect">
            <a:avLst/>
          </a:prstGeom>
        </p:spPr>
      </p:pic>
      <p:pic>
        <p:nvPicPr>
          <p:cNvPr id="10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318" y="3357563"/>
            <a:ext cx="1632204" cy="40805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!!m-gauge">
                <a:extLst>
                  <a:ext uri="{FF2B5EF4-FFF2-40B4-BE49-F238E27FC236}">
                    <a16:creationId xmlns:a16="http://schemas.microsoft.com/office/drawing/2014/main" id="{2B3FE948-2F66-1D52-1816-756B9F8D603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51560" y="1463040"/>
              <a:ext cx="2331720" cy="233172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2331720" cy="2331720"/>
                    </a:xfrm>
                    <a:prstGeom prst="rect">
                      <a:avLst/>
                    </a:prstGeom>
                  </am3d:spPr>
                  <am3d:camera>
                    <am3d:pos x="0" y="0" z="655995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19481" d="1000000"/>
                    <am3d:preTrans dx="0" dy="-2197403" dz="2244155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32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3317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!!m-gauge">
                <a:extLst>
                  <a:ext uri="{FF2B5EF4-FFF2-40B4-BE49-F238E27FC236}">
                    <a16:creationId xmlns:a16="http://schemas.microsoft.com/office/drawing/2014/main" id="{2B3FE948-2F66-1D52-1816-756B9F8D603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51560" y="1463040"/>
                <a:ext cx="2331720" cy="233172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fx8_1_0"/>
          <p:cNvSpPr/>
          <p:nvPr/>
        </p:nvSpPr>
        <p:spPr>
          <a:xfrm>
            <a:off x="640080" y="37673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8,47</a:t>
            </a:r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pPr algn="ctr" indent="0" marL="0">
              <a:lnSpc>
                <a:spcPct val="100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254 из 300 баллов · 84,7 % · ±0,35</a:t>
            </a:r>
            <a:endParaRPr lang="en-US" sz="2600" dirty="0"/>
          </a:p>
        </p:txBody>
      </p:sp>
      <p:sp>
        <p:nvSpPr>
          <p:cNvPr id="13" name="fx8_2_1"/>
          <p:cNvSpPr/>
          <p:nvPr/>
        </p:nvSpPr>
        <p:spPr>
          <a:xfrm>
            <a:off x="3977640" y="1737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БАЛЛ ПО КАТЕГОРИЯМ</a:t>
            </a:r>
            <a:endParaRPr lang="en-US" sz="1000" dirty="0"/>
          </a:p>
        </p:txBody>
      </p:sp>
      <p:sp>
        <p:nvSpPr>
          <p:cNvPr id="14" name="fx8_2_2"/>
          <p:cNvSpPr/>
          <p:nvPr/>
        </p:nvSpPr>
        <p:spPr>
          <a:xfrm>
            <a:off x="3977640" y="21031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Абитуриентские</a:t>
            </a:r>
            <a:endParaRPr lang="en-US" sz="1050" dirty="0"/>
          </a:p>
        </p:txBody>
      </p:sp>
      <p:sp>
        <p:nvSpPr>
          <p:cNvPr id="15" name="fx8_2_3"/>
          <p:cNvSpPr/>
          <p:nvPr/>
        </p:nvSpPr>
        <p:spPr>
          <a:xfrm>
            <a:off x="5623560" y="21396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EF0F7"/>
          </a:solidFill>
          <a:ln/>
        </p:spPr>
      </p:sp>
      <p:sp>
        <p:nvSpPr>
          <p:cNvPr id="16" name="fx8_2_4"/>
          <p:cNvSpPr/>
          <p:nvPr/>
        </p:nvSpPr>
        <p:spPr>
          <a:xfrm>
            <a:off x="5623560" y="2139696"/>
            <a:ext cx="1901952" cy="219456"/>
          </a:xfrm>
          <a:prstGeom prst="roundRect">
            <a:avLst>
              <a:gd name="adj" fmla="val 20833"/>
            </a:avLst>
          </a:prstGeom>
          <a:solidFill>
            <a:srgbClr val="059669"/>
          </a:solidFill>
          <a:ln/>
        </p:spPr>
      </p:sp>
      <p:sp>
        <p:nvSpPr>
          <p:cNvPr id="17" name="fx8_2_5"/>
          <p:cNvSpPr/>
          <p:nvPr/>
        </p:nvSpPr>
        <p:spPr>
          <a:xfrm>
            <a:off x="7580376" y="21031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</a:t>
            </a:r>
            <a:endParaRPr lang="en-US" sz="1050" dirty="0"/>
          </a:p>
        </p:txBody>
      </p:sp>
      <p:sp>
        <p:nvSpPr>
          <p:cNvPr id="18" name="fx8_2_6"/>
          <p:cNvSpPr/>
          <p:nvPr/>
        </p:nvSpPr>
        <p:spPr>
          <a:xfrm>
            <a:off x="3977640" y="244144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о вузе</a:t>
            </a:r>
            <a:endParaRPr lang="en-US" sz="1050" dirty="0"/>
          </a:p>
        </p:txBody>
      </p:sp>
      <p:sp>
        <p:nvSpPr>
          <p:cNvPr id="19" name="fx8_2_7"/>
          <p:cNvSpPr/>
          <p:nvPr/>
        </p:nvSpPr>
        <p:spPr>
          <a:xfrm>
            <a:off x="5623560" y="2478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EF0F7"/>
          </a:solidFill>
          <a:ln/>
        </p:spPr>
      </p:sp>
      <p:sp>
        <p:nvSpPr>
          <p:cNvPr id="20" name="fx8_2_8"/>
          <p:cNvSpPr/>
          <p:nvPr/>
        </p:nvSpPr>
        <p:spPr>
          <a:xfrm>
            <a:off x="5623560" y="2478024"/>
            <a:ext cx="1664208" cy="219456"/>
          </a:xfrm>
          <a:prstGeom prst="roundRect">
            <a:avLst>
              <a:gd name="adj" fmla="val 20833"/>
            </a:avLst>
          </a:prstGeom>
          <a:solidFill>
            <a:srgbClr val="059669"/>
          </a:solidFill>
          <a:ln/>
        </p:spPr>
      </p:sp>
      <p:sp>
        <p:nvSpPr>
          <p:cNvPr id="21" name="fx8_2_9"/>
          <p:cNvSpPr/>
          <p:nvPr/>
        </p:nvSpPr>
        <p:spPr>
          <a:xfrm>
            <a:off x="7342632" y="24414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8,8</a:t>
            </a:r>
            <a:endParaRPr lang="en-US" sz="1050" dirty="0"/>
          </a:p>
        </p:txBody>
      </p:sp>
      <p:sp>
        <p:nvSpPr>
          <p:cNvPr id="22" name="fx8_2_10"/>
          <p:cNvSpPr/>
          <p:nvPr/>
        </p:nvSpPr>
        <p:spPr>
          <a:xfrm>
            <a:off x="3977640" y="27797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Ловушки</a:t>
            </a:r>
            <a:endParaRPr lang="en-US" sz="1050" dirty="0"/>
          </a:p>
        </p:txBody>
      </p:sp>
      <p:sp>
        <p:nvSpPr>
          <p:cNvPr id="23" name="fx8_2_11"/>
          <p:cNvSpPr/>
          <p:nvPr/>
        </p:nvSpPr>
        <p:spPr>
          <a:xfrm>
            <a:off x="5623560" y="281635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EF0F7"/>
          </a:solidFill>
          <a:ln/>
        </p:spPr>
      </p:sp>
      <p:sp>
        <p:nvSpPr>
          <p:cNvPr id="24" name="fx8_2_12"/>
          <p:cNvSpPr/>
          <p:nvPr/>
        </p:nvSpPr>
        <p:spPr>
          <a:xfrm>
            <a:off x="5623560" y="2816352"/>
            <a:ext cx="1545336" cy="219456"/>
          </a:xfrm>
          <a:prstGeom prst="roundRect">
            <a:avLst>
              <a:gd name="adj" fmla="val 20833"/>
            </a:avLst>
          </a:prstGeom>
          <a:solidFill>
            <a:srgbClr val="059669"/>
          </a:solidFill>
          <a:ln/>
        </p:spPr>
      </p:sp>
      <p:sp>
        <p:nvSpPr>
          <p:cNvPr id="25" name="fx8_2_13"/>
          <p:cNvSpPr/>
          <p:nvPr/>
        </p:nvSpPr>
        <p:spPr>
          <a:xfrm>
            <a:off x="7223760" y="2779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8,6</a:t>
            </a:r>
            <a:endParaRPr lang="en-US" sz="1050" dirty="0"/>
          </a:p>
        </p:txBody>
      </p:sp>
      <p:sp>
        <p:nvSpPr>
          <p:cNvPr id="26" name="fx8_2_14"/>
          <p:cNvSpPr/>
          <p:nvPr/>
        </p:nvSpPr>
        <p:spPr>
          <a:xfrm>
            <a:off x="3977640" y="31181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</a:t>
            </a:r>
            <a:endParaRPr lang="en-US" sz="1050" dirty="0"/>
          </a:p>
        </p:txBody>
      </p:sp>
      <p:sp>
        <p:nvSpPr>
          <p:cNvPr id="27" name="fx8_2_15"/>
          <p:cNvSpPr/>
          <p:nvPr/>
        </p:nvSpPr>
        <p:spPr>
          <a:xfrm>
            <a:off x="5623560" y="315468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EF0F7"/>
          </a:solidFill>
          <a:ln/>
        </p:spPr>
      </p:sp>
      <p:sp>
        <p:nvSpPr>
          <p:cNvPr id="28" name="fx8_2_16"/>
          <p:cNvSpPr/>
          <p:nvPr/>
        </p:nvSpPr>
        <p:spPr>
          <a:xfrm>
            <a:off x="5623560" y="3154680"/>
            <a:ext cx="1307592" cy="219456"/>
          </a:xfrm>
          <a:prstGeom prst="roundRect">
            <a:avLst>
              <a:gd name="adj" fmla="val 20833"/>
            </a:avLst>
          </a:prstGeom>
          <a:solidFill>
            <a:srgbClr val="4F5BEA"/>
          </a:solidFill>
          <a:ln/>
        </p:spPr>
      </p:sp>
      <p:sp>
        <p:nvSpPr>
          <p:cNvPr id="29" name="fx8_2_17"/>
          <p:cNvSpPr/>
          <p:nvPr/>
        </p:nvSpPr>
        <p:spPr>
          <a:xfrm>
            <a:off x="6986016" y="31181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8,2</a:t>
            </a:r>
            <a:endParaRPr lang="en-US" sz="1050" dirty="0"/>
          </a:p>
        </p:txBody>
      </p:sp>
      <p:sp>
        <p:nvSpPr>
          <p:cNvPr id="30" name="fx8_2_18"/>
          <p:cNvSpPr/>
          <p:nvPr/>
        </p:nvSpPr>
        <p:spPr>
          <a:xfrm>
            <a:off x="3977640" y="34564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Расписание</a:t>
            </a:r>
            <a:endParaRPr lang="en-US" sz="1050" dirty="0"/>
          </a:p>
        </p:txBody>
      </p:sp>
      <p:sp>
        <p:nvSpPr>
          <p:cNvPr id="31" name="fx8_2_19"/>
          <p:cNvSpPr/>
          <p:nvPr/>
        </p:nvSpPr>
        <p:spPr>
          <a:xfrm>
            <a:off x="5623560" y="34930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EF0F7"/>
          </a:solidFill>
          <a:ln/>
        </p:spPr>
      </p:sp>
      <p:sp>
        <p:nvSpPr>
          <p:cNvPr id="32" name="fx8_2_20"/>
          <p:cNvSpPr/>
          <p:nvPr/>
        </p:nvSpPr>
        <p:spPr>
          <a:xfrm>
            <a:off x="5623560" y="3493008"/>
            <a:ext cx="1188720" cy="219456"/>
          </a:xfrm>
          <a:prstGeom prst="roundRect">
            <a:avLst>
              <a:gd name="adj" fmla="val 20833"/>
            </a:avLst>
          </a:prstGeom>
          <a:solidFill>
            <a:srgbClr val="D97706"/>
          </a:solidFill>
          <a:ln/>
        </p:spPr>
      </p:sp>
      <p:sp>
        <p:nvSpPr>
          <p:cNvPr id="33" name="fx8_2_21"/>
          <p:cNvSpPr/>
          <p:nvPr/>
        </p:nvSpPr>
        <p:spPr>
          <a:xfrm>
            <a:off x="6867144" y="34564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</a:t>
            </a:r>
            <a:endParaRPr lang="en-US" sz="1050" dirty="0"/>
          </a:p>
        </p:txBody>
      </p:sp>
      <p:sp>
        <p:nvSpPr>
          <p:cNvPr id="34" name="fx8_2_22"/>
          <p:cNvSpPr/>
          <p:nvPr/>
        </p:nvSpPr>
        <p:spPr>
          <a:xfrm>
            <a:off x="3977640" y="37947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Синонимы, опечатки</a:t>
            </a:r>
            <a:endParaRPr lang="en-US" sz="1050" dirty="0"/>
          </a:p>
        </p:txBody>
      </p:sp>
      <p:sp>
        <p:nvSpPr>
          <p:cNvPr id="35" name="fx8_2_23"/>
          <p:cNvSpPr/>
          <p:nvPr/>
        </p:nvSpPr>
        <p:spPr>
          <a:xfrm>
            <a:off x="5623560" y="383133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EF0F7"/>
          </a:solidFill>
          <a:ln/>
        </p:spPr>
      </p:sp>
      <p:sp>
        <p:nvSpPr>
          <p:cNvPr id="36" name="fx8_2_24"/>
          <p:cNvSpPr/>
          <p:nvPr/>
        </p:nvSpPr>
        <p:spPr>
          <a:xfrm>
            <a:off x="5623560" y="3831336"/>
            <a:ext cx="1188720" cy="219456"/>
          </a:xfrm>
          <a:prstGeom prst="roundRect">
            <a:avLst>
              <a:gd name="adj" fmla="val 20833"/>
            </a:avLst>
          </a:prstGeom>
          <a:solidFill>
            <a:srgbClr val="D97706"/>
          </a:solidFill>
          <a:ln/>
        </p:spPr>
      </p:sp>
      <p:sp>
        <p:nvSpPr>
          <p:cNvPr id="37" name="fx8_2_25"/>
          <p:cNvSpPr/>
          <p:nvPr/>
        </p:nvSpPr>
        <p:spPr>
          <a:xfrm>
            <a:off x="6867144" y="37947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</a:t>
            </a:r>
            <a:endParaRPr lang="en-US" sz="1050" dirty="0"/>
          </a:p>
        </p:txBody>
      </p:sp>
      <p:sp>
        <p:nvSpPr>
          <p:cNvPr id="38" name="fx8_2_26"/>
          <p:cNvSpPr/>
          <p:nvPr/>
        </p:nvSpPr>
        <p:spPr>
          <a:xfrm>
            <a:off x="3977640" y="415137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шкала 6–10 · 30 вопросов · GPT-OSS 120B · top-K = 10</a:t>
            </a:r>
            <a:endParaRPr lang="en-US" sz="850" dirty="0"/>
          </a:p>
        </p:txBody>
      </p:sp>
      <p:sp>
        <p:nvSpPr>
          <p:cNvPr id="39" name="fx8_3_27"/>
          <p:cNvSpPr/>
          <p:nvPr/>
        </p:nvSpPr>
        <p:spPr>
          <a:xfrm>
            <a:off x="8412480" y="173736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ТИПЫ ОШИБОК</a:t>
            </a:r>
            <a:endParaRPr lang="en-US" sz="1000" dirty="0"/>
          </a:p>
        </p:txBody>
      </p:sp>
      <p:sp>
        <p:nvSpPr>
          <p:cNvPr id="40" name="fx8_3_28"/>
          <p:cNvSpPr/>
          <p:nvPr/>
        </p:nvSpPr>
        <p:spPr>
          <a:xfrm>
            <a:off x="8412480" y="2057400"/>
            <a:ext cx="3139135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41" name="fx8_3_29"/>
          <p:cNvSpPr/>
          <p:nvPr/>
        </p:nvSpPr>
        <p:spPr>
          <a:xfrm>
            <a:off x="8595360" y="2057400"/>
            <a:ext cx="2864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источниках нет прямого ответа</a:t>
            </a:r>
            <a:endParaRPr lang="en-US" sz="1150" dirty="0"/>
          </a:p>
        </p:txBody>
      </p:sp>
      <p:sp>
        <p:nvSpPr>
          <p:cNvPr id="42" name="fx8_3_30"/>
          <p:cNvSpPr/>
          <p:nvPr/>
        </p:nvSpPr>
        <p:spPr>
          <a:xfrm>
            <a:off x="8412480" y="2743200"/>
            <a:ext cx="3139135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43" name="fx8_3_31"/>
          <p:cNvSpPr/>
          <p:nvPr/>
        </p:nvSpPr>
        <p:spPr>
          <a:xfrm>
            <a:off x="8595360" y="2743200"/>
            <a:ext cx="2864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и маршрут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напр., расписание в гостевом режиме</a:t>
            </a:r>
            <a:endParaRPr lang="en-US" sz="1150" dirty="0"/>
          </a:p>
        </p:txBody>
      </p:sp>
      <p:sp>
        <p:nvSpPr>
          <p:cNvPr id="44" name="fx8_3_32"/>
          <p:cNvSpPr/>
          <p:nvPr/>
        </p:nvSpPr>
        <p:spPr>
          <a:xfrm>
            <a:off x="8412480" y="3429000"/>
            <a:ext cx="3139135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45" name="fx8_3_33"/>
          <p:cNvSpPr/>
          <p:nvPr/>
        </p:nvSpPr>
        <p:spPr>
          <a:xfrm>
            <a:off x="8595360" y="3429000"/>
            <a:ext cx="2864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Генерация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лишние обобщения модели</a:t>
            </a:r>
            <a:endParaRPr lang="en-US" sz="1150" dirty="0"/>
          </a:p>
        </p:txBody>
      </p:sp>
      <p:sp>
        <p:nvSpPr>
          <p:cNvPr id="46" name="fx8_4_34"/>
          <p:cNvSpPr/>
          <p:nvPr/>
        </p:nvSpPr>
        <p:spPr>
          <a:xfrm>
            <a:off x="640080" y="4526280"/>
            <a:ext cx="7452360" cy="1691640"/>
          </a:xfrm>
          <a:prstGeom prst="roundRect">
            <a:avLst>
              <a:gd name="adj" fmla="val 5405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47" name="fx8_4_35"/>
          <p:cNvSpPr/>
          <p:nvPr/>
        </p:nvSpPr>
        <p:spPr>
          <a:xfrm>
            <a:off x="86868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СДЕЛАНО ПО ИТОГАМ</a:t>
            </a:r>
            <a:endParaRPr lang="en-US" sz="1000" dirty="0"/>
          </a:p>
        </p:txBody>
      </p:sp>
      <p:sp>
        <p:nvSpPr>
          <p:cNvPr id="48" name="fx8_4_36"/>
          <p:cNvSpPr/>
          <p:nvPr/>
        </p:nvSpPr>
        <p:spPr>
          <a:xfrm>
            <a:off x="868680" y="4910328"/>
            <a:ext cx="6995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Доработан системный промпт: без профиля система не даёт персональных ответов, а при нехватке данных честно сообщает об этом, а не угадывает.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верного поведения: на вопрос о проходном балле 2026 года система указала, что данные ещё не опубликованы.</a:t>
            </a:r>
            <a:endParaRPr lang="en-US" sz="1200" dirty="0"/>
          </a:p>
        </p:txBody>
      </p:sp>
      <p:sp>
        <p:nvSpPr>
          <p:cNvPr id="49" name="fx8_5_37"/>
          <p:cNvSpPr/>
          <p:nvPr/>
        </p:nvSpPr>
        <p:spPr>
          <a:xfrm>
            <a:off x="8412480" y="4526280"/>
            <a:ext cx="3139135" cy="1691640"/>
          </a:xfrm>
          <a:prstGeom prst="roundRect">
            <a:avLst>
              <a:gd name="adj" fmla="val 5405"/>
            </a:avLst>
          </a:prstGeom>
          <a:solidFill>
            <a:srgbClr val="FDEEEE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50" name="fx8_5_38"/>
          <p:cNvSpPr/>
          <p:nvPr/>
        </p:nvSpPr>
        <p:spPr>
          <a:xfrm>
            <a:off x="8595360" y="461772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</a:t>
            </a:r>
            <a:endParaRPr lang="en-US" sz="1000" dirty="0"/>
          </a:p>
        </p:txBody>
      </p:sp>
      <p:sp>
        <p:nvSpPr>
          <p:cNvPr id="51" name="fx8_5_39"/>
          <p:cNvSpPr/>
          <p:nvPr/>
        </p:nvSpPr>
        <p:spPr>
          <a:xfrm>
            <a:off x="8595360" y="4910328"/>
            <a:ext cx="2864815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всего 30 вопросов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оценивал сам автор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нет сравнения с LLM без поиска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нет полного перетеста после доработки</a:t>
            </a:r>
            <a:endParaRPr lang="en-US" sz="11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2" name="!!m-rocket">
                <a:extLst>
                  <a:ext uri="{FF2B5EF4-FFF2-40B4-BE49-F238E27FC236}">
                    <a16:creationId xmlns:a16="http://schemas.microsoft.com/office/drawing/2014/main" id="{23B14DC8-A58A-D05C-E622-1D1C8C42DC9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783080"/>
              <a:ext cx="2743200" cy="2743200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2743200" cy="2743200"/>
                    </a:xfrm>
                    <a:prstGeom prst="rect">
                      <a:avLst/>
                    </a:prstGeom>
                  </am3d:spPr>
                  <am3d:camera>
                    <am3d:pos x="0" y="0" z="5700347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9484" d="1000000"/>
                    <am3d:preTrans dx="3522440" dy="235633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90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3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7432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2" name="!!m-rocket">
                <a:extLst>
                  <a:ext uri="{FF2B5EF4-FFF2-40B4-BE49-F238E27FC236}">
                    <a16:creationId xmlns:a16="http://schemas.microsoft.com/office/drawing/2014/main" id="{23B14DC8-A58A-D05C-E622-1D1C8C42DC9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740335" y="1783080"/>
                <a:ext cx="2743200" cy="2743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6" dur="4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ИТОГИ И ПЕРСПЕКТИВЫ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ВКР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Итоги и что дальше</a:t>
            </a:r>
            <a:endParaRPr lang="en-US" sz="3200" dirty="0"/>
          </a:p>
        </p:txBody>
      </p:sp>
      <p:sp>
        <p:nvSpPr>
          <p:cNvPr id="9" name="fx9_1_0"/>
          <p:cNvSpPr/>
          <p:nvPr/>
        </p:nvSpPr>
        <p:spPr>
          <a:xfrm>
            <a:off x="64008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ИТОГИ</a:t>
            </a:r>
            <a:endParaRPr lang="en-US" sz="1050" dirty="0"/>
          </a:p>
        </p:txBody>
      </p:sp>
      <p:sp>
        <p:nvSpPr>
          <p:cNvPr id="10" name="fx9_1_1"/>
          <p:cNvSpPr/>
          <p:nvPr/>
        </p:nvSpPr>
        <p:spPr>
          <a:xfrm>
            <a:off x="640080" y="2029968"/>
            <a:ext cx="484632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1" name="fx9_1_2"/>
          <p:cNvSpPr/>
          <p:nvPr/>
        </p:nvSpPr>
        <p:spPr>
          <a:xfrm>
            <a:off x="777240" y="202996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fx9_1_3"/>
          <p:cNvSpPr/>
          <p:nvPr/>
        </p:nvSpPr>
        <p:spPr>
          <a:xfrm>
            <a:off x="1207008" y="2029968"/>
            <a:ext cx="4160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достигнута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рабочий комплекс: от сбора данных до ответа с источниками</a:t>
            </a:r>
            <a:endParaRPr lang="en-US" sz="1300" dirty="0"/>
          </a:p>
        </p:txBody>
      </p:sp>
      <p:sp>
        <p:nvSpPr>
          <p:cNvPr id="13" name="fx9_1_4"/>
          <p:cNvSpPr/>
          <p:nvPr/>
        </p:nvSpPr>
        <p:spPr>
          <a:xfrm>
            <a:off x="640080" y="2926080"/>
            <a:ext cx="484632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4" name="fx9_1_5"/>
          <p:cNvSpPr/>
          <p:nvPr/>
        </p:nvSpPr>
        <p:spPr>
          <a:xfrm>
            <a:off x="777240" y="292608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fx9_1_6"/>
          <p:cNvSpPr/>
          <p:nvPr/>
        </p:nvSpPr>
        <p:spPr>
          <a:xfrm>
            <a:off x="1207008" y="2926080"/>
            <a:ext cx="4160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Полностью локально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не покидают вуз — соответствие 152-ФЗ</a:t>
            </a:r>
            <a:endParaRPr lang="en-US" sz="1300" dirty="0"/>
          </a:p>
        </p:txBody>
      </p:sp>
      <p:sp>
        <p:nvSpPr>
          <p:cNvPr id="16" name="fx9_2_7"/>
          <p:cNvSpPr/>
          <p:nvPr/>
        </p:nvSpPr>
        <p:spPr>
          <a:xfrm>
            <a:off x="640080" y="3822192"/>
            <a:ext cx="484632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7" name="fx9_2_8"/>
          <p:cNvSpPr/>
          <p:nvPr/>
        </p:nvSpPr>
        <p:spPr>
          <a:xfrm>
            <a:off x="777240" y="3822192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fx9_2_9"/>
          <p:cNvSpPr/>
          <p:nvPr/>
        </p:nvSpPr>
        <p:spPr>
          <a:xfrm>
            <a:off x="1207008" y="3822192"/>
            <a:ext cx="4160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Встраивается в сайт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отдельное веб-приложение или виджет на pskgu.ru</a:t>
            </a:r>
            <a:endParaRPr lang="en-US" sz="1300" dirty="0"/>
          </a:p>
        </p:txBody>
      </p:sp>
      <p:sp>
        <p:nvSpPr>
          <p:cNvPr id="19" name="fx9_2_10"/>
          <p:cNvSpPr/>
          <p:nvPr/>
        </p:nvSpPr>
        <p:spPr>
          <a:xfrm>
            <a:off x="640080" y="4718304"/>
            <a:ext cx="484632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0" name="fx9_2_11"/>
          <p:cNvSpPr/>
          <p:nvPr/>
        </p:nvSpPr>
        <p:spPr>
          <a:xfrm>
            <a:off x="777240" y="4718304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fx9_2_12"/>
          <p:cNvSpPr/>
          <p:nvPr/>
        </p:nvSpPr>
        <p:spPr>
          <a:xfrm>
            <a:off x="1207008" y="4718304"/>
            <a:ext cx="4160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Управляемое качество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админ-панель: правка и исключение фрагментов, аудит запросов</a:t>
            </a:r>
            <a:endParaRPr lang="en-US" sz="1300" dirty="0"/>
          </a:p>
        </p:txBody>
      </p:sp>
      <p:sp>
        <p:nvSpPr>
          <p:cNvPr id="22" name="fx9_5_13"/>
          <p:cNvSpPr/>
          <p:nvPr/>
        </p:nvSpPr>
        <p:spPr>
          <a:xfrm>
            <a:off x="640080" y="57332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внимание!</a:t>
            </a:r>
            <a:endParaRPr lang="en-US" sz="2200" dirty="0"/>
          </a:p>
        </p:txBody>
      </p:sp>
      <p:sp>
        <p:nvSpPr>
          <p:cNvPr id="23" name="fx9_3_14"/>
          <p:cNvSpPr/>
          <p:nvPr/>
        </p:nvSpPr>
        <p:spPr>
          <a:xfrm>
            <a:off x="5669280" y="1691640"/>
            <a:ext cx="3886200" cy="4526280"/>
          </a:xfrm>
          <a:prstGeom prst="roundRect">
            <a:avLst>
              <a:gd name="adj" fmla="val 2353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24" name="fx9_3_15"/>
          <p:cNvSpPr/>
          <p:nvPr/>
        </p:nvSpPr>
        <p:spPr>
          <a:xfrm>
            <a:off x="5897880" y="18105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 → МАГИСТРАТУРА</a:t>
            </a:r>
            <a:endParaRPr lang="en-US" sz="1000" dirty="0"/>
          </a:p>
        </p:txBody>
      </p:sp>
      <p:sp>
        <p:nvSpPr>
          <p:cNvPr id="25" name="fx9_3_16"/>
          <p:cNvSpPr/>
          <p:nvPr/>
        </p:nvSpPr>
        <p:spPr>
          <a:xfrm>
            <a:off x="5897880" y="2194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26" name="fx9_3_17"/>
          <p:cNvSpPr/>
          <p:nvPr/>
        </p:nvSpPr>
        <p:spPr>
          <a:xfrm>
            <a:off x="6446520" y="217627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оценка</a:t>
            </a:r>
            <a:endParaRPr lang="en-US" sz="1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с LLM без поиска, автоматические метрики RAG</a:t>
            </a:r>
            <a:endParaRPr lang="en-US" sz="1200" dirty="0"/>
          </a:p>
        </p:txBody>
      </p:sp>
      <p:sp>
        <p:nvSpPr>
          <p:cNvPr id="27" name="fx9_3_18"/>
          <p:cNvSpPr/>
          <p:nvPr/>
        </p:nvSpPr>
        <p:spPr>
          <a:xfrm>
            <a:off x="5897880" y="29900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28" name="fx9_3_19"/>
          <p:cNvSpPr/>
          <p:nvPr/>
        </p:nvSpPr>
        <p:spPr>
          <a:xfrm>
            <a:off x="6446520" y="29718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данных для теста</a:t>
            </a:r>
            <a:endParaRPr lang="en-US" sz="1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расширенный набор вопросов, несколько экспертов</a:t>
            </a:r>
            <a:endParaRPr lang="en-US" sz="1200" dirty="0"/>
          </a:p>
        </p:txBody>
      </p:sp>
      <p:sp>
        <p:nvSpPr>
          <p:cNvPr id="29" name="fx9_3_20"/>
          <p:cNvSpPr/>
          <p:nvPr/>
        </p:nvSpPr>
        <p:spPr>
          <a:xfrm>
            <a:off x="5897880" y="378561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30" name="fx9_3_21"/>
          <p:cNvSpPr/>
          <p:nvPr/>
        </p:nvSpPr>
        <p:spPr>
          <a:xfrm>
            <a:off x="6446520" y="376732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база знаний</a:t>
            </a:r>
            <a:endParaRPr lang="en-US" sz="1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обновление индекса без полной пересборки</a:t>
            </a:r>
            <a:endParaRPr lang="en-US" sz="1200" dirty="0"/>
          </a:p>
        </p:txBody>
      </p:sp>
      <p:sp>
        <p:nvSpPr>
          <p:cNvPr id="31" name="fx9_4_22"/>
          <p:cNvSpPr/>
          <p:nvPr/>
        </p:nvSpPr>
        <p:spPr>
          <a:xfrm>
            <a:off x="5897880" y="458114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32" name="fx9_4_23"/>
          <p:cNvSpPr/>
          <p:nvPr/>
        </p:nvSpPr>
        <p:spPr>
          <a:xfrm>
            <a:off x="6446520" y="4562856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Умная маршрутизация</a:t>
            </a:r>
            <a:endParaRPr lang="en-US" sz="1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агентный подход к выбору сценария</a:t>
            </a:r>
            <a:endParaRPr lang="en-US" sz="1200" dirty="0"/>
          </a:p>
        </p:txBody>
      </p:sp>
      <p:sp>
        <p:nvSpPr>
          <p:cNvPr id="33" name="fx9_4_24"/>
          <p:cNvSpPr/>
          <p:nvPr/>
        </p:nvSpPr>
        <p:spPr>
          <a:xfrm>
            <a:off x="5897880" y="53766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fx9_4_25"/>
          <p:cNvSpPr/>
          <p:nvPr/>
        </p:nvSpPr>
        <p:spPr>
          <a:xfrm>
            <a:off x="6446520" y="53583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</a:t>
            </a:r>
            <a:endParaRPr lang="en-US" sz="1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в ПсковГУ и перенос в другие организации</a:t>
            </a:r>
            <a:endParaRPr lang="en-US" sz="1200" dirty="0"/>
          </a:p>
        </p:txBody>
      </p:sp>
      <p:pic>
        <p:nvPicPr>
          <p:cNvPr id="35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143000"/>
            <a:ext cx="3291840" cy="3291840"/>
          </a:xfrm>
          <a:prstGeom prst="rect">
            <a:avLst/>
          </a:prstGeom>
        </p:spPr>
      </p:pic>
      <p:pic>
        <p:nvPicPr>
          <p:cNvPr id="36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3783330"/>
            <a:ext cx="1920240" cy="48006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rocket">
                <a:extLst>
                  <a:ext uri="{FF2B5EF4-FFF2-40B4-BE49-F238E27FC236}">
                    <a16:creationId xmlns:a16="http://schemas.microsoft.com/office/drawing/2014/main" id="{FE40E31E-70C6-EBEB-49DE-9D7251C5A03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326880" y="1417320"/>
              <a:ext cx="2743200" cy="2743200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2743200" cy="2743200"/>
                    </a:xfrm>
                    <a:prstGeom prst="rect">
                      <a:avLst/>
                    </a:prstGeom>
                  </am3d:spPr>
                  <am3d:camera>
                    <am3d:pos x="0" y="0" z="5700347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9484" d="1000000"/>
                    <am3d:preTrans dx="3522440" dy="235633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90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3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7432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rocket">
                <a:extLst>
                  <a:ext uri="{FF2B5EF4-FFF2-40B4-BE49-F238E27FC236}">
                    <a16:creationId xmlns:a16="http://schemas.microsoft.com/office/drawing/2014/main" id="{FE40E31E-70C6-EBEB-49DE-9D7251C5A03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26880" y="1417320"/>
                <a:ext cx="2743200" cy="2743200"/>
              </a:xfrm>
              <a:prstGeom prst="rect">
                <a:avLst/>
              </a:prstGeom>
            </p:spPr>
          </p:pic>
        </mc:Fallback>
      </mc:AlternateContent>
      <p:sp>
        <p:nvSpPr>
          <p:cNvPr id="38" name="fx9_5_26"/>
          <p:cNvSpPr/>
          <p:nvPr/>
        </p:nvSpPr>
        <p:spPr>
          <a:xfrm>
            <a:off x="9601200" y="45262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Задел, с которого можно начать магистерскую работу</a:t>
            </a:r>
            <a:endParaRPr lang="en-US" sz="10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gauge">
                <a:extLst>
                  <a:ext uri="{FF2B5EF4-FFF2-40B4-BE49-F238E27FC236}">
                    <a16:creationId xmlns:a16="http://schemas.microsoft.com/office/drawing/2014/main" id="{FA72C0DF-3692-3B06-1520-9933F88016B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2880360" y="1828800"/>
              <a:ext cx="2331720" cy="2331720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2331720" cy="2331720"/>
                    </a:xfrm>
                    <a:prstGeom prst="rect">
                      <a:avLst/>
                    </a:prstGeom>
                  </am3d:spPr>
                  <am3d:camera>
                    <am3d:pos x="0" y="0" z="655995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19481" d="1000000"/>
                    <am3d:preTrans dx="0" dy="-2197403" dz="2244155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12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3317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gauge">
                <a:extLst>
                  <a:ext uri="{FF2B5EF4-FFF2-40B4-BE49-F238E27FC236}">
                    <a16:creationId xmlns:a16="http://schemas.microsoft.com/office/drawing/2014/main" id="{FA72C0DF-3692-3B06-1520-9933F88016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880360" y="1828800"/>
                <a:ext cx="2331720" cy="2331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1" dur="3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22" grpId="0" animBg="1"/>
      <p:bldP spid="3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Интеллектуальная справочная система ПсковГУ на основе RAG и LLM</dc:title>
  <dc:subject>PptxGenJS Presentation</dc:subject>
  <dc:creator>Мейер-Шишнёв В. А.</dc:creator>
  <cp:lastModifiedBy>Мейер-Шишнёв В. А.</cp:lastModifiedBy>
  <cp:revision>1</cp:revision>
  <dcterms:created xsi:type="dcterms:W3CDTF">2026-10-08T16:02:43Z</dcterms:created>
  <dcterms:modified xsi:type="dcterms:W3CDTF">2026-10-08T16:02:43Z</dcterms:modified>
</cp:coreProperties>
</file>