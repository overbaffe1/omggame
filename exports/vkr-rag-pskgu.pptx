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В качестве примера интеллектуальной системы я расскажу о своей выпускной работе бакалавриата — «Разработка интеллектуальной информационно-справочной системы ПсковГУ на основе RAG-архитектуры и больших языковых моделей».
Если коротко: это чат-ассистент, которому можно задать вопрос об университете обычными словами — про проходные баллы, документы, расписание — и он отвечает, опираясь на официальные материалы сайта, и обязательно показывает источники. Его можно открыть как отдельное веб-приложение или прямо на сайте университета в виде виджета — его вы видите на скриншоте.
Чтобы был понятен масштаб: система обработала больше полумиллиона файлов с сайтов ПсковГУ, в её базе знаний около 50 тысяч фрагментов текста, а на пилотном тестировании ответы получили в среднем 8,5 балла из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чего всё началось — с проблемы. На сайтах университета тысячи документов: приказы, положения, учебные планы, расписания, и всё это разбросано по десяткам поддоменов. По данным исследований, до 60 процентов обращений в справочные службы вузов — это вопросы, ответ на которые уже есть на сайте, просто его невозможно найти.
Почему не помогает обычный поиск? Он ищет совпадения слов, а не смысл. Если спросить «когда начинается сессия», он не найдёт документ «график промежуточной аттестации», хотя это одно и то же.
Почему бы не взять ChatGPT? Во-первых, внутренние документы нельзя отправлять на зарубежные серверы — этого не позволяют 152-ФЗ и политика вуза. Во-вторых, модель не знает локальных данных и начинает выдумывать — это называется галлюцинациями.
Отсюда противоречие, которое и определяет актуальность: людям нужен быстрый доступ к информации вуза, а инструментов смыслового поиска, работающих локально и по-русски, нет. Решение — архитектура RAG: сначала найти нужные документы, потом сгенерировать ответ по ним.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спроектировать, реализовать и экспериментально проверить интеллектуальную справочную систему ПсковГУ, которая отвечает на вопросы студентов и преподавателей на естественном языке, указывает источники и работает в локальной инфраструктуре на основе RAG и больших языковых моделей.
Объект исследования — информационно-справочные системы образовательных организаций, основанные на обработке естественного языка. Предмет — методы семантического поиска, извлечения текста и генерации ответов в RAG-системах для русскоязычных баз знаний вузов.
Для достижения цели я решил семь задач: изучил языковые модели и RAG, сделал обзор аналогов и выбрал стек технологий, спроектировал архитектуру из двух контуров, реализовал сбор и обработку данных с сайта, построил векторный индекс, сделал сервер, чат и админ-панель и, наконец, провёл экспериментальную проверку.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 у нас курс системного анализа, посмотрим на работу как на систему.
Вход системы — вопрос пользователя на естественном языке и его профиль: студент с номером группы, преподаватель или гость. Выход — краткий ответ со ссылками на источники.
Внешняя среда: пользователи, администратор, сайты ПсковГУ, откуда берутся данные, и сервис расписания, к которому система обращается напрямую.
Сама система состоит из двух подсистем. Offline-пайплайн один раз собирает и готовит базу знаний. Online-сервис постоянно обслуживает запросы. Связывает их общая база знаний: векторный индекс FAISS и база данных SQLite.
Есть и ограничения: всё должно работать локально, на обычной видеокарте RTX 3060 с 12 гигабайтами памяти, соблюдать 152-ФЗ и понимать русский язык.
И критерии качества: правильность ответа, наличие источников, отсутствие галлюцинаций и время ответа — поиск за 3–5 секунд, весь ответ не дольше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— как это устроено. Слева общая архитектура из диплома.
Справа — offline-пайплайн в цифрах. Сначала система собирает стартовые ссылки из карты сайта и поиска — около 12 тысяч адресов. Затем обходит страницы — больше 40 тысяч. Потом скачивает документы — получилось 543 963 файла общим объёмом 468 гигабайт. Из них извлекается текст: для PDF сделан каскад из четырёх библиотек, для сканов — распознавание через Tesseract, а для таблиц с объединёнными ячейками, например проходных баллов, — отдельный парсер. Текст режется на фрагменты — около 50 тысяч, — и каждый превращается в вектор моделью bge-m3 и попадает в индекс FAISS.
Важная деталь — прослеживаемость: для каждого фрагмента хранится, из какого документа и с какой страницы он взят. Поэтому система всегда может показать источник.
Стек: Python, FastAPI для чата, Flask для админки, SQLite, FAISS, языковая модель подключается через Ollama — это Qwen или GPT-OSS.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система отвечает на конкретный вопрос — цепочка сверху.
Пользователь пишет вопрос, например «проходной балл 09 03 03». Вопрос превращается в вектор той же моделью bge-m3. В индексе FAISS ищутся десять самых близких по смыслу фрагментов с порогом релевантности 0,3. Дальше они проверяются по базе: администратор мог исключить фрагмент или исправить его текст — и это учитывается без переиндексации. Отобранные фрагменты вместе со строгими правилами попадают в промпт языковой модели, и ответ выводится пользователю постепенно, по мере генерации.
На скриншоте слева — реальный ответ: таблица проходных баллов за пять лет и три источника со ссылками на страницы ПсковГУ. Вопросы о расписании идут отдельным маршрутом — система обращается напрямую к сервису rasp.pskgu.ru, чтобы данные были актуальными.
Справа — админ-панель: здесь видно базу знаний, все запросы пользователей, и можно править или исключать фрагменты.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я проверял качество. Было пилотное тестирование: 30 вопросов в шести категориях — общие вопросы о вузе, нормативные документы, вопросы абитуриентов, расписание, вопросы-ловушки и вопросы с синонимами, сокращениями и опечатками. Каждый ответ сверялся с официальными страницами и оценивался по шкале от 1 до 10.
Итог — 254 балла из 300, то есть в среднем 8,47 из 10, или почти 85 процентов. Лучше всего система справилась с абитуриентскими вопросами — 9,2: там данные структурированы в таблицах. Слабее всего — расписание и вопросы с опечатками и сокращениями, по 8 баллов.
Ошибки делятся на три группы: в базе просто нет ответа; поиск или маршрутизация выбрали не тот сценарий — например, вопрос о расписании в гостевом режиме; и лишние обобщения самой модели. При этом на вопрос о проходном балле на 2026 год система правильно ответила, что данных ещё нет. После анализа я доработал системный промпт: без профиля система больше не пытается дать персональный ответ, а при нехватке данных честно говорит об этом, а не угадывает.
Честно называю и ограничения: маленькая выборка, оценивал я сам, и не было сравнения с моделью без поиска.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итоги. Цель работы достигнута: создан рабочий программный комплекс, который проходит весь путь от автоматического сбора данных с сайтов университета до ответа пользователю с указанием источников. Всё работает локально, поэтому данные никуда не уходят и требования 152-ФЗ соблюдаются. Систему можно использовать как отдельный сайт или как виджет прямо на страницах ПсковГУ, а администратор может управлять качеством базы знаний.
Что можно развивать дальше — это и есть задел для магистерской работы. Во-первых, строгая оценка: сравнить систему с языковой моделью без поиска и ввести автоматические метрики качества RAG. Во-вторых, расширить тестовый набор и привлечь нескольких экспертов. В-третьих, инкрементальное обновление базы знаний, чтобы не пересобирать индекс целиком. В-четвёртых, более умная маршрутизация запросов, вплоть до агентного подхода. И в перспективе — официальное внедрение в университете и перенос решения в другие организации.
Спасибо за внимание!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ИНТЕЛЛЕКТУАЛЬНОЙ СИСТЕМЫ  ·  ВКР БАКАЛАВРИАТА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10972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справочная система ПсковГУ</a:t>
            </a:r>
            <a:endParaRPr lang="en-US" sz="3600" dirty="0"/>
          </a:p>
        </p:txBody>
      </p:sp>
      <p:sp>
        <p:nvSpPr>
          <p:cNvPr id="9" name="fx1_1_0"/>
          <p:cNvSpPr/>
          <p:nvPr/>
        </p:nvSpPr>
        <p:spPr>
          <a:xfrm>
            <a:off x="640080" y="28529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RAG-архитектуры и больших языковых моделей</a:t>
            </a:r>
            <a:endParaRPr lang="en-US" sz="1800" dirty="0"/>
          </a:p>
        </p:txBody>
      </p:sp>
      <p:sp>
        <p:nvSpPr>
          <p:cNvPr id="10" name="fx1_1_1"/>
          <p:cNvSpPr/>
          <p:nvPr/>
        </p:nvSpPr>
        <p:spPr>
          <a:xfrm>
            <a:off x="640080" y="3703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Владислав Алексеевич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09.03.03 Прикладная информатика · ПсковГУ, 2026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ст. преп. А. А. Гаврилов</a:t>
            </a:r>
            <a:endParaRPr lang="en-US" sz="1200" dirty="0"/>
          </a:p>
        </p:txBody>
      </p:sp>
      <p:sp>
        <p:nvSpPr>
          <p:cNvPr id="11" name="fx1_2_2"/>
          <p:cNvSpPr/>
          <p:nvPr/>
        </p:nvSpPr>
        <p:spPr>
          <a:xfrm>
            <a:off x="640080" y="489204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2" name="fx1_2_3"/>
          <p:cNvSpPr/>
          <p:nvPr/>
        </p:nvSpPr>
        <p:spPr>
          <a:xfrm>
            <a:off x="777240" y="5020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543 963</a:t>
            </a:r>
            <a:endParaRPr lang="en-US" sz="2000" dirty="0"/>
          </a:p>
        </p:txBody>
      </p:sp>
      <p:sp>
        <p:nvSpPr>
          <p:cNvPr id="13" name="fx1_2_4"/>
          <p:cNvSpPr/>
          <p:nvPr/>
        </p:nvSpPr>
        <p:spPr>
          <a:xfrm>
            <a:off x="777240" y="5495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файла обработано</a:t>
            </a:r>
            <a:endParaRPr lang="en-US" sz="1000" dirty="0"/>
          </a:p>
        </p:txBody>
      </p:sp>
      <p:sp>
        <p:nvSpPr>
          <p:cNvPr id="14" name="fx1_2_5"/>
          <p:cNvSpPr/>
          <p:nvPr/>
        </p:nvSpPr>
        <p:spPr>
          <a:xfrm>
            <a:off x="2450592" y="489204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5" name="fx1_2_6"/>
          <p:cNvSpPr/>
          <p:nvPr/>
        </p:nvSpPr>
        <p:spPr>
          <a:xfrm>
            <a:off x="2587752" y="5020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50 000</a:t>
            </a:r>
            <a:endParaRPr lang="en-US" sz="2000" dirty="0"/>
          </a:p>
        </p:txBody>
      </p:sp>
      <p:sp>
        <p:nvSpPr>
          <p:cNvPr id="16" name="fx1_2_7"/>
          <p:cNvSpPr/>
          <p:nvPr/>
        </p:nvSpPr>
        <p:spPr>
          <a:xfrm>
            <a:off x="2587752" y="5495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фрагментов в базе знаний</a:t>
            </a:r>
            <a:endParaRPr lang="en-US" sz="1000" dirty="0"/>
          </a:p>
        </p:txBody>
      </p:sp>
      <p:sp>
        <p:nvSpPr>
          <p:cNvPr id="17" name="fx1_2_8"/>
          <p:cNvSpPr/>
          <p:nvPr/>
        </p:nvSpPr>
        <p:spPr>
          <a:xfrm>
            <a:off x="4261104" y="489204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8" name="fx1_2_9"/>
          <p:cNvSpPr/>
          <p:nvPr/>
        </p:nvSpPr>
        <p:spPr>
          <a:xfrm>
            <a:off x="4398264" y="5020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8,47 / 10</a:t>
            </a:r>
            <a:endParaRPr lang="en-US" sz="2000" dirty="0"/>
          </a:p>
        </p:txBody>
      </p:sp>
      <p:sp>
        <p:nvSpPr>
          <p:cNvPr id="19" name="fx1_2_10"/>
          <p:cNvSpPr/>
          <p:nvPr/>
        </p:nvSpPr>
        <p:spPr>
          <a:xfrm>
            <a:off x="4398264" y="5495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оценка ответов</a:t>
            </a:r>
            <a:endParaRPr lang="en-US" sz="1000" dirty="0"/>
          </a:p>
        </p:txBody>
      </p:sp>
      <p:sp>
        <p:nvSpPr>
          <p:cNvPr id="20" name="fx1_1_11"/>
          <p:cNvSpPr/>
          <p:nvPr/>
        </p:nvSpPr>
        <p:spPr>
          <a:xfrm>
            <a:off x="6309360" y="1828800"/>
            <a:ext cx="5285232" cy="2744280"/>
          </a:xfrm>
          <a:prstGeom prst="roundRect">
            <a:avLst>
              <a:gd name="adj" fmla="val 2666"/>
            </a:avLst>
          </a:prstGeom>
          <a:solidFill>
            <a:srgbClr val="2A335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21" name="fx1_1_12" descr="/home/user/omgGame/presentations/vkr-rag/assets/wi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74520"/>
            <a:ext cx="5193792" cy="2652840"/>
          </a:xfrm>
          <a:prstGeom prst="rect">
            <a:avLst/>
          </a:prstGeom>
        </p:spPr>
      </p:pic>
      <p:sp>
        <p:nvSpPr>
          <p:cNvPr id="22" name="fx1_1_13"/>
          <p:cNvSpPr/>
          <p:nvPr/>
        </p:nvSpPr>
        <p:spPr>
          <a:xfrm>
            <a:off x="6355080" y="46188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Ассистент встроен в сайт pskgu.ru как виджет</a:t>
            </a:r>
            <a:endParaRPr lang="en-US" sz="950" dirty="0"/>
          </a:p>
        </p:txBody>
      </p:sp>
      <p:sp>
        <p:nvSpPr>
          <p:cNvPr id="23" name="fx1_2_14"/>
          <p:cNvSpPr/>
          <p:nvPr/>
        </p:nvSpPr>
        <p:spPr>
          <a:xfrm>
            <a:off x="6355080" y="489204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Курс: </a:t>
            </a:r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анализ и моделирование интеллектуальных систем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0" grpId="0" animBg="1"/>
      <p:bldP spid="22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АКТУАЛЬНОСТЬ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есть — но её не найти</a:t>
            </a:r>
            <a:endParaRPr lang="en-US" sz="3200" dirty="0"/>
          </a:p>
        </p:txBody>
      </p:sp>
      <p:sp>
        <p:nvSpPr>
          <p:cNvPr id="9" name="fx2_1_0"/>
          <p:cNvSpPr/>
          <p:nvPr/>
        </p:nvSpPr>
        <p:spPr>
          <a:xfrm>
            <a:off x="640080" y="1783080"/>
            <a:ext cx="6035040" cy="1078992"/>
          </a:xfrm>
          <a:prstGeom prst="roundRect">
            <a:avLst>
              <a:gd name="adj" fmla="val 847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0" name="fx2_1_1"/>
          <p:cNvSpPr/>
          <p:nvPr/>
        </p:nvSpPr>
        <p:spPr>
          <a:xfrm>
            <a:off x="640080" y="1947672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fx2_1_2"/>
          <p:cNvSpPr/>
          <p:nvPr/>
        </p:nvSpPr>
        <p:spPr>
          <a:xfrm>
            <a:off x="914400" y="18928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60 %</a:t>
            </a:r>
            <a:endParaRPr lang="en-US" sz="1900" dirty="0"/>
          </a:p>
        </p:txBody>
      </p:sp>
      <p:sp>
        <p:nvSpPr>
          <p:cNvPr id="12" name="fx2_1_3"/>
          <p:cNvSpPr/>
          <p:nvPr/>
        </p:nvSpPr>
        <p:spPr>
          <a:xfrm>
            <a:off x="914400" y="22951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обращений в справочные службы вузов — о том, что уже опубликовано на сайте</a:t>
            </a:r>
            <a:endParaRPr lang="en-US" sz="1200" dirty="0"/>
          </a:p>
        </p:txBody>
      </p:sp>
      <p:sp>
        <p:nvSpPr>
          <p:cNvPr id="13" name="fx2_2_4"/>
          <p:cNvSpPr/>
          <p:nvPr/>
        </p:nvSpPr>
        <p:spPr>
          <a:xfrm>
            <a:off x="640080" y="2990088"/>
            <a:ext cx="6035040" cy="1078992"/>
          </a:xfrm>
          <a:prstGeom prst="roundRect">
            <a:avLst>
              <a:gd name="adj" fmla="val 847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4" name="fx2_2_5"/>
          <p:cNvSpPr/>
          <p:nvPr/>
        </p:nvSpPr>
        <p:spPr>
          <a:xfrm>
            <a:off x="640080" y="3154680"/>
            <a:ext cx="64008" cy="749808"/>
          </a:xfrm>
          <a:prstGeom prst="rect">
            <a:avLst/>
          </a:prstGeom>
          <a:solidFill>
            <a:srgbClr val="9AA4FF"/>
          </a:solidFill>
          <a:ln/>
        </p:spPr>
      </p:sp>
      <p:sp>
        <p:nvSpPr>
          <p:cNvPr id="15" name="fx2_2_6"/>
          <p:cNvSpPr/>
          <p:nvPr/>
        </p:nvSpPr>
        <p:spPr>
          <a:xfrm>
            <a:off x="914400" y="30998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≠ смысл</a:t>
            </a:r>
            <a:endParaRPr lang="en-US" sz="1900" dirty="0"/>
          </a:p>
        </p:txBody>
      </p:sp>
      <p:sp>
        <p:nvSpPr>
          <p:cNvPr id="16" name="fx2_2_7"/>
          <p:cNvSpPr/>
          <p:nvPr/>
        </p:nvSpPr>
        <p:spPr>
          <a:xfrm>
            <a:off x="914400" y="350215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ключевым словам: «когда начинается сессия» не находит «график промежуточной аттестации»</a:t>
            </a:r>
            <a:endParaRPr lang="en-US" sz="1200" dirty="0"/>
          </a:p>
        </p:txBody>
      </p:sp>
      <p:sp>
        <p:nvSpPr>
          <p:cNvPr id="17" name="fx2_3_8"/>
          <p:cNvSpPr/>
          <p:nvPr/>
        </p:nvSpPr>
        <p:spPr>
          <a:xfrm>
            <a:off x="640080" y="4197096"/>
            <a:ext cx="6035040" cy="1078992"/>
          </a:xfrm>
          <a:prstGeom prst="roundRect">
            <a:avLst>
              <a:gd name="adj" fmla="val 847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8" name="fx2_3_9"/>
          <p:cNvSpPr/>
          <p:nvPr/>
        </p:nvSpPr>
        <p:spPr>
          <a:xfrm>
            <a:off x="640080" y="4361688"/>
            <a:ext cx="64008" cy="7498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fx2_3_10"/>
          <p:cNvSpPr/>
          <p:nvPr/>
        </p:nvSpPr>
        <p:spPr>
          <a:xfrm>
            <a:off x="914400" y="430682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нельзя</a:t>
            </a:r>
            <a:endParaRPr lang="en-US" sz="1900" dirty="0"/>
          </a:p>
        </p:txBody>
      </p:sp>
      <p:sp>
        <p:nvSpPr>
          <p:cNvPr id="20" name="fx2_3_11"/>
          <p:cNvSpPr/>
          <p:nvPr/>
        </p:nvSpPr>
        <p:spPr>
          <a:xfrm>
            <a:off x="914400" y="4709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LLM: документы уходят на внешние серверы (152-ФЗ), а без локальных данных модель «галлюцинирует»</a:t>
            </a:r>
            <a:endParaRPr lang="en-US" sz="1200" dirty="0"/>
          </a:p>
        </p:txBody>
      </p:sp>
      <p:sp>
        <p:nvSpPr>
          <p:cNvPr id="21" name="fx2_4_12"/>
          <p:cNvSpPr/>
          <p:nvPr/>
        </p:nvSpPr>
        <p:spPr>
          <a:xfrm>
            <a:off x="6995160" y="1783080"/>
            <a:ext cx="4556455" cy="1691640"/>
          </a:xfrm>
          <a:prstGeom prst="roundRect">
            <a:avLst>
              <a:gd name="adj" fmla="val 5405"/>
            </a:avLst>
          </a:prstGeom>
          <a:solidFill>
            <a:srgbClr val="1E1B2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fx2_4_13"/>
          <p:cNvSpPr/>
          <p:nvPr/>
        </p:nvSpPr>
        <p:spPr>
          <a:xfrm>
            <a:off x="7269480" y="1901952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</a:t>
            </a:r>
            <a:endParaRPr lang="en-US" sz="1050" dirty="0"/>
          </a:p>
        </p:txBody>
      </p:sp>
      <p:sp>
        <p:nvSpPr>
          <p:cNvPr id="23" name="fx2_4_14"/>
          <p:cNvSpPr/>
          <p:nvPr/>
        </p:nvSpPr>
        <p:spPr>
          <a:xfrm>
            <a:off x="7269480" y="2194560"/>
            <a:ext cx="4053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быстрый доступ к актуальной информации вуза 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нет инструментов смыслового поиска по русскоязычным документам, работающих в локальном контуре</a:t>
            </a:r>
            <a:endParaRPr lang="en-US" sz="1350" dirty="0"/>
          </a:p>
        </p:txBody>
      </p:sp>
      <p:sp>
        <p:nvSpPr>
          <p:cNvPr id="24" name="fx2_5_15"/>
          <p:cNvSpPr/>
          <p:nvPr/>
        </p:nvSpPr>
        <p:spPr>
          <a:xfrm>
            <a:off x="6995160" y="3611880"/>
            <a:ext cx="4556455" cy="2569464"/>
          </a:xfrm>
          <a:prstGeom prst="roundRect">
            <a:avLst>
              <a:gd name="adj" fmla="val 3559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5" name="fx2_5_16"/>
          <p:cNvSpPr/>
          <p:nvPr/>
        </p:nvSpPr>
        <p:spPr>
          <a:xfrm>
            <a:off x="7269480" y="374904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RAG</a:t>
            </a:r>
            <a:endParaRPr lang="en-US" sz="1050" dirty="0"/>
          </a:p>
        </p:txBody>
      </p:sp>
      <p:sp>
        <p:nvSpPr>
          <p:cNvPr id="26" name="fx2_5_17"/>
          <p:cNvSpPr/>
          <p:nvPr/>
        </p:nvSpPr>
        <p:spPr>
          <a:xfrm>
            <a:off x="7269480" y="4069080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(Lewis et al., 2020): найти фрагменты в своей базе знаний → сгенерировать ответ по ним</a:t>
            </a:r>
            <a:endParaRPr lang="en-US" sz="1300" dirty="0"/>
          </a:p>
        </p:txBody>
      </p:sp>
      <p:sp>
        <p:nvSpPr>
          <p:cNvPr id="27" name="fx2_5_18"/>
          <p:cNvSpPr/>
          <p:nvPr/>
        </p:nvSpPr>
        <p:spPr>
          <a:xfrm>
            <a:off x="7269480" y="5257800"/>
            <a:ext cx="1274978" cy="713232"/>
          </a:xfrm>
          <a:prstGeom prst="roundRect">
            <a:avLst>
              <a:gd name="adj" fmla="val 10256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8" name="fx2_5_19"/>
          <p:cNvSpPr/>
          <p:nvPr/>
        </p:nvSpPr>
        <p:spPr>
          <a:xfrm>
            <a:off x="7269480" y="5257800"/>
            <a:ext cx="1274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переобучения</a:t>
            </a:r>
            <a:endParaRPr lang="en-US" sz="1050" dirty="0"/>
          </a:p>
        </p:txBody>
      </p:sp>
      <p:sp>
        <p:nvSpPr>
          <p:cNvPr id="29" name="fx2_5_20"/>
          <p:cNvSpPr/>
          <p:nvPr/>
        </p:nvSpPr>
        <p:spPr>
          <a:xfrm>
            <a:off x="8635898" y="5257800"/>
            <a:ext cx="1274978" cy="713232"/>
          </a:xfrm>
          <a:prstGeom prst="roundRect">
            <a:avLst>
              <a:gd name="adj" fmla="val 10256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0" name="fx2_5_21"/>
          <p:cNvSpPr/>
          <p:nvPr/>
        </p:nvSpPr>
        <p:spPr>
          <a:xfrm>
            <a:off x="8635898" y="5257800"/>
            <a:ext cx="1274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достоверно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источниками</a:t>
            </a:r>
            <a:endParaRPr lang="en-US" sz="1050" dirty="0"/>
          </a:p>
        </p:txBody>
      </p:sp>
      <p:sp>
        <p:nvSpPr>
          <p:cNvPr id="31" name="fx2_5_22"/>
          <p:cNvSpPr/>
          <p:nvPr/>
        </p:nvSpPr>
        <p:spPr>
          <a:xfrm>
            <a:off x="10002317" y="5257800"/>
            <a:ext cx="1274978" cy="713232"/>
          </a:xfrm>
          <a:prstGeom prst="roundRect">
            <a:avLst>
              <a:gd name="adj" fmla="val 10256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2" name="fx2_5_23"/>
          <p:cNvSpPr/>
          <p:nvPr/>
        </p:nvSpPr>
        <p:spPr>
          <a:xfrm>
            <a:off x="10002317" y="5257800"/>
            <a:ext cx="1274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ЦЕЛЬ, ОБЪЕКТ, ПРЕДМЕТ, ЗАДАЧИ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работы</a:t>
            </a:r>
            <a:endParaRPr lang="en-US" sz="3200" dirty="0"/>
          </a:p>
        </p:txBody>
      </p:sp>
      <p:sp>
        <p:nvSpPr>
          <p:cNvPr id="9" name="fx3_1_0"/>
          <p:cNvSpPr/>
          <p:nvPr/>
        </p:nvSpPr>
        <p:spPr>
          <a:xfrm>
            <a:off x="640080" y="17373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10" name="fx3_1_1"/>
          <p:cNvSpPr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050" dirty="0"/>
          </a:p>
        </p:txBody>
      </p:sp>
      <p:sp>
        <p:nvSpPr>
          <p:cNvPr id="11" name="fx3_1_2"/>
          <p:cNvSpPr/>
          <p:nvPr/>
        </p:nvSpPr>
        <p:spPr>
          <a:xfrm>
            <a:off x="914400" y="21031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Спроектировать, реализовать и проверить справочную систему ПсковГУ, которая отвечает на вопросы на естественном языке с указанием источников и работает локально на основе RAG и LLM</a:t>
            </a:r>
            <a:endParaRPr lang="en-US" sz="1400" dirty="0"/>
          </a:p>
        </p:txBody>
      </p:sp>
      <p:sp>
        <p:nvSpPr>
          <p:cNvPr id="12" name="fx3_2_3"/>
          <p:cNvSpPr/>
          <p:nvPr/>
        </p:nvSpPr>
        <p:spPr>
          <a:xfrm>
            <a:off x="640080" y="301752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3" name="fx3_2_4"/>
          <p:cNvSpPr/>
          <p:nvPr/>
        </p:nvSpPr>
        <p:spPr>
          <a:xfrm>
            <a:off x="86868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1050" dirty="0"/>
          </a:p>
        </p:txBody>
      </p:sp>
      <p:sp>
        <p:nvSpPr>
          <p:cNvPr id="14" name="fx3_2_5"/>
          <p:cNvSpPr/>
          <p:nvPr/>
        </p:nvSpPr>
        <p:spPr>
          <a:xfrm>
            <a:off x="868680" y="343814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Информационно-справочные системы образовательных организаций на основе обработки естественного языка</a:t>
            </a:r>
            <a:endParaRPr lang="en-US" sz="1200" dirty="0"/>
          </a:p>
        </p:txBody>
      </p:sp>
      <p:sp>
        <p:nvSpPr>
          <p:cNvPr id="15" name="fx3_2_6"/>
          <p:cNvSpPr/>
          <p:nvPr/>
        </p:nvSpPr>
        <p:spPr>
          <a:xfrm>
            <a:off x="640080" y="4590288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6" name="fx3_2_7"/>
          <p:cNvSpPr/>
          <p:nvPr/>
        </p:nvSpPr>
        <p:spPr>
          <a:xfrm>
            <a:off x="868680" y="4718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1050" dirty="0"/>
          </a:p>
        </p:txBody>
      </p:sp>
      <p:sp>
        <p:nvSpPr>
          <p:cNvPr id="17" name="fx3_2_8"/>
          <p:cNvSpPr/>
          <p:nvPr/>
        </p:nvSpPr>
        <p:spPr>
          <a:xfrm>
            <a:off x="868680" y="501091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семантического поиска, извлечения текста и генерации ответов в RAG-системах для русскоязычных баз знаний вузов</a:t>
            </a:r>
            <a:endParaRPr lang="en-US" sz="1200" dirty="0"/>
          </a:p>
        </p:txBody>
      </p:sp>
      <p:sp>
        <p:nvSpPr>
          <p:cNvPr id="18" name="fx3_3_9"/>
          <p:cNvSpPr/>
          <p:nvPr/>
        </p:nvSpPr>
        <p:spPr>
          <a:xfrm>
            <a:off x="5120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050" dirty="0"/>
          </a:p>
        </p:txBody>
      </p:sp>
      <p:sp>
        <p:nvSpPr>
          <p:cNvPr id="19" name="fx3_3_10"/>
          <p:cNvSpPr/>
          <p:nvPr/>
        </p:nvSpPr>
        <p:spPr>
          <a:xfrm>
            <a:off x="5120640" y="337413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0" name="fx3_3_11"/>
          <p:cNvSpPr/>
          <p:nvPr/>
        </p:nvSpPr>
        <p:spPr>
          <a:xfrm>
            <a:off x="51206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fx3_3_12"/>
          <p:cNvSpPr/>
          <p:nvPr/>
        </p:nvSpPr>
        <p:spPr>
          <a:xfrm>
            <a:off x="5559552" y="33467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принципы LLM и RAG-архитектуры</a:t>
            </a:r>
            <a:endParaRPr lang="en-US" sz="1250" dirty="0"/>
          </a:p>
        </p:txBody>
      </p:sp>
      <p:sp>
        <p:nvSpPr>
          <p:cNvPr id="22" name="fx3_3_13"/>
          <p:cNvSpPr/>
          <p:nvPr/>
        </p:nvSpPr>
        <p:spPr>
          <a:xfrm>
            <a:off x="5120640" y="378561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3" name="fx3_3_14"/>
          <p:cNvSpPr/>
          <p:nvPr/>
        </p:nvSpPr>
        <p:spPr>
          <a:xfrm>
            <a:off x="5120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fx3_3_15"/>
          <p:cNvSpPr/>
          <p:nvPr/>
        </p:nvSpPr>
        <p:spPr>
          <a:xfrm>
            <a:off x="5559552" y="37581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аналогов и выбор технологического стека</a:t>
            </a:r>
            <a:endParaRPr lang="en-US" sz="1250" dirty="0"/>
          </a:p>
        </p:txBody>
      </p:sp>
      <p:sp>
        <p:nvSpPr>
          <p:cNvPr id="25" name="fx3_3_16"/>
          <p:cNvSpPr/>
          <p:nvPr/>
        </p:nvSpPr>
        <p:spPr>
          <a:xfrm>
            <a:off x="5120640" y="419709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6" name="fx3_3_17"/>
          <p:cNvSpPr/>
          <p:nvPr/>
        </p:nvSpPr>
        <p:spPr>
          <a:xfrm>
            <a:off x="512064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fx3_3_18"/>
          <p:cNvSpPr/>
          <p:nvPr/>
        </p:nvSpPr>
        <p:spPr>
          <a:xfrm>
            <a:off x="5559552" y="41696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архитектуру: offline-пайплайн + online-сервис</a:t>
            </a:r>
            <a:endParaRPr lang="en-US" sz="1250" dirty="0"/>
          </a:p>
        </p:txBody>
      </p:sp>
      <p:sp>
        <p:nvSpPr>
          <p:cNvPr id="28" name="fx3_3_19"/>
          <p:cNvSpPr/>
          <p:nvPr/>
        </p:nvSpPr>
        <p:spPr>
          <a:xfrm>
            <a:off x="5120640" y="460857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9" name="fx3_3_20"/>
          <p:cNvSpPr/>
          <p:nvPr/>
        </p:nvSpPr>
        <p:spPr>
          <a:xfrm>
            <a:off x="5120640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fx3_3_21"/>
          <p:cNvSpPr/>
          <p:nvPr/>
        </p:nvSpPr>
        <p:spPr>
          <a:xfrm>
            <a:off x="5559552" y="4581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сбор и обработку данных сайта ПсковГУ</a:t>
            </a:r>
            <a:endParaRPr lang="en-US" sz="1250" dirty="0"/>
          </a:p>
        </p:txBody>
      </p:sp>
      <p:sp>
        <p:nvSpPr>
          <p:cNvPr id="31" name="fx3_4_22"/>
          <p:cNvSpPr/>
          <p:nvPr/>
        </p:nvSpPr>
        <p:spPr>
          <a:xfrm>
            <a:off x="5120640" y="502005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32" name="fx3_4_23"/>
          <p:cNvSpPr/>
          <p:nvPr/>
        </p:nvSpPr>
        <p:spPr>
          <a:xfrm>
            <a:off x="512064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fx3_4_24"/>
          <p:cNvSpPr/>
          <p:nvPr/>
        </p:nvSpPr>
        <p:spPr>
          <a:xfrm>
            <a:off x="5559552" y="4992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векторный индекс FAISS (модель bge-m3)</a:t>
            </a:r>
            <a:endParaRPr lang="en-US" sz="1250" dirty="0"/>
          </a:p>
        </p:txBody>
      </p:sp>
      <p:sp>
        <p:nvSpPr>
          <p:cNvPr id="34" name="fx3_4_25"/>
          <p:cNvSpPr/>
          <p:nvPr/>
        </p:nvSpPr>
        <p:spPr>
          <a:xfrm>
            <a:off x="5120640" y="543153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35" name="fx3_4_26"/>
          <p:cNvSpPr/>
          <p:nvPr/>
        </p:nvSpPr>
        <p:spPr>
          <a:xfrm>
            <a:off x="5120640" y="5431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fx3_4_27"/>
          <p:cNvSpPr/>
          <p:nvPr/>
        </p:nvSpPr>
        <p:spPr>
          <a:xfrm>
            <a:off x="5559552" y="54041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API, веб-чат и админ-панель</a:t>
            </a:r>
            <a:endParaRPr lang="en-US" sz="1250" dirty="0"/>
          </a:p>
        </p:txBody>
      </p:sp>
      <p:sp>
        <p:nvSpPr>
          <p:cNvPr id="37" name="fx3_4_28"/>
          <p:cNvSpPr/>
          <p:nvPr/>
        </p:nvSpPr>
        <p:spPr>
          <a:xfrm>
            <a:off x="5120640" y="5843016"/>
            <a:ext cx="310896" cy="310896"/>
          </a:xfrm>
          <a:prstGeom prst="ellipse">
            <a:avLst/>
          </a:prstGeom>
          <a:solidFill>
            <a:srgbClr val="1F2742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38" name="fx3_4_29"/>
          <p:cNvSpPr/>
          <p:nvPr/>
        </p:nvSpPr>
        <p:spPr>
          <a:xfrm>
            <a:off x="5120640" y="5843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39" name="fx3_4_30"/>
          <p:cNvSpPr/>
          <p:nvPr/>
        </p:nvSpPr>
        <p:spPr>
          <a:xfrm>
            <a:off x="5559552" y="5815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экспериментальную проверку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ВЗГЛЯД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глазами системного анализа</a:t>
            </a:r>
            <a:endParaRPr lang="en-US" sz="3200" dirty="0"/>
          </a:p>
        </p:txBody>
      </p:sp>
      <p:sp>
        <p:nvSpPr>
          <p:cNvPr id="9" name="fx4_1_0"/>
          <p:cNvSpPr/>
          <p:nvPr/>
        </p:nvSpPr>
        <p:spPr>
          <a:xfrm>
            <a:off x="2743200" y="1664208"/>
            <a:ext cx="6702552" cy="384048"/>
          </a:xfrm>
          <a:prstGeom prst="roundRect">
            <a:avLst>
              <a:gd name="adj" fmla="val 50000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10" name="fx4_1_1"/>
          <p:cNvSpPr/>
          <p:nvPr/>
        </p:nvSpPr>
        <p:spPr>
          <a:xfrm>
            <a:off x="2743200" y="1664208"/>
            <a:ext cx="6702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точный ответ из документов вуза — с источниками и без утечки данных</a:t>
            </a:r>
            <a:endParaRPr lang="en-US" sz="1100" dirty="0"/>
          </a:p>
        </p:txBody>
      </p:sp>
      <p:sp>
        <p:nvSpPr>
          <p:cNvPr id="11" name="fx4_2_2"/>
          <p:cNvSpPr/>
          <p:nvPr/>
        </p:nvSpPr>
        <p:spPr>
          <a:xfrm>
            <a:off x="640080" y="2514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2" name="fx4_2_3"/>
          <p:cNvSpPr/>
          <p:nvPr/>
        </p:nvSpPr>
        <p:spPr>
          <a:xfrm>
            <a:off x="82296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050" dirty="0"/>
          </a:p>
        </p:txBody>
      </p:sp>
      <p:sp>
        <p:nvSpPr>
          <p:cNvPr id="13" name="fx4_2_4"/>
          <p:cNvSpPr/>
          <p:nvPr/>
        </p:nvSpPr>
        <p:spPr>
          <a:xfrm>
            <a:off x="822960" y="292608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на естественном языке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Профиль: студент (группа), преподаватель, гость</a:t>
            </a:r>
            <a:endParaRPr lang="en-US" sz="1150" dirty="0"/>
          </a:p>
        </p:txBody>
      </p:sp>
      <p:sp>
        <p:nvSpPr>
          <p:cNvPr id="14" name="fx4_4_5"/>
          <p:cNvSpPr/>
          <p:nvPr/>
        </p:nvSpPr>
        <p:spPr>
          <a:xfrm>
            <a:off x="9539935" y="2514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5" name="fx4_4_6"/>
          <p:cNvSpPr/>
          <p:nvPr/>
        </p:nvSpPr>
        <p:spPr>
          <a:xfrm>
            <a:off x="9722815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</a:t>
            </a:r>
            <a:endParaRPr lang="en-US" sz="1050" dirty="0"/>
          </a:p>
        </p:txBody>
      </p:sp>
      <p:sp>
        <p:nvSpPr>
          <p:cNvPr id="16" name="fx4_4_7"/>
          <p:cNvSpPr/>
          <p:nvPr/>
        </p:nvSpPr>
        <p:spPr>
          <a:xfrm>
            <a:off x="9722815" y="292608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Краткий ответ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на источники (страницы и документы ПсковГУ)</a:t>
            </a:r>
            <a:endParaRPr lang="en-US" sz="1150" dirty="0"/>
          </a:p>
        </p:txBody>
      </p:sp>
      <p:sp>
        <p:nvSpPr>
          <p:cNvPr id="17" name="fx4_2_8"/>
          <p:cNvSpPr/>
          <p:nvPr/>
        </p:nvSpPr>
        <p:spPr>
          <a:xfrm>
            <a:off x="26517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fx4_4_9"/>
          <p:cNvSpPr/>
          <p:nvPr/>
        </p:nvSpPr>
        <p:spPr>
          <a:xfrm>
            <a:off x="8991295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fx4_3_10"/>
          <p:cNvSpPr/>
          <p:nvPr/>
        </p:nvSpPr>
        <p:spPr>
          <a:xfrm>
            <a:off x="3246120" y="2331720"/>
            <a:ext cx="5696712" cy="2514600"/>
          </a:xfrm>
          <a:prstGeom prst="roundRect">
            <a:avLst>
              <a:gd name="adj" fmla="val 4364"/>
            </a:avLst>
          </a:prstGeom>
          <a:solidFill>
            <a:srgbClr val="141A2E"/>
          </a:solidFill>
          <a:ln w="19050">
            <a:solidFill>
              <a:srgbClr val="6574FF"/>
            </a:solidFill>
            <a:prstDash val="solid"/>
          </a:ln>
        </p:spPr>
      </p:sp>
      <p:sp>
        <p:nvSpPr>
          <p:cNvPr id="20" name="fx4_3_11"/>
          <p:cNvSpPr/>
          <p:nvPr/>
        </p:nvSpPr>
        <p:spPr>
          <a:xfrm>
            <a:off x="34290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1000" dirty="0"/>
          </a:p>
        </p:txBody>
      </p:sp>
      <p:sp>
        <p:nvSpPr>
          <p:cNvPr id="21" name="fx4_3_12"/>
          <p:cNvSpPr/>
          <p:nvPr/>
        </p:nvSpPr>
        <p:spPr>
          <a:xfrm>
            <a:off x="3474720" y="2788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2" name="fx4_3_13"/>
          <p:cNvSpPr/>
          <p:nvPr/>
        </p:nvSpPr>
        <p:spPr>
          <a:xfrm>
            <a:off x="3584448" y="278892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Offline-пайплайн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сбор, извлечение, OCR, нарезка, индексация</a:t>
            </a:r>
            <a:endParaRPr lang="en-US" sz="1200" dirty="0"/>
          </a:p>
        </p:txBody>
      </p:sp>
      <p:sp>
        <p:nvSpPr>
          <p:cNvPr id="23" name="fx4_3_14"/>
          <p:cNvSpPr/>
          <p:nvPr/>
        </p:nvSpPr>
        <p:spPr>
          <a:xfrm>
            <a:off x="6336792" y="2788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4" name="fx4_3_15"/>
          <p:cNvSpPr/>
          <p:nvPr/>
        </p:nvSpPr>
        <p:spPr>
          <a:xfrm>
            <a:off x="6446520" y="278892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Online-сервис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reranking, LLM, чат, виджет</a:t>
            </a:r>
            <a:endParaRPr lang="en-US" sz="1200" dirty="0"/>
          </a:p>
        </p:txBody>
      </p:sp>
      <p:sp>
        <p:nvSpPr>
          <p:cNvPr id="25" name="fx4_3_16"/>
          <p:cNvSpPr/>
          <p:nvPr/>
        </p:nvSpPr>
        <p:spPr>
          <a:xfrm>
            <a:off x="4709160" y="3904488"/>
            <a:ext cx="2770632" cy="749808"/>
          </a:xfrm>
          <a:prstGeom prst="roundRect">
            <a:avLst>
              <a:gd name="adj" fmla="val 9756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6" name="fx4_3_17"/>
          <p:cNvSpPr/>
          <p:nvPr/>
        </p:nvSpPr>
        <p:spPr>
          <a:xfrm>
            <a:off x="4818888" y="3904488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(≈50 000 векторов) + SQLite</a:t>
            </a:r>
            <a:endParaRPr lang="en-US" sz="1200" dirty="0"/>
          </a:p>
        </p:txBody>
      </p:sp>
      <p:sp>
        <p:nvSpPr>
          <p:cNvPr id="27" name="fx4_3_18"/>
          <p:cNvSpPr/>
          <p:nvPr/>
        </p:nvSpPr>
        <p:spPr>
          <a:xfrm>
            <a:off x="4663440" y="3703320"/>
            <a:ext cx="594360" cy="201168"/>
          </a:xfrm>
          <a:prstGeom prst="line">
            <a:avLst/>
          </a:prstGeom>
          <a:noFill/>
          <a:ln w="15875">
            <a:solidFill>
              <a:srgbClr val="6574FF"/>
            </a:solidFill>
            <a:prstDash val="solid"/>
          </a:ln>
        </p:spPr>
      </p:sp>
      <p:sp>
        <p:nvSpPr>
          <p:cNvPr id="28" name="fx4_3_19"/>
          <p:cNvSpPr/>
          <p:nvPr/>
        </p:nvSpPr>
        <p:spPr>
          <a:xfrm flipV="1">
            <a:off x="6931152" y="3703320"/>
            <a:ext cx="594360" cy="201168"/>
          </a:xfrm>
          <a:prstGeom prst="line">
            <a:avLst/>
          </a:prstGeom>
          <a:noFill/>
          <a:ln w="15875">
            <a:solidFill>
              <a:srgbClr val="6574FF"/>
            </a:solidFill>
            <a:prstDash val="solid"/>
          </a:ln>
        </p:spPr>
      </p:sp>
      <p:sp>
        <p:nvSpPr>
          <p:cNvPr id="29" name="fx4_5_20"/>
          <p:cNvSpPr/>
          <p:nvPr/>
        </p:nvSpPr>
        <p:spPr>
          <a:xfrm>
            <a:off x="640080" y="5029200"/>
            <a:ext cx="3515258" cy="1188720"/>
          </a:xfrm>
          <a:prstGeom prst="roundRect">
            <a:avLst>
              <a:gd name="adj" fmla="val 7692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0" name="fx4_5_21"/>
          <p:cNvSpPr/>
          <p:nvPr/>
        </p:nvSpPr>
        <p:spPr>
          <a:xfrm>
            <a:off x="822960" y="512064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СРЕДА</a:t>
            </a:r>
            <a:endParaRPr lang="en-US" sz="1000" dirty="0"/>
          </a:p>
        </p:txBody>
      </p:sp>
      <p:sp>
        <p:nvSpPr>
          <p:cNvPr id="31" name="fx4_5_22"/>
          <p:cNvSpPr/>
          <p:nvPr/>
        </p:nvSpPr>
        <p:spPr>
          <a:xfrm>
            <a:off x="822960" y="5394960"/>
            <a:ext cx="3195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и администратор · сайты ПсковГУ (источник данных) · сервис расписания rasp.pskgu.ru</a:t>
            </a:r>
            <a:endParaRPr lang="en-US" sz="1050" dirty="0"/>
          </a:p>
        </p:txBody>
      </p:sp>
      <p:sp>
        <p:nvSpPr>
          <p:cNvPr id="32" name="fx4_5_23"/>
          <p:cNvSpPr/>
          <p:nvPr/>
        </p:nvSpPr>
        <p:spPr>
          <a:xfrm>
            <a:off x="4338218" y="5029200"/>
            <a:ext cx="3515258" cy="1188720"/>
          </a:xfrm>
          <a:prstGeom prst="roundRect">
            <a:avLst>
              <a:gd name="adj" fmla="val 7692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3" name="fx4_5_24"/>
          <p:cNvSpPr/>
          <p:nvPr/>
        </p:nvSpPr>
        <p:spPr>
          <a:xfrm>
            <a:off x="4521098" y="512064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000" dirty="0"/>
          </a:p>
        </p:txBody>
      </p:sp>
      <p:sp>
        <p:nvSpPr>
          <p:cNvPr id="34" name="fx4_5_25"/>
          <p:cNvSpPr/>
          <p:nvPr/>
        </p:nvSpPr>
        <p:spPr>
          <a:xfrm>
            <a:off x="4521098" y="5394960"/>
            <a:ext cx="3195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контур, 152-ФЗ · видеокарта RTX 3060 (12 ГБ) · русский язык, сканы, таблицы</a:t>
            </a:r>
            <a:endParaRPr lang="en-US" sz="1050" dirty="0"/>
          </a:p>
        </p:txBody>
      </p:sp>
      <p:sp>
        <p:nvSpPr>
          <p:cNvPr id="35" name="fx4_5_26"/>
          <p:cNvSpPr/>
          <p:nvPr/>
        </p:nvSpPr>
        <p:spPr>
          <a:xfrm>
            <a:off x="8036357" y="5029200"/>
            <a:ext cx="3515258" cy="1188720"/>
          </a:xfrm>
          <a:prstGeom prst="roundRect">
            <a:avLst>
              <a:gd name="adj" fmla="val 7692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6" name="fx4_5_27"/>
          <p:cNvSpPr/>
          <p:nvPr/>
        </p:nvSpPr>
        <p:spPr>
          <a:xfrm>
            <a:off x="8219237" y="5120640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КАЧЕСТВА</a:t>
            </a:r>
            <a:endParaRPr lang="en-US" sz="1000" dirty="0"/>
          </a:p>
        </p:txBody>
      </p:sp>
      <p:sp>
        <p:nvSpPr>
          <p:cNvPr id="37" name="fx4_5_28"/>
          <p:cNvSpPr/>
          <p:nvPr/>
        </p:nvSpPr>
        <p:spPr>
          <a:xfrm>
            <a:off x="8219237" y="5394960"/>
            <a:ext cx="3195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Верность ответа и источники · нет галлюцинаций · поиск ≤ 3–5 с, ответ ≤ 60 с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14" grpId="0" animBg="1"/>
      <p:bldP spid="15" grpId="0" animBg="1"/>
      <p:bldP spid="16" grpId="0" animBg="1"/>
      <p:bldP spid="1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ДАННЫЕ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два контура и одна база знаний</a:t>
            </a:r>
            <a:endParaRPr lang="en-US" sz="3200" dirty="0"/>
          </a:p>
        </p:txBody>
      </p:sp>
      <p:sp>
        <p:nvSpPr>
          <p:cNvPr id="9" name="fx5_1_0"/>
          <p:cNvSpPr/>
          <p:nvPr/>
        </p:nvSpPr>
        <p:spPr>
          <a:xfrm>
            <a:off x="594360" y="1691640"/>
            <a:ext cx="6263640" cy="3627056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0" name="fx5_1_1" descr="/home/user/omgGame/presentations/vkr-rag/asse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172200" cy="3535616"/>
          </a:xfrm>
          <a:prstGeom prst="rect">
            <a:avLst/>
          </a:prstGeom>
        </p:spPr>
      </p:pic>
      <p:sp>
        <p:nvSpPr>
          <p:cNvPr id="11" name="fx5_1_2"/>
          <p:cNvSpPr/>
          <p:nvPr/>
        </p:nvSpPr>
        <p:spPr>
          <a:xfrm>
            <a:off x="640080" y="536441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архитектура системы (рисунок из ВКР)</a:t>
            </a:r>
            <a:endParaRPr lang="en-US" sz="950" dirty="0"/>
          </a:p>
        </p:txBody>
      </p:sp>
      <p:sp>
        <p:nvSpPr>
          <p:cNvPr id="12" name="fx5_2_3"/>
          <p:cNvSpPr/>
          <p:nvPr/>
        </p:nvSpPr>
        <p:spPr>
          <a:xfrm>
            <a:off x="7086600" y="1719072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OFFLINE-ПАЙПЛАЙН В ЦИФРАХ</a:t>
            </a:r>
            <a:endParaRPr lang="en-US" sz="1050" dirty="0"/>
          </a:p>
        </p:txBody>
      </p:sp>
      <p:sp>
        <p:nvSpPr>
          <p:cNvPr id="13" name="fx5_2_4"/>
          <p:cNvSpPr/>
          <p:nvPr/>
        </p:nvSpPr>
        <p:spPr>
          <a:xfrm>
            <a:off x="7086600" y="2057400"/>
            <a:ext cx="4465015" cy="512064"/>
          </a:xfrm>
          <a:prstGeom prst="roundRect">
            <a:avLst>
              <a:gd name="adj" fmla="val 14286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4" name="fx5_2_5"/>
          <p:cNvSpPr/>
          <p:nvPr/>
        </p:nvSpPr>
        <p:spPr>
          <a:xfrm>
            <a:off x="7269480" y="2057400"/>
            <a:ext cx="419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12 000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стартовых URL (sitemap + поиск)</a:t>
            </a:r>
            <a:endParaRPr lang="en-US" sz="1500" dirty="0"/>
          </a:p>
        </p:txBody>
      </p:sp>
      <p:sp>
        <p:nvSpPr>
          <p:cNvPr id="15" name="fx5_2_6"/>
          <p:cNvSpPr/>
          <p:nvPr/>
        </p:nvSpPr>
        <p:spPr>
          <a:xfrm>
            <a:off x="7232904" y="2660904"/>
            <a:ext cx="4172407" cy="512064"/>
          </a:xfrm>
          <a:prstGeom prst="roundRect">
            <a:avLst>
              <a:gd name="adj" fmla="val 14286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6" name="fx5_2_7"/>
          <p:cNvSpPr/>
          <p:nvPr/>
        </p:nvSpPr>
        <p:spPr>
          <a:xfrm>
            <a:off x="7415784" y="2660904"/>
            <a:ext cx="38980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40 000+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веб-страниц, ≈ 26 ГБ</a:t>
            </a:r>
            <a:endParaRPr lang="en-US" sz="1500" dirty="0"/>
          </a:p>
        </p:txBody>
      </p:sp>
      <p:sp>
        <p:nvSpPr>
          <p:cNvPr id="17" name="fx5_3_8"/>
          <p:cNvSpPr/>
          <p:nvPr/>
        </p:nvSpPr>
        <p:spPr>
          <a:xfrm>
            <a:off x="7379208" y="3264408"/>
            <a:ext cx="3879799" cy="512064"/>
          </a:xfrm>
          <a:prstGeom prst="roundRect">
            <a:avLst>
              <a:gd name="adj" fmla="val 14286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8" name="fx5_3_9"/>
          <p:cNvSpPr/>
          <p:nvPr/>
        </p:nvSpPr>
        <p:spPr>
          <a:xfrm>
            <a:off x="7562088" y="3264408"/>
            <a:ext cx="36054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543 963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файла, 468 ГБ</a:t>
            </a:r>
            <a:endParaRPr lang="en-US" sz="1500" dirty="0"/>
          </a:p>
        </p:txBody>
      </p:sp>
      <p:sp>
        <p:nvSpPr>
          <p:cNvPr id="19" name="fx5_3_10"/>
          <p:cNvSpPr/>
          <p:nvPr/>
        </p:nvSpPr>
        <p:spPr>
          <a:xfrm>
            <a:off x="7525512" y="3867912"/>
            <a:ext cx="3587191" cy="512064"/>
          </a:xfrm>
          <a:prstGeom prst="roundRect">
            <a:avLst>
              <a:gd name="adj" fmla="val 14286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0" name="fx5_3_11"/>
          <p:cNvSpPr/>
          <p:nvPr/>
        </p:nvSpPr>
        <p:spPr>
          <a:xfrm>
            <a:off x="7708392" y="3867912"/>
            <a:ext cx="33128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50 000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чанков (49 731)</a:t>
            </a:r>
            <a:endParaRPr lang="en-US" sz="1500" dirty="0"/>
          </a:p>
        </p:txBody>
      </p:sp>
      <p:sp>
        <p:nvSpPr>
          <p:cNvPr id="21" name="fx5_4_12"/>
          <p:cNvSpPr/>
          <p:nvPr/>
        </p:nvSpPr>
        <p:spPr>
          <a:xfrm>
            <a:off x="7671816" y="4471416"/>
            <a:ext cx="3294583" cy="512064"/>
          </a:xfrm>
          <a:prstGeom prst="roundRect">
            <a:avLst>
              <a:gd name="adj" fmla="val 14286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2" name="fx5_4_13"/>
          <p:cNvSpPr/>
          <p:nvPr/>
        </p:nvSpPr>
        <p:spPr>
          <a:xfrm>
            <a:off x="7854696" y="4471416"/>
            <a:ext cx="302026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векторы bge-m3, ≈ 450 МБ</a:t>
            </a:r>
            <a:endParaRPr lang="en-US" sz="1500" dirty="0"/>
          </a:p>
        </p:txBody>
      </p:sp>
      <p:sp>
        <p:nvSpPr>
          <p:cNvPr id="23" name="fx5_5_14"/>
          <p:cNvSpPr/>
          <p:nvPr/>
        </p:nvSpPr>
        <p:spPr>
          <a:xfrm>
            <a:off x="7086600" y="5138928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Изюминки: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из 4 библиотек для PDF + OCR сканов · парсер таблиц с объединёнными ячейками · у каждого фрагмента сохранён путь к источнику</a:t>
            </a:r>
            <a:endParaRPr lang="en-US" sz="1050" dirty="0"/>
          </a:p>
        </p:txBody>
      </p:sp>
      <p:sp>
        <p:nvSpPr>
          <p:cNvPr id="24" name="fx5_6_15"/>
          <p:cNvSpPr/>
          <p:nvPr/>
        </p:nvSpPr>
        <p:spPr>
          <a:xfrm>
            <a:off x="640080" y="5916168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5" name="fx5_6_16"/>
          <p:cNvSpPr/>
          <p:nvPr/>
        </p:nvSpPr>
        <p:spPr>
          <a:xfrm>
            <a:off x="640080" y="59161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26" name="fx5_6_17"/>
          <p:cNvSpPr/>
          <p:nvPr/>
        </p:nvSpPr>
        <p:spPr>
          <a:xfrm>
            <a:off x="1517904" y="5916168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7" name="fx5_6_18"/>
          <p:cNvSpPr/>
          <p:nvPr/>
        </p:nvSpPr>
        <p:spPr>
          <a:xfrm>
            <a:off x="1517904" y="5916168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28" name="fx5_6_19"/>
          <p:cNvSpPr/>
          <p:nvPr/>
        </p:nvSpPr>
        <p:spPr>
          <a:xfrm>
            <a:off x="2473452" y="5916168"/>
            <a:ext cx="708660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9" name="fx5_6_20"/>
          <p:cNvSpPr/>
          <p:nvPr/>
        </p:nvSpPr>
        <p:spPr>
          <a:xfrm>
            <a:off x="2473452" y="5916168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000" dirty="0"/>
          </a:p>
        </p:txBody>
      </p:sp>
      <p:sp>
        <p:nvSpPr>
          <p:cNvPr id="30" name="fx5_6_21"/>
          <p:cNvSpPr/>
          <p:nvPr/>
        </p:nvSpPr>
        <p:spPr>
          <a:xfrm>
            <a:off x="3273552" y="5916168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1" name="fx5_6_22"/>
          <p:cNvSpPr/>
          <p:nvPr/>
        </p:nvSpPr>
        <p:spPr>
          <a:xfrm>
            <a:off x="3273552" y="59161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32" name="fx5_6_23"/>
          <p:cNvSpPr/>
          <p:nvPr/>
        </p:nvSpPr>
        <p:spPr>
          <a:xfrm>
            <a:off x="4151376" y="5916168"/>
            <a:ext cx="708660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3" name="fx5_6_24"/>
          <p:cNvSpPr/>
          <p:nvPr/>
        </p:nvSpPr>
        <p:spPr>
          <a:xfrm>
            <a:off x="4151376" y="5916168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1000" dirty="0"/>
          </a:p>
        </p:txBody>
      </p:sp>
      <p:sp>
        <p:nvSpPr>
          <p:cNvPr id="34" name="fx5_6_25"/>
          <p:cNvSpPr/>
          <p:nvPr/>
        </p:nvSpPr>
        <p:spPr>
          <a:xfrm>
            <a:off x="4951476" y="5916168"/>
            <a:ext cx="1175004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5" name="fx5_6_26"/>
          <p:cNvSpPr/>
          <p:nvPr/>
        </p:nvSpPr>
        <p:spPr>
          <a:xfrm>
            <a:off x="4951476" y="5916168"/>
            <a:ext cx="1175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BAAI/bge-m3</a:t>
            </a:r>
            <a:endParaRPr lang="en-US" sz="1000" dirty="0"/>
          </a:p>
        </p:txBody>
      </p:sp>
      <p:sp>
        <p:nvSpPr>
          <p:cNvPr id="36" name="fx5_6_27"/>
          <p:cNvSpPr/>
          <p:nvPr/>
        </p:nvSpPr>
        <p:spPr>
          <a:xfrm>
            <a:off x="6217920" y="5916168"/>
            <a:ext cx="1019556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7" name="fx5_6_28"/>
          <p:cNvSpPr/>
          <p:nvPr/>
        </p:nvSpPr>
        <p:spPr>
          <a:xfrm>
            <a:off x="6217920" y="5916168"/>
            <a:ext cx="1019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</a:t>
            </a:r>
            <a:endParaRPr lang="en-US" sz="1000" dirty="0"/>
          </a:p>
        </p:txBody>
      </p:sp>
      <p:sp>
        <p:nvSpPr>
          <p:cNvPr id="38" name="fx5_6_29"/>
          <p:cNvSpPr/>
          <p:nvPr/>
        </p:nvSpPr>
        <p:spPr>
          <a:xfrm>
            <a:off x="7328916" y="5916168"/>
            <a:ext cx="2107692" cy="329184"/>
          </a:xfrm>
          <a:prstGeom prst="roundRect">
            <a:avLst>
              <a:gd name="adj" fmla="val 50000"/>
            </a:avLst>
          </a:prstGeom>
          <a:solidFill>
            <a:srgbClr val="1F2742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39" name="fx5_6_30"/>
          <p:cNvSpPr/>
          <p:nvPr/>
        </p:nvSpPr>
        <p:spPr>
          <a:xfrm>
            <a:off x="7328916" y="5916168"/>
            <a:ext cx="21076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· Qwen / GPT-OSS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система отвечает на вопрос</a:t>
            </a:r>
            <a:endParaRPr lang="en-US" sz="3200" dirty="0"/>
          </a:p>
        </p:txBody>
      </p:sp>
      <p:sp>
        <p:nvSpPr>
          <p:cNvPr id="9" name="fx6_1_0"/>
          <p:cNvSpPr/>
          <p:nvPr/>
        </p:nvSpPr>
        <p:spPr>
          <a:xfrm>
            <a:off x="640080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0" name="fx6_1_1"/>
          <p:cNvSpPr/>
          <p:nvPr/>
        </p:nvSpPr>
        <p:spPr>
          <a:xfrm>
            <a:off x="640080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профиль</a:t>
            </a:r>
            <a:endParaRPr lang="en-US" sz="1300" dirty="0"/>
          </a:p>
        </p:txBody>
      </p:sp>
      <p:sp>
        <p:nvSpPr>
          <p:cNvPr id="11" name="fx6_1_2"/>
          <p:cNvSpPr/>
          <p:nvPr/>
        </p:nvSpPr>
        <p:spPr>
          <a:xfrm>
            <a:off x="2245309" y="173736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fx6_1_3"/>
          <p:cNvSpPr/>
          <p:nvPr/>
        </p:nvSpPr>
        <p:spPr>
          <a:xfrm>
            <a:off x="2501341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3" name="fx6_1_4"/>
          <p:cNvSpPr/>
          <p:nvPr/>
        </p:nvSpPr>
        <p:spPr>
          <a:xfrm>
            <a:off x="2501341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Эмбеддинг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1300" dirty="0"/>
          </a:p>
        </p:txBody>
      </p:sp>
      <p:sp>
        <p:nvSpPr>
          <p:cNvPr id="14" name="fx6_1_5"/>
          <p:cNvSpPr/>
          <p:nvPr/>
        </p:nvSpPr>
        <p:spPr>
          <a:xfrm>
            <a:off x="4106570" y="173736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fx6_2_6"/>
          <p:cNvSpPr/>
          <p:nvPr/>
        </p:nvSpPr>
        <p:spPr>
          <a:xfrm>
            <a:off x="4362602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6" name="fx6_2_7"/>
          <p:cNvSpPr/>
          <p:nvPr/>
        </p:nvSpPr>
        <p:spPr>
          <a:xfrm>
            <a:off x="4362602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в FAISS</a:t>
            </a:r>
            <a:endParaRPr lang="en-US" sz="1300" dirty="0"/>
          </a:p>
        </p:txBody>
      </p:sp>
      <p:sp>
        <p:nvSpPr>
          <p:cNvPr id="17" name="fx6_2_8"/>
          <p:cNvSpPr/>
          <p:nvPr/>
        </p:nvSpPr>
        <p:spPr>
          <a:xfrm>
            <a:off x="5967832" y="173736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fx6_2_9"/>
          <p:cNvSpPr/>
          <p:nvPr/>
        </p:nvSpPr>
        <p:spPr>
          <a:xfrm>
            <a:off x="6223864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9" name="fx6_2_10"/>
          <p:cNvSpPr/>
          <p:nvPr/>
        </p:nvSpPr>
        <p:spPr>
          <a:xfrm>
            <a:off x="6223864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админа</a:t>
            </a:r>
            <a:endParaRPr lang="en-US" sz="1300" dirty="0"/>
          </a:p>
        </p:txBody>
      </p:sp>
      <p:sp>
        <p:nvSpPr>
          <p:cNvPr id="20" name="fx6_2_11"/>
          <p:cNvSpPr/>
          <p:nvPr/>
        </p:nvSpPr>
        <p:spPr>
          <a:xfrm>
            <a:off x="7829093" y="173736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fx6_3_12"/>
          <p:cNvSpPr/>
          <p:nvPr/>
        </p:nvSpPr>
        <p:spPr>
          <a:xfrm>
            <a:off x="8085125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2" name="fx6_3_13"/>
          <p:cNvSpPr/>
          <p:nvPr/>
        </p:nvSpPr>
        <p:spPr>
          <a:xfrm>
            <a:off x="8085125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+ правила</a:t>
            </a:r>
            <a:endParaRPr lang="en-US" sz="1300" dirty="0"/>
          </a:p>
        </p:txBody>
      </p:sp>
      <p:sp>
        <p:nvSpPr>
          <p:cNvPr id="23" name="fx6_3_14"/>
          <p:cNvSpPr/>
          <p:nvPr/>
        </p:nvSpPr>
        <p:spPr>
          <a:xfrm>
            <a:off x="9690354" y="173736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fx6_3_15"/>
          <p:cNvSpPr/>
          <p:nvPr/>
        </p:nvSpPr>
        <p:spPr>
          <a:xfrm>
            <a:off x="9946386" y="1691640"/>
            <a:ext cx="1605229" cy="713232"/>
          </a:xfrm>
          <a:prstGeom prst="roundRect">
            <a:avLst>
              <a:gd name="adj" fmla="val 12821"/>
            </a:avLst>
          </a:prstGeom>
          <a:solidFill>
            <a:srgbClr val="123026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fx6_3_16"/>
          <p:cNvSpPr/>
          <p:nvPr/>
        </p:nvSpPr>
        <p:spPr>
          <a:xfrm>
            <a:off x="9946386" y="1691640"/>
            <a:ext cx="160522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источники</a:t>
            </a:r>
            <a:endParaRPr lang="en-US" sz="1300" dirty="0"/>
          </a:p>
        </p:txBody>
      </p:sp>
      <p:sp>
        <p:nvSpPr>
          <p:cNvPr id="26" name="fx6_4_17"/>
          <p:cNvSpPr/>
          <p:nvPr/>
        </p:nvSpPr>
        <p:spPr>
          <a:xfrm>
            <a:off x="594360" y="2697480"/>
            <a:ext cx="6446520" cy="3310935"/>
          </a:xfrm>
          <a:prstGeom prst="roundRect">
            <a:avLst>
              <a:gd name="adj" fmla="val 2209"/>
            </a:avLst>
          </a:prstGeom>
          <a:solidFill>
            <a:srgbClr val="2A335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27" name="fx6_4_18" descr="/home/user/omgGame/presentations/vkr-rag/assets/ans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6355080" cy="3219495"/>
          </a:xfrm>
          <a:prstGeom prst="rect">
            <a:avLst/>
          </a:prstGeom>
        </p:spPr>
      </p:pic>
      <p:sp>
        <p:nvSpPr>
          <p:cNvPr id="28" name="fx6_4_19"/>
          <p:cNvSpPr/>
          <p:nvPr/>
        </p:nvSpPr>
        <p:spPr>
          <a:xfrm>
            <a:off x="640080" y="6054135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ответ: проходные баллы 09.03.03 за 2021–2025 и 3 источника со ссылками</a:t>
            </a:r>
            <a:endParaRPr lang="en-US" sz="950" dirty="0"/>
          </a:p>
        </p:txBody>
      </p:sp>
      <p:sp>
        <p:nvSpPr>
          <p:cNvPr id="29" name="fx6_5_20"/>
          <p:cNvSpPr/>
          <p:nvPr/>
        </p:nvSpPr>
        <p:spPr>
          <a:xfrm>
            <a:off x="7269480" y="2697480"/>
            <a:ext cx="4327855" cy="2249392"/>
          </a:xfrm>
          <a:prstGeom prst="roundRect">
            <a:avLst>
              <a:gd name="adj" fmla="val 3252"/>
            </a:avLst>
          </a:prstGeom>
          <a:solidFill>
            <a:srgbClr val="2A335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0" name="fx6_5_21" descr="/home/user/omgGame/presentations/vkr-rag/assets/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0"/>
            <a:ext cx="4236415" cy="2157952"/>
          </a:xfrm>
          <a:prstGeom prst="rect">
            <a:avLst/>
          </a:prstGeom>
        </p:spPr>
      </p:pic>
      <p:sp>
        <p:nvSpPr>
          <p:cNvPr id="31" name="fx6_5_22"/>
          <p:cNvSpPr/>
          <p:nvPr/>
        </p:nvSpPr>
        <p:spPr>
          <a:xfrm>
            <a:off x="7315200" y="499259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Админ-панель: 49 731 чанк, аудит запросов</a:t>
            </a:r>
            <a:endParaRPr lang="en-US" sz="950" dirty="0"/>
          </a:p>
        </p:txBody>
      </p:sp>
      <p:sp>
        <p:nvSpPr>
          <p:cNvPr id="32" name="fx6_5_23"/>
          <p:cNvSpPr/>
          <p:nvPr/>
        </p:nvSpPr>
        <p:spPr>
          <a:xfrm>
            <a:off x="7315200" y="5358352"/>
            <a:ext cx="4236415" cy="914400"/>
          </a:xfrm>
          <a:prstGeom prst="roundRect">
            <a:avLst>
              <a:gd name="adj" fmla="val 10000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33" name="fx6_5_24"/>
          <p:cNvSpPr/>
          <p:nvPr/>
        </p:nvSpPr>
        <p:spPr>
          <a:xfrm>
            <a:off x="7498080" y="5404072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отдельный маршрут: живой запрос к rasp.pskgu.ru, ответ под группу или преподавателя из профиля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ЭКСПЕРИМЕНТАЛЬНАЯ ПРОВЕРКА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пилотного тестирования</a:t>
            </a:r>
            <a:endParaRPr lang="en-US" sz="3200" dirty="0"/>
          </a:p>
        </p:txBody>
      </p:sp>
      <p:sp>
        <p:nvSpPr>
          <p:cNvPr id="9" name="fx7_1_0"/>
          <p:cNvSpPr/>
          <p:nvPr/>
        </p:nvSpPr>
        <p:spPr>
          <a:xfrm>
            <a:off x="640080" y="1737360"/>
            <a:ext cx="3017520" cy="2514600"/>
          </a:xfrm>
          <a:prstGeom prst="roundRect">
            <a:avLst>
              <a:gd name="adj" fmla="val 3636"/>
            </a:avLst>
          </a:prstGeom>
          <a:solidFill>
            <a:srgbClr val="123026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0" name="fx7_1_1"/>
          <p:cNvSpPr/>
          <p:nvPr/>
        </p:nvSpPr>
        <p:spPr>
          <a:xfrm>
            <a:off x="8686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8,47</a:t>
            </a:r>
            <a:endParaRPr lang="en-US" sz="5400" dirty="0"/>
          </a:p>
        </p:txBody>
      </p:sp>
      <p:sp>
        <p:nvSpPr>
          <p:cNvPr id="11" name="fx7_1_2"/>
          <p:cNvSpPr/>
          <p:nvPr/>
        </p:nvSpPr>
        <p:spPr>
          <a:xfrm>
            <a:off x="2560320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</a:t>
            </a:r>
            <a:endParaRPr lang="en-US" sz="2000" dirty="0"/>
          </a:p>
        </p:txBody>
      </p:sp>
      <p:sp>
        <p:nvSpPr>
          <p:cNvPr id="12" name="fx7_1_3"/>
          <p:cNvSpPr/>
          <p:nvPr/>
        </p:nvSpPr>
        <p:spPr>
          <a:xfrm>
            <a:off x="868680" y="281635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 из 300 баллов · 84,7 % · ±0,35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вопросов · 6 категорий · GPT-OSS 120B · top-K = 10 · оценка 1–10 по официальным страницам</a:t>
            </a:r>
            <a:endParaRPr lang="en-US" sz="1200" dirty="0"/>
          </a:p>
        </p:txBody>
      </p:sp>
      <p:sp>
        <p:nvSpPr>
          <p:cNvPr id="13" name="fx7_2_4"/>
          <p:cNvSpPr/>
          <p:nvPr/>
        </p:nvSpPr>
        <p:spPr>
          <a:xfrm>
            <a:off x="39776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БАЛЛ ПО КАТЕГОРИЯМ</a:t>
            </a:r>
            <a:endParaRPr lang="en-US" sz="1000" dirty="0"/>
          </a:p>
        </p:txBody>
      </p:sp>
      <p:sp>
        <p:nvSpPr>
          <p:cNvPr id="14" name="fx7_2_5"/>
          <p:cNvSpPr/>
          <p:nvPr/>
        </p:nvSpPr>
        <p:spPr>
          <a:xfrm>
            <a:off x="397764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Абитуриентские</a:t>
            </a:r>
            <a:endParaRPr lang="en-US" sz="1050" dirty="0"/>
          </a:p>
        </p:txBody>
      </p:sp>
      <p:sp>
        <p:nvSpPr>
          <p:cNvPr id="15" name="fx7_2_6"/>
          <p:cNvSpPr/>
          <p:nvPr/>
        </p:nvSpPr>
        <p:spPr>
          <a:xfrm>
            <a:off x="5623560" y="2139696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16" name="fx7_2_7"/>
          <p:cNvSpPr/>
          <p:nvPr/>
        </p:nvSpPr>
        <p:spPr>
          <a:xfrm>
            <a:off x="5623560" y="2139696"/>
            <a:ext cx="1901952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/>
        </p:spPr>
      </p:sp>
      <p:sp>
        <p:nvSpPr>
          <p:cNvPr id="17" name="fx7_2_8"/>
          <p:cNvSpPr/>
          <p:nvPr/>
        </p:nvSpPr>
        <p:spPr>
          <a:xfrm>
            <a:off x="7580376" y="2103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</a:t>
            </a:r>
            <a:endParaRPr lang="en-US" sz="1050" dirty="0"/>
          </a:p>
        </p:txBody>
      </p:sp>
      <p:sp>
        <p:nvSpPr>
          <p:cNvPr id="18" name="fx7_2_9"/>
          <p:cNvSpPr/>
          <p:nvPr/>
        </p:nvSpPr>
        <p:spPr>
          <a:xfrm>
            <a:off x="3977640" y="2441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о вузе</a:t>
            </a:r>
            <a:endParaRPr lang="en-US" sz="1050" dirty="0"/>
          </a:p>
        </p:txBody>
      </p:sp>
      <p:sp>
        <p:nvSpPr>
          <p:cNvPr id="19" name="fx7_2_10"/>
          <p:cNvSpPr/>
          <p:nvPr/>
        </p:nvSpPr>
        <p:spPr>
          <a:xfrm>
            <a:off x="5623560" y="2478024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20" name="fx7_2_11"/>
          <p:cNvSpPr/>
          <p:nvPr/>
        </p:nvSpPr>
        <p:spPr>
          <a:xfrm>
            <a:off x="5623560" y="2478024"/>
            <a:ext cx="1664208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/>
        </p:spPr>
      </p:sp>
      <p:sp>
        <p:nvSpPr>
          <p:cNvPr id="21" name="fx7_2_12"/>
          <p:cNvSpPr/>
          <p:nvPr/>
        </p:nvSpPr>
        <p:spPr>
          <a:xfrm>
            <a:off x="7342632" y="2441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</a:t>
            </a:r>
            <a:endParaRPr lang="en-US" sz="1050" dirty="0"/>
          </a:p>
        </p:txBody>
      </p:sp>
      <p:sp>
        <p:nvSpPr>
          <p:cNvPr id="22" name="fx7_2_13"/>
          <p:cNvSpPr/>
          <p:nvPr/>
        </p:nvSpPr>
        <p:spPr>
          <a:xfrm>
            <a:off x="3977640" y="27797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Ловушки</a:t>
            </a:r>
            <a:endParaRPr lang="en-US" sz="1050" dirty="0"/>
          </a:p>
        </p:txBody>
      </p:sp>
      <p:sp>
        <p:nvSpPr>
          <p:cNvPr id="23" name="fx7_2_14"/>
          <p:cNvSpPr/>
          <p:nvPr/>
        </p:nvSpPr>
        <p:spPr>
          <a:xfrm>
            <a:off x="5623560" y="2816352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24" name="fx7_2_15"/>
          <p:cNvSpPr/>
          <p:nvPr/>
        </p:nvSpPr>
        <p:spPr>
          <a:xfrm>
            <a:off x="5623560" y="2816352"/>
            <a:ext cx="1545336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/>
        </p:spPr>
      </p:sp>
      <p:sp>
        <p:nvSpPr>
          <p:cNvPr id="25" name="fx7_2_16"/>
          <p:cNvSpPr/>
          <p:nvPr/>
        </p:nvSpPr>
        <p:spPr>
          <a:xfrm>
            <a:off x="7223760" y="27797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</a:t>
            </a:r>
            <a:endParaRPr lang="en-US" sz="1050" dirty="0"/>
          </a:p>
        </p:txBody>
      </p:sp>
      <p:sp>
        <p:nvSpPr>
          <p:cNvPr id="26" name="fx7_2_17"/>
          <p:cNvSpPr/>
          <p:nvPr/>
        </p:nvSpPr>
        <p:spPr>
          <a:xfrm>
            <a:off x="3977640" y="3118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050" dirty="0"/>
          </a:p>
        </p:txBody>
      </p:sp>
      <p:sp>
        <p:nvSpPr>
          <p:cNvPr id="27" name="fx7_2_18"/>
          <p:cNvSpPr/>
          <p:nvPr/>
        </p:nvSpPr>
        <p:spPr>
          <a:xfrm>
            <a:off x="5623560" y="3154680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28" name="fx7_2_19"/>
          <p:cNvSpPr/>
          <p:nvPr/>
        </p:nvSpPr>
        <p:spPr>
          <a:xfrm>
            <a:off x="5623560" y="3154680"/>
            <a:ext cx="1307592" cy="219456"/>
          </a:xfrm>
          <a:prstGeom prst="roundRect">
            <a:avLst>
              <a:gd name="adj" fmla="val 20833"/>
            </a:avLst>
          </a:prstGeom>
          <a:solidFill>
            <a:srgbClr val="6574FF"/>
          </a:solidFill>
          <a:ln/>
        </p:spPr>
      </p:sp>
      <p:sp>
        <p:nvSpPr>
          <p:cNvPr id="29" name="fx7_2_20"/>
          <p:cNvSpPr/>
          <p:nvPr/>
        </p:nvSpPr>
        <p:spPr>
          <a:xfrm>
            <a:off x="6986016" y="3118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</a:t>
            </a:r>
            <a:endParaRPr lang="en-US" sz="1050" dirty="0"/>
          </a:p>
        </p:txBody>
      </p:sp>
      <p:sp>
        <p:nvSpPr>
          <p:cNvPr id="30" name="fx7_2_21"/>
          <p:cNvSpPr/>
          <p:nvPr/>
        </p:nvSpPr>
        <p:spPr>
          <a:xfrm>
            <a:off x="3977640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en-US" sz="1050" dirty="0"/>
          </a:p>
        </p:txBody>
      </p:sp>
      <p:sp>
        <p:nvSpPr>
          <p:cNvPr id="31" name="fx7_2_22"/>
          <p:cNvSpPr/>
          <p:nvPr/>
        </p:nvSpPr>
        <p:spPr>
          <a:xfrm>
            <a:off x="5623560" y="3493008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32" name="fx7_2_23"/>
          <p:cNvSpPr/>
          <p:nvPr/>
        </p:nvSpPr>
        <p:spPr>
          <a:xfrm>
            <a:off x="5623560" y="349300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33" name="fx7_2_24"/>
          <p:cNvSpPr/>
          <p:nvPr/>
        </p:nvSpPr>
        <p:spPr>
          <a:xfrm>
            <a:off x="6867144" y="34564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</a:t>
            </a:r>
            <a:endParaRPr lang="en-US" sz="1050" dirty="0"/>
          </a:p>
        </p:txBody>
      </p:sp>
      <p:sp>
        <p:nvSpPr>
          <p:cNvPr id="34" name="fx7_2_25"/>
          <p:cNvSpPr/>
          <p:nvPr/>
        </p:nvSpPr>
        <p:spPr>
          <a:xfrm>
            <a:off x="3977640" y="3794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Синонимы, опечатки</a:t>
            </a:r>
            <a:endParaRPr lang="en-US" sz="1050" dirty="0"/>
          </a:p>
        </p:txBody>
      </p:sp>
      <p:sp>
        <p:nvSpPr>
          <p:cNvPr id="35" name="fx7_2_26"/>
          <p:cNvSpPr/>
          <p:nvPr/>
        </p:nvSpPr>
        <p:spPr>
          <a:xfrm>
            <a:off x="5623560" y="3831336"/>
            <a:ext cx="2377440" cy="219456"/>
          </a:xfrm>
          <a:prstGeom prst="roundRect">
            <a:avLst>
              <a:gd name="adj" fmla="val 20833"/>
            </a:avLst>
          </a:prstGeom>
          <a:solidFill>
            <a:srgbClr val="181E33"/>
          </a:solidFill>
          <a:ln/>
        </p:spPr>
      </p:sp>
      <p:sp>
        <p:nvSpPr>
          <p:cNvPr id="36" name="fx7_2_27"/>
          <p:cNvSpPr/>
          <p:nvPr/>
        </p:nvSpPr>
        <p:spPr>
          <a:xfrm>
            <a:off x="5623560" y="3831336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37" name="fx7_2_28"/>
          <p:cNvSpPr/>
          <p:nvPr/>
        </p:nvSpPr>
        <p:spPr>
          <a:xfrm>
            <a:off x="6867144" y="3794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</a:t>
            </a:r>
            <a:endParaRPr lang="en-US" sz="1050" dirty="0"/>
          </a:p>
        </p:txBody>
      </p:sp>
      <p:sp>
        <p:nvSpPr>
          <p:cNvPr id="38" name="fx7_2_29"/>
          <p:cNvSpPr/>
          <p:nvPr/>
        </p:nvSpPr>
        <p:spPr>
          <a:xfrm>
            <a:off x="562356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от 6 до 10</a:t>
            </a:r>
            <a:endParaRPr lang="en-US" sz="850" dirty="0"/>
          </a:p>
        </p:txBody>
      </p:sp>
      <p:sp>
        <p:nvSpPr>
          <p:cNvPr id="39" name="fx7_3_30"/>
          <p:cNvSpPr/>
          <p:nvPr/>
        </p:nvSpPr>
        <p:spPr>
          <a:xfrm>
            <a:off x="8412480" y="173736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ОШИБОК</a:t>
            </a:r>
            <a:endParaRPr lang="en-US" sz="1000" dirty="0"/>
          </a:p>
        </p:txBody>
      </p:sp>
      <p:sp>
        <p:nvSpPr>
          <p:cNvPr id="40" name="fx7_3_31"/>
          <p:cNvSpPr/>
          <p:nvPr/>
        </p:nvSpPr>
        <p:spPr>
          <a:xfrm>
            <a:off x="8412480" y="2057400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41" name="fx7_3_32"/>
          <p:cNvSpPr/>
          <p:nvPr/>
        </p:nvSpPr>
        <p:spPr>
          <a:xfrm>
            <a:off x="8595360" y="2057400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источниках нет прямого ответа</a:t>
            </a:r>
            <a:endParaRPr lang="en-US" sz="1150" dirty="0"/>
          </a:p>
        </p:txBody>
      </p:sp>
      <p:sp>
        <p:nvSpPr>
          <p:cNvPr id="42" name="fx7_3_33"/>
          <p:cNvSpPr/>
          <p:nvPr/>
        </p:nvSpPr>
        <p:spPr>
          <a:xfrm>
            <a:off x="8412480" y="2743200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43" name="fx7_3_34"/>
          <p:cNvSpPr/>
          <p:nvPr/>
        </p:nvSpPr>
        <p:spPr>
          <a:xfrm>
            <a:off x="8595360" y="2743200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маршрут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напр., расписание в гостевом режиме</a:t>
            </a:r>
            <a:endParaRPr lang="en-US" sz="1150" dirty="0"/>
          </a:p>
        </p:txBody>
      </p:sp>
      <p:sp>
        <p:nvSpPr>
          <p:cNvPr id="44" name="fx7_3_35"/>
          <p:cNvSpPr/>
          <p:nvPr/>
        </p:nvSpPr>
        <p:spPr>
          <a:xfrm>
            <a:off x="8412480" y="3429000"/>
            <a:ext cx="3139135" cy="594360"/>
          </a:xfrm>
          <a:prstGeom prst="roundRect">
            <a:avLst>
              <a:gd name="adj" fmla="val 15385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45" name="fx7_3_36"/>
          <p:cNvSpPr/>
          <p:nvPr/>
        </p:nvSpPr>
        <p:spPr>
          <a:xfrm>
            <a:off x="8595360" y="3429000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лишние обобщения модели</a:t>
            </a:r>
            <a:endParaRPr lang="en-US" sz="1150" dirty="0"/>
          </a:p>
        </p:txBody>
      </p:sp>
      <p:sp>
        <p:nvSpPr>
          <p:cNvPr id="46" name="fx7_4_37"/>
          <p:cNvSpPr/>
          <p:nvPr/>
        </p:nvSpPr>
        <p:spPr>
          <a:xfrm>
            <a:off x="640080" y="4480560"/>
            <a:ext cx="7452360" cy="1719072"/>
          </a:xfrm>
          <a:prstGeom prst="roundRect">
            <a:avLst>
              <a:gd name="adj" fmla="val 5319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47" name="fx7_4_38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ПО ИТОГАМ</a:t>
            </a:r>
            <a:endParaRPr lang="en-US" sz="1000" dirty="0"/>
          </a:p>
        </p:txBody>
      </p:sp>
      <p:sp>
        <p:nvSpPr>
          <p:cNvPr id="48" name="fx7_4_39"/>
          <p:cNvSpPr/>
          <p:nvPr/>
        </p:nvSpPr>
        <p:spPr>
          <a:xfrm>
            <a:off x="868680" y="4864608"/>
            <a:ext cx="6995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Доработан системный промпт: без профиля система не даёт персональных ответов, а при нехватке данных честно сообщает об этом, а не угадывает.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верного поведения: на вопрос о проходном балле 2026 года система указала, что данные ещё не опубликованы.</a:t>
            </a:r>
            <a:endParaRPr lang="en-US" sz="1200" dirty="0"/>
          </a:p>
        </p:txBody>
      </p:sp>
      <p:sp>
        <p:nvSpPr>
          <p:cNvPr id="49" name="fx7_5_40"/>
          <p:cNvSpPr/>
          <p:nvPr/>
        </p:nvSpPr>
        <p:spPr>
          <a:xfrm>
            <a:off x="8412480" y="4480560"/>
            <a:ext cx="3139135" cy="1719072"/>
          </a:xfrm>
          <a:prstGeom prst="roundRect">
            <a:avLst>
              <a:gd name="adj" fmla="val 5319"/>
            </a:avLst>
          </a:prstGeom>
          <a:solidFill>
            <a:srgbClr val="2A1A1E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50" name="fx7_5_41"/>
          <p:cNvSpPr/>
          <p:nvPr/>
        </p:nvSpPr>
        <p:spPr>
          <a:xfrm>
            <a:off x="8595360" y="457200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000" dirty="0"/>
          </a:p>
        </p:txBody>
      </p:sp>
      <p:sp>
        <p:nvSpPr>
          <p:cNvPr id="51" name="fx7_5_42"/>
          <p:cNvSpPr/>
          <p:nvPr/>
        </p:nvSpPr>
        <p:spPr>
          <a:xfrm>
            <a:off x="8595360" y="4864608"/>
            <a:ext cx="28648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всего 30 вопросов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оценивал сам автор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нет сравнения с LLM без поиска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нет полного перетеста после доработки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6574FF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ПЕРСПЕКТИВЫ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ВКР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что дальше</a:t>
            </a:r>
            <a:endParaRPr lang="en-US" sz="3200" dirty="0"/>
          </a:p>
        </p:txBody>
      </p:sp>
      <p:sp>
        <p:nvSpPr>
          <p:cNvPr id="9" name="fx8_1_0"/>
          <p:cNvSpPr/>
          <p:nvPr/>
        </p:nvSpPr>
        <p:spPr>
          <a:xfrm>
            <a:off x="64008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1050" dirty="0"/>
          </a:p>
        </p:txBody>
      </p:sp>
      <p:sp>
        <p:nvSpPr>
          <p:cNvPr id="10" name="fx8_1_1"/>
          <p:cNvSpPr/>
          <p:nvPr/>
        </p:nvSpPr>
        <p:spPr>
          <a:xfrm>
            <a:off x="640080" y="20574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1" name="fx8_1_2"/>
          <p:cNvSpPr/>
          <p:nvPr/>
        </p:nvSpPr>
        <p:spPr>
          <a:xfrm>
            <a:off x="777240" y="20574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fx8_1_3"/>
          <p:cNvSpPr/>
          <p:nvPr/>
        </p:nvSpPr>
        <p:spPr>
          <a:xfrm>
            <a:off x="123444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достигнута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комплекс: от сбора данных до ответа с источниками</a:t>
            </a:r>
            <a:endParaRPr lang="en-US" sz="1300" dirty="0"/>
          </a:p>
        </p:txBody>
      </p:sp>
      <p:sp>
        <p:nvSpPr>
          <p:cNvPr id="13" name="fx8_1_4"/>
          <p:cNvSpPr/>
          <p:nvPr/>
        </p:nvSpPr>
        <p:spPr>
          <a:xfrm>
            <a:off x="640080" y="2990088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4" name="fx8_1_5"/>
          <p:cNvSpPr/>
          <p:nvPr/>
        </p:nvSpPr>
        <p:spPr>
          <a:xfrm>
            <a:off x="777240" y="299008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fx8_1_6"/>
          <p:cNvSpPr/>
          <p:nvPr/>
        </p:nvSpPr>
        <p:spPr>
          <a:xfrm>
            <a:off x="1234440" y="2990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локально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покидают вуз — соответствие 152-ФЗ</a:t>
            </a:r>
            <a:endParaRPr lang="en-US" sz="1300" dirty="0"/>
          </a:p>
        </p:txBody>
      </p:sp>
      <p:sp>
        <p:nvSpPr>
          <p:cNvPr id="16" name="fx8_2_7"/>
          <p:cNvSpPr/>
          <p:nvPr/>
        </p:nvSpPr>
        <p:spPr>
          <a:xfrm>
            <a:off x="640080" y="3922776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7" name="fx8_2_8"/>
          <p:cNvSpPr/>
          <p:nvPr/>
        </p:nvSpPr>
        <p:spPr>
          <a:xfrm>
            <a:off x="777240" y="392277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fx8_2_9"/>
          <p:cNvSpPr/>
          <p:nvPr/>
        </p:nvSpPr>
        <p:spPr>
          <a:xfrm>
            <a:off x="1234440" y="392277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Встраивается в сайт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отдельное веб-приложение или виджет на pskgu.ru</a:t>
            </a:r>
            <a:endParaRPr lang="en-US" sz="1300" dirty="0"/>
          </a:p>
        </p:txBody>
      </p:sp>
      <p:sp>
        <p:nvSpPr>
          <p:cNvPr id="19" name="fx8_2_10"/>
          <p:cNvSpPr/>
          <p:nvPr/>
        </p:nvSpPr>
        <p:spPr>
          <a:xfrm>
            <a:off x="640080" y="4855464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181E33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0" name="fx8_2_11"/>
          <p:cNvSpPr/>
          <p:nvPr/>
        </p:nvSpPr>
        <p:spPr>
          <a:xfrm>
            <a:off x="777240" y="485546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fx8_2_12"/>
          <p:cNvSpPr/>
          <p:nvPr/>
        </p:nvSpPr>
        <p:spPr>
          <a:xfrm>
            <a:off x="1234440" y="48554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Управляемое качество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админ-панель: правка и исключение фрагментов, аудит запросов</a:t>
            </a:r>
            <a:endParaRPr lang="en-US" sz="1300" dirty="0"/>
          </a:p>
        </p:txBody>
      </p:sp>
      <p:sp>
        <p:nvSpPr>
          <p:cNvPr id="22" name="fx8_3_13"/>
          <p:cNvSpPr/>
          <p:nvPr/>
        </p:nvSpPr>
        <p:spPr>
          <a:xfrm>
            <a:off x="6263640" y="1719072"/>
            <a:ext cx="5287975" cy="4526280"/>
          </a:xfrm>
          <a:prstGeom prst="roundRect">
            <a:avLst>
              <a:gd name="adj" fmla="val 2020"/>
            </a:avLst>
          </a:prstGeom>
          <a:solidFill>
            <a:srgbClr val="17213A"/>
          </a:solidFill>
          <a:ln w="9525">
            <a:solidFill>
              <a:srgbClr val="6574FF"/>
            </a:solidFill>
            <a:prstDash val="solid"/>
          </a:ln>
        </p:spPr>
      </p:sp>
      <p:sp>
        <p:nvSpPr>
          <p:cNvPr id="23" name="fx8_3_14"/>
          <p:cNvSpPr/>
          <p:nvPr/>
        </p:nvSpPr>
        <p:spPr>
          <a:xfrm>
            <a:off x="6537960" y="1847088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→ ЗАДЕЛ ДЛЯ МАГИСТРАТУРЫ</a:t>
            </a:r>
            <a:endParaRPr lang="en-US" sz="1050" dirty="0"/>
          </a:p>
        </p:txBody>
      </p:sp>
      <p:sp>
        <p:nvSpPr>
          <p:cNvPr id="24" name="fx8_3_15"/>
          <p:cNvSpPr/>
          <p:nvPr/>
        </p:nvSpPr>
        <p:spPr>
          <a:xfrm>
            <a:off x="65379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fx8_3_16"/>
          <p:cNvSpPr/>
          <p:nvPr/>
        </p:nvSpPr>
        <p:spPr>
          <a:xfrm>
            <a:off x="7132320" y="222199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Строгая оценка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LLM без поиска, автоматические метрики качества RAG</a:t>
            </a:r>
            <a:endParaRPr lang="en-US" sz="1250" dirty="0"/>
          </a:p>
        </p:txBody>
      </p:sp>
      <p:sp>
        <p:nvSpPr>
          <p:cNvPr id="26" name="fx8_3_17"/>
          <p:cNvSpPr/>
          <p:nvPr/>
        </p:nvSpPr>
        <p:spPr>
          <a:xfrm>
            <a:off x="653796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fx8_3_18"/>
          <p:cNvSpPr/>
          <p:nvPr/>
        </p:nvSpPr>
        <p:spPr>
          <a:xfrm>
            <a:off x="7132320" y="295351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данных для теста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расширенный набор вопросов, несколько экспертов</a:t>
            </a:r>
            <a:endParaRPr lang="en-US" sz="1250" dirty="0"/>
          </a:p>
        </p:txBody>
      </p:sp>
      <p:sp>
        <p:nvSpPr>
          <p:cNvPr id="28" name="fx8_3_19"/>
          <p:cNvSpPr/>
          <p:nvPr/>
        </p:nvSpPr>
        <p:spPr>
          <a:xfrm>
            <a:off x="65379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fx8_3_20"/>
          <p:cNvSpPr/>
          <p:nvPr/>
        </p:nvSpPr>
        <p:spPr>
          <a:xfrm>
            <a:off x="7132320" y="368503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база знаний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инкрементальное обновление индекса без полной пересборки</a:t>
            </a:r>
            <a:endParaRPr lang="en-US" sz="1250" dirty="0"/>
          </a:p>
        </p:txBody>
      </p:sp>
      <p:sp>
        <p:nvSpPr>
          <p:cNvPr id="30" name="fx8_4_21"/>
          <p:cNvSpPr/>
          <p:nvPr/>
        </p:nvSpPr>
        <p:spPr>
          <a:xfrm>
            <a:off x="653796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fx8_4_22"/>
          <p:cNvSpPr/>
          <p:nvPr/>
        </p:nvSpPr>
        <p:spPr>
          <a:xfrm>
            <a:off x="7132320" y="441655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Умная маршрутизация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агентный подход к выбору сценария ответа</a:t>
            </a:r>
            <a:endParaRPr lang="en-US" sz="1250" dirty="0"/>
          </a:p>
        </p:txBody>
      </p:sp>
      <p:sp>
        <p:nvSpPr>
          <p:cNvPr id="32" name="fx8_4_23"/>
          <p:cNvSpPr/>
          <p:nvPr/>
        </p:nvSpPr>
        <p:spPr>
          <a:xfrm>
            <a:off x="6537960" y="5166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7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fx8_4_24"/>
          <p:cNvSpPr/>
          <p:nvPr/>
        </p:nvSpPr>
        <p:spPr>
          <a:xfrm>
            <a:off x="7132320" y="514807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E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2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запуск в ПсковГУ и перенос в другие организации</a:t>
            </a:r>
            <a:endParaRPr lang="en-US" sz="1250" dirty="0"/>
          </a:p>
        </p:txBody>
      </p:sp>
      <p:sp>
        <p:nvSpPr>
          <p:cNvPr id="34" name="fx8_5_25"/>
          <p:cNvSpPr/>
          <p:nvPr/>
        </p:nvSpPr>
        <p:spPr>
          <a:xfrm>
            <a:off x="640080" y="58338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A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справочная система ПсковГУ на основе RAG и LLM</dc:title>
  <dc:subject>PptxGenJS Presentation</dc:subject>
  <dc:creator>Мейер-Шишнёв В. А.</dc:creator>
  <cp:lastModifiedBy>Мейер-Шишнёв В. А.</cp:lastModifiedBy>
  <cp:revision>1</cp:revision>
  <dcterms:created xsi:type="dcterms:W3CDTF">2026-10-08T15:29:43Z</dcterms:created>
  <dcterms:modified xsi:type="dcterms:W3CDTF">2026-10-08T15:29:43Z</dcterms:modified>
</cp:coreProperties>
</file>