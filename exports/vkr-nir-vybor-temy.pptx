
<file path=[Content_Types].xml><?xml version="1.0" encoding="utf-8"?>
<Types xmlns="http://schemas.openxmlformats.org/package/2006/content-types">
  <Default Extension="glb" ContentType="model/gltf.binary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Я расскажу, как выбирал и обосновывал тему своей научно-исследовательской работы. Это моя выпускная работа бакалавра — интеллектуальная справочная система ПсковГУ на основе RAG и больших языковых моделей. Пройду по плану: тема, актуальность, новизна и значимость, объект и предмет, цель, задачи и что уже сделано другими.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Тему удобно разобрать на три части. Что — справочная система, которая отвечает на вопросы обычным языком и даёт ссылки на источники. Где — в ПсковГУ, на реальных данных сайтов и документов вуза. Как — через RAG: сначала поиск по своей базе знаний, потом генерация ответа языковой моделью. Выбрал эту тему, потому что проблема поиска информации на сайте вуза знакома каждому студенту, а большие языковые модели сейчас главное направление в ИИ. Плюс на выходе получается не учебный пример, а работающая система.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это актуально. До 60 процентов обращений в справочные службы вузов касаются информации, которая уже есть на сайте, — её просто сложно найти. Обычный поиск ищет слова, а не смысл: на запрос «когда начинается сессия» он не найдёт «график промежуточной аттестации». Облачные модели вроде ChatGPT тоже не подходят: документы уходят на внешние серверы, а это противоречит 152-ФЗ, и без локальных данных модель выдумывает ответы. Отсюда противоречие: потребность в быстром доступе к информации есть, а подходящих локальных инструментов для русскоязычных документов вуза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Новизна в том, что полноценных локальных RAG-систем, работающих со всей внутренней документацией, в российских вузах я при обзоре не нашёл. Кроме того, в работе есть свои технические решения: каскад извлечения текста из PDF с распознаванием сканов, разбор таблиц с объединёнными ячейками, исправление ответов без переиндексации и живое расписание под роль пользователя. Практическая значимость: система охватывает весь цикл от сбора данных до диалога, работает локально на одной видеокарте и может быть перенесена в другие вузы и организации.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Объект исследования — информационно-справочные системы образовательных организаций на основе обработки естественного языка. Предмет — более узкая часть объекта: методы семантического поиска, извлечения текста и генерации ответов в RAG-системах для русскоязычных баз знаний вузов. Справа методы, которыми я пользовался: от анализа литературы и аналогов до сбора данных, распознавания текста, векторного поиска и эксперимента.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работы — спроектировать, реализовать и экспериментально проверить локальную справочную систему ПсковГУ на основе RAG, которая отвечает на вопросы на естественном языке с указанием источников. Чтобы цель была проверяемой, я сформулировал критерии: ответ со ссылками, работа в локальном контуре на RTX 3060, поиск за 3–5 секунд, полный ответ не дольше минуты.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 цели ведут семь задач, и они складываются в четыре этапа. Сначала теория: изучить LLM и RAG, разобрать аналоги и выбрать стек. Потом проектирование архитектуры из двух контуров. Затем реализация: сбор и обработка данных сайта, векторный индекс, API, чат и админ-панель. И в конце экспериментальная проверка на 30 вопросах. У каждой задачи есть конкретный результат, который можно показать.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Источников в работе 33. Больше всего — по RAG и поиску: исходная статья Lewis 2020 года, обзор Gao, работы по плотному поиску, модель эмбеддингов bge-m3 и FAISS. Отдельная группа — языковые модели и проблема галлюцинаций. Ещё технические отчёты моделей, документация инструментов, книги по базам данных и положение о ВКР. По типу: 17 научных статей и отчётов, 3 книги, 12 документаций и один нормативный документ.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уже сделали другие. Я выделил четыре типа решений. Чат-боты на правилах дешёвые, но знают только заготовленные темы. Обёртки над облачными моделями отвечают хорошо, но данные уходят наружу, а ссылок на источники нет. Фреймворки вроде LangChain требуют большой доработки и не умеют работать со сканами и сложными таблицами. Коммерческие платформы — это облако, подписка в валюте и слабая поддержка русского. Ни один подход не закрывает все требования, и эту нишу заполняет моя работа. Спасибо,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Relationship Id="rIdM3d1" Type="http://schemas.microsoft.com/office/2017/06/relationships/model3d" Target="../media/model3d1.glb"/><Relationship Id="rIdM3d2" Type="http://schemas.microsoft.com/office/2017/06/relationships/model3d" Target="../media/model3d2.glb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1-4.png"/><Relationship Id="rId5" Type="http://schemas.openxmlformats.org/officeDocument/2006/relationships/image" Target="../media/image-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Relationship Id="rIdM3d3" Type="http://schemas.microsoft.com/office/2017/06/relationships/model3d" Target="../media/model3d3.glb"/><Relationship Id="rIdM3d4" Type="http://schemas.microsoft.com/office/2017/06/relationships/model3d" Target="../media/model3d4.glb"/><Relationship Id="rIdM3d5" Type="http://schemas.microsoft.com/office/2017/06/relationships/model3d" Target="../media/model3d5.glb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1-4.png"/><Relationship Id="rId5" Type="http://schemas.openxmlformats.org/officeDocument/2006/relationships/image" Target="../media/image-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Relationship Id="rIdM3d6" Type="http://schemas.microsoft.com/office/2017/06/relationships/model3d" Target="../media/model3d6.glb"/><Relationship Id="rIdM3d7" Type="http://schemas.microsoft.com/office/2017/06/relationships/model3d" Target="../media/model3d7.glb"/><Relationship Id="rIdM3d8" Type="http://schemas.microsoft.com/office/2017/06/relationships/model3d" Target="../media/model3d8.glb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1-4.png"/><Relationship Id="rId5" Type="http://schemas.openxmlformats.org/officeDocument/2006/relationships/image" Target="../media/image-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Relationship Id="rIdM3d9" Type="http://schemas.microsoft.com/office/2017/06/relationships/model3d" Target="../media/model3d9.glb"/><Relationship Id="rIdM3d10" Type="http://schemas.microsoft.com/office/2017/06/relationships/model3d" Target="../media/model3d10.glb"/><Relationship Id="rIdM3d11" Type="http://schemas.microsoft.com/office/2017/06/relationships/model3d" Target="../media/model3d11.glb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image" Target="../media/image-1-4.png"/><Relationship Id="rId5" Type="http://schemas.openxmlformats.org/officeDocument/2006/relationships/image" Target="../media/image-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Relationship Id="rIdM3d12" Type="http://schemas.microsoft.com/office/2017/06/relationships/model3d" Target="../media/model3d12.glb"/><Relationship Id="rIdM3d13" Type="http://schemas.microsoft.com/office/2017/06/relationships/model3d" Target="../media/model3d13.glb"/><Relationship Id="rIdM3d14" Type="http://schemas.microsoft.com/office/2017/06/relationships/model3d" Target="../media/model3d14.glb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6-3.png"/><Relationship Id="rId4" Type="http://schemas.openxmlformats.org/officeDocument/2006/relationships/image" Target="../media/image-1-4.png"/><Relationship Id="rId5" Type="http://schemas.openxmlformats.org/officeDocument/2006/relationships/image" Target="../media/image-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Relationship Id="rIdM3d15" Type="http://schemas.microsoft.com/office/2017/06/relationships/model3d" Target="../media/model3d15.glb"/><Relationship Id="rIdM3d16" Type="http://schemas.microsoft.com/office/2017/06/relationships/model3d" Target="../media/model3d16.glb"/><Relationship Id="rIdM3d17" Type="http://schemas.microsoft.com/office/2017/06/relationships/model3d" Target="../media/model3d17.glb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1-4.png"/><Relationship Id="rId5" Type="http://schemas.openxmlformats.org/officeDocument/2006/relationships/image" Target="../media/image-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Relationship Id="rIdM3d18" Type="http://schemas.microsoft.com/office/2017/06/relationships/model3d" Target="../media/model3d18.glb"/><Relationship Id="rIdM3d19" Type="http://schemas.microsoft.com/office/2017/06/relationships/model3d" Target="../media/model3d19.glb"/><Relationship Id="rIdM3d20" Type="http://schemas.microsoft.com/office/2017/06/relationships/model3d" Target="../media/model3d20.glb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Relationship Id="rIdM3d21" Type="http://schemas.microsoft.com/office/2017/06/relationships/model3d" Target="../media/model3d21.glb"/><Relationship Id="rIdM3d22" Type="http://schemas.microsoft.com/office/2017/06/relationships/model3d" Target="../media/model3d22.glb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M3d23" Type="http://schemas.microsoft.com/office/2017/06/relationships/model3d" Target="../media/model3d23.gl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opba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5BEA"/>
          </a:solidFill>
          <a:ln/>
        </p:spPr>
      </p:sp>
      <p:sp>
        <p:nvSpPr>
          <p:cNvPr id="3" name="!!kbar"/>
          <p:cNvSpPr/>
          <p:nvPr/>
        </p:nvSpPr>
        <p:spPr>
          <a:xfrm>
            <a:off x="640080" y="475488"/>
            <a:ext cx="82296" cy="256032"/>
          </a:xfrm>
          <a:prstGeom prst="rect">
            <a:avLst/>
          </a:prstGeom>
          <a:solidFill>
            <a:srgbClr val="4F5BEA"/>
          </a:solidFill>
          <a:ln/>
        </p:spPr>
      </p:sp>
      <p:sp>
        <p:nvSpPr>
          <p:cNvPr id="4" name="!!kicker"/>
          <p:cNvSpPr/>
          <p:nvPr/>
        </p:nvSpPr>
        <p:spPr>
          <a:xfrm>
            <a:off x="822960" y="4297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465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НАУЧНО-ИССЛЕДОВАТЕЛЬСКАЯ РАБОТА</a:t>
            </a:r>
            <a:endParaRPr lang="en-US" sz="1100" dirty="0"/>
          </a:p>
        </p:txBody>
      </p:sp>
      <p:sp>
        <p:nvSpPr>
          <p:cNvPr id="5" name="!!fline"/>
          <p:cNvSpPr/>
          <p:nvPr/>
        </p:nvSpPr>
        <p:spPr>
          <a:xfrm>
            <a:off x="640080" y="6400800"/>
            <a:ext cx="10911535" cy="91"/>
          </a:xfrm>
          <a:prstGeom prst="line">
            <a:avLst/>
          </a:prstGeom>
          <a:noFill/>
          <a:ln w="9525">
            <a:solidFill>
              <a:srgbClr val="DCE0EB"/>
            </a:solidFill>
            <a:prstDash val="solid"/>
          </a:ln>
        </p:spPr>
      </p:sp>
      <p:sp>
        <p:nvSpPr>
          <p:cNvPr id="6" name="!!footer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Мейер-Шишнёв В. А.  ·  Выбор темы НИР  ·  ПсковГУ, 2026</a:t>
            </a:r>
            <a:endParaRPr lang="en-US" sz="900" dirty="0"/>
          </a:p>
        </p:txBody>
      </p:sp>
      <p:sp>
        <p:nvSpPr>
          <p:cNvPr id="7" name="!!page"/>
          <p:cNvSpPr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9</a:t>
            </a:r>
            <a:endParaRPr lang="en-US" sz="900" dirty="0"/>
          </a:p>
        </p:txBody>
      </p:sp>
      <p:sp>
        <p:nvSpPr>
          <p:cNvPr id="8" name="!!title"/>
          <p:cNvSpPr/>
          <p:nvPr/>
        </p:nvSpPr>
        <p:spPr>
          <a:xfrm>
            <a:off x="640080" y="10515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темы НИР</a:t>
            </a:r>
            <a:endParaRPr lang="en-US" sz="4400" dirty="0"/>
          </a:p>
        </p:txBody>
      </p:sp>
      <p:sp>
        <p:nvSpPr>
          <p:cNvPr id="9" name="fx1_1_0"/>
          <p:cNvSpPr/>
          <p:nvPr/>
        </p:nvSpPr>
        <p:spPr>
          <a:xfrm>
            <a:off x="640080" y="193852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4F5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· новизна · значимость</a:t>
            </a:r>
            <a:endParaRPr lang="en-US" sz="2000" dirty="0"/>
          </a:p>
        </p:txBody>
      </p:sp>
      <p:sp>
        <p:nvSpPr>
          <p:cNvPr id="10" name="fx1_1_1"/>
          <p:cNvSpPr/>
          <p:nvPr/>
        </p:nvSpPr>
        <p:spPr>
          <a:xfrm>
            <a:off x="640080" y="2651760"/>
            <a:ext cx="7086600" cy="1417320"/>
          </a:xfrm>
          <a:prstGeom prst="roundRect">
            <a:avLst>
              <a:gd name="adj" fmla="val 6452"/>
            </a:avLst>
          </a:prstGeom>
          <a:solidFill>
            <a:srgbClr val="EEF0FF"/>
          </a:solidFill>
          <a:ln w="9525">
            <a:solidFill>
              <a:srgbClr val="4F5BEA"/>
            </a:solidFill>
            <a:prstDash val="solid"/>
          </a:ln>
        </p:spPr>
      </p:sp>
      <p:sp>
        <p:nvSpPr>
          <p:cNvPr id="11" name="fx1_1_2"/>
          <p:cNvSpPr/>
          <p:nvPr/>
        </p:nvSpPr>
        <p:spPr>
          <a:xfrm>
            <a:off x="91440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465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РАБОТЫ (ВКР)</a:t>
            </a:r>
            <a:endParaRPr lang="en-US" sz="1050" dirty="0"/>
          </a:p>
        </p:txBody>
      </p:sp>
      <p:sp>
        <p:nvSpPr>
          <p:cNvPr id="12" name="fx1_1_3"/>
          <p:cNvSpPr/>
          <p:nvPr/>
        </p:nvSpPr>
        <p:spPr>
          <a:xfrm>
            <a:off x="914400" y="30175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«Разработка интеллектуальной информационно-справочной системы ПсковГУ на основе RAG-архитектуры и больших языковых моделей»</a:t>
            </a:r>
            <a:endParaRPr lang="en-US" sz="1500" dirty="0"/>
          </a:p>
        </p:txBody>
      </p:sp>
      <p:sp>
        <p:nvSpPr>
          <p:cNvPr id="13" name="fx1_2_4"/>
          <p:cNvSpPr/>
          <p:nvPr/>
        </p:nvSpPr>
        <p:spPr>
          <a:xfrm>
            <a:off x="640080" y="427939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Мейер-Шишнёв Владислав Алексеевич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09.03.03 Прикладная информатика · ПсковГУ, 2026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Руководитель: ст. преп. А. А. Гаврилов</a:t>
            </a:r>
            <a:endParaRPr lang="en-US" sz="1200" dirty="0"/>
          </a:p>
        </p:txBody>
      </p:sp>
      <p:sp>
        <p:nvSpPr>
          <p:cNvPr id="14" name="fx1_3_5"/>
          <p:cNvSpPr/>
          <p:nvPr/>
        </p:nvSpPr>
        <p:spPr>
          <a:xfrm>
            <a:off x="640080" y="5321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</a:t>
            </a:r>
            <a:endParaRPr lang="en-US" sz="950" dirty="0"/>
          </a:p>
        </p:txBody>
      </p:sp>
      <p:sp>
        <p:nvSpPr>
          <p:cNvPr id="15" name="fx1_3_6"/>
          <p:cNvSpPr/>
          <p:nvPr/>
        </p:nvSpPr>
        <p:spPr>
          <a:xfrm>
            <a:off x="640080" y="5596128"/>
            <a:ext cx="63276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16" name="fx1_3_7"/>
          <p:cNvSpPr/>
          <p:nvPr/>
        </p:nvSpPr>
        <p:spPr>
          <a:xfrm>
            <a:off x="640080" y="5596128"/>
            <a:ext cx="6327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</a:t>
            </a:r>
            <a:endParaRPr lang="en-US" sz="1000" dirty="0"/>
          </a:p>
        </p:txBody>
      </p:sp>
      <p:sp>
        <p:nvSpPr>
          <p:cNvPr id="17" name="fx1_3_8"/>
          <p:cNvSpPr/>
          <p:nvPr/>
        </p:nvSpPr>
        <p:spPr>
          <a:xfrm>
            <a:off x="1364285" y="5596128"/>
            <a:ext cx="127650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18" name="fx1_3_9"/>
          <p:cNvSpPr/>
          <p:nvPr/>
        </p:nvSpPr>
        <p:spPr>
          <a:xfrm>
            <a:off x="1364285" y="5596128"/>
            <a:ext cx="12765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</a:t>
            </a:r>
            <a:endParaRPr lang="en-US" sz="1000" dirty="0"/>
          </a:p>
        </p:txBody>
      </p:sp>
      <p:sp>
        <p:nvSpPr>
          <p:cNvPr id="19" name="fx1_3_10"/>
          <p:cNvSpPr/>
          <p:nvPr/>
        </p:nvSpPr>
        <p:spPr>
          <a:xfrm>
            <a:off x="2732227" y="5596128"/>
            <a:ext cx="87416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20" name="fx1_3_11"/>
          <p:cNvSpPr/>
          <p:nvPr/>
        </p:nvSpPr>
        <p:spPr>
          <a:xfrm>
            <a:off x="2732227" y="5596128"/>
            <a:ext cx="8741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Новизна</a:t>
            </a:r>
            <a:endParaRPr lang="en-US" sz="1000" dirty="0"/>
          </a:p>
        </p:txBody>
      </p:sp>
      <p:sp>
        <p:nvSpPr>
          <p:cNvPr id="21" name="fx1_3_12"/>
          <p:cNvSpPr/>
          <p:nvPr/>
        </p:nvSpPr>
        <p:spPr>
          <a:xfrm>
            <a:off x="3697834" y="5596128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22" name="fx1_3_13"/>
          <p:cNvSpPr/>
          <p:nvPr/>
        </p:nvSpPr>
        <p:spPr>
          <a:xfrm>
            <a:off x="3697834" y="5596128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Значимость</a:t>
            </a:r>
            <a:endParaRPr lang="en-US" sz="1000" dirty="0"/>
          </a:p>
        </p:txBody>
      </p:sp>
      <p:sp>
        <p:nvSpPr>
          <p:cNvPr id="23" name="fx1_3_14"/>
          <p:cNvSpPr/>
          <p:nvPr/>
        </p:nvSpPr>
        <p:spPr>
          <a:xfrm>
            <a:off x="4904842" y="5596128"/>
            <a:ext cx="159837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24" name="fx1_3_15"/>
          <p:cNvSpPr/>
          <p:nvPr/>
        </p:nvSpPr>
        <p:spPr>
          <a:xfrm>
            <a:off x="4904842" y="5596128"/>
            <a:ext cx="15983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 и предмет</a:t>
            </a:r>
            <a:endParaRPr lang="en-US" sz="1000" dirty="0"/>
          </a:p>
        </p:txBody>
      </p:sp>
      <p:sp>
        <p:nvSpPr>
          <p:cNvPr id="25" name="fx1_3_16"/>
          <p:cNvSpPr/>
          <p:nvPr/>
        </p:nvSpPr>
        <p:spPr>
          <a:xfrm>
            <a:off x="6594653" y="5596128"/>
            <a:ext cx="63276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26" name="fx1_3_17"/>
          <p:cNvSpPr/>
          <p:nvPr/>
        </p:nvSpPr>
        <p:spPr>
          <a:xfrm>
            <a:off x="6594653" y="5596128"/>
            <a:ext cx="63276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1000" dirty="0"/>
          </a:p>
        </p:txBody>
      </p:sp>
      <p:sp>
        <p:nvSpPr>
          <p:cNvPr id="27" name="fx1_3_18"/>
          <p:cNvSpPr/>
          <p:nvPr/>
        </p:nvSpPr>
        <p:spPr>
          <a:xfrm>
            <a:off x="640080" y="5989320"/>
            <a:ext cx="79369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28" name="fx1_3_19"/>
          <p:cNvSpPr/>
          <p:nvPr/>
        </p:nvSpPr>
        <p:spPr>
          <a:xfrm>
            <a:off x="640080" y="5989320"/>
            <a:ext cx="7936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</a:t>
            </a:r>
            <a:endParaRPr lang="en-US" sz="1000" dirty="0"/>
          </a:p>
        </p:txBody>
      </p:sp>
      <p:sp>
        <p:nvSpPr>
          <p:cNvPr id="29" name="fx1_3_20"/>
          <p:cNvSpPr/>
          <p:nvPr/>
        </p:nvSpPr>
        <p:spPr>
          <a:xfrm>
            <a:off x="1525219" y="5989320"/>
            <a:ext cx="103510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30" name="fx1_3_21"/>
          <p:cNvSpPr/>
          <p:nvPr/>
        </p:nvSpPr>
        <p:spPr>
          <a:xfrm>
            <a:off x="1525219" y="5989320"/>
            <a:ext cx="10351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</a:t>
            </a:r>
            <a:endParaRPr lang="en-US" sz="1000" dirty="0"/>
          </a:p>
        </p:txBody>
      </p:sp>
      <p:sp>
        <p:nvSpPr>
          <p:cNvPr id="31" name="fx1_3_22"/>
          <p:cNvSpPr/>
          <p:nvPr/>
        </p:nvSpPr>
        <p:spPr>
          <a:xfrm>
            <a:off x="2651760" y="5989320"/>
            <a:ext cx="87416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32" name="fx1_3_23"/>
          <p:cNvSpPr/>
          <p:nvPr/>
        </p:nvSpPr>
        <p:spPr>
          <a:xfrm>
            <a:off x="2651760" y="5989320"/>
            <a:ext cx="8741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Аналоги</a:t>
            </a:r>
            <a:endParaRPr lang="en-US" sz="1000" dirty="0"/>
          </a:p>
        </p:txBody>
      </p:sp>
      <p:pic>
        <p:nvPicPr>
          <p:cNvPr id="33" name="!!halo" descr="/home/user/omgGame/presentations/vkr-rag/assets/ha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594360"/>
            <a:ext cx="4389120" cy="4389120"/>
          </a:xfrm>
          <a:prstGeom prst="rect">
            <a:avLst/>
          </a:prstGeom>
        </p:spPr>
      </p:pic>
      <p:pic>
        <p:nvPicPr>
          <p:cNvPr id="34" name="!!shadow" descr="/home/user/omgGame/presentations/vkr-rag/assets/shad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566160"/>
            <a:ext cx="2560320" cy="64008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5" name="!!m-chat">
                <a:extLst>
                  <a:ext uri="{FF2B5EF4-FFF2-40B4-BE49-F238E27FC236}">
                    <a16:creationId xmlns:a16="http://schemas.microsoft.com/office/drawing/2014/main" id="{23172BEF-5401-E775-E93B-0CC70AA439F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001000" y="960120"/>
              <a:ext cx="3657600" cy="3657600"/>
            </p:xfrm>
            <a:graphic>
              <a:graphicData uri="http://schemas.microsoft.com/office/drawing/2017/model3d">
                <am3d:model3d r:embed="rIdM3d1">
                  <am3d:spPr>
                    <a:xfrm>
                      <a:off x="0" y="0"/>
                      <a:ext cx="3657600" cy="3657600"/>
                    </a:xfrm>
                    <a:prstGeom prst="rect">
                      <a:avLst/>
                    </a:prstGeom>
                  </am3d:spPr>
                  <am3d:camera>
                    <am3d:pos x="0" y="0" z="617144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17145" d="1000000"/>
                    <am3d:preTrans dx="-20654" dy="73008" dz="1276464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320000" az="0"/>
                    <am3d:postTrans dx="0" dy="0" dz="0"/>
                  </am3d:trans>
                  <am3d:raster rName="Office3DRenderer" rVer="16.0.8326">
                    <am3d:blip r:embed="rId3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3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6576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5" name="!!m-chat">
                <a:extLst>
                  <a:ext uri="{FF2B5EF4-FFF2-40B4-BE49-F238E27FC236}">
                    <a16:creationId xmlns:a16="http://schemas.microsoft.com/office/drawing/2014/main" id="{23172BEF-5401-E775-E93B-0CC70AA439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01000" y="960120"/>
                <a:ext cx="3657600" cy="36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people">
                <a:extLst>
                  <a:ext uri="{FF2B5EF4-FFF2-40B4-BE49-F238E27FC236}">
                    <a16:creationId xmlns:a16="http://schemas.microsoft.com/office/drawing/2014/main" id="{256F5EFC-47E6-D11F-2780-921CEB6798C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965960"/>
              <a:ext cx="3154680" cy="3154680"/>
            </p:xfrm>
            <a:graphic>
              <a:graphicData uri="http://schemas.microsoft.com/office/drawing/2017/model3d">
                <am3d:model3d r:embed="rIdM3d2">
                  <am3d:spPr>
                    <a:xfrm>
                      <a:off x="0" y="0"/>
                      <a:ext cx="3154680" cy="3154680"/>
                    </a:xfrm>
                    <a:prstGeom prst="rect">
                      <a:avLst/>
                    </a:prstGeom>
                  </am3d:spPr>
                  <am3d:camera>
                    <am3d:pos x="0" y="0" z="722584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00000" d="1000000"/>
                    <am3d:preTrans dx="0" dy="-288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080000" ay="408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154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people">
                <a:extLst>
                  <a:ext uri="{FF2B5EF4-FFF2-40B4-BE49-F238E27FC236}">
                    <a16:creationId xmlns:a16="http://schemas.microsoft.com/office/drawing/2014/main" id="{256F5EFC-47E6-D11F-2780-921CEB6798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40335" y="1965960"/>
                <a:ext cx="3154680" cy="3154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6" dur="3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opba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5BEA"/>
          </a:solidFill>
          <a:ln/>
        </p:spPr>
      </p:sp>
      <p:sp>
        <p:nvSpPr>
          <p:cNvPr id="3" name="!!kbar"/>
          <p:cNvSpPr/>
          <p:nvPr/>
        </p:nvSpPr>
        <p:spPr>
          <a:xfrm>
            <a:off x="640080" y="475488"/>
            <a:ext cx="82296" cy="256032"/>
          </a:xfrm>
          <a:prstGeom prst="rect">
            <a:avLst/>
          </a:prstGeom>
          <a:solidFill>
            <a:srgbClr val="4F5BEA"/>
          </a:solidFill>
          <a:ln/>
        </p:spPr>
      </p:sp>
      <p:sp>
        <p:nvSpPr>
          <p:cNvPr id="4" name="!!kicker"/>
          <p:cNvSpPr/>
          <p:nvPr/>
        </p:nvSpPr>
        <p:spPr>
          <a:xfrm>
            <a:off x="822960" y="4297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465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РАБОТЫ</a:t>
            </a:r>
            <a:endParaRPr lang="en-US" sz="1100" dirty="0"/>
          </a:p>
        </p:txBody>
      </p:sp>
      <p:sp>
        <p:nvSpPr>
          <p:cNvPr id="5" name="!!fline"/>
          <p:cNvSpPr/>
          <p:nvPr/>
        </p:nvSpPr>
        <p:spPr>
          <a:xfrm>
            <a:off x="640080" y="6400800"/>
            <a:ext cx="10911535" cy="91"/>
          </a:xfrm>
          <a:prstGeom prst="line">
            <a:avLst/>
          </a:prstGeom>
          <a:noFill/>
          <a:ln w="9525">
            <a:solidFill>
              <a:srgbClr val="DCE0EB"/>
            </a:solidFill>
            <a:prstDash val="solid"/>
          </a:ln>
        </p:spPr>
      </p:sp>
      <p:sp>
        <p:nvSpPr>
          <p:cNvPr id="6" name="!!footer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Мейер-Шишнёв В. А.  ·  Выбор темы НИР  ·  ПсковГУ, 2026</a:t>
            </a:r>
            <a:endParaRPr lang="en-US" sz="900" dirty="0"/>
          </a:p>
        </p:txBody>
      </p:sp>
      <p:sp>
        <p:nvSpPr>
          <p:cNvPr id="7" name="!!page"/>
          <p:cNvSpPr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9</a:t>
            </a:r>
            <a:endParaRPr lang="en-US" sz="900" dirty="0"/>
          </a:p>
        </p:txBody>
      </p:sp>
      <p:sp>
        <p:nvSpPr>
          <p:cNvPr id="8" name="!!title"/>
          <p:cNvSpPr/>
          <p:nvPr/>
        </p:nvSpPr>
        <p:spPr>
          <a:xfrm>
            <a:off x="64008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Тема: что, где и как</a:t>
            </a:r>
            <a:endParaRPr lang="en-US" sz="3200" dirty="0"/>
          </a:p>
        </p:txBody>
      </p:sp>
      <p:sp>
        <p:nvSpPr>
          <p:cNvPr id="9" name="fx2_1_0"/>
          <p:cNvSpPr/>
          <p:nvPr/>
        </p:nvSpPr>
        <p:spPr>
          <a:xfrm>
            <a:off x="640080" y="1737360"/>
            <a:ext cx="248716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10" name="fx2_1_1"/>
          <p:cNvSpPr/>
          <p:nvPr/>
        </p:nvSpPr>
        <p:spPr>
          <a:xfrm>
            <a:off x="640080" y="1737360"/>
            <a:ext cx="2487168" cy="73152"/>
          </a:xfrm>
          <a:prstGeom prst="rect">
            <a:avLst/>
          </a:prstGeom>
          <a:solidFill>
            <a:srgbClr val="4F5BEA"/>
          </a:solidFill>
          <a:ln/>
        </p:spPr>
      </p:sp>
      <p:sp>
        <p:nvSpPr>
          <p:cNvPr id="11" name="fx2_1_2"/>
          <p:cNvSpPr/>
          <p:nvPr/>
        </p:nvSpPr>
        <p:spPr>
          <a:xfrm>
            <a:off x="868680" y="1920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200" kern="0" dirty="0">
                <a:solidFill>
                  <a:srgbClr val="4F5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</a:t>
            </a:r>
            <a:endParaRPr lang="en-US" sz="2000" dirty="0"/>
          </a:p>
        </p:txBody>
      </p:sp>
      <p:sp>
        <p:nvSpPr>
          <p:cNvPr id="12" name="fx2_1_3"/>
          <p:cNvSpPr/>
          <p:nvPr/>
        </p:nvSpPr>
        <p:spPr>
          <a:xfrm>
            <a:off x="868680" y="2359152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Интеллектуальная информационно-справочная система</a:t>
            </a:r>
            <a:endParaRPr lang="en-US" sz="1350" dirty="0"/>
          </a:p>
        </p:txBody>
      </p:sp>
      <p:sp>
        <p:nvSpPr>
          <p:cNvPr id="13" name="fx2_1_4"/>
          <p:cNvSpPr/>
          <p:nvPr/>
        </p:nvSpPr>
        <p:spPr>
          <a:xfrm>
            <a:off x="868680" y="3090672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Отвечает на вопросы обычным языком и даёт ссылки на документы-источники</a:t>
            </a:r>
            <a:endParaRPr lang="en-US" sz="1050" dirty="0"/>
          </a:p>
        </p:txBody>
      </p:sp>
      <p:sp>
        <p:nvSpPr>
          <p:cNvPr id="14" name="fx2_2_5"/>
          <p:cNvSpPr/>
          <p:nvPr/>
        </p:nvSpPr>
        <p:spPr>
          <a:xfrm>
            <a:off x="3291840" y="1737360"/>
            <a:ext cx="248716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15" name="fx2_2_6"/>
          <p:cNvSpPr/>
          <p:nvPr/>
        </p:nvSpPr>
        <p:spPr>
          <a:xfrm>
            <a:off x="3291840" y="1737360"/>
            <a:ext cx="2487168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fx2_2_7"/>
          <p:cNvSpPr/>
          <p:nvPr/>
        </p:nvSpPr>
        <p:spPr>
          <a:xfrm>
            <a:off x="3520440" y="1920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2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</a:t>
            </a:r>
            <a:endParaRPr lang="en-US" sz="2000" dirty="0"/>
          </a:p>
        </p:txBody>
      </p:sp>
      <p:sp>
        <p:nvSpPr>
          <p:cNvPr id="17" name="fx2_2_8"/>
          <p:cNvSpPr/>
          <p:nvPr/>
        </p:nvSpPr>
        <p:spPr>
          <a:xfrm>
            <a:off x="3520440" y="2359152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ПсковГУ</a:t>
            </a:r>
            <a:endParaRPr lang="en-US" sz="1350" dirty="0"/>
          </a:p>
        </p:txBody>
      </p:sp>
      <p:sp>
        <p:nvSpPr>
          <p:cNvPr id="18" name="fx2_2_9"/>
          <p:cNvSpPr/>
          <p:nvPr/>
        </p:nvSpPr>
        <p:spPr>
          <a:xfrm>
            <a:off x="3520440" y="3090672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Реальные данные: сайты вуза, документы, приказы, расписание — 543 963 файла</a:t>
            </a:r>
            <a:endParaRPr lang="en-US" sz="1050" dirty="0"/>
          </a:p>
        </p:txBody>
      </p:sp>
      <p:sp>
        <p:nvSpPr>
          <p:cNvPr id="19" name="fx2_3_10"/>
          <p:cNvSpPr/>
          <p:nvPr/>
        </p:nvSpPr>
        <p:spPr>
          <a:xfrm>
            <a:off x="5943600" y="1737360"/>
            <a:ext cx="248716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20" name="fx2_3_11"/>
          <p:cNvSpPr/>
          <p:nvPr/>
        </p:nvSpPr>
        <p:spPr>
          <a:xfrm>
            <a:off x="5943600" y="1737360"/>
            <a:ext cx="2487168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fx2_3_12"/>
          <p:cNvSpPr/>
          <p:nvPr/>
        </p:nvSpPr>
        <p:spPr>
          <a:xfrm>
            <a:off x="6172200" y="1920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</a:t>
            </a:r>
            <a:endParaRPr lang="en-US" sz="2000" dirty="0"/>
          </a:p>
        </p:txBody>
      </p:sp>
      <p:sp>
        <p:nvSpPr>
          <p:cNvPr id="22" name="fx2_3_13"/>
          <p:cNvSpPr/>
          <p:nvPr/>
        </p:nvSpPr>
        <p:spPr>
          <a:xfrm>
            <a:off x="6172200" y="2359152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большие языковые модели</a:t>
            </a:r>
            <a:endParaRPr lang="en-US" sz="1350" dirty="0"/>
          </a:p>
        </p:txBody>
      </p:sp>
      <p:sp>
        <p:nvSpPr>
          <p:cNvPr id="23" name="fx2_3_14"/>
          <p:cNvSpPr/>
          <p:nvPr/>
        </p:nvSpPr>
        <p:spPr>
          <a:xfrm>
            <a:off x="6172200" y="3090672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поиск по своей базе знаний, затем генерация ответа моделью — локально</a:t>
            </a:r>
            <a:endParaRPr lang="en-US" sz="1050" dirty="0"/>
          </a:p>
        </p:txBody>
      </p:sp>
      <p:sp>
        <p:nvSpPr>
          <p:cNvPr id="24" name="fx2_4_15"/>
          <p:cNvSpPr/>
          <p:nvPr/>
        </p:nvSpPr>
        <p:spPr>
          <a:xfrm>
            <a:off x="640080" y="4251960"/>
            <a:ext cx="7790688" cy="1965960"/>
          </a:xfrm>
          <a:prstGeom prst="roundRect">
            <a:avLst>
              <a:gd name="adj" fmla="val 4651"/>
            </a:avLst>
          </a:prstGeom>
          <a:solidFill>
            <a:srgbClr val="EEF0F7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25" name="fx2_4_16"/>
          <p:cNvSpPr/>
          <p:nvPr/>
        </p:nvSpPr>
        <p:spPr>
          <a:xfrm>
            <a:off x="91440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465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ИМЕННО ЭТА ТЕМА</a:t>
            </a:r>
            <a:endParaRPr lang="en-US" sz="1050" dirty="0"/>
          </a:p>
        </p:txBody>
      </p:sp>
      <p:sp>
        <p:nvSpPr>
          <p:cNvPr id="26" name="fx2_4_17"/>
          <p:cNvSpPr/>
          <p:nvPr/>
        </p:nvSpPr>
        <p:spPr>
          <a:xfrm>
            <a:off x="914400" y="46634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Реальная проблема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 нужное на сайте вуза сложно — это знает каждый студент</a:t>
            </a:r>
            <a:endParaRPr lang="en-US" sz="1250" dirty="0"/>
          </a:p>
        </p:txBody>
      </p:sp>
      <p:sp>
        <p:nvSpPr>
          <p:cNvPr id="27" name="fx2_4_18"/>
          <p:cNvSpPr/>
          <p:nvPr/>
        </p:nvSpPr>
        <p:spPr>
          <a:xfrm>
            <a:off x="3374136" y="46634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Передний край ИИ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большие языковые модели и RAG — самое активное направление сейчас</a:t>
            </a:r>
            <a:endParaRPr lang="en-US" sz="1250" dirty="0"/>
          </a:p>
        </p:txBody>
      </p:sp>
      <p:sp>
        <p:nvSpPr>
          <p:cNvPr id="28" name="fx2_4_19"/>
          <p:cNvSpPr/>
          <p:nvPr/>
        </p:nvSpPr>
        <p:spPr>
          <a:xfrm>
            <a:off x="5833872" y="4663440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Ощутимый результат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учебный пример, а работающая система, которую можно внедрить</a:t>
            </a:r>
            <a:endParaRPr lang="en-US" sz="1250" dirty="0"/>
          </a:p>
        </p:txBody>
      </p:sp>
      <p:pic>
        <p:nvPicPr>
          <p:cNvPr id="29" name="!!halo" descr="/home/user/omgGame/presentations/vkr-rag/assets/ha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3039" y="1363599"/>
            <a:ext cx="3627882" cy="3627882"/>
          </a:xfrm>
          <a:prstGeom prst="rect">
            <a:avLst/>
          </a:prstGeom>
        </p:spPr>
      </p:pic>
      <p:pic>
        <p:nvPicPr>
          <p:cNvPr id="30" name="!!shadow" descr="/home/user/omgGame/presentations/vkr-rag/assets/shad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2842" y="3847910"/>
            <a:ext cx="2208276" cy="552069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1" name="!!m-people">
                <a:extLst>
                  <a:ext uri="{FF2B5EF4-FFF2-40B4-BE49-F238E27FC236}">
                    <a16:creationId xmlns:a16="http://schemas.microsoft.com/office/drawing/2014/main" id="{56DA1E60-1392-D126-A6CB-CBC419BCAF5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549640" y="1600200"/>
              <a:ext cx="3154680" cy="3154680"/>
            </p:xfrm>
            <a:graphic>
              <a:graphicData uri="http://schemas.microsoft.com/office/drawing/2017/model3d">
                <am3d:model3d r:embed="rIdM3d3">
                  <am3d:spPr>
                    <a:xfrm>
                      <a:off x="0" y="0"/>
                      <a:ext cx="3154680" cy="3154680"/>
                    </a:xfrm>
                    <a:prstGeom prst="rect">
                      <a:avLst/>
                    </a:prstGeom>
                  </am3d:spPr>
                  <am3d:camera>
                    <am3d:pos x="0" y="0" z="722584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00000" d="1000000"/>
                    <am3d:preTrans dx="0" dy="-288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080000" ay="-720000" az="0"/>
                    <am3d:postTrans dx="0" dy="0" dz="0"/>
                  </am3d:trans>
                  <am3d:raster rName="Office3DRenderer" rVer="16.0.8326">
                    <am3d:blip r:embed="rId3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154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1" name="!!m-people">
                <a:extLst>
                  <a:ext uri="{FF2B5EF4-FFF2-40B4-BE49-F238E27FC236}">
                    <a16:creationId xmlns:a16="http://schemas.microsoft.com/office/drawing/2014/main" id="{56DA1E60-1392-D126-A6CB-CBC419BCAF5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49640" y="1600200"/>
                <a:ext cx="3154680" cy="315468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fx2_9_20"/>
          <p:cNvSpPr/>
          <p:nvPr/>
        </p:nvSpPr>
        <p:spPr>
          <a:xfrm>
            <a:off x="8412480" y="4892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Пользователи: студенты, преподаватели, абитуриенты</a:t>
            </a:r>
            <a:endParaRPr lang="en-US" sz="9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!!m-chat">
                <a:extLst>
                  <a:ext uri="{FF2B5EF4-FFF2-40B4-BE49-F238E27FC236}">
                    <a16:creationId xmlns:a16="http://schemas.microsoft.com/office/drawing/2014/main" id="{13439D2D-BCB4-654E-EEB5-CE3BDABDB98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206240" y="1325880"/>
              <a:ext cx="3657600" cy="3657600"/>
            </p:xfrm>
            <a:graphic>
              <a:graphicData uri="http://schemas.microsoft.com/office/drawing/2017/model3d">
                <am3d:model3d r:embed="rIdM3d4">
                  <am3d:spPr>
                    <a:xfrm>
                      <a:off x="0" y="0"/>
                      <a:ext cx="3657600" cy="3657600"/>
                    </a:xfrm>
                    <a:prstGeom prst="rect">
                      <a:avLst/>
                    </a:prstGeom>
                  </am3d:spPr>
                  <am3d:camera>
                    <am3d:pos x="0" y="0" z="617144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17145" d="1000000"/>
                    <am3d:preTrans dx="-20654" dy="73008" dz="1276464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612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3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6576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!!m-chat">
                <a:extLst>
                  <a:ext uri="{FF2B5EF4-FFF2-40B4-BE49-F238E27FC236}">
                    <a16:creationId xmlns:a16="http://schemas.microsoft.com/office/drawing/2014/main" id="{13439D2D-BCB4-654E-EEB5-CE3BDABDB98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206240" y="1325880"/>
                <a:ext cx="3657600" cy="36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4" name="!!m-search">
                <a:extLst>
                  <a:ext uri="{FF2B5EF4-FFF2-40B4-BE49-F238E27FC236}">
                    <a16:creationId xmlns:a16="http://schemas.microsoft.com/office/drawing/2014/main" id="{81F1086F-3E44-A443-EF28-C21ADB5D209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554480"/>
              <a:ext cx="3246120" cy="3246120"/>
            </p:xfrm>
            <a:graphic>
              <a:graphicData uri="http://schemas.microsoft.com/office/drawing/2017/model3d">
                <am3d:model3d r:embed="rIdM3d5">
                  <am3d:spPr>
                    <a:xfrm>
                      <a:off x="0" y="0"/>
                      <a:ext cx="3246120" cy="3246120"/>
                    </a:xfrm>
                    <a:prstGeom prst="rect">
                      <a:avLst/>
                    </a:prstGeom>
                  </am3d:spPr>
                  <am3d:camera>
                    <am3d:pos x="0" y="0" z="7124651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3236" d="1000000"/>
                    <am3d:preTrans dx="1321642" dy="-4736618" dz="881159"/>
                    <am3d:scale>
                      <am3d:sx n="1000000" d="1000000"/>
                      <am3d:sy n="1000000" d="1000000"/>
                      <am3d:sz n="1000000" d="1000000"/>
                    </am3d:scale>
                    <am3d:rot ax="2100000" ay="39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5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246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4" name="!!m-search">
                <a:extLst>
                  <a:ext uri="{FF2B5EF4-FFF2-40B4-BE49-F238E27FC236}">
                    <a16:creationId xmlns:a16="http://schemas.microsoft.com/office/drawing/2014/main" id="{81F1086F-3E44-A443-EF28-C21ADB5D209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40335" y="1554480"/>
                <a:ext cx="3246120" cy="3246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1" dur="5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opba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5BEA"/>
          </a:solidFill>
          <a:ln/>
        </p:spPr>
      </p:sp>
      <p:sp>
        <p:nvSpPr>
          <p:cNvPr id="3" name="!!kbar"/>
          <p:cNvSpPr/>
          <p:nvPr/>
        </p:nvSpPr>
        <p:spPr>
          <a:xfrm>
            <a:off x="640080" y="475488"/>
            <a:ext cx="82296" cy="256032"/>
          </a:xfrm>
          <a:prstGeom prst="rect">
            <a:avLst/>
          </a:prstGeom>
          <a:solidFill>
            <a:srgbClr val="4F5BEA"/>
          </a:solidFill>
          <a:ln/>
        </p:spPr>
      </p:sp>
      <p:sp>
        <p:nvSpPr>
          <p:cNvPr id="4" name="!!kicker"/>
          <p:cNvSpPr/>
          <p:nvPr/>
        </p:nvSpPr>
        <p:spPr>
          <a:xfrm>
            <a:off x="822960" y="4297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465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</a:t>
            </a:r>
            <a:endParaRPr lang="en-US" sz="1100" dirty="0"/>
          </a:p>
        </p:txBody>
      </p:sp>
      <p:sp>
        <p:nvSpPr>
          <p:cNvPr id="5" name="!!fline"/>
          <p:cNvSpPr/>
          <p:nvPr/>
        </p:nvSpPr>
        <p:spPr>
          <a:xfrm>
            <a:off x="640080" y="6400800"/>
            <a:ext cx="10911535" cy="91"/>
          </a:xfrm>
          <a:prstGeom prst="line">
            <a:avLst/>
          </a:prstGeom>
          <a:noFill/>
          <a:ln w="9525">
            <a:solidFill>
              <a:srgbClr val="DCE0EB"/>
            </a:solidFill>
            <a:prstDash val="solid"/>
          </a:ln>
        </p:spPr>
      </p:sp>
      <p:sp>
        <p:nvSpPr>
          <p:cNvPr id="6" name="!!footer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Мейер-Шишнёв В. А.  ·  Выбор темы НИР  ·  ПсковГУ, 2026</a:t>
            </a:r>
            <a:endParaRPr lang="en-US" sz="900" dirty="0"/>
          </a:p>
        </p:txBody>
      </p:sp>
      <p:sp>
        <p:nvSpPr>
          <p:cNvPr id="7" name="!!page"/>
          <p:cNvSpPr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9</a:t>
            </a:r>
            <a:endParaRPr lang="en-US" sz="900" dirty="0"/>
          </a:p>
        </p:txBody>
      </p:sp>
      <p:sp>
        <p:nvSpPr>
          <p:cNvPr id="8" name="!!title"/>
          <p:cNvSpPr/>
          <p:nvPr/>
        </p:nvSpPr>
        <p:spPr>
          <a:xfrm>
            <a:off x="640080" y="8686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Информация есть — но её не найти</a:t>
            </a:r>
            <a:endParaRPr lang="en-US" sz="3200" dirty="0"/>
          </a:p>
        </p:txBody>
      </p:sp>
      <p:sp>
        <p:nvSpPr>
          <p:cNvPr id="9" name="fx3_1_0"/>
          <p:cNvSpPr/>
          <p:nvPr/>
        </p:nvSpPr>
        <p:spPr>
          <a:xfrm>
            <a:off x="640080" y="1737360"/>
            <a:ext cx="58064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10" name="fx3_1_1"/>
          <p:cNvSpPr/>
          <p:nvPr/>
        </p:nvSpPr>
        <p:spPr>
          <a:xfrm>
            <a:off x="640080" y="1883664"/>
            <a:ext cx="64008" cy="6217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fx3_1_2"/>
          <p:cNvSpPr/>
          <p:nvPr/>
        </p:nvSpPr>
        <p:spPr>
          <a:xfrm>
            <a:off x="914400" y="1810512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60 %</a:t>
            </a:r>
            <a:endParaRPr lang="en-US" sz="1700" dirty="0"/>
          </a:p>
        </p:txBody>
      </p:sp>
      <p:sp>
        <p:nvSpPr>
          <p:cNvPr id="12" name="fx3_1_3"/>
          <p:cNvSpPr/>
          <p:nvPr/>
        </p:nvSpPr>
        <p:spPr>
          <a:xfrm>
            <a:off x="914400" y="215798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обращений в справочные службы вузов — о том, что уже опубликовано на сайте</a:t>
            </a:r>
            <a:endParaRPr lang="en-US" sz="1150" dirty="0"/>
          </a:p>
        </p:txBody>
      </p:sp>
      <p:sp>
        <p:nvSpPr>
          <p:cNvPr id="13" name="fx3_2_4"/>
          <p:cNvSpPr/>
          <p:nvPr/>
        </p:nvSpPr>
        <p:spPr>
          <a:xfrm>
            <a:off x="640080" y="2761488"/>
            <a:ext cx="58064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14" name="fx3_2_5"/>
          <p:cNvSpPr/>
          <p:nvPr/>
        </p:nvSpPr>
        <p:spPr>
          <a:xfrm>
            <a:off x="640080" y="2907792"/>
            <a:ext cx="64008" cy="621792"/>
          </a:xfrm>
          <a:prstGeom prst="rect">
            <a:avLst/>
          </a:prstGeom>
          <a:solidFill>
            <a:srgbClr val="4F5BEA"/>
          </a:solidFill>
          <a:ln/>
        </p:spPr>
      </p:sp>
      <p:sp>
        <p:nvSpPr>
          <p:cNvPr id="15" name="fx3_2_6"/>
          <p:cNvSpPr/>
          <p:nvPr/>
        </p:nvSpPr>
        <p:spPr>
          <a:xfrm>
            <a:off x="914400" y="283464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4F5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 ≠ смысл</a:t>
            </a:r>
            <a:endParaRPr lang="en-US" sz="1700" dirty="0"/>
          </a:p>
        </p:txBody>
      </p:sp>
      <p:sp>
        <p:nvSpPr>
          <p:cNvPr id="16" name="fx3_2_7"/>
          <p:cNvSpPr/>
          <p:nvPr/>
        </p:nvSpPr>
        <p:spPr>
          <a:xfrm>
            <a:off x="914400" y="318211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по ключевым словам: «когда начинается сессия» не находит «график промежуточной аттестации»</a:t>
            </a:r>
            <a:endParaRPr lang="en-US" sz="1150" dirty="0"/>
          </a:p>
        </p:txBody>
      </p:sp>
      <p:sp>
        <p:nvSpPr>
          <p:cNvPr id="17" name="fx3_3_8"/>
          <p:cNvSpPr/>
          <p:nvPr/>
        </p:nvSpPr>
        <p:spPr>
          <a:xfrm>
            <a:off x="640080" y="3785616"/>
            <a:ext cx="58064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18" name="fx3_3_9"/>
          <p:cNvSpPr/>
          <p:nvPr/>
        </p:nvSpPr>
        <p:spPr>
          <a:xfrm>
            <a:off x="640080" y="3931920"/>
            <a:ext cx="64008" cy="6217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fx3_3_10"/>
          <p:cNvSpPr/>
          <p:nvPr/>
        </p:nvSpPr>
        <p:spPr>
          <a:xfrm>
            <a:off x="914400" y="3858768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облако нельзя</a:t>
            </a:r>
            <a:endParaRPr lang="en-US" sz="1700" dirty="0"/>
          </a:p>
        </p:txBody>
      </p:sp>
      <p:sp>
        <p:nvSpPr>
          <p:cNvPr id="20" name="fx3_3_11"/>
          <p:cNvSpPr/>
          <p:nvPr/>
        </p:nvSpPr>
        <p:spPr>
          <a:xfrm>
            <a:off x="914400" y="42062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Облачные LLM: документы уходят на внешние серверы (152-ФЗ), а без локальных данных модель «галлюцинирует»</a:t>
            </a:r>
            <a:endParaRPr lang="en-US" sz="1150" dirty="0"/>
          </a:p>
        </p:txBody>
      </p:sp>
      <p:sp>
        <p:nvSpPr>
          <p:cNvPr id="21" name="fx3_4_12"/>
          <p:cNvSpPr/>
          <p:nvPr/>
        </p:nvSpPr>
        <p:spPr>
          <a:xfrm>
            <a:off x="640080" y="4846320"/>
            <a:ext cx="5806440" cy="1371600"/>
          </a:xfrm>
          <a:prstGeom prst="roundRect">
            <a:avLst>
              <a:gd name="adj" fmla="val 6667"/>
            </a:avLst>
          </a:prstGeom>
          <a:solidFill>
            <a:srgbClr val="FFF5E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2" name="fx3_4_13"/>
          <p:cNvSpPr/>
          <p:nvPr/>
        </p:nvSpPr>
        <p:spPr>
          <a:xfrm>
            <a:off x="91440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ПРОТИВОРЕЧИЕ</a:t>
            </a:r>
            <a:endParaRPr lang="en-US" sz="1050" dirty="0"/>
          </a:p>
        </p:txBody>
      </p:sp>
      <p:sp>
        <p:nvSpPr>
          <p:cNvPr id="23" name="fx3_4_14"/>
          <p:cNvSpPr/>
          <p:nvPr/>
        </p:nvSpPr>
        <p:spPr>
          <a:xfrm>
            <a:off x="914400" y="5230368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Нужен быстрый доступ к актуальной информации вуза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нет инструментов смыслового поиска по русскоязычным документам, работающих в локальном контуре</a:t>
            </a:r>
            <a:endParaRPr lang="en-US" sz="1250" dirty="0"/>
          </a:p>
        </p:txBody>
      </p:sp>
      <p:pic>
        <p:nvPicPr>
          <p:cNvPr id="24" name="!!halo" descr="/home/user/omgGame/presentations/vkr-rag/assets/ha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8901" y="945261"/>
            <a:ext cx="3733038" cy="3733038"/>
          </a:xfrm>
          <a:prstGeom prst="rect">
            <a:avLst/>
          </a:prstGeom>
        </p:spPr>
      </p:pic>
      <p:pic>
        <p:nvPicPr>
          <p:cNvPr id="25" name="!!shadow" descr="/home/user/omgGame/presentations/vkr-rag/assets/shad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278" y="3436658"/>
            <a:ext cx="2272284" cy="568071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6" name="!!m-search">
                <a:extLst>
                  <a:ext uri="{FF2B5EF4-FFF2-40B4-BE49-F238E27FC236}">
                    <a16:creationId xmlns:a16="http://schemas.microsoft.com/office/drawing/2014/main" id="{624BC8C5-D63C-597C-046B-98ADB2C6B50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52360" y="1188720"/>
              <a:ext cx="3246120" cy="3246120"/>
            </p:xfrm>
            <a:graphic>
              <a:graphicData uri="http://schemas.microsoft.com/office/drawing/2017/model3d">
                <am3d:model3d r:embed="rIdM3d6">
                  <am3d:spPr>
                    <a:xfrm>
                      <a:off x="0" y="0"/>
                      <a:ext cx="3246120" cy="3246120"/>
                    </a:xfrm>
                    <a:prstGeom prst="rect">
                      <a:avLst/>
                    </a:prstGeom>
                  </am3d:spPr>
                  <am3d:camera>
                    <am3d:pos x="0" y="0" z="7124651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3236" d="1000000"/>
                    <am3d:preTrans dx="1321642" dy="-4736618" dz="881159"/>
                    <am3d:scale>
                      <am3d:sx n="1000000" d="1000000"/>
                      <am3d:sy n="1000000" d="1000000"/>
                      <am3d:sz n="1000000" d="1000000"/>
                    </am3d:scale>
                    <am3d:rot ax="2100000" ay="-900000" az="0"/>
                    <am3d:postTrans dx="0" dy="0" dz="0"/>
                  </am3d:trans>
                  <am3d:raster rName="Office3DRenderer" rVer="16.0.8326">
                    <am3d:blip r:embed="rId3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5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246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6" name="!!m-search">
                <a:extLst>
                  <a:ext uri="{FF2B5EF4-FFF2-40B4-BE49-F238E27FC236}">
                    <a16:creationId xmlns:a16="http://schemas.microsoft.com/office/drawing/2014/main" id="{624BC8C5-D63C-597C-046B-98ADB2C6B50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52360" y="1188720"/>
                <a:ext cx="3246120" cy="324612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fx3_5_15"/>
          <p:cNvSpPr/>
          <p:nvPr/>
        </p:nvSpPr>
        <p:spPr>
          <a:xfrm>
            <a:off x="6720840" y="4343400"/>
            <a:ext cx="4830775" cy="1874520"/>
          </a:xfrm>
          <a:prstGeom prst="roundRect">
            <a:avLst>
              <a:gd name="adj" fmla="val 4878"/>
            </a:avLst>
          </a:prstGeom>
          <a:solidFill>
            <a:srgbClr val="EEF0FF"/>
          </a:solidFill>
          <a:ln w="9525">
            <a:solidFill>
              <a:srgbClr val="4F5BEA"/>
            </a:solidFill>
            <a:prstDash val="solid"/>
          </a:ln>
        </p:spPr>
      </p:sp>
      <p:sp>
        <p:nvSpPr>
          <p:cNvPr id="28" name="fx3_5_16"/>
          <p:cNvSpPr/>
          <p:nvPr/>
        </p:nvSpPr>
        <p:spPr>
          <a:xfrm>
            <a:off x="6995160" y="4443984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465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ВЫХОД — RAG (Lewis et al., 2020)</a:t>
            </a:r>
            <a:endParaRPr lang="en-US" sz="1050" dirty="0"/>
          </a:p>
        </p:txBody>
      </p:sp>
      <p:sp>
        <p:nvSpPr>
          <p:cNvPr id="29" name="fx3_5_17"/>
          <p:cNvSpPr/>
          <p:nvPr/>
        </p:nvSpPr>
        <p:spPr>
          <a:xfrm>
            <a:off x="6995160" y="4709160"/>
            <a:ext cx="4327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 фрагменты в своей базе знаний → сгенерировать ответ по ним. А в российских вузах полноценных локальных RAG-систем нет</a:t>
            </a:r>
            <a:endParaRPr lang="en-US" sz="1150" dirty="0"/>
          </a:p>
        </p:txBody>
      </p:sp>
      <p:sp>
        <p:nvSpPr>
          <p:cNvPr id="30" name="fx3_5_18"/>
          <p:cNvSpPr/>
          <p:nvPr/>
        </p:nvSpPr>
        <p:spPr>
          <a:xfrm>
            <a:off x="6995160" y="5440680"/>
            <a:ext cx="136641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31" name="fx3_5_19"/>
          <p:cNvSpPr/>
          <p:nvPr/>
        </p:nvSpPr>
        <p:spPr>
          <a:xfrm>
            <a:off x="6995160" y="5440680"/>
            <a:ext cx="1366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переобучения</a:t>
            </a:r>
            <a:endParaRPr lang="en-US" sz="1050" dirty="0"/>
          </a:p>
        </p:txBody>
      </p:sp>
      <p:sp>
        <p:nvSpPr>
          <p:cNvPr id="32" name="fx3_5_20"/>
          <p:cNvSpPr/>
          <p:nvPr/>
        </p:nvSpPr>
        <p:spPr>
          <a:xfrm>
            <a:off x="8453018" y="5440680"/>
            <a:ext cx="136641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33" name="fx3_5_21"/>
          <p:cNvSpPr/>
          <p:nvPr/>
        </p:nvSpPr>
        <p:spPr>
          <a:xfrm>
            <a:off x="8453018" y="5440680"/>
            <a:ext cx="1366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достоверно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источниками</a:t>
            </a:r>
            <a:endParaRPr lang="en-US" sz="1050" dirty="0"/>
          </a:p>
        </p:txBody>
      </p:sp>
      <p:sp>
        <p:nvSpPr>
          <p:cNvPr id="34" name="fx3_5_22"/>
          <p:cNvSpPr/>
          <p:nvPr/>
        </p:nvSpPr>
        <p:spPr>
          <a:xfrm>
            <a:off x="9910877" y="5440680"/>
            <a:ext cx="136641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35" name="fx3_5_23"/>
          <p:cNvSpPr/>
          <p:nvPr/>
        </p:nvSpPr>
        <p:spPr>
          <a:xfrm>
            <a:off x="9910877" y="5440680"/>
            <a:ext cx="1366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конфиденциально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локально</a:t>
            </a:r>
            <a:endParaRPr lang="en-US" sz="9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people">
                <a:extLst>
                  <a:ext uri="{FF2B5EF4-FFF2-40B4-BE49-F238E27FC236}">
                    <a16:creationId xmlns:a16="http://schemas.microsoft.com/office/drawing/2014/main" id="{FD88F9CE-D89B-52FC-2F96-339F0F9FCC5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3703320" y="1965960"/>
              <a:ext cx="3154680" cy="3154680"/>
            </p:xfrm>
            <a:graphic>
              <a:graphicData uri="http://schemas.microsoft.com/office/drawing/2017/model3d">
                <am3d:model3d r:embed="rIdM3d7">
                  <am3d:spPr>
                    <a:xfrm>
                      <a:off x="0" y="0"/>
                      <a:ext cx="3154680" cy="3154680"/>
                    </a:xfrm>
                    <a:prstGeom prst="rect">
                      <a:avLst/>
                    </a:prstGeom>
                  </am3d:spPr>
                  <am3d:camera>
                    <am3d:pos x="0" y="0" z="722584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00000" d="1000000"/>
                    <am3d:preTrans dx="0" dy="-288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080000" ay="-552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154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people">
                <a:extLst>
                  <a:ext uri="{FF2B5EF4-FFF2-40B4-BE49-F238E27FC236}">
                    <a16:creationId xmlns:a16="http://schemas.microsoft.com/office/drawing/2014/main" id="{FD88F9CE-D89B-52FC-2F96-339F0F9FCC5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703320" y="1965960"/>
                <a:ext cx="3154680" cy="31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7" name="!!m-bulb">
                <a:extLst>
                  <a:ext uri="{FF2B5EF4-FFF2-40B4-BE49-F238E27FC236}">
                    <a16:creationId xmlns:a16="http://schemas.microsoft.com/office/drawing/2014/main" id="{2FA790AB-CCF3-1AB9-3F09-6674E0C0AB2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783080"/>
              <a:ext cx="2560320" cy="2560320"/>
            </p:xfrm>
            <a:graphic>
              <a:graphicData uri="http://schemas.microsoft.com/office/drawing/2017/model3d">
                <am3d:model3d r:embed="rIdM3d8">
                  <am3d:spPr>
                    <a:xfrm>
                      <a:off x="0" y="0"/>
                      <a:ext cx="2560320" cy="2560320"/>
                    </a:xfrm>
                    <a:prstGeom prst="rect">
                      <a:avLst/>
                    </a:prstGeom>
                  </am3d:spPr>
                  <am3d:camera>
                    <am3d:pos x="0" y="0" z="663909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0088" d="1000000"/>
                    <am3d:preTrans dx="0" dy="-348279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372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5603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7" name="!!m-bulb">
                <a:extLst>
                  <a:ext uri="{FF2B5EF4-FFF2-40B4-BE49-F238E27FC236}">
                    <a16:creationId xmlns:a16="http://schemas.microsoft.com/office/drawing/2014/main" id="{2FA790AB-CCF3-1AB9-3F09-6674E0C0AB2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40335" y="1783080"/>
                <a:ext cx="2560320" cy="2560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6" dur="4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opba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5BEA"/>
          </a:solidFill>
          <a:ln/>
        </p:spPr>
      </p:sp>
      <p:sp>
        <p:nvSpPr>
          <p:cNvPr id="3" name="!!kbar"/>
          <p:cNvSpPr/>
          <p:nvPr/>
        </p:nvSpPr>
        <p:spPr>
          <a:xfrm>
            <a:off x="640080" y="475488"/>
            <a:ext cx="82296" cy="256032"/>
          </a:xfrm>
          <a:prstGeom prst="rect">
            <a:avLst/>
          </a:prstGeom>
          <a:solidFill>
            <a:srgbClr val="4F5BEA"/>
          </a:solidFill>
          <a:ln/>
        </p:spPr>
      </p:sp>
      <p:sp>
        <p:nvSpPr>
          <p:cNvPr id="4" name="!!kicker"/>
          <p:cNvSpPr/>
          <p:nvPr/>
        </p:nvSpPr>
        <p:spPr>
          <a:xfrm>
            <a:off x="822960" y="4297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465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НОВИЗНА И ЗНАЧИМОСТЬ</a:t>
            </a:r>
            <a:endParaRPr lang="en-US" sz="1100" dirty="0"/>
          </a:p>
        </p:txBody>
      </p:sp>
      <p:sp>
        <p:nvSpPr>
          <p:cNvPr id="5" name="!!fline"/>
          <p:cNvSpPr/>
          <p:nvPr/>
        </p:nvSpPr>
        <p:spPr>
          <a:xfrm>
            <a:off x="640080" y="6400800"/>
            <a:ext cx="10911535" cy="91"/>
          </a:xfrm>
          <a:prstGeom prst="line">
            <a:avLst/>
          </a:prstGeom>
          <a:noFill/>
          <a:ln w="9525">
            <a:solidFill>
              <a:srgbClr val="DCE0EB"/>
            </a:solidFill>
            <a:prstDash val="solid"/>
          </a:ln>
        </p:spPr>
      </p:sp>
      <p:sp>
        <p:nvSpPr>
          <p:cNvPr id="6" name="!!footer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Мейер-Шишнёв В. А.  ·  Выбор темы НИР  ·  ПсковГУ, 2026</a:t>
            </a:r>
            <a:endParaRPr lang="en-US" sz="900" dirty="0"/>
          </a:p>
        </p:txBody>
      </p:sp>
      <p:sp>
        <p:nvSpPr>
          <p:cNvPr id="7" name="!!page"/>
          <p:cNvSpPr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900" dirty="0"/>
          </a:p>
        </p:txBody>
      </p:sp>
      <p:sp>
        <p:nvSpPr>
          <p:cNvPr id="8" name="!!title"/>
          <p:cNvSpPr/>
          <p:nvPr/>
        </p:nvSpPr>
        <p:spPr>
          <a:xfrm>
            <a:off x="64008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нового и кому это нужно</a:t>
            </a:r>
            <a:endParaRPr lang="en-US" sz="3200" dirty="0"/>
          </a:p>
        </p:txBody>
      </p:sp>
      <p:sp>
        <p:nvSpPr>
          <p:cNvPr id="9" name="fx4_1_0"/>
          <p:cNvSpPr/>
          <p:nvPr/>
        </p:nvSpPr>
        <p:spPr>
          <a:xfrm>
            <a:off x="640080" y="1737360"/>
            <a:ext cx="4206240" cy="44805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10" name="fx4_1_1"/>
          <p:cNvSpPr/>
          <p:nvPr/>
        </p:nvSpPr>
        <p:spPr>
          <a:xfrm>
            <a:off x="640080" y="1737360"/>
            <a:ext cx="4206240" cy="73152"/>
          </a:xfrm>
          <a:prstGeom prst="rect">
            <a:avLst/>
          </a:prstGeom>
          <a:solidFill>
            <a:srgbClr val="4F5BEA"/>
          </a:solidFill>
          <a:ln/>
        </p:spPr>
      </p:sp>
      <p:sp>
        <p:nvSpPr>
          <p:cNvPr id="11" name="fx4_1_2"/>
          <p:cNvSpPr/>
          <p:nvPr/>
        </p:nvSpPr>
        <p:spPr>
          <a:xfrm>
            <a:off x="91440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4F5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НОВИЗНА</a:t>
            </a:r>
            <a:endParaRPr lang="en-US" sz="1100" dirty="0"/>
          </a:p>
        </p:txBody>
      </p:sp>
      <p:sp>
        <p:nvSpPr>
          <p:cNvPr id="12" name="fx4_1_3"/>
          <p:cNvSpPr/>
          <p:nvPr/>
        </p:nvSpPr>
        <p:spPr>
          <a:xfrm>
            <a:off x="914400" y="2267712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EEF0FF"/>
          </a:solidFill>
          <a:ln/>
        </p:spPr>
      </p:sp>
      <p:sp>
        <p:nvSpPr>
          <p:cNvPr id="13" name="fx4_1_4"/>
          <p:cNvSpPr/>
          <p:nvPr/>
        </p:nvSpPr>
        <p:spPr>
          <a:xfrm>
            <a:off x="1051560" y="2267712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Полноценной локальной RAG-системы по всей внутренней документации российского вуза при обзоре найти не удалось</a:t>
            </a:r>
            <a:endParaRPr lang="en-US" sz="1150" dirty="0"/>
          </a:p>
        </p:txBody>
      </p:sp>
      <p:sp>
        <p:nvSpPr>
          <p:cNvPr id="14" name="fx4_1_5"/>
          <p:cNvSpPr/>
          <p:nvPr/>
        </p:nvSpPr>
        <p:spPr>
          <a:xfrm>
            <a:off x="932688" y="3493008"/>
            <a:ext cx="109728" cy="109728"/>
          </a:xfrm>
          <a:prstGeom prst="ellipse">
            <a:avLst/>
          </a:prstGeom>
          <a:solidFill>
            <a:srgbClr val="4F5BEA"/>
          </a:solidFill>
          <a:ln/>
        </p:spPr>
      </p:sp>
      <p:sp>
        <p:nvSpPr>
          <p:cNvPr id="15" name="fx4_1_6"/>
          <p:cNvSpPr/>
          <p:nvPr/>
        </p:nvSpPr>
        <p:spPr>
          <a:xfrm>
            <a:off x="1170432" y="341071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Каскад извлечения PDF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библиотеки + OCR Tesseract для сканов</a:t>
            </a:r>
            <a:endParaRPr lang="en-US" sz="1150" dirty="0"/>
          </a:p>
        </p:txBody>
      </p:sp>
      <p:sp>
        <p:nvSpPr>
          <p:cNvPr id="16" name="fx4_1_7"/>
          <p:cNvSpPr/>
          <p:nvPr/>
        </p:nvSpPr>
        <p:spPr>
          <a:xfrm>
            <a:off x="932688" y="4178808"/>
            <a:ext cx="109728" cy="109728"/>
          </a:xfrm>
          <a:prstGeom prst="ellipse">
            <a:avLst/>
          </a:prstGeom>
          <a:solidFill>
            <a:srgbClr val="4F5BEA"/>
          </a:solidFill>
          <a:ln/>
        </p:spPr>
      </p:sp>
      <p:sp>
        <p:nvSpPr>
          <p:cNvPr id="17" name="fx4_1_8"/>
          <p:cNvSpPr/>
          <p:nvPr/>
        </p:nvSpPr>
        <p:spPr>
          <a:xfrm>
            <a:off x="1170432" y="409651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Таблицы с объединёнными ячейками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собственный парсер rowspan</a:t>
            </a:r>
            <a:endParaRPr lang="en-US" sz="1150" dirty="0"/>
          </a:p>
        </p:txBody>
      </p:sp>
      <p:sp>
        <p:nvSpPr>
          <p:cNvPr id="18" name="fx4_1_9"/>
          <p:cNvSpPr/>
          <p:nvPr/>
        </p:nvSpPr>
        <p:spPr>
          <a:xfrm>
            <a:off x="932688" y="4864608"/>
            <a:ext cx="109728" cy="109728"/>
          </a:xfrm>
          <a:prstGeom prst="ellipse">
            <a:avLst/>
          </a:prstGeom>
          <a:solidFill>
            <a:srgbClr val="4F5BEA"/>
          </a:solidFill>
          <a:ln/>
        </p:spPr>
      </p:sp>
      <p:sp>
        <p:nvSpPr>
          <p:cNvPr id="19" name="fx4_1_10"/>
          <p:cNvSpPr/>
          <p:nvPr/>
        </p:nvSpPr>
        <p:spPr>
          <a:xfrm>
            <a:off x="1170432" y="478231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Правка ответа без переиндексации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замена текста фрагмента в админ-панели</a:t>
            </a:r>
            <a:endParaRPr lang="en-US" sz="1150" dirty="0"/>
          </a:p>
        </p:txBody>
      </p:sp>
      <p:sp>
        <p:nvSpPr>
          <p:cNvPr id="20" name="fx4_1_11"/>
          <p:cNvSpPr/>
          <p:nvPr/>
        </p:nvSpPr>
        <p:spPr>
          <a:xfrm>
            <a:off x="932688" y="5550408"/>
            <a:ext cx="109728" cy="109728"/>
          </a:xfrm>
          <a:prstGeom prst="ellipse">
            <a:avLst/>
          </a:prstGeom>
          <a:solidFill>
            <a:srgbClr val="4F5BEA"/>
          </a:solidFill>
          <a:ln/>
        </p:spPr>
      </p:sp>
      <p:sp>
        <p:nvSpPr>
          <p:cNvPr id="21" name="fx4_1_12"/>
          <p:cNvSpPr/>
          <p:nvPr/>
        </p:nvSpPr>
        <p:spPr>
          <a:xfrm>
            <a:off x="1170432" y="546811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Живое расписание под роль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 — по группе, преподаватель — по ФИО</a:t>
            </a:r>
            <a:endParaRPr lang="en-US" sz="1150" dirty="0"/>
          </a:p>
        </p:txBody>
      </p:sp>
      <p:sp>
        <p:nvSpPr>
          <p:cNvPr id="22" name="fx4_2_13"/>
          <p:cNvSpPr/>
          <p:nvPr/>
        </p:nvSpPr>
        <p:spPr>
          <a:xfrm>
            <a:off x="5029200" y="1737360"/>
            <a:ext cx="4206240" cy="44805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23" name="fx4_2_14"/>
          <p:cNvSpPr/>
          <p:nvPr/>
        </p:nvSpPr>
        <p:spPr>
          <a:xfrm>
            <a:off x="5029200" y="1737360"/>
            <a:ext cx="420624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fx4_2_15"/>
          <p:cNvSpPr/>
          <p:nvPr/>
        </p:nvSpPr>
        <p:spPr>
          <a:xfrm>
            <a:off x="530352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ПРАКТИЧЕСКАЯ ЗНАЧИМОСТЬ</a:t>
            </a:r>
            <a:endParaRPr lang="en-US" sz="1100" dirty="0"/>
          </a:p>
        </p:txBody>
      </p:sp>
      <p:sp>
        <p:nvSpPr>
          <p:cNvPr id="25" name="fx4_2_16"/>
          <p:cNvSpPr/>
          <p:nvPr/>
        </p:nvSpPr>
        <p:spPr>
          <a:xfrm>
            <a:off x="5303520" y="2267712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E7F6EF"/>
          </a:solidFill>
          <a:ln/>
        </p:spPr>
      </p:sp>
      <p:sp>
        <p:nvSpPr>
          <p:cNvPr id="26" name="fx4_2_17"/>
          <p:cNvSpPr/>
          <p:nvPr/>
        </p:nvSpPr>
        <p:spPr>
          <a:xfrm>
            <a:off x="5440680" y="2267712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Работающая система в инфраструктуре ПсковГУ — от сбора данных до диалога с пользователем</a:t>
            </a:r>
            <a:endParaRPr lang="en-US" sz="1150" dirty="0"/>
          </a:p>
        </p:txBody>
      </p:sp>
      <p:sp>
        <p:nvSpPr>
          <p:cNvPr id="27" name="fx4_2_18"/>
          <p:cNvSpPr/>
          <p:nvPr/>
        </p:nvSpPr>
        <p:spPr>
          <a:xfrm>
            <a:off x="5321808" y="3493008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8" name="fx4_2_19"/>
          <p:cNvSpPr/>
          <p:nvPr/>
        </p:nvSpPr>
        <p:spPr>
          <a:xfrm>
            <a:off x="5559552" y="341071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Конфиденциальность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локально на RTX 3060 — соответствие 152-ФЗ</a:t>
            </a:r>
            <a:endParaRPr lang="en-US" sz="1150" dirty="0"/>
          </a:p>
        </p:txBody>
      </p:sp>
      <p:sp>
        <p:nvSpPr>
          <p:cNvPr id="29" name="fx4_2_20"/>
          <p:cNvSpPr/>
          <p:nvPr/>
        </p:nvSpPr>
        <p:spPr>
          <a:xfrm>
            <a:off x="5321808" y="4178808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0" name="fx4_2_21"/>
          <p:cNvSpPr/>
          <p:nvPr/>
        </p:nvSpPr>
        <p:spPr>
          <a:xfrm>
            <a:off x="5559552" y="409651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нагрузки на службы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типовые вопросы — без участия сотрудников</a:t>
            </a:r>
            <a:endParaRPr lang="en-US" sz="1150" dirty="0"/>
          </a:p>
        </p:txBody>
      </p:sp>
      <p:sp>
        <p:nvSpPr>
          <p:cNvPr id="31" name="fx4_2_22"/>
          <p:cNvSpPr/>
          <p:nvPr/>
        </p:nvSpPr>
        <p:spPr>
          <a:xfrm>
            <a:off x="5321808" y="4864608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2" name="fx4_2_23"/>
          <p:cNvSpPr/>
          <p:nvPr/>
        </p:nvSpPr>
        <p:spPr>
          <a:xfrm>
            <a:off x="5559552" y="478231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Тиражируемость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перенос в другие вузы и организации</a:t>
            </a:r>
            <a:endParaRPr lang="en-US" sz="1150" dirty="0"/>
          </a:p>
        </p:txBody>
      </p:sp>
      <p:sp>
        <p:nvSpPr>
          <p:cNvPr id="33" name="fx4_2_24"/>
          <p:cNvSpPr/>
          <p:nvPr/>
        </p:nvSpPr>
        <p:spPr>
          <a:xfrm>
            <a:off x="5321808" y="5550408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4" name="fx4_2_25"/>
          <p:cNvSpPr/>
          <p:nvPr/>
        </p:nvSpPr>
        <p:spPr>
          <a:xfrm>
            <a:off x="5559552" y="546811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Задел на будущее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 для внедрения и магистерской работы</a:t>
            </a:r>
            <a:endParaRPr lang="en-US" sz="1150" dirty="0"/>
          </a:p>
        </p:txBody>
      </p:sp>
      <p:pic>
        <p:nvPicPr>
          <p:cNvPr id="35" name="!!halo" descr="/home/user/omgGame/presentations/vkr-rag/assets/ha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88" y="1161288"/>
            <a:ext cx="3072384" cy="3072384"/>
          </a:xfrm>
          <a:prstGeom prst="rect">
            <a:avLst/>
          </a:prstGeom>
        </p:spPr>
      </p:pic>
      <p:pic>
        <p:nvPicPr>
          <p:cNvPr id="36" name="!!shadow" descr="/home/user/omgGame/presentations/vkr-rag/assets/shad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3768" y="3548786"/>
            <a:ext cx="1792224" cy="448056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7" name="!!m-bulb">
                <a:extLst>
                  <a:ext uri="{FF2B5EF4-FFF2-40B4-BE49-F238E27FC236}">
                    <a16:creationId xmlns:a16="http://schemas.microsoft.com/office/drawing/2014/main" id="{8345127D-2BF1-F236-A3C1-59842D8DDEA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189720" y="1417320"/>
              <a:ext cx="2560320" cy="2560320"/>
            </p:xfrm>
            <a:graphic>
              <a:graphicData uri="http://schemas.microsoft.com/office/drawing/2017/model3d">
                <am3d:model3d r:embed="rIdM3d9">
                  <am3d:spPr>
                    <a:xfrm>
                      <a:off x="0" y="0"/>
                      <a:ext cx="2560320" cy="2560320"/>
                    </a:xfrm>
                    <a:prstGeom prst="rect">
                      <a:avLst/>
                    </a:prstGeom>
                  </am3d:spPr>
                  <am3d:camera>
                    <am3d:pos x="0" y="0" z="663909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0088" d="1000000"/>
                    <am3d:preTrans dx="0" dy="-348279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1080000" az="0"/>
                    <am3d:postTrans dx="0" dy="0" dz="0"/>
                  </am3d:trans>
                  <am3d:raster rName="Office3DRenderer" rVer="16.0.8326">
                    <am3d:blip r:embed="rId3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5603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7" name="!!m-bulb">
                <a:extLst>
                  <a:ext uri="{FF2B5EF4-FFF2-40B4-BE49-F238E27FC236}">
                    <a16:creationId xmlns:a16="http://schemas.microsoft.com/office/drawing/2014/main" id="{8345127D-2BF1-F236-A3C1-59842D8DDEA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89720" y="1417320"/>
                <a:ext cx="2560320" cy="2560320"/>
              </a:xfrm>
              <a:prstGeom prst="rect">
                <a:avLst/>
              </a:prstGeom>
            </p:spPr>
          </p:pic>
        </mc:Fallback>
      </mc:AlternateContent>
      <p:sp>
        <p:nvSpPr>
          <p:cNvPr id="38" name="fx4_3_26"/>
          <p:cNvSpPr/>
          <p:nvPr/>
        </p:nvSpPr>
        <p:spPr>
          <a:xfrm>
            <a:off x="9418320" y="4114800"/>
            <a:ext cx="2133295" cy="2103120"/>
          </a:xfrm>
          <a:prstGeom prst="roundRect">
            <a:avLst>
              <a:gd name="adj" fmla="val 4348"/>
            </a:avLst>
          </a:prstGeom>
          <a:solidFill>
            <a:srgbClr val="EEF0F7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39" name="fx4_3_27"/>
          <p:cNvSpPr/>
          <p:nvPr/>
        </p:nvSpPr>
        <p:spPr>
          <a:xfrm>
            <a:off x="9555480" y="4206240"/>
            <a:ext cx="1858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200" kern="0" dirty="0">
                <a:solidFill>
                  <a:srgbClr val="465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НАУЧНЫЙ ВКЛАД</a:t>
            </a:r>
            <a:endParaRPr lang="en-US" sz="1000" dirty="0"/>
          </a:p>
        </p:txBody>
      </p:sp>
      <p:sp>
        <p:nvSpPr>
          <p:cNvPr id="40" name="fx4_3_28"/>
          <p:cNvSpPr/>
          <p:nvPr/>
        </p:nvSpPr>
        <p:spPr>
          <a:xfrm>
            <a:off x="9555480" y="4498848"/>
            <a:ext cx="185897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Проверена применимость RAG к русскоязычным документам вуза: сканы, таблицы, нормативка, живые данные</a:t>
            </a:r>
            <a:endParaRPr lang="en-US" sz="10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1" name="!!m-search">
                <a:extLst>
                  <a:ext uri="{FF2B5EF4-FFF2-40B4-BE49-F238E27FC236}">
                    <a16:creationId xmlns:a16="http://schemas.microsoft.com/office/drawing/2014/main" id="{27B6C397-534F-2D12-AE5C-B60ABE8F7B3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3794760" y="1554480"/>
              <a:ext cx="3246120" cy="3246120"/>
            </p:xfrm>
            <a:graphic>
              <a:graphicData uri="http://schemas.microsoft.com/office/drawing/2017/model3d">
                <am3d:model3d r:embed="rIdM3d10">
                  <am3d:spPr>
                    <a:xfrm>
                      <a:off x="0" y="0"/>
                      <a:ext cx="3246120" cy="3246120"/>
                    </a:xfrm>
                    <a:prstGeom prst="rect">
                      <a:avLst/>
                    </a:prstGeom>
                  </am3d:spPr>
                  <am3d:camera>
                    <am3d:pos x="0" y="0" z="7124651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3236" d="1000000"/>
                    <am3d:preTrans dx="1321642" dy="-4736618" dz="881159"/>
                    <am3d:scale>
                      <am3d:sx n="1000000" d="1000000"/>
                      <am3d:sy n="1000000" d="1000000"/>
                      <am3d:sz n="1000000" d="1000000"/>
                    </am3d:scale>
                    <am3d:rot ax="2100000" ay="-570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5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246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1" name="!!m-search">
                <a:extLst>
                  <a:ext uri="{FF2B5EF4-FFF2-40B4-BE49-F238E27FC236}">
                    <a16:creationId xmlns:a16="http://schemas.microsoft.com/office/drawing/2014/main" id="{27B6C397-534F-2D12-AE5C-B60ABE8F7B3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794760" y="1554480"/>
                <a:ext cx="3246120" cy="324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2" name="!!m-gears">
                <a:extLst>
                  <a:ext uri="{FF2B5EF4-FFF2-40B4-BE49-F238E27FC236}">
                    <a16:creationId xmlns:a16="http://schemas.microsoft.com/office/drawing/2014/main" id="{D95C8C61-6C8B-089A-B3ED-1B10A3B1620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4526280"/>
              <a:ext cx="1965960" cy="1965960"/>
            </p:xfrm>
            <a:graphic>
              <a:graphicData uri="http://schemas.microsoft.com/office/drawing/2017/model3d">
                <am3d:model3d r:embed="rIdM3d11">
                  <am3d:spPr>
                    <a:xfrm>
                      <a:off x="0" y="0"/>
                      <a:ext cx="1965960" cy="1965960"/>
                    </a:xfrm>
                    <a:prstGeom prst="rect">
                      <a:avLst/>
                    </a:prstGeom>
                  </am3d:spPr>
                  <am3d:camera>
                    <am3d:pos x="0" y="0" z="630583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58832" d="1000000"/>
                    <am3d:preTrans dx="2026663" dy="-27064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33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1965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2" name="!!m-gears">
                <a:extLst>
                  <a:ext uri="{FF2B5EF4-FFF2-40B4-BE49-F238E27FC236}">
                    <a16:creationId xmlns:a16="http://schemas.microsoft.com/office/drawing/2014/main" id="{D95C8C61-6C8B-089A-B3ED-1B10A3B162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40335" y="4526280"/>
                <a:ext cx="1965960" cy="1965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1" dur="4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8" grpId="0" animBg="1"/>
      <p:bldP spid="39" grpId="0" animBg="1"/>
      <p:bldP spid="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opba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5BEA"/>
          </a:solidFill>
          <a:ln/>
        </p:spPr>
      </p:sp>
      <p:sp>
        <p:nvSpPr>
          <p:cNvPr id="3" name="!!kbar"/>
          <p:cNvSpPr/>
          <p:nvPr/>
        </p:nvSpPr>
        <p:spPr>
          <a:xfrm>
            <a:off x="640080" y="475488"/>
            <a:ext cx="82296" cy="256032"/>
          </a:xfrm>
          <a:prstGeom prst="rect">
            <a:avLst/>
          </a:prstGeom>
          <a:solidFill>
            <a:srgbClr val="4F5BEA"/>
          </a:solidFill>
          <a:ln/>
        </p:spPr>
      </p:sp>
      <p:sp>
        <p:nvSpPr>
          <p:cNvPr id="4" name="!!kicker"/>
          <p:cNvSpPr/>
          <p:nvPr/>
        </p:nvSpPr>
        <p:spPr>
          <a:xfrm>
            <a:off x="822960" y="4297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465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 И ПРЕДМЕТ ИССЛЕДОВАНИЯ</a:t>
            </a:r>
            <a:endParaRPr lang="en-US" sz="1100" dirty="0"/>
          </a:p>
        </p:txBody>
      </p:sp>
      <p:sp>
        <p:nvSpPr>
          <p:cNvPr id="5" name="!!fline"/>
          <p:cNvSpPr/>
          <p:nvPr/>
        </p:nvSpPr>
        <p:spPr>
          <a:xfrm>
            <a:off x="640080" y="6400800"/>
            <a:ext cx="10911535" cy="91"/>
          </a:xfrm>
          <a:prstGeom prst="line">
            <a:avLst/>
          </a:prstGeom>
          <a:noFill/>
          <a:ln w="9525">
            <a:solidFill>
              <a:srgbClr val="DCE0EB"/>
            </a:solidFill>
            <a:prstDash val="solid"/>
          </a:ln>
        </p:spPr>
      </p:sp>
      <p:sp>
        <p:nvSpPr>
          <p:cNvPr id="6" name="!!footer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Мейер-Шишнёв В. А.  ·  Выбор темы НИР  ·  ПсковГУ, 2026</a:t>
            </a:r>
            <a:endParaRPr lang="en-US" sz="900" dirty="0"/>
          </a:p>
        </p:txBody>
      </p:sp>
      <p:sp>
        <p:nvSpPr>
          <p:cNvPr id="7" name="!!page"/>
          <p:cNvSpPr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900" dirty="0"/>
          </a:p>
        </p:txBody>
      </p:sp>
      <p:sp>
        <p:nvSpPr>
          <p:cNvPr id="8" name="!!title"/>
          <p:cNvSpPr/>
          <p:nvPr/>
        </p:nvSpPr>
        <p:spPr>
          <a:xfrm>
            <a:off x="64008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 и предмет исследования</a:t>
            </a:r>
            <a:endParaRPr lang="en-US" sz="3200" dirty="0"/>
          </a:p>
        </p:txBody>
      </p:sp>
      <p:sp>
        <p:nvSpPr>
          <p:cNvPr id="9" name="fx5_1_0"/>
          <p:cNvSpPr/>
          <p:nvPr/>
        </p:nvSpPr>
        <p:spPr>
          <a:xfrm>
            <a:off x="731520" y="1691640"/>
            <a:ext cx="4526280" cy="4526280"/>
          </a:xfrm>
          <a:prstGeom prst="ellipse">
            <a:avLst/>
          </a:prstGeom>
          <a:solidFill>
            <a:srgbClr val="EEF0FF"/>
          </a:solidFill>
          <a:ln w="19050">
            <a:solidFill>
              <a:srgbClr val="4F5BEA"/>
            </a:solidFill>
            <a:prstDash val="solid"/>
          </a:ln>
        </p:spPr>
      </p:sp>
      <p:sp>
        <p:nvSpPr>
          <p:cNvPr id="10" name="fx5_1_1"/>
          <p:cNvSpPr/>
          <p:nvPr/>
        </p:nvSpPr>
        <p:spPr>
          <a:xfrm>
            <a:off x="1554480" y="2075688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spc="200" kern="0" dirty="0">
                <a:solidFill>
                  <a:srgbClr val="465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справочные системы вузов на основе NLP</a:t>
            </a:r>
            <a:endParaRPr lang="en-US" sz="1200" dirty="0"/>
          </a:p>
        </p:txBody>
      </p:sp>
      <p:sp>
        <p:nvSpPr>
          <p:cNvPr id="11" name="fx5_2_2"/>
          <p:cNvSpPr/>
          <p:nvPr/>
        </p:nvSpPr>
        <p:spPr>
          <a:xfrm>
            <a:off x="1691640" y="3227832"/>
            <a:ext cx="2606040" cy="26060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652D6"/>
            </a:solidFill>
            <a:prstDash val="solid"/>
          </a:ln>
        </p:spPr>
      </p:sp>
      <p:sp>
        <p:nvSpPr>
          <p:cNvPr id="12" name="fx5_2_3"/>
          <p:cNvSpPr/>
          <p:nvPr/>
        </p:nvSpPr>
        <p:spPr>
          <a:xfrm>
            <a:off x="1965960" y="3685032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spc="200" kern="0" dirty="0">
                <a:solidFill>
                  <a:srgbClr val="465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поиск, извлечение текста и генерация ответа в RAG</a:t>
            </a:r>
            <a:endParaRPr lang="en-US" sz="1200" dirty="0"/>
          </a:p>
        </p:txBody>
      </p:sp>
      <p:sp>
        <p:nvSpPr>
          <p:cNvPr id="13" name="fx5_1_4"/>
          <p:cNvSpPr/>
          <p:nvPr/>
        </p:nvSpPr>
        <p:spPr>
          <a:xfrm>
            <a:off x="5623560" y="1691640"/>
            <a:ext cx="5928055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14" name="fx5_1_5"/>
          <p:cNvSpPr/>
          <p:nvPr/>
        </p:nvSpPr>
        <p:spPr>
          <a:xfrm>
            <a:off x="5852160" y="1783080"/>
            <a:ext cx="5562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465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 — что изучаю</a:t>
            </a:r>
            <a:endParaRPr lang="en-US" sz="1050" dirty="0"/>
          </a:p>
        </p:txBody>
      </p:sp>
      <p:sp>
        <p:nvSpPr>
          <p:cNvPr id="15" name="fx5_1_6"/>
          <p:cNvSpPr/>
          <p:nvPr/>
        </p:nvSpPr>
        <p:spPr>
          <a:xfrm>
            <a:off x="5852160" y="2057400"/>
            <a:ext cx="5516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Информационно-справочные системы образовательных организаций на основе технологий обработки естественного языка</a:t>
            </a:r>
            <a:endParaRPr lang="en-US" sz="1150" dirty="0"/>
          </a:p>
        </p:txBody>
      </p:sp>
      <p:sp>
        <p:nvSpPr>
          <p:cNvPr id="16" name="fx5_2_7"/>
          <p:cNvSpPr/>
          <p:nvPr/>
        </p:nvSpPr>
        <p:spPr>
          <a:xfrm>
            <a:off x="5623560" y="2990088"/>
            <a:ext cx="5928055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17" name="fx5_2_8"/>
          <p:cNvSpPr/>
          <p:nvPr/>
        </p:nvSpPr>
        <p:spPr>
          <a:xfrm>
            <a:off x="5852160" y="3081528"/>
            <a:ext cx="5562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465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 — какую сторону объекта</a:t>
            </a:r>
            <a:endParaRPr lang="en-US" sz="1050" dirty="0"/>
          </a:p>
        </p:txBody>
      </p:sp>
      <p:sp>
        <p:nvSpPr>
          <p:cNvPr id="18" name="fx5_2_9"/>
          <p:cNvSpPr/>
          <p:nvPr/>
        </p:nvSpPr>
        <p:spPr>
          <a:xfrm>
            <a:off x="5852160" y="3355848"/>
            <a:ext cx="5516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и алгоритмы семантического поиска, извлечения текста и генерации ответов в RAG-системах для русскоязычных корпоративных баз знаний вузов</a:t>
            </a:r>
            <a:endParaRPr lang="en-US" sz="1150" dirty="0"/>
          </a:p>
        </p:txBody>
      </p:sp>
      <p:sp>
        <p:nvSpPr>
          <p:cNvPr id="19" name="fx5_3_10"/>
          <p:cNvSpPr/>
          <p:nvPr/>
        </p:nvSpPr>
        <p:spPr>
          <a:xfrm>
            <a:off x="562356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200" kern="0" dirty="0">
                <a:solidFill>
                  <a:srgbClr val="465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ИССЛЕДОВАНИЯ</a:t>
            </a:r>
            <a:endParaRPr lang="en-US" sz="1000" dirty="0"/>
          </a:p>
        </p:txBody>
      </p:sp>
      <p:sp>
        <p:nvSpPr>
          <p:cNvPr id="20" name="fx5_3_11"/>
          <p:cNvSpPr/>
          <p:nvPr/>
        </p:nvSpPr>
        <p:spPr>
          <a:xfrm>
            <a:off x="5623560" y="470916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21" name="fx5_3_12"/>
          <p:cNvSpPr/>
          <p:nvPr/>
        </p:nvSpPr>
        <p:spPr>
          <a:xfrm>
            <a:off x="5623560" y="47091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литературы</a:t>
            </a:r>
            <a:endParaRPr lang="en-US" sz="950" dirty="0"/>
          </a:p>
        </p:txBody>
      </p:sp>
      <p:sp>
        <p:nvSpPr>
          <p:cNvPr id="22" name="fx5_3_13"/>
          <p:cNvSpPr/>
          <p:nvPr/>
        </p:nvSpPr>
        <p:spPr>
          <a:xfrm>
            <a:off x="7498080" y="470916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23" name="fx5_3_14"/>
          <p:cNvSpPr/>
          <p:nvPr/>
        </p:nvSpPr>
        <p:spPr>
          <a:xfrm>
            <a:off x="7498080" y="47091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аналогов</a:t>
            </a:r>
            <a:endParaRPr lang="en-US" sz="950" dirty="0"/>
          </a:p>
        </p:txBody>
      </p:sp>
      <p:sp>
        <p:nvSpPr>
          <p:cNvPr id="24" name="fx5_3_15"/>
          <p:cNvSpPr/>
          <p:nvPr/>
        </p:nvSpPr>
        <p:spPr>
          <a:xfrm>
            <a:off x="5623560" y="509320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25" name="fx5_3_16"/>
          <p:cNvSpPr/>
          <p:nvPr/>
        </p:nvSpPr>
        <p:spPr>
          <a:xfrm>
            <a:off x="5623560" y="509320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 веб-данных</a:t>
            </a:r>
            <a:endParaRPr lang="en-US" sz="950" dirty="0"/>
          </a:p>
        </p:txBody>
      </p:sp>
      <p:sp>
        <p:nvSpPr>
          <p:cNvPr id="26" name="fx5_3_17"/>
          <p:cNvSpPr/>
          <p:nvPr/>
        </p:nvSpPr>
        <p:spPr>
          <a:xfrm>
            <a:off x="7498080" y="509320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27" name="fx5_3_18"/>
          <p:cNvSpPr/>
          <p:nvPr/>
        </p:nvSpPr>
        <p:spPr>
          <a:xfrm>
            <a:off x="7498080" y="509320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извлечение текста, OCR</a:t>
            </a:r>
            <a:endParaRPr lang="en-US" sz="950" dirty="0"/>
          </a:p>
        </p:txBody>
      </p:sp>
      <p:sp>
        <p:nvSpPr>
          <p:cNvPr id="28" name="fx5_3_19"/>
          <p:cNvSpPr/>
          <p:nvPr/>
        </p:nvSpPr>
        <p:spPr>
          <a:xfrm>
            <a:off x="5623560" y="5477256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29" name="fx5_3_20"/>
          <p:cNvSpPr/>
          <p:nvPr/>
        </p:nvSpPr>
        <p:spPr>
          <a:xfrm>
            <a:off x="5623560" y="5477256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эмбеддинги</a:t>
            </a:r>
            <a:endParaRPr lang="en-US" sz="950" dirty="0"/>
          </a:p>
        </p:txBody>
      </p:sp>
      <p:sp>
        <p:nvSpPr>
          <p:cNvPr id="30" name="fx5_3_21"/>
          <p:cNvSpPr/>
          <p:nvPr/>
        </p:nvSpPr>
        <p:spPr>
          <a:xfrm>
            <a:off x="7498080" y="5477256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31" name="fx5_3_22"/>
          <p:cNvSpPr/>
          <p:nvPr/>
        </p:nvSpPr>
        <p:spPr>
          <a:xfrm>
            <a:off x="7498080" y="5477256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семантический поиск</a:t>
            </a:r>
            <a:endParaRPr lang="en-US" sz="950" dirty="0"/>
          </a:p>
        </p:txBody>
      </p:sp>
      <p:sp>
        <p:nvSpPr>
          <p:cNvPr id="32" name="fx5_3_23"/>
          <p:cNvSpPr/>
          <p:nvPr/>
        </p:nvSpPr>
        <p:spPr>
          <a:xfrm>
            <a:off x="5623560" y="5861304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33" name="fx5_3_24"/>
          <p:cNvSpPr/>
          <p:nvPr/>
        </p:nvSpPr>
        <p:spPr>
          <a:xfrm>
            <a:off x="5623560" y="586130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 БД</a:t>
            </a:r>
            <a:endParaRPr lang="en-US" sz="950" dirty="0"/>
          </a:p>
        </p:txBody>
      </p:sp>
      <p:sp>
        <p:nvSpPr>
          <p:cNvPr id="34" name="fx5_3_25"/>
          <p:cNvSpPr/>
          <p:nvPr/>
        </p:nvSpPr>
        <p:spPr>
          <a:xfrm>
            <a:off x="7498080" y="5861304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35" name="fx5_3_26"/>
          <p:cNvSpPr/>
          <p:nvPr/>
        </p:nvSpPr>
        <p:spPr>
          <a:xfrm>
            <a:off x="7498080" y="586130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</a:t>
            </a:r>
            <a:endParaRPr lang="en-US" sz="950" dirty="0"/>
          </a:p>
        </p:txBody>
      </p:sp>
      <p:pic>
        <p:nvPicPr>
          <p:cNvPr id="36" name="!!halo" descr="/home/user/omgGame/presentations/vkr-rag/assets/ha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8622" y="4062222"/>
            <a:ext cx="2162556" cy="2162556"/>
          </a:xfrm>
          <a:prstGeom prst="rect">
            <a:avLst/>
          </a:prstGeom>
        </p:spPr>
      </p:pic>
      <p:pic>
        <p:nvPicPr>
          <p:cNvPr id="37" name="!!shadow" descr="/home/user/omgGame/presentations/vkr-rag/assets/shad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1814" y="5757862"/>
            <a:ext cx="1376172" cy="344043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8" name="!!m-gears">
                <a:extLst>
                  <a:ext uri="{FF2B5EF4-FFF2-40B4-BE49-F238E27FC236}">
                    <a16:creationId xmlns:a16="http://schemas.microsoft.com/office/drawing/2014/main" id="{3743C409-5AA6-C996-D8E7-B2A16BA79D8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646920" y="4160520"/>
              <a:ext cx="1965960" cy="1965960"/>
            </p:xfrm>
            <a:graphic>
              <a:graphicData uri="http://schemas.microsoft.com/office/drawing/2017/model3d">
                <am3d:model3d r:embed="rIdM3d12">
                  <am3d:spPr>
                    <a:xfrm>
                      <a:off x="0" y="0"/>
                      <a:ext cx="1965960" cy="1965960"/>
                    </a:xfrm>
                    <a:prstGeom prst="rect">
                      <a:avLst/>
                    </a:prstGeom>
                  </am3d:spPr>
                  <am3d:camera>
                    <am3d:pos x="0" y="0" z="630583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58832" d="1000000"/>
                    <am3d:preTrans dx="2026663" dy="-27064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500000" az="0"/>
                    <am3d:postTrans dx="0" dy="0" dz="0"/>
                  </am3d:trans>
                  <am3d:raster rName="Office3DRenderer" rVer="16.0.8326">
                    <am3d:blip r:embed="rId3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1965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8" name="!!m-gears">
                <a:extLst>
                  <a:ext uri="{FF2B5EF4-FFF2-40B4-BE49-F238E27FC236}">
                    <a16:creationId xmlns:a16="http://schemas.microsoft.com/office/drawing/2014/main" id="{3743C409-5AA6-C996-D8E7-B2A16BA79D8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46920" y="4160520"/>
                <a:ext cx="1965960" cy="19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9" name="!!m-bulb">
                <a:extLst>
                  <a:ext uri="{FF2B5EF4-FFF2-40B4-BE49-F238E27FC236}">
                    <a16:creationId xmlns:a16="http://schemas.microsoft.com/office/drawing/2014/main" id="{9D239908-3D3D-88EA-4DEB-A14057A2A4F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3108960" y="1783080"/>
              <a:ext cx="2560320" cy="2560320"/>
            </p:xfrm>
            <a:graphic>
              <a:graphicData uri="http://schemas.microsoft.com/office/drawing/2017/model3d">
                <am3d:model3d r:embed="rIdM3d13">
                  <am3d:spPr>
                    <a:xfrm>
                      <a:off x="0" y="0"/>
                      <a:ext cx="2560320" cy="2560320"/>
                    </a:xfrm>
                    <a:prstGeom prst="rect">
                      <a:avLst/>
                    </a:prstGeom>
                  </am3d:spPr>
                  <am3d:camera>
                    <am3d:pos x="0" y="0" z="6639090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40088" d="1000000"/>
                    <am3d:preTrans dx="0" dy="-348279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588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5603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9" name="!!m-bulb">
                <a:extLst>
                  <a:ext uri="{FF2B5EF4-FFF2-40B4-BE49-F238E27FC236}">
                    <a16:creationId xmlns:a16="http://schemas.microsoft.com/office/drawing/2014/main" id="{9D239908-3D3D-88EA-4DEB-A14057A2A4F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108960" y="1783080"/>
                <a:ext cx="2560320" cy="256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0" name="!!m-target">
                <a:extLst>
                  <a:ext uri="{FF2B5EF4-FFF2-40B4-BE49-F238E27FC236}">
                    <a16:creationId xmlns:a16="http://schemas.microsoft.com/office/drawing/2014/main" id="{D860BB0C-F0EA-969D-8F0D-D47518F6220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783080"/>
              <a:ext cx="3108960" cy="3108960"/>
            </p:xfrm>
            <a:graphic>
              <a:graphicData uri="http://schemas.microsoft.com/office/drawing/2017/model3d">
                <am3d:model3d r:embed="rIdM3d14">
                  <am3d:spPr>
                    <a:xfrm>
                      <a:off x="0" y="0"/>
                      <a:ext cx="3108960" cy="3108960"/>
                    </a:xfrm>
                    <a:prstGeom prst="rect">
                      <a:avLst/>
                    </a:prstGeom>
                  </am3d:spPr>
                  <am3d:camera>
                    <am3d:pos x="0" y="0" z="6948431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09133" d="1000000"/>
                    <am3d:preTrans dx="-6585179" dy="3566873" dz="-341580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312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0" name="!!m-target">
                <a:extLst>
                  <a:ext uri="{FF2B5EF4-FFF2-40B4-BE49-F238E27FC236}">
                    <a16:creationId xmlns:a16="http://schemas.microsoft.com/office/drawing/2014/main" id="{D860BB0C-F0EA-969D-8F0D-D47518F6220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40335" y="1783080"/>
                <a:ext cx="3108960" cy="3108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1" dur="6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14" grpId="0" animBg="1"/>
      <p:bldP spid="15" grpId="0" animBg="1"/>
      <p:bldP spid="11" grpId="0" animBg="1"/>
      <p:bldP spid="12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opba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5BEA"/>
          </a:solidFill>
          <a:ln/>
        </p:spPr>
      </p:sp>
      <p:sp>
        <p:nvSpPr>
          <p:cNvPr id="3" name="!!kbar"/>
          <p:cNvSpPr/>
          <p:nvPr/>
        </p:nvSpPr>
        <p:spPr>
          <a:xfrm>
            <a:off x="640080" y="475488"/>
            <a:ext cx="82296" cy="256032"/>
          </a:xfrm>
          <a:prstGeom prst="rect">
            <a:avLst/>
          </a:prstGeom>
          <a:solidFill>
            <a:srgbClr val="4F5BEA"/>
          </a:solidFill>
          <a:ln/>
        </p:spPr>
      </p:sp>
      <p:sp>
        <p:nvSpPr>
          <p:cNvPr id="4" name="!!kicker"/>
          <p:cNvSpPr/>
          <p:nvPr/>
        </p:nvSpPr>
        <p:spPr>
          <a:xfrm>
            <a:off x="822960" y="4297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465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РАБОТЫ</a:t>
            </a:r>
            <a:endParaRPr lang="en-US" sz="1100" dirty="0"/>
          </a:p>
        </p:txBody>
      </p:sp>
      <p:sp>
        <p:nvSpPr>
          <p:cNvPr id="5" name="!!fline"/>
          <p:cNvSpPr/>
          <p:nvPr/>
        </p:nvSpPr>
        <p:spPr>
          <a:xfrm>
            <a:off x="640080" y="6400800"/>
            <a:ext cx="10911535" cy="91"/>
          </a:xfrm>
          <a:prstGeom prst="line">
            <a:avLst/>
          </a:prstGeom>
          <a:noFill/>
          <a:ln w="9525">
            <a:solidFill>
              <a:srgbClr val="DCE0EB"/>
            </a:solidFill>
            <a:prstDash val="solid"/>
          </a:ln>
        </p:spPr>
      </p:sp>
      <p:sp>
        <p:nvSpPr>
          <p:cNvPr id="6" name="!!footer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Мейер-Шишнёв В. А.  ·  Выбор темы НИР  ·  ПсковГУ, 2026</a:t>
            </a:r>
            <a:endParaRPr lang="en-US" sz="900" dirty="0"/>
          </a:p>
        </p:txBody>
      </p:sp>
      <p:sp>
        <p:nvSpPr>
          <p:cNvPr id="7" name="!!page"/>
          <p:cNvSpPr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9</a:t>
            </a:r>
            <a:endParaRPr lang="en-US" sz="900" dirty="0"/>
          </a:p>
        </p:txBody>
      </p:sp>
      <p:sp>
        <p:nvSpPr>
          <p:cNvPr id="8" name="!!title"/>
          <p:cNvSpPr/>
          <p:nvPr/>
        </p:nvSpPr>
        <p:spPr>
          <a:xfrm>
            <a:off x="64008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работы</a:t>
            </a:r>
            <a:endParaRPr lang="en-US" sz="3200" dirty="0"/>
          </a:p>
        </p:txBody>
      </p:sp>
      <p:sp>
        <p:nvSpPr>
          <p:cNvPr id="9" name="fx6_1_0"/>
          <p:cNvSpPr/>
          <p:nvPr/>
        </p:nvSpPr>
        <p:spPr>
          <a:xfrm>
            <a:off x="640080" y="1691640"/>
            <a:ext cx="7589520" cy="1600200"/>
          </a:xfrm>
          <a:prstGeom prst="roundRect">
            <a:avLst>
              <a:gd name="adj" fmla="val 5714"/>
            </a:avLst>
          </a:prstGeom>
          <a:solidFill>
            <a:srgbClr val="EEF0FF"/>
          </a:solidFill>
          <a:ln w="9525">
            <a:solidFill>
              <a:srgbClr val="4F5BEA"/>
            </a:solidFill>
            <a:prstDash val="solid"/>
          </a:ln>
        </p:spPr>
      </p:sp>
      <p:sp>
        <p:nvSpPr>
          <p:cNvPr id="10" name="fx6_1_1"/>
          <p:cNvSpPr/>
          <p:nvPr/>
        </p:nvSpPr>
        <p:spPr>
          <a:xfrm>
            <a:off x="640080" y="1874520"/>
            <a:ext cx="73152" cy="1234440"/>
          </a:xfrm>
          <a:prstGeom prst="rect">
            <a:avLst/>
          </a:prstGeom>
          <a:solidFill>
            <a:srgbClr val="4F5BEA"/>
          </a:solidFill>
          <a:ln/>
        </p:spPr>
      </p:sp>
      <p:sp>
        <p:nvSpPr>
          <p:cNvPr id="11" name="fx6_1_2"/>
          <p:cNvSpPr/>
          <p:nvPr/>
        </p:nvSpPr>
        <p:spPr>
          <a:xfrm>
            <a:off x="960120" y="1737360"/>
            <a:ext cx="7040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465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Спроектировать, реализовать и экспериментально проверить </a:t>
            </a:r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локальную информационно-справочную систему ПсковГУ на основе RAG, которая отвечает на вопросы на естественном языке с указанием источников</a:t>
            </a:r>
            <a:endParaRPr lang="en-US" sz="1500" dirty="0"/>
          </a:p>
        </p:txBody>
      </p:sp>
      <p:sp>
        <p:nvSpPr>
          <p:cNvPr id="12" name="fx6_2_3"/>
          <p:cNvSpPr/>
          <p:nvPr/>
        </p:nvSpPr>
        <p:spPr>
          <a:xfrm>
            <a:off x="640080" y="3520440"/>
            <a:ext cx="2316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13" name="fx6_2_4"/>
          <p:cNvSpPr/>
          <p:nvPr/>
        </p:nvSpPr>
        <p:spPr>
          <a:xfrm>
            <a:off x="822960" y="3520440"/>
            <a:ext cx="1996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Спроектировать</a:t>
            </a:r>
            <a:endParaRPr lang="en-US" sz="13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архитектура: offline-пайплайн + online-сервис</a:t>
            </a:r>
            <a:endParaRPr lang="en-US" sz="1300" dirty="0"/>
          </a:p>
        </p:txBody>
      </p:sp>
      <p:sp>
        <p:nvSpPr>
          <p:cNvPr id="14" name="fx6_2_5"/>
          <p:cNvSpPr/>
          <p:nvPr/>
        </p:nvSpPr>
        <p:spPr>
          <a:xfrm>
            <a:off x="2956560" y="37033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F5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5" name="fx6_2_6"/>
          <p:cNvSpPr/>
          <p:nvPr/>
        </p:nvSpPr>
        <p:spPr>
          <a:xfrm>
            <a:off x="3276600" y="3520440"/>
            <a:ext cx="2316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16" name="fx6_2_7"/>
          <p:cNvSpPr/>
          <p:nvPr/>
        </p:nvSpPr>
        <p:spPr>
          <a:xfrm>
            <a:off x="3459480" y="3520440"/>
            <a:ext cx="1996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Реализовать</a:t>
            </a:r>
            <a:endParaRPr lang="en-US" sz="13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 данных, индекс, чат, виджет, админ-панель</a:t>
            </a:r>
            <a:endParaRPr lang="en-US" sz="1300" dirty="0"/>
          </a:p>
        </p:txBody>
      </p:sp>
      <p:sp>
        <p:nvSpPr>
          <p:cNvPr id="17" name="fx6_2_8"/>
          <p:cNvSpPr/>
          <p:nvPr/>
        </p:nvSpPr>
        <p:spPr>
          <a:xfrm>
            <a:off x="5593080" y="37033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F5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fx6_2_9"/>
          <p:cNvSpPr/>
          <p:nvPr/>
        </p:nvSpPr>
        <p:spPr>
          <a:xfrm>
            <a:off x="5913120" y="3520440"/>
            <a:ext cx="23164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19" name="fx6_2_10"/>
          <p:cNvSpPr/>
          <p:nvPr/>
        </p:nvSpPr>
        <p:spPr>
          <a:xfrm>
            <a:off x="6096000" y="3520440"/>
            <a:ext cx="1996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Проверить</a:t>
            </a:r>
            <a:endParaRPr lang="en-US" sz="13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 на 30 вопросах в 6 категориях</a:t>
            </a:r>
            <a:endParaRPr lang="en-US" sz="1300" dirty="0"/>
          </a:p>
        </p:txBody>
      </p:sp>
      <p:sp>
        <p:nvSpPr>
          <p:cNvPr id="20" name="fx6_3_11"/>
          <p:cNvSpPr/>
          <p:nvPr/>
        </p:nvSpPr>
        <p:spPr>
          <a:xfrm>
            <a:off x="64008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КРИТЕРИИ ДОСТИЖЕНИЯ ЦЕЛИ</a:t>
            </a:r>
            <a:endParaRPr lang="en-US" sz="1050" dirty="0"/>
          </a:p>
        </p:txBody>
      </p:sp>
      <p:sp>
        <p:nvSpPr>
          <p:cNvPr id="21" name="fx6_3_12"/>
          <p:cNvSpPr/>
          <p:nvPr/>
        </p:nvSpPr>
        <p:spPr>
          <a:xfrm>
            <a:off x="640080" y="5029200"/>
            <a:ext cx="1794510" cy="1143000"/>
          </a:xfrm>
          <a:prstGeom prst="roundRect">
            <a:avLst>
              <a:gd name="adj" fmla="val 8000"/>
            </a:avLst>
          </a:prstGeom>
          <a:solidFill>
            <a:srgbClr val="E7F6EF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2" name="fx6_3_13"/>
          <p:cNvSpPr/>
          <p:nvPr/>
        </p:nvSpPr>
        <p:spPr>
          <a:xfrm>
            <a:off x="749808" y="5029200"/>
            <a:ext cx="157505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 + источники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ссылки на страницы и документы</a:t>
            </a:r>
            <a:endParaRPr lang="en-US" sz="1200" dirty="0"/>
          </a:p>
        </p:txBody>
      </p:sp>
      <p:sp>
        <p:nvSpPr>
          <p:cNvPr id="23" name="fx6_3_14"/>
          <p:cNvSpPr/>
          <p:nvPr/>
        </p:nvSpPr>
        <p:spPr>
          <a:xfrm>
            <a:off x="2571750" y="5029200"/>
            <a:ext cx="1794510" cy="1143000"/>
          </a:xfrm>
          <a:prstGeom prst="roundRect">
            <a:avLst>
              <a:gd name="adj" fmla="val 8000"/>
            </a:avLst>
          </a:prstGeom>
          <a:solidFill>
            <a:srgbClr val="E7F6EF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4" name="fx6_3_15"/>
          <p:cNvSpPr/>
          <p:nvPr/>
        </p:nvSpPr>
        <p:spPr>
          <a:xfrm>
            <a:off x="2681478" y="5029200"/>
            <a:ext cx="157505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Локальный контур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RTX 3060, 12 ГБ · 152-ФЗ</a:t>
            </a:r>
            <a:endParaRPr lang="en-US" sz="1200" dirty="0"/>
          </a:p>
        </p:txBody>
      </p:sp>
      <p:sp>
        <p:nvSpPr>
          <p:cNvPr id="25" name="fx6_3_16"/>
          <p:cNvSpPr/>
          <p:nvPr/>
        </p:nvSpPr>
        <p:spPr>
          <a:xfrm>
            <a:off x="4503420" y="5029200"/>
            <a:ext cx="1794510" cy="1143000"/>
          </a:xfrm>
          <a:prstGeom prst="roundRect">
            <a:avLst>
              <a:gd name="adj" fmla="val 8000"/>
            </a:avLst>
          </a:prstGeom>
          <a:solidFill>
            <a:srgbClr val="E7F6EF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6" name="fx6_3_17"/>
          <p:cNvSpPr/>
          <p:nvPr/>
        </p:nvSpPr>
        <p:spPr>
          <a:xfrm>
            <a:off x="4613148" y="5029200"/>
            <a:ext cx="157505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≤ 3–5 с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семантический по базе знаний</a:t>
            </a:r>
            <a:endParaRPr lang="en-US" sz="1200" dirty="0"/>
          </a:p>
        </p:txBody>
      </p:sp>
      <p:sp>
        <p:nvSpPr>
          <p:cNvPr id="27" name="fx6_3_18"/>
          <p:cNvSpPr/>
          <p:nvPr/>
        </p:nvSpPr>
        <p:spPr>
          <a:xfrm>
            <a:off x="6435090" y="5029200"/>
            <a:ext cx="1794510" cy="1143000"/>
          </a:xfrm>
          <a:prstGeom prst="roundRect">
            <a:avLst>
              <a:gd name="adj" fmla="val 8000"/>
            </a:avLst>
          </a:prstGeom>
          <a:solidFill>
            <a:srgbClr val="E7F6EF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8" name="fx6_3_19"/>
          <p:cNvSpPr/>
          <p:nvPr/>
        </p:nvSpPr>
        <p:spPr>
          <a:xfrm>
            <a:off x="6544818" y="5029200"/>
            <a:ext cx="157505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 ≤ 60 с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полное время генерации</a:t>
            </a:r>
            <a:endParaRPr lang="en-US" sz="1200" dirty="0"/>
          </a:p>
        </p:txBody>
      </p:sp>
      <p:pic>
        <p:nvPicPr>
          <p:cNvPr id="29" name="!!halo" descr="/home/user/omgGame/presentations/vkr-rag/assets/ha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6468" y="1184148"/>
            <a:ext cx="3575304" cy="3575304"/>
          </a:xfrm>
          <a:prstGeom prst="rect">
            <a:avLst/>
          </a:prstGeom>
        </p:spPr>
      </p:pic>
      <p:pic>
        <p:nvPicPr>
          <p:cNvPr id="30" name="!!shadow" descr="/home/user/omgGame/presentations/vkr-rag/assets/shad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984" y="3818992"/>
            <a:ext cx="2176272" cy="544068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1" name="!!m-target">
                <a:extLst>
                  <a:ext uri="{FF2B5EF4-FFF2-40B4-BE49-F238E27FC236}">
                    <a16:creationId xmlns:a16="http://schemas.microsoft.com/office/drawing/2014/main" id="{9892BDA3-63FF-E008-A4D7-CBC14B8DA63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549640" y="1417320"/>
              <a:ext cx="3108960" cy="3108960"/>
            </p:xfrm>
            <a:graphic>
              <a:graphicData uri="http://schemas.microsoft.com/office/drawing/2017/model3d">
                <am3d:model3d r:embed="rIdM3d15">
                  <am3d:spPr>
                    <a:xfrm>
                      <a:off x="0" y="0"/>
                      <a:ext cx="3108960" cy="3108960"/>
                    </a:xfrm>
                    <a:prstGeom prst="rect">
                      <a:avLst/>
                    </a:prstGeom>
                  </am3d:spPr>
                  <am3d:camera>
                    <am3d:pos x="0" y="0" z="6948431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09133" d="1000000"/>
                    <am3d:preTrans dx="-6585179" dy="3566873" dz="-341580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1680000" az="0"/>
                    <am3d:postTrans dx="0" dy="0" dz="0"/>
                  </am3d:trans>
                  <am3d:raster rName="Office3DRenderer" rVer="16.0.8326">
                    <am3d:blip r:embed="rId3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1" name="!!m-target">
                <a:extLst>
                  <a:ext uri="{FF2B5EF4-FFF2-40B4-BE49-F238E27FC236}">
                    <a16:creationId xmlns:a16="http://schemas.microsoft.com/office/drawing/2014/main" id="{9892BDA3-63FF-E008-A4D7-CBC14B8DA63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49640" y="1417320"/>
                <a:ext cx="3108960" cy="310896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fx6_4_20"/>
          <p:cNvSpPr/>
          <p:nvPr/>
        </p:nvSpPr>
        <p:spPr>
          <a:xfrm>
            <a:off x="8595360" y="4937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сформулирована так, чтобы её достижение можно было проверить</a:t>
            </a:r>
            <a:endParaRPr lang="en-US" sz="10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!!m-gears">
                <a:extLst>
                  <a:ext uri="{FF2B5EF4-FFF2-40B4-BE49-F238E27FC236}">
                    <a16:creationId xmlns:a16="http://schemas.microsoft.com/office/drawing/2014/main" id="{A00542F5-72B1-0236-BE0B-E1B6204FF6A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2514600" y="4526280"/>
              <a:ext cx="1965960" cy="1965960"/>
            </p:xfrm>
            <a:graphic>
              <a:graphicData uri="http://schemas.microsoft.com/office/drawing/2017/model3d">
                <am3d:model3d r:embed="rIdM3d16">
                  <am3d:spPr>
                    <a:xfrm>
                      <a:off x="0" y="0"/>
                      <a:ext cx="1965960" cy="1965960"/>
                    </a:xfrm>
                    <a:prstGeom prst="rect">
                      <a:avLst/>
                    </a:prstGeom>
                  </am3d:spPr>
                  <am3d:camera>
                    <am3d:pos x="0" y="0" z="630583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58832" d="1000000"/>
                    <am3d:preTrans dx="2026663" dy="-270647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630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1965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!!m-gears">
                <a:extLst>
                  <a:ext uri="{FF2B5EF4-FFF2-40B4-BE49-F238E27FC236}">
                    <a16:creationId xmlns:a16="http://schemas.microsoft.com/office/drawing/2014/main" id="{A00542F5-72B1-0236-BE0B-E1B6204FF6A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514600" y="4526280"/>
                <a:ext cx="1965960" cy="19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4" name="!!m-rocket">
                <a:extLst>
                  <a:ext uri="{FF2B5EF4-FFF2-40B4-BE49-F238E27FC236}">
                    <a16:creationId xmlns:a16="http://schemas.microsoft.com/office/drawing/2014/main" id="{D47E761E-0A76-0966-AC2A-41B4B51A2FB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600200"/>
              <a:ext cx="2377440" cy="2377440"/>
            </p:xfrm>
            <a:graphic>
              <a:graphicData uri="http://schemas.microsoft.com/office/drawing/2017/model3d">
                <am3d:model3d r:embed="rIdM3d17">
                  <am3d:spPr>
                    <a:xfrm>
                      <a:off x="0" y="0"/>
                      <a:ext cx="2377440" cy="2377440"/>
                    </a:xfrm>
                    <a:prstGeom prst="rect">
                      <a:avLst/>
                    </a:prstGeom>
                  </am3d:spPr>
                  <am3d:camera>
                    <am3d:pos x="0" y="0" z="5700347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59484" d="1000000"/>
                    <am3d:preTrans dx="3522440" dy="2356331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39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3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3774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4" name="!!m-rocket">
                <a:extLst>
                  <a:ext uri="{FF2B5EF4-FFF2-40B4-BE49-F238E27FC236}">
                    <a16:creationId xmlns:a16="http://schemas.microsoft.com/office/drawing/2014/main" id="{D47E761E-0A76-0966-AC2A-41B4B51A2FB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40335" y="1600200"/>
                <a:ext cx="2377440" cy="2377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1" dur="4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opba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5BEA"/>
          </a:solidFill>
          <a:ln/>
        </p:spPr>
      </p:sp>
      <p:sp>
        <p:nvSpPr>
          <p:cNvPr id="3" name="!!kbar"/>
          <p:cNvSpPr/>
          <p:nvPr/>
        </p:nvSpPr>
        <p:spPr>
          <a:xfrm>
            <a:off x="640080" y="475488"/>
            <a:ext cx="82296" cy="256032"/>
          </a:xfrm>
          <a:prstGeom prst="rect">
            <a:avLst/>
          </a:prstGeom>
          <a:solidFill>
            <a:srgbClr val="4F5BEA"/>
          </a:solidFill>
          <a:ln/>
        </p:spPr>
      </p:sp>
      <p:sp>
        <p:nvSpPr>
          <p:cNvPr id="4" name="!!kicker"/>
          <p:cNvSpPr/>
          <p:nvPr/>
        </p:nvSpPr>
        <p:spPr>
          <a:xfrm>
            <a:off x="822960" y="4297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465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ПЕРЕЧЕНЬ ЗАДАЧ</a:t>
            </a:r>
            <a:endParaRPr lang="en-US" sz="1100" dirty="0"/>
          </a:p>
        </p:txBody>
      </p:sp>
      <p:sp>
        <p:nvSpPr>
          <p:cNvPr id="5" name="!!fline"/>
          <p:cNvSpPr/>
          <p:nvPr/>
        </p:nvSpPr>
        <p:spPr>
          <a:xfrm>
            <a:off x="640080" y="6400800"/>
            <a:ext cx="10911535" cy="91"/>
          </a:xfrm>
          <a:prstGeom prst="line">
            <a:avLst/>
          </a:prstGeom>
          <a:noFill/>
          <a:ln w="9525">
            <a:solidFill>
              <a:srgbClr val="DCE0EB"/>
            </a:solidFill>
            <a:prstDash val="solid"/>
          </a:ln>
        </p:spPr>
      </p:sp>
      <p:sp>
        <p:nvSpPr>
          <p:cNvPr id="6" name="!!footer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Мейер-Шишнёв В. А.  ·  Выбор темы НИР  ·  ПсковГУ, 2026</a:t>
            </a:r>
            <a:endParaRPr lang="en-US" sz="900" dirty="0"/>
          </a:p>
        </p:txBody>
      </p:sp>
      <p:sp>
        <p:nvSpPr>
          <p:cNvPr id="7" name="!!page"/>
          <p:cNvSpPr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9</a:t>
            </a:r>
            <a:endParaRPr lang="en-US" sz="900" dirty="0"/>
          </a:p>
        </p:txBody>
      </p:sp>
      <p:sp>
        <p:nvSpPr>
          <p:cNvPr id="8" name="!!title"/>
          <p:cNvSpPr/>
          <p:nvPr/>
        </p:nvSpPr>
        <p:spPr>
          <a:xfrm>
            <a:off x="640080" y="868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Семь задач — путь к цели</a:t>
            </a:r>
            <a:endParaRPr lang="en-US" sz="3200" dirty="0"/>
          </a:p>
        </p:txBody>
      </p:sp>
      <p:sp>
        <p:nvSpPr>
          <p:cNvPr id="9" name="fx7_1_0"/>
          <p:cNvSpPr/>
          <p:nvPr/>
        </p:nvSpPr>
        <p:spPr>
          <a:xfrm>
            <a:off x="640080" y="1737360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4F5BEA"/>
          </a:solidFill>
          <a:ln/>
        </p:spPr>
      </p:sp>
      <p:sp>
        <p:nvSpPr>
          <p:cNvPr id="10" name="fx7_1_1"/>
          <p:cNvSpPr/>
          <p:nvPr/>
        </p:nvSpPr>
        <p:spPr>
          <a:xfrm>
            <a:off x="640080" y="173736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ТЕОРИЯ</a:t>
            </a:r>
            <a:endParaRPr lang="en-US" sz="1050" dirty="0"/>
          </a:p>
        </p:txBody>
      </p:sp>
      <p:sp>
        <p:nvSpPr>
          <p:cNvPr id="11" name="fx7_1_2"/>
          <p:cNvSpPr/>
          <p:nvPr/>
        </p:nvSpPr>
        <p:spPr>
          <a:xfrm>
            <a:off x="640080" y="2286000"/>
            <a:ext cx="1993392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12" name="fx7_1_3"/>
          <p:cNvSpPr/>
          <p:nvPr/>
        </p:nvSpPr>
        <p:spPr>
          <a:xfrm>
            <a:off x="768096" y="2414016"/>
            <a:ext cx="329184" cy="329184"/>
          </a:xfrm>
          <a:prstGeom prst="ellipse">
            <a:avLst/>
          </a:prstGeom>
          <a:solidFill>
            <a:srgbClr val="4F5BEA"/>
          </a:solidFill>
          <a:ln/>
        </p:spPr>
      </p:sp>
      <p:sp>
        <p:nvSpPr>
          <p:cNvPr id="13" name="fx7_1_4"/>
          <p:cNvSpPr/>
          <p:nvPr/>
        </p:nvSpPr>
        <p:spPr>
          <a:xfrm>
            <a:off x="768096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fx7_1_5"/>
          <p:cNvSpPr/>
          <p:nvPr/>
        </p:nvSpPr>
        <p:spPr>
          <a:xfrm>
            <a:off x="1170432" y="2359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Изучить LLM и RAG-архитектуру</a:t>
            </a:r>
            <a:endParaRPr lang="en-US" sz="1100" dirty="0"/>
          </a:p>
        </p:txBody>
      </p:sp>
      <p:sp>
        <p:nvSpPr>
          <p:cNvPr id="15" name="fx7_1_6"/>
          <p:cNvSpPr/>
          <p:nvPr/>
        </p:nvSpPr>
        <p:spPr>
          <a:xfrm>
            <a:off x="768096" y="303580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5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 подходов, глава 1</a:t>
            </a:r>
            <a:endParaRPr lang="en-US" sz="950" dirty="0"/>
          </a:p>
        </p:txBody>
      </p:sp>
      <p:sp>
        <p:nvSpPr>
          <p:cNvPr id="16" name="fx7_1_7"/>
          <p:cNvSpPr/>
          <p:nvPr/>
        </p:nvSpPr>
        <p:spPr>
          <a:xfrm>
            <a:off x="640080" y="3611880"/>
            <a:ext cx="1993392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17" name="fx7_1_8"/>
          <p:cNvSpPr/>
          <p:nvPr/>
        </p:nvSpPr>
        <p:spPr>
          <a:xfrm>
            <a:off x="768096" y="3739896"/>
            <a:ext cx="329184" cy="329184"/>
          </a:xfrm>
          <a:prstGeom prst="ellipse">
            <a:avLst/>
          </a:prstGeom>
          <a:solidFill>
            <a:srgbClr val="4F5BEA"/>
          </a:solidFill>
          <a:ln/>
        </p:spPr>
      </p:sp>
      <p:sp>
        <p:nvSpPr>
          <p:cNvPr id="18" name="fx7_1_9"/>
          <p:cNvSpPr/>
          <p:nvPr/>
        </p:nvSpPr>
        <p:spPr>
          <a:xfrm>
            <a:off x="768096" y="3739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fx7_1_10"/>
          <p:cNvSpPr/>
          <p:nvPr/>
        </p:nvSpPr>
        <p:spPr>
          <a:xfrm>
            <a:off x="1170432" y="368503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Проанализировать аналоги, выбрать стек</a:t>
            </a:r>
            <a:endParaRPr lang="en-US" sz="1100" dirty="0"/>
          </a:p>
        </p:txBody>
      </p:sp>
      <p:sp>
        <p:nvSpPr>
          <p:cNvPr id="20" name="fx7_1_11"/>
          <p:cNvSpPr/>
          <p:nvPr/>
        </p:nvSpPr>
        <p:spPr>
          <a:xfrm>
            <a:off x="768096" y="436168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5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4 типов решений</a:t>
            </a:r>
            <a:endParaRPr lang="en-US" sz="950" dirty="0"/>
          </a:p>
        </p:txBody>
      </p:sp>
      <p:sp>
        <p:nvSpPr>
          <p:cNvPr id="21" name="fx7_2_12"/>
          <p:cNvSpPr/>
          <p:nvPr/>
        </p:nvSpPr>
        <p:spPr>
          <a:xfrm>
            <a:off x="2761488" y="1737360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/>
        </p:spPr>
      </p:sp>
      <p:sp>
        <p:nvSpPr>
          <p:cNvPr id="22" name="fx7_2_13"/>
          <p:cNvSpPr/>
          <p:nvPr/>
        </p:nvSpPr>
        <p:spPr>
          <a:xfrm>
            <a:off x="2761488" y="173736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</a:t>
            </a:r>
            <a:endParaRPr lang="en-US" sz="1050" dirty="0"/>
          </a:p>
        </p:txBody>
      </p:sp>
      <p:sp>
        <p:nvSpPr>
          <p:cNvPr id="23" name="fx7_2_14"/>
          <p:cNvSpPr/>
          <p:nvPr/>
        </p:nvSpPr>
        <p:spPr>
          <a:xfrm>
            <a:off x="2761488" y="2286000"/>
            <a:ext cx="1993392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24" name="fx7_2_15"/>
          <p:cNvSpPr/>
          <p:nvPr/>
        </p:nvSpPr>
        <p:spPr>
          <a:xfrm>
            <a:off x="2889504" y="2414016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fx7_2_16"/>
          <p:cNvSpPr/>
          <p:nvPr/>
        </p:nvSpPr>
        <p:spPr>
          <a:xfrm>
            <a:off x="2889504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fx7_2_17"/>
          <p:cNvSpPr/>
          <p:nvPr/>
        </p:nvSpPr>
        <p:spPr>
          <a:xfrm>
            <a:off x="3291840" y="2359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Спроектировать архитектуру</a:t>
            </a:r>
            <a:endParaRPr lang="en-US" sz="1100" dirty="0"/>
          </a:p>
        </p:txBody>
      </p:sp>
      <p:sp>
        <p:nvSpPr>
          <p:cNvPr id="27" name="fx7_2_18"/>
          <p:cNvSpPr/>
          <p:nvPr/>
        </p:nvSpPr>
        <p:spPr>
          <a:xfrm>
            <a:off x="2889504" y="303580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offline-пайплайн + online-сервис, схема БД</a:t>
            </a:r>
            <a:endParaRPr lang="en-US" sz="950" dirty="0"/>
          </a:p>
        </p:txBody>
      </p:sp>
      <p:sp>
        <p:nvSpPr>
          <p:cNvPr id="28" name="fx7_3_19"/>
          <p:cNvSpPr/>
          <p:nvPr/>
        </p:nvSpPr>
        <p:spPr>
          <a:xfrm>
            <a:off x="4882896" y="1737360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D97706"/>
          </a:solidFill>
          <a:ln/>
        </p:spPr>
      </p:sp>
      <p:sp>
        <p:nvSpPr>
          <p:cNvPr id="29" name="fx7_3_20"/>
          <p:cNvSpPr/>
          <p:nvPr/>
        </p:nvSpPr>
        <p:spPr>
          <a:xfrm>
            <a:off x="4882896" y="173736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РЕАЛИЗАЦИЯ</a:t>
            </a:r>
            <a:endParaRPr lang="en-US" sz="1050" dirty="0"/>
          </a:p>
        </p:txBody>
      </p:sp>
      <p:sp>
        <p:nvSpPr>
          <p:cNvPr id="30" name="fx7_3_21"/>
          <p:cNvSpPr/>
          <p:nvPr/>
        </p:nvSpPr>
        <p:spPr>
          <a:xfrm>
            <a:off x="4882896" y="2286000"/>
            <a:ext cx="1993392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31" name="fx7_3_22"/>
          <p:cNvSpPr/>
          <p:nvPr/>
        </p:nvSpPr>
        <p:spPr>
          <a:xfrm>
            <a:off x="5010912" y="2414016"/>
            <a:ext cx="329184" cy="32918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2" name="fx7_3_23"/>
          <p:cNvSpPr/>
          <p:nvPr/>
        </p:nvSpPr>
        <p:spPr>
          <a:xfrm>
            <a:off x="5010912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fx7_3_24"/>
          <p:cNvSpPr/>
          <p:nvPr/>
        </p:nvSpPr>
        <p:spPr>
          <a:xfrm>
            <a:off x="5413248" y="2359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Собрать и обработать данные сайта</a:t>
            </a:r>
            <a:endParaRPr lang="en-US" sz="1100" dirty="0"/>
          </a:p>
        </p:txBody>
      </p:sp>
      <p:sp>
        <p:nvSpPr>
          <p:cNvPr id="34" name="fx7_3_25"/>
          <p:cNvSpPr/>
          <p:nvPr/>
        </p:nvSpPr>
        <p:spPr>
          <a:xfrm>
            <a:off x="5010912" y="303580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543 963 файла → ≈ 50 000 фрагментов</a:t>
            </a:r>
            <a:endParaRPr lang="en-US" sz="950" dirty="0"/>
          </a:p>
        </p:txBody>
      </p:sp>
      <p:sp>
        <p:nvSpPr>
          <p:cNvPr id="35" name="fx7_3_26"/>
          <p:cNvSpPr/>
          <p:nvPr/>
        </p:nvSpPr>
        <p:spPr>
          <a:xfrm>
            <a:off x="4882896" y="3611880"/>
            <a:ext cx="1993392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36" name="fx7_3_27"/>
          <p:cNvSpPr/>
          <p:nvPr/>
        </p:nvSpPr>
        <p:spPr>
          <a:xfrm>
            <a:off x="5010912" y="3739896"/>
            <a:ext cx="329184" cy="32918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7" name="fx7_3_28"/>
          <p:cNvSpPr/>
          <p:nvPr/>
        </p:nvSpPr>
        <p:spPr>
          <a:xfrm>
            <a:off x="5010912" y="3739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fx7_3_29"/>
          <p:cNvSpPr/>
          <p:nvPr/>
        </p:nvSpPr>
        <p:spPr>
          <a:xfrm>
            <a:off x="5413248" y="368503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Построить индекс FAISS (bge-m3)</a:t>
            </a:r>
            <a:endParaRPr lang="en-US" sz="1100" dirty="0"/>
          </a:p>
        </p:txBody>
      </p:sp>
      <p:sp>
        <p:nvSpPr>
          <p:cNvPr id="39" name="fx7_3_30"/>
          <p:cNvSpPr/>
          <p:nvPr/>
        </p:nvSpPr>
        <p:spPr>
          <a:xfrm>
            <a:off x="5010912" y="436168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векторная база знаний</a:t>
            </a:r>
            <a:endParaRPr lang="en-US" sz="950" dirty="0"/>
          </a:p>
        </p:txBody>
      </p:sp>
      <p:sp>
        <p:nvSpPr>
          <p:cNvPr id="40" name="fx7_3_31"/>
          <p:cNvSpPr/>
          <p:nvPr/>
        </p:nvSpPr>
        <p:spPr>
          <a:xfrm>
            <a:off x="4882896" y="4937760"/>
            <a:ext cx="1993392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41" name="fx7_3_32"/>
          <p:cNvSpPr/>
          <p:nvPr/>
        </p:nvSpPr>
        <p:spPr>
          <a:xfrm>
            <a:off x="5010912" y="5065776"/>
            <a:ext cx="329184" cy="32918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2" name="fx7_3_33"/>
          <p:cNvSpPr/>
          <p:nvPr/>
        </p:nvSpPr>
        <p:spPr>
          <a:xfrm>
            <a:off x="5010912" y="5065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3" name="fx7_3_34"/>
          <p:cNvSpPr/>
          <p:nvPr/>
        </p:nvSpPr>
        <p:spPr>
          <a:xfrm>
            <a:off x="5413248" y="501091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Сделать API, чат и админ-панель</a:t>
            </a:r>
            <a:endParaRPr lang="en-US" sz="1100" dirty="0"/>
          </a:p>
        </p:txBody>
      </p:sp>
      <p:sp>
        <p:nvSpPr>
          <p:cNvPr id="44" name="fx7_3_35"/>
          <p:cNvSpPr/>
          <p:nvPr/>
        </p:nvSpPr>
        <p:spPr>
          <a:xfrm>
            <a:off x="5010912" y="568756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виджет на сайте, правка ответов</a:t>
            </a:r>
            <a:endParaRPr lang="en-US" sz="950" dirty="0"/>
          </a:p>
        </p:txBody>
      </p:sp>
      <p:sp>
        <p:nvSpPr>
          <p:cNvPr id="45" name="fx7_4_36"/>
          <p:cNvSpPr/>
          <p:nvPr/>
        </p:nvSpPr>
        <p:spPr>
          <a:xfrm>
            <a:off x="7004304" y="1737360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059669"/>
          </a:solidFill>
          <a:ln/>
        </p:spPr>
      </p:sp>
      <p:sp>
        <p:nvSpPr>
          <p:cNvPr id="46" name="fx7_4_37"/>
          <p:cNvSpPr/>
          <p:nvPr/>
        </p:nvSpPr>
        <p:spPr>
          <a:xfrm>
            <a:off x="7004304" y="173736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050" dirty="0"/>
          </a:p>
        </p:txBody>
      </p:sp>
      <p:sp>
        <p:nvSpPr>
          <p:cNvPr id="47" name="fx7_4_38"/>
          <p:cNvSpPr/>
          <p:nvPr/>
        </p:nvSpPr>
        <p:spPr>
          <a:xfrm>
            <a:off x="7004304" y="2286000"/>
            <a:ext cx="1993392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48" name="fx7_4_39"/>
          <p:cNvSpPr/>
          <p:nvPr/>
        </p:nvSpPr>
        <p:spPr>
          <a:xfrm>
            <a:off x="7132320" y="2414016"/>
            <a:ext cx="329184" cy="32918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9" name="fx7_4_40"/>
          <p:cNvSpPr/>
          <p:nvPr/>
        </p:nvSpPr>
        <p:spPr>
          <a:xfrm>
            <a:off x="7132320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50" name="fx7_4_41"/>
          <p:cNvSpPr/>
          <p:nvPr/>
        </p:nvSpPr>
        <p:spPr>
          <a:xfrm>
            <a:off x="7534656" y="2359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Провести эксперимент</a:t>
            </a:r>
            <a:endParaRPr lang="en-US" sz="1100" dirty="0"/>
          </a:p>
        </p:txBody>
      </p:sp>
      <p:sp>
        <p:nvSpPr>
          <p:cNvPr id="51" name="fx7_4_42"/>
          <p:cNvSpPr/>
          <p:nvPr/>
        </p:nvSpPr>
        <p:spPr>
          <a:xfrm>
            <a:off x="7132320" y="3035808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вопросов, 6 категорий → 8,47 / 10</a:t>
            </a:r>
            <a:endParaRPr lang="en-US" sz="950" dirty="0"/>
          </a:p>
        </p:txBody>
      </p:sp>
      <p:sp>
        <p:nvSpPr>
          <p:cNvPr id="52" name="fx7_5_43"/>
          <p:cNvSpPr/>
          <p:nvPr/>
        </p:nvSpPr>
        <p:spPr>
          <a:xfrm>
            <a:off x="8997696" y="30175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4F5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400" dirty="0"/>
          </a:p>
        </p:txBody>
      </p:sp>
      <p:pic>
        <p:nvPicPr>
          <p:cNvPr id="53" name="!!halo" descr="/home/user/omgGame/presentations/vkr-rag/assets/ha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6296" y="996696"/>
            <a:ext cx="2852928" cy="2852928"/>
          </a:xfrm>
          <a:prstGeom prst="rect">
            <a:avLst/>
          </a:prstGeom>
        </p:spPr>
      </p:pic>
      <p:pic>
        <p:nvPicPr>
          <p:cNvPr id="54" name="!!shadow" descr="/home/user/omgGame/presentations/vkr-rag/assets/shad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0656" y="3284982"/>
            <a:ext cx="1664208" cy="416052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5" name="!!m-rocket">
                <a:extLst>
                  <a:ext uri="{FF2B5EF4-FFF2-40B4-BE49-F238E27FC236}">
                    <a16:creationId xmlns:a16="http://schemas.microsoft.com/office/drawing/2014/main" id="{A77B8B16-9584-F6BF-AFDE-6F744F2A441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464040" y="1234440"/>
              <a:ext cx="2377440" cy="2377440"/>
            </p:xfrm>
            <a:graphic>
              <a:graphicData uri="http://schemas.microsoft.com/office/drawing/2017/model3d">
                <am3d:model3d r:embed="rIdM3d18">
                  <am3d:spPr>
                    <a:xfrm>
                      <a:off x="0" y="0"/>
                      <a:ext cx="2377440" cy="2377440"/>
                    </a:xfrm>
                    <a:prstGeom prst="rect">
                      <a:avLst/>
                    </a:prstGeom>
                  </am3d:spPr>
                  <am3d:camera>
                    <am3d:pos x="0" y="0" z="5700347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59484" d="1000000"/>
                    <am3d:preTrans dx="3522440" dy="2356331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900000" az="0"/>
                    <am3d:postTrans dx="0" dy="0" dz="0"/>
                  </am3d:trans>
                  <am3d:raster rName="Office3DRenderer" rVer="16.0.8326">
                    <am3d:blip r:embed="rId3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3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3774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5" name="!!m-rocket">
                <a:extLst>
                  <a:ext uri="{FF2B5EF4-FFF2-40B4-BE49-F238E27FC236}">
                    <a16:creationId xmlns:a16="http://schemas.microsoft.com/office/drawing/2014/main" id="{A77B8B16-9584-F6BF-AFDE-6F744F2A441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64040" y="1234440"/>
                <a:ext cx="2377440" cy="2377440"/>
              </a:xfrm>
              <a:prstGeom prst="rect">
                <a:avLst/>
              </a:prstGeom>
            </p:spPr>
          </p:pic>
        </mc:Fallback>
      </mc:AlternateContent>
      <p:sp>
        <p:nvSpPr>
          <p:cNvPr id="56" name="fx7_5_44"/>
          <p:cNvSpPr/>
          <p:nvPr/>
        </p:nvSpPr>
        <p:spPr>
          <a:xfrm>
            <a:off x="9372600" y="4160520"/>
            <a:ext cx="2179015" cy="2057400"/>
          </a:xfrm>
          <a:prstGeom prst="roundRect">
            <a:avLst>
              <a:gd name="adj" fmla="val 4444"/>
            </a:avLst>
          </a:prstGeom>
          <a:solidFill>
            <a:srgbClr val="EEF0FF"/>
          </a:solidFill>
          <a:ln w="9525">
            <a:solidFill>
              <a:srgbClr val="4F5BEA"/>
            </a:solidFill>
            <a:prstDash val="solid"/>
          </a:ln>
        </p:spPr>
      </p:sp>
      <p:sp>
        <p:nvSpPr>
          <p:cNvPr id="57" name="fx7_5_45"/>
          <p:cNvSpPr/>
          <p:nvPr/>
        </p:nvSpPr>
        <p:spPr>
          <a:xfrm>
            <a:off x="9555480" y="4251960"/>
            <a:ext cx="1904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spc="200" kern="0" dirty="0">
                <a:solidFill>
                  <a:srgbClr val="465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1050" dirty="0"/>
          </a:p>
        </p:txBody>
      </p:sp>
      <p:sp>
        <p:nvSpPr>
          <p:cNvPr id="58" name="fx7_5_46"/>
          <p:cNvSpPr/>
          <p:nvPr/>
        </p:nvSpPr>
        <p:spPr>
          <a:xfrm>
            <a:off x="9555480" y="4526280"/>
            <a:ext cx="185897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Работающая локальная справочная система ПсковГУ с проверенным качеством ответов</a:t>
            </a:r>
            <a:endParaRPr lang="en-US" sz="11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9" name="!!m-target">
                <a:extLst>
                  <a:ext uri="{FF2B5EF4-FFF2-40B4-BE49-F238E27FC236}">
                    <a16:creationId xmlns:a16="http://schemas.microsoft.com/office/drawing/2014/main" id="{C9E4E25D-1C9D-8D08-279D-0F3B276EA15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3657600" y="1783080"/>
              <a:ext cx="3108960" cy="3108960"/>
            </p:xfrm>
            <a:graphic>
              <a:graphicData uri="http://schemas.microsoft.com/office/drawing/2017/model3d">
                <am3d:model3d r:embed="rIdM3d19">
                  <am3d:spPr>
                    <a:xfrm>
                      <a:off x="0" y="0"/>
                      <a:ext cx="3108960" cy="3108960"/>
                    </a:xfrm>
                    <a:prstGeom prst="rect">
                      <a:avLst/>
                    </a:prstGeom>
                  </am3d:spPr>
                  <am3d:camera>
                    <am3d:pos x="0" y="0" z="6948431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09133" d="1000000"/>
                    <am3d:preTrans dx="-6585179" dy="3566873" dz="-341580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648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1089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9" name="!!m-target">
                <a:extLst>
                  <a:ext uri="{FF2B5EF4-FFF2-40B4-BE49-F238E27FC236}">
                    <a16:creationId xmlns:a16="http://schemas.microsoft.com/office/drawing/2014/main" id="{C9E4E25D-1C9D-8D08-279D-0F3B276EA15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657600" y="1783080"/>
                <a:ext cx="3108960" cy="31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0" name="!!m-books">
                <a:extLst>
                  <a:ext uri="{FF2B5EF4-FFF2-40B4-BE49-F238E27FC236}">
                    <a16:creationId xmlns:a16="http://schemas.microsoft.com/office/drawing/2014/main" id="{151A8A99-29AB-7B35-9E58-24692727800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783080"/>
              <a:ext cx="2743200" cy="2743200"/>
            </p:xfrm>
            <a:graphic>
              <a:graphicData uri="http://schemas.microsoft.com/office/drawing/2017/model3d">
                <am3d:model3d r:embed="rIdM3d20">
                  <am3d:spPr>
                    <a:xfrm>
                      <a:off x="0" y="0"/>
                      <a:ext cx="2743200" cy="2743200"/>
                    </a:xfrm>
                    <a:prstGeom prst="rect">
                      <a:avLst/>
                    </a:prstGeom>
                  </am3d:spPr>
                  <am3d:camera>
                    <am3d:pos x="0" y="0" z="6472208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93062" d="1000000"/>
                    <am3d:preTrans dx="441492" dy="-2726548" dz="-219499"/>
                    <am3d:scale>
                      <am3d:sx n="1000000" d="1000000"/>
                      <am3d:sy n="1000000" d="1000000"/>
                      <am3d:sz n="1000000" d="1000000"/>
                    </am3d:scale>
                    <am3d:rot ax="1800000" ay="408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743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0" name="!!m-books">
                <a:extLst>
                  <a:ext uri="{FF2B5EF4-FFF2-40B4-BE49-F238E27FC236}">
                    <a16:creationId xmlns:a16="http://schemas.microsoft.com/office/drawing/2014/main" id="{151A8A99-29AB-7B35-9E58-24692727800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40335" y="1783080"/>
                <a:ext cx="2743200" cy="2743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7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7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7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7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7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7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7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7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7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7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70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70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7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7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1" dur="3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6" grpId="0" animBg="1"/>
      <p:bldP spid="57" grpId="0" animBg="1"/>
      <p:bldP spid="5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opba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5BEA"/>
          </a:solidFill>
          <a:ln/>
        </p:spPr>
      </p:sp>
      <p:sp>
        <p:nvSpPr>
          <p:cNvPr id="3" name="!!kbar"/>
          <p:cNvSpPr/>
          <p:nvPr/>
        </p:nvSpPr>
        <p:spPr>
          <a:xfrm>
            <a:off x="640080" y="475488"/>
            <a:ext cx="82296" cy="256032"/>
          </a:xfrm>
          <a:prstGeom prst="rect">
            <a:avLst/>
          </a:prstGeom>
          <a:solidFill>
            <a:srgbClr val="4F5BEA"/>
          </a:solidFill>
          <a:ln/>
        </p:spPr>
      </p:sp>
      <p:sp>
        <p:nvSpPr>
          <p:cNvPr id="4" name="!!kicker"/>
          <p:cNvSpPr/>
          <p:nvPr/>
        </p:nvSpPr>
        <p:spPr>
          <a:xfrm>
            <a:off x="822960" y="4297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465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 ИНФОРМАЦИИ</a:t>
            </a:r>
            <a:endParaRPr lang="en-US" sz="1100" dirty="0"/>
          </a:p>
        </p:txBody>
      </p:sp>
      <p:sp>
        <p:nvSpPr>
          <p:cNvPr id="5" name="!!fline"/>
          <p:cNvSpPr/>
          <p:nvPr/>
        </p:nvSpPr>
        <p:spPr>
          <a:xfrm>
            <a:off x="640080" y="6400800"/>
            <a:ext cx="10911535" cy="91"/>
          </a:xfrm>
          <a:prstGeom prst="line">
            <a:avLst/>
          </a:prstGeom>
          <a:noFill/>
          <a:ln w="9525">
            <a:solidFill>
              <a:srgbClr val="DCE0EB"/>
            </a:solidFill>
            <a:prstDash val="solid"/>
          </a:ln>
        </p:spPr>
      </p:sp>
      <p:sp>
        <p:nvSpPr>
          <p:cNvPr id="6" name="!!footer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Мейер-Шишнёв В. А.  ·  Выбор темы НИР  ·  ПсковГУ, 2026</a:t>
            </a:r>
            <a:endParaRPr lang="en-US" sz="900" dirty="0"/>
          </a:p>
        </p:txBody>
      </p:sp>
      <p:sp>
        <p:nvSpPr>
          <p:cNvPr id="7" name="!!page"/>
          <p:cNvSpPr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9</a:t>
            </a:r>
            <a:endParaRPr lang="en-US" sz="900" dirty="0"/>
          </a:p>
        </p:txBody>
      </p:sp>
      <p:sp>
        <p:nvSpPr>
          <p:cNvPr id="8" name="!!title"/>
          <p:cNvSpPr/>
          <p:nvPr/>
        </p:nvSpPr>
        <p:spPr>
          <a:xfrm>
            <a:off x="64008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источника: на чём стоит работа</a:t>
            </a:r>
            <a:endParaRPr lang="en-US" sz="3200" dirty="0"/>
          </a:p>
        </p:txBody>
      </p:sp>
      <p:sp>
        <p:nvSpPr>
          <p:cNvPr id="9" name="fx8_1_0"/>
          <p:cNvSpPr/>
          <p:nvPr/>
        </p:nvSpPr>
        <p:spPr>
          <a:xfrm>
            <a:off x="640080" y="1691640"/>
            <a:ext cx="809244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10" name="fx8_1_1"/>
          <p:cNvSpPr/>
          <p:nvPr/>
        </p:nvSpPr>
        <p:spPr>
          <a:xfrm>
            <a:off x="731520" y="1691640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F5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400" dirty="0"/>
          </a:p>
        </p:txBody>
      </p:sp>
      <p:sp>
        <p:nvSpPr>
          <p:cNvPr id="11" name="fx8_1_2"/>
          <p:cNvSpPr/>
          <p:nvPr/>
        </p:nvSpPr>
        <p:spPr>
          <a:xfrm>
            <a:off x="1463040" y="1691640"/>
            <a:ext cx="7132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и семантический поиск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Lewis 2020 (RAG) · Gao 2024 (обзор RAG) · Karpukhin 2020 (DPR) · Barnett 2024 (7 точек отказа RAG) · Chen 2024 (BGE-M3) · Johnson 2021 (FAISS) · Manning 2008</a:t>
            </a:r>
            <a:endParaRPr lang="en-US" sz="1200" dirty="0"/>
          </a:p>
        </p:txBody>
      </p:sp>
      <p:sp>
        <p:nvSpPr>
          <p:cNvPr id="12" name="fx8_1_3"/>
          <p:cNvSpPr/>
          <p:nvPr/>
        </p:nvSpPr>
        <p:spPr>
          <a:xfrm>
            <a:off x="640080" y="2459736"/>
            <a:ext cx="809244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13" name="fx8_1_4"/>
          <p:cNvSpPr/>
          <p:nvPr/>
        </p:nvSpPr>
        <p:spPr>
          <a:xfrm>
            <a:off x="731520" y="2459736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4" name="fx8_1_5"/>
          <p:cNvSpPr/>
          <p:nvPr/>
        </p:nvSpPr>
        <p:spPr>
          <a:xfrm>
            <a:off x="1463040" y="2459736"/>
            <a:ext cx="7132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и галлюцинации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Vaswani 2017 (Transformer) · Zhao 2023 (обзор LLM) · Huang 2023, Ji 2023 (галлюцинации) · Bender 2021</a:t>
            </a:r>
            <a:endParaRPr lang="en-US" sz="1200" dirty="0"/>
          </a:p>
        </p:txBody>
      </p:sp>
      <p:sp>
        <p:nvSpPr>
          <p:cNvPr id="15" name="fx8_2_6"/>
          <p:cNvSpPr/>
          <p:nvPr/>
        </p:nvSpPr>
        <p:spPr>
          <a:xfrm>
            <a:off x="640080" y="3227832"/>
            <a:ext cx="809244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16" name="fx8_2_7"/>
          <p:cNvSpPr/>
          <p:nvPr/>
        </p:nvSpPr>
        <p:spPr>
          <a:xfrm>
            <a:off x="731520" y="3227832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17" name="fx8_2_8"/>
          <p:cNvSpPr/>
          <p:nvPr/>
        </p:nvSpPr>
        <p:spPr>
          <a:xfrm>
            <a:off x="1463040" y="3227832"/>
            <a:ext cx="7132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и аналоги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GPT-4, Qwen2.5 (техотчёты) · GigaChat · Ollama · LangChain · Powabase</a:t>
            </a:r>
            <a:endParaRPr lang="en-US" sz="1200" dirty="0"/>
          </a:p>
        </p:txBody>
      </p:sp>
      <p:sp>
        <p:nvSpPr>
          <p:cNvPr id="18" name="fx8_2_9"/>
          <p:cNvSpPr/>
          <p:nvPr/>
        </p:nvSpPr>
        <p:spPr>
          <a:xfrm>
            <a:off x="640080" y="3995928"/>
            <a:ext cx="809244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19" name="fx8_2_10"/>
          <p:cNvSpPr/>
          <p:nvPr/>
        </p:nvSpPr>
        <p:spPr>
          <a:xfrm>
            <a:off x="731520" y="3995928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400" dirty="0"/>
          </a:p>
        </p:txBody>
      </p:sp>
      <p:sp>
        <p:nvSpPr>
          <p:cNvPr id="20" name="fx8_2_11"/>
          <p:cNvSpPr/>
          <p:nvPr/>
        </p:nvSpPr>
        <p:spPr>
          <a:xfrm>
            <a:off x="1463040" y="3995928"/>
            <a:ext cx="7132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 реализации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FastAPI · Flask · SQLite · FAISS · Trafilatura (ACL 2021) · Tesseract (ICDAR 2007) · BeautifulSoup · Tampermonkey · Mermaid</a:t>
            </a:r>
            <a:endParaRPr lang="en-US" sz="1200" dirty="0"/>
          </a:p>
        </p:txBody>
      </p:sp>
      <p:sp>
        <p:nvSpPr>
          <p:cNvPr id="21" name="fx8_3_12"/>
          <p:cNvSpPr/>
          <p:nvPr/>
        </p:nvSpPr>
        <p:spPr>
          <a:xfrm>
            <a:off x="640080" y="4764024"/>
            <a:ext cx="809244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DCE0EB"/>
            </a:solidFill>
            <a:prstDash val="solid"/>
          </a:ln>
        </p:spPr>
      </p:sp>
      <p:sp>
        <p:nvSpPr>
          <p:cNvPr id="22" name="fx8_3_13"/>
          <p:cNvSpPr/>
          <p:nvPr/>
        </p:nvSpPr>
        <p:spPr>
          <a:xfrm>
            <a:off x="731520" y="4764024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fx8_3_14"/>
          <p:cNvSpPr/>
          <p:nvPr/>
        </p:nvSpPr>
        <p:spPr>
          <a:xfrm>
            <a:off x="1463040" y="4764024"/>
            <a:ext cx="7132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Базы данных и нормативка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Дейт «Введение в системы БД» · Коннолли, Бегг «Базы данных» · Положение о ВКР ПсковГУ</a:t>
            </a:r>
            <a:endParaRPr lang="en-US" sz="1200" dirty="0"/>
          </a:p>
        </p:txBody>
      </p:sp>
      <p:sp>
        <p:nvSpPr>
          <p:cNvPr id="24" name="fx8_4_15"/>
          <p:cNvSpPr/>
          <p:nvPr/>
        </p:nvSpPr>
        <p:spPr>
          <a:xfrm>
            <a:off x="640080" y="5632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ТИПУ</a:t>
            </a:r>
            <a:endParaRPr lang="en-US" sz="950" dirty="0"/>
          </a:p>
        </p:txBody>
      </p:sp>
      <p:sp>
        <p:nvSpPr>
          <p:cNvPr id="25" name="fx8_4_16"/>
          <p:cNvSpPr/>
          <p:nvPr/>
        </p:nvSpPr>
        <p:spPr>
          <a:xfrm>
            <a:off x="640080" y="5925312"/>
            <a:ext cx="4141401" cy="109728"/>
          </a:xfrm>
          <a:prstGeom prst="rect">
            <a:avLst/>
          </a:prstGeom>
          <a:solidFill>
            <a:srgbClr val="4F5BEA"/>
          </a:solidFill>
          <a:ln/>
        </p:spPr>
      </p:sp>
      <p:sp>
        <p:nvSpPr>
          <p:cNvPr id="26" name="fx8_4_17"/>
          <p:cNvSpPr/>
          <p:nvPr/>
        </p:nvSpPr>
        <p:spPr>
          <a:xfrm>
            <a:off x="640080" y="6035040"/>
            <a:ext cx="41688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F5B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научные статьи и техотчёты (2017–2024)</a:t>
            </a:r>
            <a:endParaRPr lang="en-US" sz="900" dirty="0"/>
          </a:p>
        </p:txBody>
      </p:sp>
      <p:sp>
        <p:nvSpPr>
          <p:cNvPr id="27" name="fx8_4_18"/>
          <p:cNvSpPr/>
          <p:nvPr/>
        </p:nvSpPr>
        <p:spPr>
          <a:xfrm>
            <a:off x="4808913" y="5925312"/>
            <a:ext cx="708244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fx8_4_19"/>
          <p:cNvSpPr/>
          <p:nvPr/>
        </p:nvSpPr>
        <p:spPr>
          <a:xfrm>
            <a:off x="4808913" y="6035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книги</a:t>
            </a:r>
            <a:endParaRPr lang="en-US" sz="900" dirty="0"/>
          </a:p>
        </p:txBody>
      </p:sp>
      <p:sp>
        <p:nvSpPr>
          <p:cNvPr id="29" name="fx8_4_20"/>
          <p:cNvSpPr/>
          <p:nvPr/>
        </p:nvSpPr>
        <p:spPr>
          <a:xfrm>
            <a:off x="5544589" y="5925312"/>
            <a:ext cx="2915273" cy="1097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fx8_4_21"/>
          <p:cNvSpPr/>
          <p:nvPr/>
        </p:nvSpPr>
        <p:spPr>
          <a:xfrm>
            <a:off x="5544589" y="6035040"/>
            <a:ext cx="29427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</a:t>
            </a:r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документация</a:t>
            </a:r>
            <a:endParaRPr lang="en-US" sz="900" dirty="0"/>
          </a:p>
        </p:txBody>
      </p:sp>
      <p:sp>
        <p:nvSpPr>
          <p:cNvPr id="31" name="fx8_4_22"/>
          <p:cNvSpPr/>
          <p:nvPr/>
        </p:nvSpPr>
        <p:spPr>
          <a:xfrm>
            <a:off x="8487295" y="5925312"/>
            <a:ext cx="217793" cy="109728"/>
          </a:xfrm>
          <a:prstGeom prst="rect">
            <a:avLst/>
          </a:prstGeom>
          <a:solidFill>
            <a:srgbClr val="5A6378"/>
          </a:solidFill>
          <a:ln/>
        </p:spPr>
      </p:sp>
      <p:sp>
        <p:nvSpPr>
          <p:cNvPr id="32" name="fx8_4_23"/>
          <p:cNvSpPr/>
          <p:nvPr/>
        </p:nvSpPr>
        <p:spPr>
          <a:xfrm>
            <a:off x="7543800" y="6035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A63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норматив</a:t>
            </a:r>
            <a:endParaRPr lang="en-US" sz="900" dirty="0"/>
          </a:p>
        </p:txBody>
      </p:sp>
      <p:pic>
        <p:nvPicPr>
          <p:cNvPr id="33" name="!!halo" descr="/home/user/omgGame/presentations/vkr-rag/assets/ha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9660" y="1211580"/>
            <a:ext cx="3154680" cy="3154680"/>
          </a:xfrm>
          <a:prstGeom prst="rect">
            <a:avLst/>
          </a:prstGeom>
        </p:spPr>
      </p:pic>
      <p:pic>
        <p:nvPicPr>
          <p:cNvPr id="34" name="!!shadow" descr="/home/user/omgGame/presentations/vkr-rag/assets/shad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3371850"/>
            <a:ext cx="1920240" cy="48006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5" name="!!m-books">
                <a:extLst>
                  <a:ext uri="{FF2B5EF4-FFF2-40B4-BE49-F238E27FC236}">
                    <a16:creationId xmlns:a16="http://schemas.microsoft.com/office/drawing/2014/main" id="{CF218CBB-C621-2316-B754-CB5C6C52C77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915400" y="1417320"/>
              <a:ext cx="2743200" cy="2743200"/>
            </p:xfrm>
            <a:graphic>
              <a:graphicData uri="http://schemas.microsoft.com/office/drawing/2017/model3d">
                <am3d:model3d r:embed="rIdM3d21">
                  <am3d:spPr>
                    <a:xfrm>
                      <a:off x="0" y="0"/>
                      <a:ext cx="2743200" cy="2743200"/>
                    </a:xfrm>
                    <a:prstGeom prst="rect">
                      <a:avLst/>
                    </a:prstGeom>
                  </am3d:spPr>
                  <am3d:camera>
                    <am3d:pos x="0" y="0" z="6472208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93062" d="1000000"/>
                    <am3d:preTrans dx="441492" dy="-2726548" dz="-219499"/>
                    <am3d:scale>
                      <am3d:sx n="1000000" d="1000000"/>
                      <am3d:sy n="1000000" d="1000000"/>
                      <am3d:sz n="1000000" d="1000000"/>
                    </am3d:scale>
                    <am3d:rot ax="1800000" ay="-720000" az="0"/>
                    <am3d:postTrans dx="0" dy="0" dz="0"/>
                  </am3d:trans>
                  <am3d:raster rName="Office3DRenderer" rVer="16.0.8326">
                    <am3d:blip r:embed="rId3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743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5" name="!!m-books">
                <a:extLst>
                  <a:ext uri="{FF2B5EF4-FFF2-40B4-BE49-F238E27FC236}">
                    <a16:creationId xmlns:a16="http://schemas.microsoft.com/office/drawing/2014/main" id="{CF218CBB-C621-2316-B754-CB5C6C52C77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15400" y="1417320"/>
                <a:ext cx="2743200" cy="2743200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fx8_5_24"/>
          <p:cNvSpPr/>
          <p:nvPr/>
        </p:nvSpPr>
        <p:spPr>
          <a:xfrm>
            <a:off x="9006840" y="4343400"/>
            <a:ext cx="2544775" cy="1600200"/>
          </a:xfrm>
          <a:prstGeom prst="roundRect">
            <a:avLst>
              <a:gd name="adj" fmla="val 5714"/>
            </a:avLst>
          </a:prstGeom>
          <a:solidFill>
            <a:srgbClr val="EEF0FF"/>
          </a:solidFill>
          <a:ln w="9525">
            <a:solidFill>
              <a:srgbClr val="4F5BEA"/>
            </a:solidFill>
            <a:prstDash val="solid"/>
          </a:ln>
        </p:spPr>
      </p:sp>
      <p:sp>
        <p:nvSpPr>
          <p:cNvPr id="37" name="fx8_5_25"/>
          <p:cNvSpPr/>
          <p:nvPr/>
        </p:nvSpPr>
        <p:spPr>
          <a:xfrm>
            <a:off x="9144000" y="4434840"/>
            <a:ext cx="2316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200" kern="0" dirty="0">
                <a:solidFill>
                  <a:srgbClr val="465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ИСКАЛ</a:t>
            </a:r>
            <a:endParaRPr lang="en-US" sz="1000" dirty="0"/>
          </a:p>
        </p:txBody>
      </p:sp>
      <p:sp>
        <p:nvSpPr>
          <p:cNvPr id="38" name="fx8_5_26"/>
          <p:cNvSpPr/>
          <p:nvPr/>
        </p:nvSpPr>
        <p:spPr>
          <a:xfrm>
            <a:off x="9144000" y="4709160"/>
            <a:ext cx="2270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 и труды конференций (NeurIPS, EMNLP, ACL), техотчёты разработчиков моделей, официальная документация, сайты аналогов</a:t>
            </a:r>
            <a:endParaRPr lang="en-US" sz="10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9" name="!!m-rocket">
                <a:extLst>
                  <a:ext uri="{FF2B5EF4-FFF2-40B4-BE49-F238E27FC236}">
                    <a16:creationId xmlns:a16="http://schemas.microsoft.com/office/drawing/2014/main" id="{036BAE82-4601-B360-185B-6EC9C5FE3DD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2926080" y="1600200"/>
              <a:ext cx="2377440" cy="2377440"/>
            </p:xfrm>
            <a:graphic>
              <a:graphicData uri="http://schemas.microsoft.com/office/drawing/2017/model3d">
                <am3d:model3d r:embed="rIdM3d22">
                  <am3d:spPr>
                    <a:xfrm>
                      <a:off x="0" y="0"/>
                      <a:ext cx="2377440" cy="2377440"/>
                    </a:xfrm>
                    <a:prstGeom prst="rect">
                      <a:avLst/>
                    </a:prstGeom>
                  </am3d:spPr>
                  <am3d:camera>
                    <am3d:pos x="0" y="0" z="5700347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59484" d="1000000"/>
                    <am3d:preTrans dx="3522440" dy="2356331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5700000" az="0"/>
                    <am3d:postTrans dx="0" dy="0" dz="0"/>
                  </am3d:trans>
                  <am3d:raster rName="Office3DRenderer" rVer="16.0.8326">
                    <am3d:blip r:embed="rId4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3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3774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9" name="!!m-rocket">
                <a:extLst>
                  <a:ext uri="{FF2B5EF4-FFF2-40B4-BE49-F238E27FC236}">
                    <a16:creationId xmlns:a16="http://schemas.microsoft.com/office/drawing/2014/main" id="{036BAE82-4601-B360-185B-6EC9C5FE3DD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926080" y="1600200"/>
                <a:ext cx="2377440" cy="2377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1" dur="5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6" grpId="0" animBg="1"/>
      <p:bldP spid="37" grpId="0" animBg="1"/>
      <p:bldP spid="3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opba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5BEA"/>
          </a:solidFill>
          <a:ln/>
        </p:spPr>
      </p:sp>
      <p:sp>
        <p:nvSpPr>
          <p:cNvPr id="3" name="!!kbar"/>
          <p:cNvSpPr/>
          <p:nvPr/>
        </p:nvSpPr>
        <p:spPr>
          <a:xfrm>
            <a:off x="640080" y="475488"/>
            <a:ext cx="82296" cy="256032"/>
          </a:xfrm>
          <a:prstGeom prst="rect">
            <a:avLst/>
          </a:prstGeom>
          <a:solidFill>
            <a:srgbClr val="4F5BEA"/>
          </a:solidFill>
          <a:ln/>
        </p:spPr>
      </p:sp>
      <p:sp>
        <p:nvSpPr>
          <p:cNvPr id="4" name="!!kicker"/>
          <p:cNvSpPr/>
          <p:nvPr/>
        </p:nvSpPr>
        <p:spPr>
          <a:xfrm>
            <a:off x="822960" y="42976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250" kern="0" dirty="0">
                <a:solidFill>
                  <a:srgbClr val="465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УЖЕ РЕАЛИЗОВАНО ДРУГИМИ</a:t>
            </a:r>
            <a:endParaRPr lang="en-US" sz="1100" dirty="0"/>
          </a:p>
        </p:txBody>
      </p:sp>
      <p:sp>
        <p:nvSpPr>
          <p:cNvPr id="5" name="!!fline"/>
          <p:cNvSpPr/>
          <p:nvPr/>
        </p:nvSpPr>
        <p:spPr>
          <a:xfrm>
            <a:off x="640080" y="6400800"/>
            <a:ext cx="10911535" cy="91"/>
          </a:xfrm>
          <a:prstGeom prst="line">
            <a:avLst/>
          </a:prstGeom>
          <a:noFill/>
          <a:ln w="9525">
            <a:solidFill>
              <a:srgbClr val="DCE0EB"/>
            </a:solidFill>
            <a:prstDash val="solid"/>
          </a:ln>
        </p:spPr>
      </p:sp>
      <p:sp>
        <p:nvSpPr>
          <p:cNvPr id="6" name="!!footer"/>
          <p:cNvSpPr/>
          <p:nvPr/>
        </p:nvSpPr>
        <p:spPr>
          <a:xfrm>
            <a:off x="640080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Мейер-Шишнёв В. А.  ·  Выбор темы НИР  ·  ПсковГУ, 2026</a:t>
            </a:r>
            <a:endParaRPr lang="en-US" sz="900" dirty="0"/>
          </a:p>
        </p:txBody>
      </p:sp>
      <p:sp>
        <p:nvSpPr>
          <p:cNvPr id="7" name="!!page"/>
          <p:cNvSpPr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9</a:t>
            </a:r>
            <a:endParaRPr lang="en-US" sz="900" dirty="0"/>
          </a:p>
        </p:txBody>
      </p:sp>
      <p:sp>
        <p:nvSpPr>
          <p:cNvPr id="8" name="!!title"/>
          <p:cNvSpPr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Аналоги: ни один не закрывает задачу</a:t>
            </a:r>
            <a:endParaRPr lang="en-US" sz="3200" dirty="0"/>
          </a:p>
        </p:txBody>
      </p:sp>
      <p:sp>
        <p:nvSpPr>
          <p:cNvPr id="9" name="fx9_1_0"/>
          <p:cNvSpPr/>
          <p:nvPr/>
        </p:nvSpPr>
        <p:spPr>
          <a:xfrm>
            <a:off x="2542032" y="1645920"/>
            <a:ext cx="1752539" cy="566928"/>
          </a:xfrm>
          <a:prstGeom prst="roundRect">
            <a:avLst>
              <a:gd name="adj" fmla="val 9677"/>
            </a:avLst>
          </a:prstGeom>
          <a:solidFill>
            <a:srgbClr val="EEF0F7"/>
          </a:solidFill>
          <a:ln/>
        </p:spPr>
      </p:sp>
      <p:sp>
        <p:nvSpPr>
          <p:cNvPr id="10" name="fx9_1_1"/>
          <p:cNvSpPr/>
          <p:nvPr/>
        </p:nvSpPr>
        <p:spPr>
          <a:xfrm>
            <a:off x="2587752" y="1645920"/>
            <a:ext cx="16610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Чат-боты на правилах</a:t>
            </a:r>
            <a:endParaRPr lang="en-US" sz="1000" dirty="0"/>
          </a:p>
        </p:txBody>
      </p:sp>
      <p:sp>
        <p:nvSpPr>
          <p:cNvPr id="11" name="fx9_1_2"/>
          <p:cNvSpPr/>
          <p:nvPr/>
        </p:nvSpPr>
        <p:spPr>
          <a:xfrm>
            <a:off x="4349435" y="1645920"/>
            <a:ext cx="1752539" cy="566928"/>
          </a:xfrm>
          <a:prstGeom prst="roundRect">
            <a:avLst>
              <a:gd name="adj" fmla="val 9677"/>
            </a:avLst>
          </a:prstGeom>
          <a:solidFill>
            <a:srgbClr val="EEF0F7"/>
          </a:solidFill>
          <a:ln/>
        </p:spPr>
      </p:sp>
      <p:sp>
        <p:nvSpPr>
          <p:cNvPr id="12" name="fx9_1_3"/>
          <p:cNvSpPr/>
          <p:nvPr/>
        </p:nvSpPr>
        <p:spPr>
          <a:xfrm>
            <a:off x="4395155" y="1645920"/>
            <a:ext cx="16610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Обёртки над облачным LLM</a:t>
            </a:r>
            <a:endParaRPr lang="en-US" sz="1000" dirty="0"/>
          </a:p>
        </p:txBody>
      </p:sp>
      <p:sp>
        <p:nvSpPr>
          <p:cNvPr id="13" name="fx9_1_4"/>
          <p:cNvSpPr/>
          <p:nvPr/>
        </p:nvSpPr>
        <p:spPr>
          <a:xfrm>
            <a:off x="6156838" y="1645920"/>
            <a:ext cx="1752539" cy="566928"/>
          </a:xfrm>
          <a:prstGeom prst="roundRect">
            <a:avLst>
              <a:gd name="adj" fmla="val 9677"/>
            </a:avLst>
          </a:prstGeom>
          <a:solidFill>
            <a:srgbClr val="EEF0F7"/>
          </a:solidFill>
          <a:ln/>
        </p:spPr>
      </p:sp>
      <p:sp>
        <p:nvSpPr>
          <p:cNvPr id="14" name="fx9_1_5"/>
          <p:cNvSpPr/>
          <p:nvPr/>
        </p:nvSpPr>
        <p:spPr>
          <a:xfrm>
            <a:off x="6202558" y="1645920"/>
            <a:ext cx="16610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RAG-фреймворки (LangChain, LlamaIndex)</a:t>
            </a:r>
            <a:endParaRPr lang="en-US" sz="1000" dirty="0"/>
          </a:p>
        </p:txBody>
      </p:sp>
      <p:sp>
        <p:nvSpPr>
          <p:cNvPr id="15" name="fx9_1_6"/>
          <p:cNvSpPr/>
          <p:nvPr/>
        </p:nvSpPr>
        <p:spPr>
          <a:xfrm>
            <a:off x="7964241" y="1645920"/>
            <a:ext cx="1752539" cy="566928"/>
          </a:xfrm>
          <a:prstGeom prst="roundRect">
            <a:avLst>
              <a:gd name="adj" fmla="val 9677"/>
            </a:avLst>
          </a:prstGeom>
          <a:solidFill>
            <a:srgbClr val="EEF0F7"/>
          </a:solidFill>
          <a:ln/>
        </p:spPr>
      </p:sp>
      <p:sp>
        <p:nvSpPr>
          <p:cNvPr id="16" name="fx9_1_7"/>
          <p:cNvSpPr/>
          <p:nvPr/>
        </p:nvSpPr>
        <p:spPr>
          <a:xfrm>
            <a:off x="8009961" y="1645920"/>
            <a:ext cx="16610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Коммерческие SaaS (Powabase)</a:t>
            </a:r>
            <a:endParaRPr lang="en-US" sz="1000" dirty="0"/>
          </a:p>
        </p:txBody>
      </p:sp>
      <p:sp>
        <p:nvSpPr>
          <p:cNvPr id="17" name="fx9_3_8"/>
          <p:cNvSpPr/>
          <p:nvPr/>
        </p:nvSpPr>
        <p:spPr>
          <a:xfrm>
            <a:off x="9771644" y="1645920"/>
            <a:ext cx="1752539" cy="566928"/>
          </a:xfrm>
          <a:prstGeom prst="roundRect">
            <a:avLst>
              <a:gd name="adj" fmla="val 9677"/>
            </a:avLst>
          </a:prstGeom>
          <a:solidFill>
            <a:srgbClr val="4F5BEA"/>
          </a:solidFill>
          <a:ln/>
        </p:spPr>
      </p:sp>
      <p:sp>
        <p:nvSpPr>
          <p:cNvPr id="18" name="fx9_3_9"/>
          <p:cNvSpPr/>
          <p:nvPr/>
        </p:nvSpPr>
        <p:spPr>
          <a:xfrm>
            <a:off x="9817364" y="1645920"/>
            <a:ext cx="16610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Моя система</a:t>
            </a:r>
            <a:endParaRPr lang="en-US" sz="1000" dirty="0"/>
          </a:p>
        </p:txBody>
      </p:sp>
      <p:sp>
        <p:nvSpPr>
          <p:cNvPr id="19" name="fx9_2_10"/>
          <p:cNvSpPr/>
          <p:nvPr/>
        </p:nvSpPr>
        <p:spPr>
          <a:xfrm>
            <a:off x="640080" y="2267712"/>
            <a:ext cx="1783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Конфиденциальность</a:t>
            </a:r>
            <a:endParaRPr lang="en-US" sz="1050" dirty="0"/>
          </a:p>
        </p:txBody>
      </p:sp>
      <p:sp>
        <p:nvSpPr>
          <p:cNvPr id="20" name="fx9_2_11"/>
          <p:cNvSpPr/>
          <p:nvPr/>
        </p:nvSpPr>
        <p:spPr>
          <a:xfrm>
            <a:off x="2542032" y="228600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E7F6EF"/>
          </a:solidFill>
          <a:ln/>
        </p:spPr>
      </p:sp>
      <p:sp>
        <p:nvSpPr>
          <p:cNvPr id="21" name="fx9_2_12"/>
          <p:cNvSpPr/>
          <p:nvPr/>
        </p:nvSpPr>
        <p:spPr>
          <a:xfrm>
            <a:off x="2587752" y="228600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полная</a:t>
            </a:r>
            <a:endParaRPr lang="en-US" sz="950" dirty="0"/>
          </a:p>
        </p:txBody>
      </p:sp>
      <p:sp>
        <p:nvSpPr>
          <p:cNvPr id="22" name="fx9_2_13"/>
          <p:cNvSpPr/>
          <p:nvPr/>
        </p:nvSpPr>
        <p:spPr>
          <a:xfrm>
            <a:off x="4349435" y="228600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FDEEEE"/>
          </a:solidFill>
          <a:ln/>
        </p:spPr>
      </p:sp>
      <p:sp>
        <p:nvSpPr>
          <p:cNvPr id="23" name="fx9_2_14"/>
          <p:cNvSpPr/>
          <p:nvPr/>
        </p:nvSpPr>
        <p:spPr>
          <a:xfrm>
            <a:off x="4395155" y="228600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данные уходят</a:t>
            </a:r>
            <a:endParaRPr lang="en-US" sz="950" dirty="0"/>
          </a:p>
        </p:txBody>
      </p:sp>
      <p:sp>
        <p:nvSpPr>
          <p:cNvPr id="24" name="fx9_2_15"/>
          <p:cNvSpPr/>
          <p:nvPr/>
        </p:nvSpPr>
        <p:spPr>
          <a:xfrm>
            <a:off x="6156838" y="228600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FFF5E6"/>
          </a:solidFill>
          <a:ln/>
        </p:spPr>
      </p:sp>
      <p:sp>
        <p:nvSpPr>
          <p:cNvPr id="25" name="fx9_2_16"/>
          <p:cNvSpPr/>
          <p:nvPr/>
        </p:nvSpPr>
        <p:spPr>
          <a:xfrm>
            <a:off x="6202558" y="228600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зависит от модели</a:t>
            </a:r>
            <a:endParaRPr lang="en-US" sz="950" dirty="0"/>
          </a:p>
        </p:txBody>
      </p:sp>
      <p:sp>
        <p:nvSpPr>
          <p:cNvPr id="26" name="fx9_2_17"/>
          <p:cNvSpPr/>
          <p:nvPr/>
        </p:nvSpPr>
        <p:spPr>
          <a:xfrm>
            <a:off x="7964241" y="228600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FDEEEE"/>
          </a:solidFill>
          <a:ln/>
        </p:spPr>
      </p:sp>
      <p:sp>
        <p:nvSpPr>
          <p:cNvPr id="27" name="fx9_2_18"/>
          <p:cNvSpPr/>
          <p:nvPr/>
        </p:nvSpPr>
        <p:spPr>
          <a:xfrm>
            <a:off x="8009961" y="228600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нет</a:t>
            </a:r>
            <a:endParaRPr lang="en-US" sz="950" dirty="0"/>
          </a:p>
        </p:txBody>
      </p:sp>
      <p:sp>
        <p:nvSpPr>
          <p:cNvPr id="28" name="fx9_3_19"/>
          <p:cNvSpPr/>
          <p:nvPr/>
        </p:nvSpPr>
        <p:spPr>
          <a:xfrm>
            <a:off x="9771644" y="228600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E7F6EF"/>
          </a:solidFill>
          <a:ln w="9525">
            <a:solidFill>
              <a:srgbClr val="4F5BEA"/>
            </a:solidFill>
            <a:prstDash val="solid"/>
          </a:ln>
        </p:spPr>
      </p:sp>
      <p:sp>
        <p:nvSpPr>
          <p:cNvPr id="29" name="fx9_3_20"/>
          <p:cNvSpPr/>
          <p:nvPr/>
        </p:nvSpPr>
        <p:spPr>
          <a:xfrm>
            <a:off x="9817364" y="228600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всё локально</a:t>
            </a:r>
            <a:endParaRPr lang="en-US" sz="950" dirty="0"/>
          </a:p>
        </p:txBody>
      </p:sp>
      <p:sp>
        <p:nvSpPr>
          <p:cNvPr id="30" name="fx9_2_21"/>
          <p:cNvSpPr/>
          <p:nvPr/>
        </p:nvSpPr>
        <p:spPr>
          <a:xfrm>
            <a:off x="640080" y="2702052"/>
            <a:ext cx="1783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Сложные вопросы</a:t>
            </a:r>
            <a:endParaRPr lang="en-US" sz="1050" dirty="0"/>
          </a:p>
        </p:txBody>
      </p:sp>
      <p:sp>
        <p:nvSpPr>
          <p:cNvPr id="31" name="fx9_2_22"/>
          <p:cNvSpPr/>
          <p:nvPr/>
        </p:nvSpPr>
        <p:spPr>
          <a:xfrm>
            <a:off x="2542032" y="272034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FDEEEE"/>
          </a:solidFill>
          <a:ln/>
        </p:spPr>
      </p:sp>
      <p:sp>
        <p:nvSpPr>
          <p:cNvPr id="32" name="fx9_2_23"/>
          <p:cNvSpPr/>
          <p:nvPr/>
        </p:nvSpPr>
        <p:spPr>
          <a:xfrm>
            <a:off x="2587752" y="272034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низкое качество</a:t>
            </a:r>
            <a:endParaRPr lang="en-US" sz="950" dirty="0"/>
          </a:p>
        </p:txBody>
      </p:sp>
      <p:sp>
        <p:nvSpPr>
          <p:cNvPr id="33" name="fx9_2_24"/>
          <p:cNvSpPr/>
          <p:nvPr/>
        </p:nvSpPr>
        <p:spPr>
          <a:xfrm>
            <a:off x="4349435" y="272034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E7F6EF"/>
          </a:solidFill>
          <a:ln/>
        </p:spPr>
      </p:sp>
      <p:sp>
        <p:nvSpPr>
          <p:cNvPr id="34" name="fx9_2_25"/>
          <p:cNvSpPr/>
          <p:nvPr/>
        </p:nvSpPr>
        <p:spPr>
          <a:xfrm>
            <a:off x="4395155" y="272034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высокое</a:t>
            </a:r>
            <a:endParaRPr lang="en-US" sz="950" dirty="0"/>
          </a:p>
        </p:txBody>
      </p:sp>
      <p:sp>
        <p:nvSpPr>
          <p:cNvPr id="35" name="fx9_2_26"/>
          <p:cNvSpPr/>
          <p:nvPr/>
        </p:nvSpPr>
        <p:spPr>
          <a:xfrm>
            <a:off x="6156838" y="272034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FFF5E6"/>
          </a:solidFill>
          <a:ln/>
        </p:spPr>
      </p:sp>
      <p:sp>
        <p:nvSpPr>
          <p:cNvPr id="36" name="fx9_2_27"/>
          <p:cNvSpPr/>
          <p:nvPr/>
        </p:nvSpPr>
        <p:spPr>
          <a:xfrm>
            <a:off x="6202558" y="272034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среднее</a:t>
            </a:r>
            <a:endParaRPr lang="en-US" sz="950" dirty="0"/>
          </a:p>
        </p:txBody>
      </p:sp>
      <p:sp>
        <p:nvSpPr>
          <p:cNvPr id="37" name="fx9_2_28"/>
          <p:cNvSpPr/>
          <p:nvPr/>
        </p:nvSpPr>
        <p:spPr>
          <a:xfrm>
            <a:off x="7964241" y="272034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E7F6EF"/>
          </a:solidFill>
          <a:ln/>
        </p:spPr>
      </p:sp>
      <p:sp>
        <p:nvSpPr>
          <p:cNvPr id="38" name="fx9_2_29"/>
          <p:cNvSpPr/>
          <p:nvPr/>
        </p:nvSpPr>
        <p:spPr>
          <a:xfrm>
            <a:off x="8009961" y="272034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высокое</a:t>
            </a:r>
            <a:endParaRPr lang="en-US" sz="950" dirty="0"/>
          </a:p>
        </p:txBody>
      </p:sp>
      <p:sp>
        <p:nvSpPr>
          <p:cNvPr id="39" name="fx9_3_30"/>
          <p:cNvSpPr/>
          <p:nvPr/>
        </p:nvSpPr>
        <p:spPr>
          <a:xfrm>
            <a:off x="9771644" y="272034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E7F6EF"/>
          </a:solidFill>
          <a:ln w="9525">
            <a:solidFill>
              <a:srgbClr val="4F5BEA"/>
            </a:solidFill>
            <a:prstDash val="solid"/>
          </a:ln>
        </p:spPr>
      </p:sp>
      <p:sp>
        <p:nvSpPr>
          <p:cNvPr id="40" name="fx9_3_31"/>
          <p:cNvSpPr/>
          <p:nvPr/>
        </p:nvSpPr>
        <p:spPr>
          <a:xfrm>
            <a:off x="9817364" y="272034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высокое</a:t>
            </a:r>
            <a:endParaRPr lang="en-US" sz="950" dirty="0"/>
          </a:p>
        </p:txBody>
      </p:sp>
      <p:sp>
        <p:nvSpPr>
          <p:cNvPr id="41" name="fx9_2_32"/>
          <p:cNvSpPr/>
          <p:nvPr/>
        </p:nvSpPr>
        <p:spPr>
          <a:xfrm>
            <a:off x="640080" y="3136392"/>
            <a:ext cx="1783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Темы</a:t>
            </a:r>
            <a:endParaRPr lang="en-US" sz="1050" dirty="0"/>
          </a:p>
        </p:txBody>
      </p:sp>
      <p:sp>
        <p:nvSpPr>
          <p:cNvPr id="42" name="fx9_2_33"/>
          <p:cNvSpPr/>
          <p:nvPr/>
        </p:nvSpPr>
        <p:spPr>
          <a:xfrm>
            <a:off x="2542032" y="315468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FDEEEE"/>
          </a:solidFill>
          <a:ln/>
        </p:spPr>
      </p:sp>
      <p:sp>
        <p:nvSpPr>
          <p:cNvPr id="43" name="fx9_2_34"/>
          <p:cNvSpPr/>
          <p:nvPr/>
        </p:nvSpPr>
        <p:spPr>
          <a:xfrm>
            <a:off x="2587752" y="315468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только заготовки</a:t>
            </a:r>
            <a:endParaRPr lang="en-US" sz="950" dirty="0"/>
          </a:p>
        </p:txBody>
      </p:sp>
      <p:sp>
        <p:nvSpPr>
          <p:cNvPr id="44" name="fx9_2_35"/>
          <p:cNvSpPr/>
          <p:nvPr/>
        </p:nvSpPr>
        <p:spPr>
          <a:xfrm>
            <a:off x="4349435" y="315468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FDEEEE"/>
          </a:solidFill>
          <a:ln/>
        </p:spPr>
      </p:sp>
      <p:sp>
        <p:nvSpPr>
          <p:cNvPr id="45" name="fx9_2_36"/>
          <p:cNvSpPr/>
          <p:nvPr/>
        </p:nvSpPr>
        <p:spPr>
          <a:xfrm>
            <a:off x="4395155" y="315468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без данных вуза</a:t>
            </a:r>
            <a:endParaRPr lang="en-US" sz="950" dirty="0"/>
          </a:p>
        </p:txBody>
      </p:sp>
      <p:sp>
        <p:nvSpPr>
          <p:cNvPr id="46" name="fx9_2_37"/>
          <p:cNvSpPr/>
          <p:nvPr/>
        </p:nvSpPr>
        <p:spPr>
          <a:xfrm>
            <a:off x="6156838" y="315468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E7F6EF"/>
          </a:solidFill>
          <a:ln/>
        </p:spPr>
      </p:sp>
      <p:sp>
        <p:nvSpPr>
          <p:cNvPr id="47" name="fx9_2_38"/>
          <p:cNvSpPr/>
          <p:nvPr/>
        </p:nvSpPr>
        <p:spPr>
          <a:xfrm>
            <a:off x="6202558" y="315468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из базы знаний</a:t>
            </a:r>
            <a:endParaRPr lang="en-US" sz="950" dirty="0"/>
          </a:p>
        </p:txBody>
      </p:sp>
      <p:sp>
        <p:nvSpPr>
          <p:cNvPr id="48" name="fx9_2_39"/>
          <p:cNvSpPr/>
          <p:nvPr/>
        </p:nvSpPr>
        <p:spPr>
          <a:xfrm>
            <a:off x="7964241" y="315468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E7F6EF"/>
          </a:solidFill>
          <a:ln/>
        </p:spPr>
      </p:sp>
      <p:sp>
        <p:nvSpPr>
          <p:cNvPr id="49" name="fx9_2_40"/>
          <p:cNvSpPr/>
          <p:nvPr/>
        </p:nvSpPr>
        <p:spPr>
          <a:xfrm>
            <a:off x="8009961" y="315468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из базы знаний</a:t>
            </a:r>
            <a:endParaRPr lang="en-US" sz="950" dirty="0"/>
          </a:p>
        </p:txBody>
      </p:sp>
      <p:sp>
        <p:nvSpPr>
          <p:cNvPr id="50" name="fx9_3_41"/>
          <p:cNvSpPr/>
          <p:nvPr/>
        </p:nvSpPr>
        <p:spPr>
          <a:xfrm>
            <a:off x="9771644" y="315468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E7F6EF"/>
          </a:solidFill>
          <a:ln w="9525">
            <a:solidFill>
              <a:srgbClr val="4F5BEA"/>
            </a:solidFill>
            <a:prstDash val="solid"/>
          </a:ln>
        </p:spPr>
      </p:sp>
      <p:sp>
        <p:nvSpPr>
          <p:cNvPr id="51" name="fx9_3_42"/>
          <p:cNvSpPr/>
          <p:nvPr/>
        </p:nvSpPr>
        <p:spPr>
          <a:xfrm>
            <a:off x="9817364" y="315468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вся база ПсковГУ</a:t>
            </a:r>
            <a:endParaRPr lang="en-US" sz="950" dirty="0"/>
          </a:p>
        </p:txBody>
      </p:sp>
      <p:sp>
        <p:nvSpPr>
          <p:cNvPr id="52" name="fx9_2_43"/>
          <p:cNvSpPr/>
          <p:nvPr/>
        </p:nvSpPr>
        <p:spPr>
          <a:xfrm>
            <a:off x="640080" y="3570732"/>
            <a:ext cx="1783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Ссылки на источники</a:t>
            </a:r>
            <a:endParaRPr lang="en-US" sz="1050" dirty="0"/>
          </a:p>
        </p:txBody>
      </p:sp>
      <p:sp>
        <p:nvSpPr>
          <p:cNvPr id="53" name="fx9_2_44"/>
          <p:cNvSpPr/>
          <p:nvPr/>
        </p:nvSpPr>
        <p:spPr>
          <a:xfrm>
            <a:off x="2542032" y="358902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FDEEEE"/>
          </a:solidFill>
          <a:ln/>
        </p:spPr>
      </p:sp>
      <p:sp>
        <p:nvSpPr>
          <p:cNvPr id="54" name="fx9_2_45"/>
          <p:cNvSpPr/>
          <p:nvPr/>
        </p:nvSpPr>
        <p:spPr>
          <a:xfrm>
            <a:off x="2587752" y="358902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нет</a:t>
            </a:r>
            <a:endParaRPr lang="en-US" sz="950" dirty="0"/>
          </a:p>
        </p:txBody>
      </p:sp>
      <p:sp>
        <p:nvSpPr>
          <p:cNvPr id="55" name="fx9_2_46"/>
          <p:cNvSpPr/>
          <p:nvPr/>
        </p:nvSpPr>
        <p:spPr>
          <a:xfrm>
            <a:off x="4349435" y="358902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FDEEEE"/>
          </a:solidFill>
          <a:ln/>
        </p:spPr>
      </p:sp>
      <p:sp>
        <p:nvSpPr>
          <p:cNvPr id="56" name="fx9_2_47"/>
          <p:cNvSpPr/>
          <p:nvPr/>
        </p:nvSpPr>
        <p:spPr>
          <a:xfrm>
            <a:off x="4395155" y="358902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нет</a:t>
            </a:r>
            <a:endParaRPr lang="en-US" sz="950" dirty="0"/>
          </a:p>
        </p:txBody>
      </p:sp>
      <p:sp>
        <p:nvSpPr>
          <p:cNvPr id="57" name="fx9_2_48"/>
          <p:cNvSpPr/>
          <p:nvPr/>
        </p:nvSpPr>
        <p:spPr>
          <a:xfrm>
            <a:off x="6156838" y="358902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E7F6EF"/>
          </a:solidFill>
          <a:ln/>
        </p:spPr>
      </p:sp>
      <p:sp>
        <p:nvSpPr>
          <p:cNvPr id="58" name="fx9_2_49"/>
          <p:cNvSpPr/>
          <p:nvPr/>
        </p:nvSpPr>
        <p:spPr>
          <a:xfrm>
            <a:off x="6202558" y="358902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да</a:t>
            </a:r>
            <a:endParaRPr lang="en-US" sz="950" dirty="0"/>
          </a:p>
        </p:txBody>
      </p:sp>
      <p:sp>
        <p:nvSpPr>
          <p:cNvPr id="59" name="fx9_2_50"/>
          <p:cNvSpPr/>
          <p:nvPr/>
        </p:nvSpPr>
        <p:spPr>
          <a:xfrm>
            <a:off x="7964241" y="358902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E7F6EF"/>
          </a:solidFill>
          <a:ln/>
        </p:spPr>
      </p:sp>
      <p:sp>
        <p:nvSpPr>
          <p:cNvPr id="60" name="fx9_2_51"/>
          <p:cNvSpPr/>
          <p:nvPr/>
        </p:nvSpPr>
        <p:spPr>
          <a:xfrm>
            <a:off x="8009961" y="358902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да</a:t>
            </a:r>
            <a:endParaRPr lang="en-US" sz="950" dirty="0"/>
          </a:p>
        </p:txBody>
      </p:sp>
      <p:sp>
        <p:nvSpPr>
          <p:cNvPr id="61" name="fx9_3_52"/>
          <p:cNvSpPr/>
          <p:nvPr/>
        </p:nvSpPr>
        <p:spPr>
          <a:xfrm>
            <a:off x="9771644" y="358902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E7F6EF"/>
          </a:solidFill>
          <a:ln w="9525">
            <a:solidFill>
              <a:srgbClr val="4F5BEA"/>
            </a:solidFill>
            <a:prstDash val="solid"/>
          </a:ln>
        </p:spPr>
      </p:sp>
      <p:sp>
        <p:nvSpPr>
          <p:cNvPr id="62" name="fx9_3_53"/>
          <p:cNvSpPr/>
          <p:nvPr/>
        </p:nvSpPr>
        <p:spPr>
          <a:xfrm>
            <a:off x="9817364" y="358902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прямые ссылки</a:t>
            </a:r>
            <a:endParaRPr lang="en-US" sz="950" dirty="0"/>
          </a:p>
        </p:txBody>
      </p:sp>
      <p:sp>
        <p:nvSpPr>
          <p:cNvPr id="63" name="fx9_2_54"/>
          <p:cNvSpPr/>
          <p:nvPr/>
        </p:nvSpPr>
        <p:spPr>
          <a:xfrm>
            <a:off x="640080" y="4005072"/>
            <a:ext cx="1783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Сканированные PDF</a:t>
            </a:r>
            <a:endParaRPr lang="en-US" sz="1050" dirty="0"/>
          </a:p>
        </p:txBody>
      </p:sp>
      <p:sp>
        <p:nvSpPr>
          <p:cNvPr id="64" name="fx9_2_55"/>
          <p:cNvSpPr/>
          <p:nvPr/>
        </p:nvSpPr>
        <p:spPr>
          <a:xfrm>
            <a:off x="2542032" y="402336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FDEEEE"/>
          </a:solidFill>
          <a:ln/>
        </p:spPr>
      </p:sp>
      <p:sp>
        <p:nvSpPr>
          <p:cNvPr id="65" name="fx9_2_56"/>
          <p:cNvSpPr/>
          <p:nvPr/>
        </p:nvSpPr>
        <p:spPr>
          <a:xfrm>
            <a:off x="2587752" y="402336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нет</a:t>
            </a:r>
            <a:endParaRPr lang="en-US" sz="950" dirty="0"/>
          </a:p>
        </p:txBody>
      </p:sp>
      <p:sp>
        <p:nvSpPr>
          <p:cNvPr id="66" name="fx9_2_57"/>
          <p:cNvSpPr/>
          <p:nvPr/>
        </p:nvSpPr>
        <p:spPr>
          <a:xfrm>
            <a:off x="4349435" y="402336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FDEEEE"/>
          </a:solidFill>
          <a:ln/>
        </p:spPr>
      </p:sp>
      <p:sp>
        <p:nvSpPr>
          <p:cNvPr id="67" name="fx9_2_58"/>
          <p:cNvSpPr/>
          <p:nvPr/>
        </p:nvSpPr>
        <p:spPr>
          <a:xfrm>
            <a:off x="4395155" y="402336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нет</a:t>
            </a:r>
            <a:endParaRPr lang="en-US" sz="950" dirty="0"/>
          </a:p>
        </p:txBody>
      </p:sp>
      <p:sp>
        <p:nvSpPr>
          <p:cNvPr id="68" name="fx9_2_59"/>
          <p:cNvSpPr/>
          <p:nvPr/>
        </p:nvSpPr>
        <p:spPr>
          <a:xfrm>
            <a:off x="6156838" y="402336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FFF5E6"/>
          </a:solidFill>
          <a:ln/>
        </p:spPr>
      </p:sp>
      <p:sp>
        <p:nvSpPr>
          <p:cNvPr id="69" name="fx9_2_60"/>
          <p:cNvSpPr/>
          <p:nvPr/>
        </p:nvSpPr>
        <p:spPr>
          <a:xfrm>
            <a:off x="6202558" y="402336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сторонний OCR</a:t>
            </a:r>
            <a:endParaRPr lang="en-US" sz="950" dirty="0"/>
          </a:p>
        </p:txBody>
      </p:sp>
      <p:sp>
        <p:nvSpPr>
          <p:cNvPr id="70" name="fx9_2_61"/>
          <p:cNvSpPr/>
          <p:nvPr/>
        </p:nvSpPr>
        <p:spPr>
          <a:xfrm>
            <a:off x="7964241" y="402336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E7F6EF"/>
          </a:solidFill>
          <a:ln/>
        </p:spPr>
      </p:sp>
      <p:sp>
        <p:nvSpPr>
          <p:cNvPr id="71" name="fx9_2_62"/>
          <p:cNvSpPr/>
          <p:nvPr/>
        </p:nvSpPr>
        <p:spPr>
          <a:xfrm>
            <a:off x="8009961" y="402336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да</a:t>
            </a:r>
            <a:endParaRPr lang="en-US" sz="950" dirty="0"/>
          </a:p>
        </p:txBody>
      </p:sp>
      <p:sp>
        <p:nvSpPr>
          <p:cNvPr id="72" name="fx9_3_63"/>
          <p:cNvSpPr/>
          <p:nvPr/>
        </p:nvSpPr>
        <p:spPr>
          <a:xfrm>
            <a:off x="9771644" y="402336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E7F6EF"/>
          </a:solidFill>
          <a:ln w="9525">
            <a:solidFill>
              <a:srgbClr val="4F5BEA"/>
            </a:solidFill>
            <a:prstDash val="solid"/>
          </a:ln>
        </p:spPr>
      </p:sp>
      <p:sp>
        <p:nvSpPr>
          <p:cNvPr id="73" name="fx9_3_64"/>
          <p:cNvSpPr/>
          <p:nvPr/>
        </p:nvSpPr>
        <p:spPr>
          <a:xfrm>
            <a:off x="9817364" y="402336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Tesseract + каскад</a:t>
            </a:r>
            <a:endParaRPr lang="en-US" sz="950" dirty="0"/>
          </a:p>
        </p:txBody>
      </p:sp>
      <p:sp>
        <p:nvSpPr>
          <p:cNvPr id="74" name="fx9_2_65"/>
          <p:cNvSpPr/>
          <p:nvPr/>
        </p:nvSpPr>
        <p:spPr>
          <a:xfrm>
            <a:off x="640080" y="4439412"/>
            <a:ext cx="1783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Таблицы с rowspan</a:t>
            </a:r>
            <a:endParaRPr lang="en-US" sz="1050" dirty="0"/>
          </a:p>
        </p:txBody>
      </p:sp>
      <p:sp>
        <p:nvSpPr>
          <p:cNvPr id="75" name="fx9_2_66"/>
          <p:cNvSpPr/>
          <p:nvPr/>
        </p:nvSpPr>
        <p:spPr>
          <a:xfrm>
            <a:off x="2542032" y="445770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FDEEEE"/>
          </a:solidFill>
          <a:ln/>
        </p:spPr>
      </p:sp>
      <p:sp>
        <p:nvSpPr>
          <p:cNvPr id="76" name="fx9_2_67"/>
          <p:cNvSpPr/>
          <p:nvPr/>
        </p:nvSpPr>
        <p:spPr>
          <a:xfrm>
            <a:off x="2587752" y="445770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нет</a:t>
            </a:r>
            <a:endParaRPr lang="en-US" sz="950" dirty="0"/>
          </a:p>
        </p:txBody>
      </p:sp>
      <p:sp>
        <p:nvSpPr>
          <p:cNvPr id="77" name="fx9_2_68"/>
          <p:cNvSpPr/>
          <p:nvPr/>
        </p:nvSpPr>
        <p:spPr>
          <a:xfrm>
            <a:off x="4349435" y="445770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FDEEEE"/>
          </a:solidFill>
          <a:ln/>
        </p:spPr>
      </p:sp>
      <p:sp>
        <p:nvSpPr>
          <p:cNvPr id="78" name="fx9_2_69"/>
          <p:cNvSpPr/>
          <p:nvPr/>
        </p:nvSpPr>
        <p:spPr>
          <a:xfrm>
            <a:off x="4395155" y="445770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нет</a:t>
            </a:r>
            <a:endParaRPr lang="en-US" sz="950" dirty="0"/>
          </a:p>
        </p:txBody>
      </p:sp>
      <p:sp>
        <p:nvSpPr>
          <p:cNvPr id="79" name="fx9_2_70"/>
          <p:cNvSpPr/>
          <p:nvPr/>
        </p:nvSpPr>
        <p:spPr>
          <a:xfrm>
            <a:off x="6156838" y="445770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FDEEEE"/>
          </a:solidFill>
          <a:ln/>
        </p:spPr>
      </p:sp>
      <p:sp>
        <p:nvSpPr>
          <p:cNvPr id="80" name="fx9_2_71"/>
          <p:cNvSpPr/>
          <p:nvPr/>
        </p:nvSpPr>
        <p:spPr>
          <a:xfrm>
            <a:off x="6202558" y="445770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нет</a:t>
            </a:r>
            <a:endParaRPr lang="en-US" sz="950" dirty="0"/>
          </a:p>
        </p:txBody>
      </p:sp>
      <p:sp>
        <p:nvSpPr>
          <p:cNvPr id="81" name="fx9_2_72"/>
          <p:cNvSpPr/>
          <p:nvPr/>
        </p:nvSpPr>
        <p:spPr>
          <a:xfrm>
            <a:off x="7964241" y="445770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FFF5E6"/>
          </a:solidFill>
          <a:ln/>
        </p:spPr>
      </p:sp>
      <p:sp>
        <p:nvSpPr>
          <p:cNvPr id="82" name="fx9_2_73"/>
          <p:cNvSpPr/>
          <p:nvPr/>
        </p:nvSpPr>
        <p:spPr>
          <a:xfrm>
            <a:off x="8009961" y="445770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частично</a:t>
            </a:r>
            <a:endParaRPr lang="en-US" sz="950" dirty="0"/>
          </a:p>
        </p:txBody>
      </p:sp>
      <p:sp>
        <p:nvSpPr>
          <p:cNvPr id="83" name="fx9_3_74"/>
          <p:cNvSpPr/>
          <p:nvPr/>
        </p:nvSpPr>
        <p:spPr>
          <a:xfrm>
            <a:off x="9771644" y="445770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E7F6EF"/>
          </a:solidFill>
          <a:ln w="9525">
            <a:solidFill>
              <a:srgbClr val="4F5BEA"/>
            </a:solidFill>
            <a:prstDash val="solid"/>
          </a:ln>
        </p:spPr>
      </p:sp>
      <p:sp>
        <p:nvSpPr>
          <p:cNvPr id="84" name="fx9_3_75"/>
          <p:cNvSpPr/>
          <p:nvPr/>
        </p:nvSpPr>
        <p:spPr>
          <a:xfrm>
            <a:off x="9817364" y="445770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свой парсер</a:t>
            </a:r>
            <a:endParaRPr lang="en-US" sz="950" dirty="0"/>
          </a:p>
        </p:txBody>
      </p:sp>
      <p:sp>
        <p:nvSpPr>
          <p:cNvPr id="85" name="fx9_2_76"/>
          <p:cNvSpPr/>
          <p:nvPr/>
        </p:nvSpPr>
        <p:spPr>
          <a:xfrm>
            <a:off x="640080" y="4873752"/>
            <a:ext cx="1783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Исправление ответов</a:t>
            </a:r>
            <a:endParaRPr lang="en-US" sz="1050" dirty="0"/>
          </a:p>
        </p:txBody>
      </p:sp>
      <p:sp>
        <p:nvSpPr>
          <p:cNvPr id="86" name="fx9_2_77"/>
          <p:cNvSpPr/>
          <p:nvPr/>
        </p:nvSpPr>
        <p:spPr>
          <a:xfrm>
            <a:off x="2542032" y="489204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FFF5E6"/>
          </a:solidFill>
          <a:ln/>
        </p:spPr>
      </p:sp>
      <p:sp>
        <p:nvSpPr>
          <p:cNvPr id="87" name="fx9_2_78"/>
          <p:cNvSpPr/>
          <p:nvPr/>
        </p:nvSpPr>
        <p:spPr>
          <a:xfrm>
            <a:off x="2587752" y="489204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правка правил</a:t>
            </a:r>
            <a:endParaRPr lang="en-US" sz="950" dirty="0"/>
          </a:p>
        </p:txBody>
      </p:sp>
      <p:sp>
        <p:nvSpPr>
          <p:cNvPr id="88" name="fx9_2_79"/>
          <p:cNvSpPr/>
          <p:nvPr/>
        </p:nvSpPr>
        <p:spPr>
          <a:xfrm>
            <a:off x="4349435" y="489204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FDEEEE"/>
          </a:solidFill>
          <a:ln/>
        </p:spPr>
      </p:sp>
      <p:sp>
        <p:nvSpPr>
          <p:cNvPr id="89" name="fx9_2_80"/>
          <p:cNvSpPr/>
          <p:nvPr/>
        </p:nvSpPr>
        <p:spPr>
          <a:xfrm>
            <a:off x="4395155" y="489204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нет</a:t>
            </a:r>
            <a:endParaRPr lang="en-US" sz="950" dirty="0"/>
          </a:p>
        </p:txBody>
      </p:sp>
      <p:sp>
        <p:nvSpPr>
          <p:cNvPr id="90" name="fx9_2_81"/>
          <p:cNvSpPr/>
          <p:nvPr/>
        </p:nvSpPr>
        <p:spPr>
          <a:xfrm>
            <a:off x="6156838" y="489204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FFF5E6"/>
          </a:solidFill>
          <a:ln/>
        </p:spPr>
      </p:sp>
      <p:sp>
        <p:nvSpPr>
          <p:cNvPr id="91" name="fx9_2_82"/>
          <p:cNvSpPr/>
          <p:nvPr/>
        </p:nvSpPr>
        <p:spPr>
          <a:xfrm>
            <a:off x="6202558" y="489204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переиндексация</a:t>
            </a:r>
            <a:endParaRPr lang="en-US" sz="950" dirty="0"/>
          </a:p>
        </p:txBody>
      </p:sp>
      <p:sp>
        <p:nvSpPr>
          <p:cNvPr id="92" name="fx9_2_83"/>
          <p:cNvSpPr/>
          <p:nvPr/>
        </p:nvSpPr>
        <p:spPr>
          <a:xfrm>
            <a:off x="7964241" y="489204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E7F6EF"/>
          </a:solidFill>
          <a:ln/>
        </p:spPr>
      </p:sp>
      <p:sp>
        <p:nvSpPr>
          <p:cNvPr id="93" name="fx9_2_84"/>
          <p:cNvSpPr/>
          <p:nvPr/>
        </p:nvSpPr>
        <p:spPr>
          <a:xfrm>
            <a:off x="8009961" y="489204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через UI</a:t>
            </a:r>
            <a:endParaRPr lang="en-US" sz="950" dirty="0"/>
          </a:p>
        </p:txBody>
      </p:sp>
      <p:sp>
        <p:nvSpPr>
          <p:cNvPr id="94" name="fx9_3_85"/>
          <p:cNvSpPr/>
          <p:nvPr/>
        </p:nvSpPr>
        <p:spPr>
          <a:xfrm>
            <a:off x="9771644" y="489204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E7F6EF"/>
          </a:solidFill>
          <a:ln w="9525">
            <a:solidFill>
              <a:srgbClr val="4F5BEA"/>
            </a:solidFill>
            <a:prstDash val="solid"/>
          </a:ln>
        </p:spPr>
      </p:sp>
      <p:sp>
        <p:nvSpPr>
          <p:cNvPr id="95" name="fx9_3_86"/>
          <p:cNvSpPr/>
          <p:nvPr/>
        </p:nvSpPr>
        <p:spPr>
          <a:xfrm>
            <a:off x="9817364" y="489204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без переиндексации</a:t>
            </a:r>
            <a:endParaRPr lang="en-US" sz="950" dirty="0"/>
          </a:p>
        </p:txBody>
      </p:sp>
      <p:sp>
        <p:nvSpPr>
          <p:cNvPr id="96" name="fx9_2_87"/>
          <p:cNvSpPr/>
          <p:nvPr/>
        </p:nvSpPr>
        <p:spPr>
          <a:xfrm>
            <a:off x="640080" y="5308092"/>
            <a:ext cx="17830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Эксплуатация</a:t>
            </a:r>
            <a:endParaRPr lang="en-US" sz="1050" dirty="0"/>
          </a:p>
        </p:txBody>
      </p:sp>
      <p:sp>
        <p:nvSpPr>
          <p:cNvPr id="97" name="fx9_2_88"/>
          <p:cNvSpPr/>
          <p:nvPr/>
        </p:nvSpPr>
        <p:spPr>
          <a:xfrm>
            <a:off x="2542032" y="532638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E7F6EF"/>
          </a:solidFill>
          <a:ln/>
        </p:spPr>
      </p:sp>
      <p:sp>
        <p:nvSpPr>
          <p:cNvPr id="98" name="fx9_2_89"/>
          <p:cNvSpPr/>
          <p:nvPr/>
        </p:nvSpPr>
        <p:spPr>
          <a:xfrm>
            <a:off x="2587752" y="532638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бесплатно</a:t>
            </a:r>
            <a:endParaRPr lang="en-US" sz="950" dirty="0"/>
          </a:p>
        </p:txBody>
      </p:sp>
      <p:sp>
        <p:nvSpPr>
          <p:cNvPr id="99" name="fx9_2_90"/>
          <p:cNvSpPr/>
          <p:nvPr/>
        </p:nvSpPr>
        <p:spPr>
          <a:xfrm>
            <a:off x="4349435" y="532638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FFF5E6"/>
          </a:solidFill>
          <a:ln/>
        </p:spPr>
      </p:sp>
      <p:sp>
        <p:nvSpPr>
          <p:cNvPr id="100" name="fx9_2_91"/>
          <p:cNvSpPr/>
          <p:nvPr/>
        </p:nvSpPr>
        <p:spPr>
          <a:xfrm>
            <a:off x="4395155" y="532638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оплата API</a:t>
            </a:r>
            <a:endParaRPr lang="en-US" sz="950" dirty="0"/>
          </a:p>
        </p:txBody>
      </p:sp>
      <p:sp>
        <p:nvSpPr>
          <p:cNvPr id="101" name="fx9_2_92"/>
          <p:cNvSpPr/>
          <p:nvPr/>
        </p:nvSpPr>
        <p:spPr>
          <a:xfrm>
            <a:off x="6156838" y="532638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E7F6EF"/>
          </a:solidFill>
          <a:ln/>
        </p:spPr>
      </p:sp>
      <p:sp>
        <p:nvSpPr>
          <p:cNvPr id="102" name="fx9_2_93"/>
          <p:cNvSpPr/>
          <p:nvPr/>
        </p:nvSpPr>
        <p:spPr>
          <a:xfrm>
            <a:off x="6202558" y="532638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open source</a:t>
            </a:r>
            <a:endParaRPr lang="en-US" sz="950" dirty="0"/>
          </a:p>
        </p:txBody>
      </p:sp>
      <p:sp>
        <p:nvSpPr>
          <p:cNvPr id="103" name="fx9_2_94"/>
          <p:cNvSpPr/>
          <p:nvPr/>
        </p:nvSpPr>
        <p:spPr>
          <a:xfrm>
            <a:off x="7964241" y="532638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FDEEEE"/>
          </a:solidFill>
          <a:ln/>
        </p:spPr>
      </p:sp>
      <p:sp>
        <p:nvSpPr>
          <p:cNvPr id="104" name="fx9_2_95"/>
          <p:cNvSpPr/>
          <p:nvPr/>
        </p:nvSpPr>
        <p:spPr>
          <a:xfrm>
            <a:off x="8009961" y="532638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подписка в валюте</a:t>
            </a:r>
            <a:endParaRPr lang="en-US" sz="950" dirty="0"/>
          </a:p>
        </p:txBody>
      </p:sp>
      <p:sp>
        <p:nvSpPr>
          <p:cNvPr id="105" name="fx9_3_96"/>
          <p:cNvSpPr/>
          <p:nvPr/>
        </p:nvSpPr>
        <p:spPr>
          <a:xfrm>
            <a:off x="9771644" y="5326380"/>
            <a:ext cx="1752539" cy="379476"/>
          </a:xfrm>
          <a:prstGeom prst="roundRect">
            <a:avLst>
              <a:gd name="adj" fmla="val 12048"/>
            </a:avLst>
          </a:prstGeom>
          <a:solidFill>
            <a:srgbClr val="E7F6EF"/>
          </a:solidFill>
          <a:ln w="9525">
            <a:solidFill>
              <a:srgbClr val="4F5BEA"/>
            </a:solidFill>
            <a:prstDash val="solid"/>
          </a:ln>
        </p:spPr>
      </p:sp>
      <p:sp>
        <p:nvSpPr>
          <p:cNvPr id="106" name="fx9_3_97"/>
          <p:cNvSpPr/>
          <p:nvPr/>
        </p:nvSpPr>
        <p:spPr>
          <a:xfrm>
            <a:off x="9817364" y="5326380"/>
            <a:ext cx="166109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бесплатно</a:t>
            </a:r>
            <a:endParaRPr lang="en-US" sz="950" dirty="0"/>
          </a:p>
        </p:txBody>
      </p:sp>
      <p:sp>
        <p:nvSpPr>
          <p:cNvPr id="107" name="fx9_4_98"/>
          <p:cNvSpPr/>
          <p:nvPr/>
        </p:nvSpPr>
        <p:spPr>
          <a:xfrm>
            <a:off x="640080" y="5852160"/>
            <a:ext cx="10911535" cy="411480"/>
          </a:xfrm>
          <a:prstGeom prst="roundRect">
            <a:avLst>
              <a:gd name="adj" fmla="val 22222"/>
            </a:avLst>
          </a:prstGeom>
          <a:solidFill>
            <a:srgbClr val="EEF0FF"/>
          </a:solidFill>
          <a:ln w="9525">
            <a:solidFill>
              <a:srgbClr val="4F5BEA"/>
            </a:solidFill>
            <a:prstDash val="solid"/>
          </a:ln>
        </p:spPr>
      </p:sp>
      <p:sp>
        <p:nvSpPr>
          <p:cNvPr id="108" name="fx9_4_99"/>
          <p:cNvSpPr/>
          <p:nvPr/>
        </p:nvSpPr>
        <p:spPr>
          <a:xfrm>
            <a:off x="868680" y="5852160"/>
            <a:ext cx="10454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65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4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каждого типа решений есть «красная зона». Локальная RAG-система под русскоязычные документы вуза — свободная ниша, это и обосновывает выбор темы</a:t>
            </a:r>
            <a:endParaRPr lang="en-US" sz="12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9" name="!!m-books">
                <a:extLst>
                  <a:ext uri="{FF2B5EF4-FFF2-40B4-BE49-F238E27FC236}">
                    <a16:creationId xmlns:a16="http://schemas.microsoft.com/office/drawing/2014/main" id="{ACD5274E-8D42-FFD4-FB96-E92C60CFA4E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3291840" y="1783080"/>
              <a:ext cx="2743200" cy="2743200"/>
            </p:xfrm>
            <a:graphic>
              <a:graphicData uri="http://schemas.microsoft.com/office/drawing/2017/model3d">
                <am3d:model3d r:embed="rIdM3d23">
                  <am3d:spPr>
                    <a:xfrm>
                      <a:off x="0" y="0"/>
                      <a:ext cx="2743200" cy="2743200"/>
                    </a:xfrm>
                    <a:prstGeom prst="rect">
                      <a:avLst/>
                    </a:prstGeom>
                  </am3d:spPr>
                  <am3d:camera>
                    <am3d:pos x="0" y="0" z="6472208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93062" d="1000000"/>
                    <am3d:preTrans dx="441492" dy="-2726548" dz="-219499"/>
                    <am3d:scale>
                      <am3d:sx n="1000000" d="1000000"/>
                      <am3d:sy n="1000000" d="1000000"/>
                      <am3d:sz n="1000000" d="1000000"/>
                    </am3d:scale>
                    <am3d:rot ax="1800000" ay="-5520000" az="0"/>
                    <am3d:postTrans dx="0" dy="0" dz="0"/>
                  </am3d:trans>
                  <am3d:raster rName="Office3DRenderer" rVer="16.0.8326">
                    <am3d:blip r:embed="rId1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7432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9" name="!!m-books">
                <a:extLst>
                  <a:ext uri="{FF2B5EF4-FFF2-40B4-BE49-F238E27FC236}">
                    <a16:creationId xmlns:a16="http://schemas.microsoft.com/office/drawing/2014/main" id="{ACD5274E-8D42-FFD4-FB96-E92C60CFA4E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-3291840" y="1783080"/>
                <a:ext cx="2743200" cy="2743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7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7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7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70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70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7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7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7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7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7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7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70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70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7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7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700" decel="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700" decel="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7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700" decel="100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700" decel="100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7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700" decel="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700" decel="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7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700" decel="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700" decel="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7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700" decel="100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700" decel="100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7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700" decel="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700" decel="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7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0" decel="100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0" decel="100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7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700" decel="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700" decel="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7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700" decel="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700" decel="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7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3" dur="700" decel="100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700" decel="100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7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700" decel="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700" decel="100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7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3" dur="700" decel="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700" decel="100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7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8" dur="700" decel="100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700" decel="100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7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" decel="100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" decel="100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7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8" dur="700" decel="10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9" dur="700" decel="100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7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3" dur="700" decel="100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700" decel="100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7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8" dur="700" decel="100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9" dur="700" decel="100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7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3" dur="700" decel="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700" decel="100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7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8" dur="700" decel="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700" decel="100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7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3" dur="700" decel="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700" decel="100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7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700" decel="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700" decel="100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7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3" dur="700" decel="100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700" decel="100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7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8" dur="700" decel="100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700" decel="100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7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3" dur="700" decel="100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4" dur="700" decel="100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7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8" dur="700" decel="100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700" decel="100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7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3" dur="700" decel="100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700" decel="100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7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8" dur="700" decel="100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9" dur="700" decel="100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7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700" decel="100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700" decel="100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6" dur="7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8" dur="700" decel="100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700" decel="100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7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3" dur="700" decel="100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4" dur="700" decel="100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7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8" dur="700" decel="100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9" dur="700" decel="100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1" dur="7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3" dur="700" decel="100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4" dur="700" decel="100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7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8" dur="700" decel="100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700" decel="100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7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3" dur="700" decel="100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4" dur="700" decel="100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6" dur="7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700" decel="100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700" decel="100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7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3" dur="700" decel="100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4" dur="700" decel="100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6" dur="7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8" dur="700" decel="100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9" dur="700" decel="100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7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3" dur="700" decel="100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4" dur="700" decel="100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6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8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9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3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4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6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8" dur="7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9" dur="7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3" dur="7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4" dur="7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6" dur="7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8" dur="700" decel="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700" decel="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7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3" dur="700" decel="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4" dur="700" decel="100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6" dur="7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700" decel="100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700" decel="100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1" dur="7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3" dur="700" decel="100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4" dur="700" decel="100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6" dur="7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8" dur="700" decel="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9" dur="700" decel="100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7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3" dur="700" decel="100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4" dur="700" decel="100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6" dur="7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8" dur="700" decel="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9" dur="700" decel="100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1" dur="7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3" dur="700" decel="100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700" decel="100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6" dur="7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8" dur="700" decel="100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9" dur="700" decel="100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1" dur="7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700" decel="100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700" decel="100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6" dur="7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8" dur="700" decel="100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9" dur="700" decel="100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7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3" dur="700" decel="100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4" dur="700" decel="100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7" grpId="0" animBg="1"/>
      <p:bldP spid="18" grpId="0" animBg="1"/>
      <p:bldP spid="28" grpId="0" animBg="1"/>
      <p:bldP spid="29" grpId="0" animBg="1"/>
      <p:bldP spid="39" grpId="0" animBg="1"/>
      <p:bldP spid="40" grpId="0" animBg="1"/>
      <p:bldP spid="50" grpId="0" animBg="1"/>
      <p:bldP spid="51" grpId="0" animBg="1"/>
      <p:bldP spid="61" grpId="0" animBg="1"/>
      <p:bldP spid="62" grpId="0" animBg="1"/>
      <p:bldP spid="72" grpId="0" animBg="1"/>
      <p:bldP spid="73" grpId="0" animBg="1"/>
      <p:bldP spid="83" grpId="0" animBg="1"/>
      <p:bldP spid="84" grpId="0" animBg="1"/>
      <p:bldP spid="94" grpId="0" animBg="1"/>
      <p:bldP spid="95" grpId="0" animBg="1"/>
      <p:bldP spid="105" grpId="0" animBg="1"/>
      <p:bldP spid="106" grpId="0" animBg="1"/>
      <p:bldP spid="107" grpId="0" animBg="1"/>
      <p:bldP spid="10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Выбор темы НИР: актуальность, новизна, значимость</dc:title>
  <dc:subject>PptxGenJS Presentation</dc:subject>
  <dc:creator>Мейер-Шишнёв В. А.</dc:creator>
  <cp:lastModifiedBy>Мейер-Шишнёв В. А.</cp:lastModifiedBy>
  <cp:revision>1</cp:revision>
  <dcterms:created xsi:type="dcterms:W3CDTF">2026-10-14T12:49:02Z</dcterms:created>
  <dcterms:modified xsi:type="dcterms:W3CDTF">2026-10-14T12:49:02Z</dcterms:modified>
</cp:coreProperties>
</file>