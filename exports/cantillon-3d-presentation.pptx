
<file path=[Content_Types].xml><?xml version="1.0" encoding="utf-8"?>
<Types xmlns="http://schemas.openxmlformats.org/package/2006/content-types">
  <Default Extension="glb" ContentType="model/gltf.binary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Сегодня я расскажу о Ричарде Кантильоне — ирландско-французском банкире и экономисте начала XVIII века. Его жизнь похожа на детектив: он разбогател на крупнейшем финансовом пузыре своего времени, годами судился с должниками и погиб при загадочных обстоятельствах — а может быть, и не погиб.
Но главное для нашей темы — именно он первым ввёл в экономику слово «предприниматель». Это было около 1730 года — за 37 лет до рождения Жана-Батиста Сэя, которому это открытие часто приписывают.
Как и положено детективу, каждый слайд сопровождает «экспонат» — 3D-предмет из этой истории. Первый — свеча: запомните её, она ещё вернётся в конце.
План: кто он и откуда, чем занимался, его главная идея и что он дал теории предпринимательства.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Где и когда родился Кантильон? Точно этого не знает никто: биографы пишут «1680-е годы». Место — Баллиронан в графстве Керри на юго-западе Ирландии.
Он был вторым сыном фермера. Когда-то семья была католическими землевладельцами, но их земли конфисковали при Кромвеле. Родители были родственниками — для их брака понадобилось специальное разрешение церкви.
К 1708 году Ричард перебрался во Францию и получил французское подданство — дальше его жизнь пройдёт между Парижем, Лондоном и Амстердамом.
А самое интересное — экспонат: пустая рама. Ни одного достоверного портрета Кантильона не сохранилось. Есть только версия экономиста Марка Торнтона, что Кантильон изображён на семейном портрете кисти Ларжильера, — но это лишь гипотеза. Мы не знаем, как выглядел человек, придумавший предпринимателя.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Путь Кантильона. К 1708 году он во Франции. В 1711-м работает в Испании на британского генерального казначея Джеймса Брайджеса — во время войны за испанское наследство он организует выплаты британским военнопленным. Так появляются связи, без которых не было бы его карьеры.
В 1714 году он возвращается в Париж и поступает в банк своего кузена, а через два года при финансовой поддержке Брайджеса выкупает банк и становится его владельцем. Специализация — денежные переводы между Парижем и Лондоном.
Дальше — история с Джоном Ло и пузырём Миссисипи, о ней следующий слайд. В 1719 году Кантильон уезжает в Амстердам, в 1722-м женится на Мэри Энн О'Махони, дочери ирландского генерала, и много путешествует по Европе. Последние годы живёт в Лондоне — там в 1734 году и оборвётся его история.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Чем Кантильон занимался? Четыре роли. Банкир: его парижский банк переводил деньги между Парижем, Лондоном и Амстердамом. Спекулянт: он играл на акциях Миссисипской компании Джона Ло. Кредитор: давал крупные займы под залог тех же акций. И мыслитель: около 1730 года написал «Опыт о природе торговли вообще» — по-французски Essai.
Экспонат — мешок с золотом.
Самое интересное: он прямо говорил, что система Ло необоснованна и обречена на провал. И всё равно — точнее, именно поэтому — заработал на ней: купил акции рано, продал дорого и вовремя вышел. Предприниматель в его собственном смысле слова: человек, который действует в условиях неопределённости и рискует своими деньгами.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Теперь о главном событии его жизни — пузыре Миссисипи. В 1716 году шотландский финансист Джон Ло получил во Франции право основать Banque Générale, а затем — монополию на освоение французских территорий в Северной Америке: так появилась Миссисипская компания. Банк печатал бумажные деньги, на них покупали акции компании, и акции взлетели до небес. В 1720 году пузырь лопнул, и тысячи людей разорились.
Экспонат — мыльный пузырь, внутри которого монеты и свёрнутая акция.
Самое интересное — их ссора. Кантильон так успешно зарабатывал, что Ло пригрозил посадить его в тюрьму, если тот не уедет из Франции за 24 часа. Ответ Кантильона: «Я никуда не уеду — но я заставлю вашу систему работать». И в 1718 году Ло, Кантильон и спекулянт Джозеф Гейдж действительно создали общую компанию для сделок с американской землёй.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Чем кончилась эта история для Кантильона? Он стал одним из примерно двадцати пяти так называемых «миссисипских миллионеров»: около 20 миллионов ливров — по оценкам, порядка 60 миллионов евро сегодня. В том же 1720 году он заработал и на втором пузыре — английской Компании Южных морей.
Но у богатства была цена. Кантильон кредитовал покупателей акций под их залог. После краха должники разорились, а он требовал вернуть деньги с высокими процентами. До конца жизни против него шли бесконечные иски, уголовные обвинения — и даже заговоры с целью убийства.
Экспонат — судейский молоток.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Около 1730 года Кантильон написал свою единственную сохранившуюся книгу — «Опыт о природе торговли вообще», коротко Essai. Её считают первым полным трактатом по экономической теории.
Из-за французской цензуры книгу не печатали. Двадцать пять лет она ходила в рукописи: маркиз де Мирабо держал у себя экземпляр с 1740 года и называл свою собственную книгу о населении «комментарием» к Кантильону. Через рукописи идеи дошли до Кенэ и физиократов, до Тюрго; Адам Смит — один из немногих, кто прямо на Кантильона ссылается.
Самое интересное: Essai издали только в 1755 году — через 21 год после смерти автора, анонимно. А потом книгу почти забыли, пока в 1881 году её не «переоткрыл» Уильям Стэнли Джевонс.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Главная идея Кантильона. Он делит всё общество на три группы. Землевладельцы независимы. Все остальные зависят от них и делятся на два класса: наёмные — те, у кого фиксированный доход: генерал с жалованьем, придворный с пенсией, слуга с жалованьем, — и предприниматели, у которых доход не фиксирован.
Предприниматель, по Кантильону, — это тот, кто покупает по известной цене, а продаёт по неизвестной. Он платит фермеру сегодняшнюю цену за зерно, а сколько за него дадут в городе — не знает. Между покупкой и продажей лежит неопределённость, и именно за неё он получает прибыль — или разоряется. Экспонат — игральные кости.
Самое интересное — его собственные слова: «Эти предприниматели никогда не знают, каким будет спрос в их городе… и каждый день видишь, как кто-то из них становится банкротом».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Кто же предприниматель у Кантильона? Неожиданно широкий круг людей. Фермер: он платит землевладельцу фиксированную ренту, а сколько получит за урожай — не знает. Торговцы шерстью и зерном, пекари, мясники, лавочники. А ещё те, кто вкладывает только собственный труд: трубочисты, водоносы, швеи, медники. И люди свободных профессий: художники, врачи, юристы.
Критерий один: доход не фиксирован, человек живёт в неопределённости. Экспонат — сноп пшеницы: фермер — главный пример Кантильона.
И самая удивительная фраза Essai: «даже нищие и разбойники — предприниматели этого класса». Звучит как шутка, но это логика: у них тоже нет гарантированного дохода, и они рискуют.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Зачем рынку предприниматель? По Кантильону, у него три функции. Он берёт на себя неопределённость, от которой остальные защищены фиксированным доходом. Он связывает деревню и город: покупает там, где дёшево, и везёт туда, где есть спрос. И, угадывая спрос, он приводит рынок в равновесие: если он ошибся — разоряется, если угадал — получает прибыль. Экспонат — весы.
Кантильон стоит в начале целой линии теорий предпринимательства. Сэй в 1803 году сделал предпринимателя организатором производства. Шумпетер в 1911-м — новатором. Найт в 1921-м чётко отделил измеримый риск от неопределённости — то, что Кантильон только наметил. А Кирцнер в 1973-м — человеком, который замечает незамеченные возможности.
Самое интересное — контраст с Шумпетером: у Шумпетера предприниматель ломает равновесие, а у Кантильона, наоборот, восстанавливает его.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Вторая большая идея Кантильона касается денег — и он вынес её прямо из опыта пузыря Ло. Когда в экономику приходят новые деньги, цены растут не сразу и не везде одинаково. Первые получатели новых денег тратят их, пока цены ещё старые, и выигрывают. А до последних деньги доходят, когда цены уже выросли, — они проигрывают.
Иначе говоря, деньги не «нейтральны»: важно не только сколько денег напечатали, но и кто получил их первым. Сегодня это называют «эффектом Кантильона». Экспонат — стопки монет.
Самое интересное: этот термин живёт и сегодня — его вспоминают в спорах о том, кому на самом деле выгодно, когда центральные банки «печатают деньги».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Кантильон опередил своё время сразу в нескольких областях. Пространственная экономика: он объяснил, как транспортные расходы определяют, где стоят рынки, фабрики и города, — почти на век раньше фон Тюнена. Процент: ставка определяется спросом и предложением заёмных денег — эту идею обычно приписывают Юму. Население: его теория шире, чем у Мальтуса, — он учитывал ресурсы, технологии и культуру. И метод: он одним из первых рассуждал «при прочих равных» и описал кругооборот денег в экономике, предвосхитив «Экономическую таблицу» Кенэ.
Экспонат — мышь. Потому что самая цитируемая фраза Кантильона звучит так: «Люди размножаются, как мыши в амбаре, если у них неограниченные средства к существованию». И он сделал прогноз: в американских колониях, где земли много, население за три поколения вырастет сильнее, чем в Англии за тридцать.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А теперь — детектив. 14 мая 1734 года. Лондон, модная Олбемарл-стрит, Кантильон живёт по соседству с лордом Болингброком. Вечером его видят уходящим к себе в комнату с книгой и свечой. Ночью дом охватывает пожар. В постели находят обгоревшее тело.
Экспонат — та самая свеча с первого слайда. Только теперь она догорела.
Самое интересное: почти сразу заговорили об убийстве. Главный подозреваемый — повар Жозеф Денье, которого Кантильон уволил за несколько дней до пожара: считается, что он убил хозяина и поджёг дом, чтобы скрыть преступление. Денье скрылся, а троих других слуг судили в лондонском суде Олд-Бейли.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Но на этом история не кончается. Через год в голландской колонии Суринам, в Южной Америке, объявился человек, у которого были бумаги Кантильона.
Кто это был? Версия первая: сбежавший повар, прихвативший документы хозяина. Версия вторая — её выдвинул биограф Кантильона Антуан Мёрфи: тело в постели принадлежало не Кантильону. Он сам инсценировал свою смерть, чтобы избавиться от бесконечных судов, и уплыл в Суринам, где жил под именем шевалье де Лувиньи. Доказать это сегодня невозможно, но есть странные детали: споры об опознании тела и крупная сумма денег, которую забрали накануне пожара.
Экспонат — парусник. Если Мёрфи прав, то первый теоретик предпринимателя провернул свою последнюю — и самую рискованную — сделку.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Что же Кантильон дал теории предпринимательства? Первое: само понятие — он первым ввёл в экономику слово «предприниматель». Второе: определение через неопределённость — предприниматель покупает по известной цене и продаёт по неизвестной. Третье: широкий взгляд — предприниматель это функция риска, а не богатство и не сословие: от фермера до трубочиста. Четвёртое: роль на рынке — предприниматель связывает рынки и ведёт их к равновесию. Пятое: начало традиции — от него идут Сэй, Найт, Мизес, Кирцнер; австрийская школа считает его одним из своих предтеч.
Экспонат — колыбель. Потому что в 1881 году Джевонс назвал Essai «колыбелью политической экономии». А сам Кантильон — один из немногих экономистов, на которых ссылается Адам Смит.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Подведу итог. Кто он: ирландско-французский банкир (1680-е — 1734), сколотивший состояние на пузыре Миссисипи. Главная идея: экономика держится на людях, которые действуют в неопределённости, — предпринимателях; а новые деньги выгодны тем, кто получил их первым. Вклад в предпринимательство: он первым дал предпринимателю имя и определение — покупать по известной цене и продавать по неизвестной.
Последний экспонат — золотой луидор 1720 года, года краха пузыря. Это та самая монета, которая всю презентацию катилась по шкале вверху.
И последний факт: Essai ждала перевода на английский почти двести лет — Генри Хиггс издал её только в 1930-х.
Спасибо за внимание!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Слайд с источниками — вслух не читается.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.xml"/><Relationship Id="rIdM3d1" Type="http://schemas.microsoft.com/office/2017/06/relationships/model3d" Target="../media/model3d1.glb"/><Relationship Id="rIdM3d2" Type="http://schemas.microsoft.com/office/2017/06/relationships/model3d" Target="../media/model3d2.glb"/><Relationship Id="rIdM3d3" Type="http://schemas.microsoft.com/office/2017/06/relationships/model3d" Target="../media/model3d3.glb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image" Target="../media/image-2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2-5.png"/><Relationship Id="rId6" Type="http://schemas.openxmlformats.org/officeDocument/2006/relationships/image" Target="../media/image-1-6.png"/><Relationship Id="rId7" Type="http://schemas.openxmlformats.org/officeDocument/2006/relationships/image" Target="../media/image-1-6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2.xml"/><Relationship Id="rIdM3d4" Type="http://schemas.microsoft.com/office/2017/06/relationships/model3d" Target="../media/model3d4.glb"/><Relationship Id="rIdM3d5" Type="http://schemas.microsoft.com/office/2017/06/relationships/model3d" Target="../media/model3d5.glb"/><Relationship Id="rIdM3d6" Type="http://schemas.microsoft.com/office/2017/06/relationships/model3d" Target="../media/model3d6.glb"/><Relationship Id="rIdM3d7" Type="http://schemas.microsoft.com/office/2017/06/relationships/model3d" Target="../media/model3d7.glb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image" Target="../media/image-3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3-5.png"/><Relationship Id="rId6" Type="http://schemas.openxmlformats.org/officeDocument/2006/relationships/image" Target="../media/image-1-6.png"/><Relationship Id="rId7" Type="http://schemas.openxmlformats.org/officeDocument/2006/relationships/image" Target="../media/image-1-6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3.xml"/><Relationship Id="rIdM3d8" Type="http://schemas.microsoft.com/office/2017/06/relationships/model3d" Target="../media/model3d8.glb"/><Relationship Id="rIdM3d9" Type="http://schemas.microsoft.com/office/2017/06/relationships/model3d" Target="../media/model3d9.glb"/><Relationship Id="rIdM3d10" Type="http://schemas.microsoft.com/office/2017/06/relationships/model3d" Target="../media/model3d10.glb"/><Relationship Id="rIdM3d11" Type="http://schemas.microsoft.com/office/2017/06/relationships/model3d" Target="../media/model3d11.glb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image" Target="../media/image-4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4-5.png"/><Relationship Id="rId6" Type="http://schemas.openxmlformats.org/officeDocument/2006/relationships/image" Target="../media/image-1-6.png"/><Relationship Id="rId7" Type="http://schemas.openxmlformats.org/officeDocument/2006/relationships/image" Target="../media/image-1-6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4.xml"/><Relationship Id="rIdM3d12" Type="http://schemas.microsoft.com/office/2017/06/relationships/model3d" Target="../media/model3d12.glb"/><Relationship Id="rIdM3d13" Type="http://schemas.microsoft.com/office/2017/06/relationships/model3d" Target="../media/model3d13.glb"/><Relationship Id="rIdM3d14" Type="http://schemas.microsoft.com/office/2017/06/relationships/model3d" Target="../media/model3d14.glb"/><Relationship Id="rIdM3d15" Type="http://schemas.microsoft.com/office/2017/06/relationships/model3d" Target="../media/model3d15.glb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image" Target="../media/image-5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5-5.png"/><Relationship Id="rId6" Type="http://schemas.openxmlformats.org/officeDocument/2006/relationships/image" Target="../media/image-1-6.png"/><Relationship Id="rId7" Type="http://schemas.openxmlformats.org/officeDocument/2006/relationships/image" Target="../media/image-1-6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5.xml"/><Relationship Id="rIdM3d16" Type="http://schemas.microsoft.com/office/2017/06/relationships/model3d" Target="../media/model3d16.glb"/><Relationship Id="rIdM3d17" Type="http://schemas.microsoft.com/office/2017/06/relationships/model3d" Target="../media/model3d17.glb"/><Relationship Id="rIdM3d18" Type="http://schemas.microsoft.com/office/2017/06/relationships/model3d" Target="../media/model3d18.glb"/><Relationship Id="rIdM3d19" Type="http://schemas.microsoft.com/office/2017/06/relationships/model3d" Target="../media/model3d19.glb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image" Target="../media/image-6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6-5.png"/><Relationship Id="rId6" Type="http://schemas.openxmlformats.org/officeDocument/2006/relationships/image" Target="../media/image-1-6.png"/><Relationship Id="rId7" Type="http://schemas.openxmlformats.org/officeDocument/2006/relationships/image" Target="../media/image-1-6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6.xml"/><Relationship Id="rIdM3d20" Type="http://schemas.microsoft.com/office/2017/06/relationships/model3d" Target="../media/model3d20.glb"/><Relationship Id="rIdM3d21" Type="http://schemas.microsoft.com/office/2017/06/relationships/model3d" Target="../media/model3d21.glb"/><Relationship Id="rIdM3d22" Type="http://schemas.microsoft.com/office/2017/06/relationships/model3d" Target="../media/model3d22.glb"/><Relationship Id="rIdM3d23" Type="http://schemas.microsoft.com/office/2017/06/relationships/model3d" Target="../media/model3d23.glb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image" Target="../media/image-7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7-5.png"/><Relationship Id="rId6" Type="http://schemas.openxmlformats.org/officeDocument/2006/relationships/image" Target="../media/image-1-6.png"/><Relationship Id="rId7" Type="http://schemas.openxmlformats.org/officeDocument/2006/relationships/image" Target="../media/image-1-6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7.xml"/><Relationship Id="rIdM3d24" Type="http://schemas.microsoft.com/office/2017/06/relationships/model3d" Target="../media/model3d24.glb"/><Relationship Id="rIdM3d25" Type="http://schemas.microsoft.com/office/2017/06/relationships/model3d" Target="../media/model3d25.glb"/><Relationship Id="rIdM3d26" Type="http://schemas.microsoft.com/office/2017/06/relationships/model3d" Target="../media/model3d26.glb"/><Relationship Id="rIdM3d27" Type="http://schemas.microsoft.com/office/2017/06/relationships/model3d" Target="../media/model3d27.glb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image" Target="../media/image-8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8-5.png"/><Relationship Id="rId6" Type="http://schemas.openxmlformats.org/officeDocument/2006/relationships/image" Target="../media/image-1-6.png"/><Relationship Id="rId7" Type="http://schemas.openxmlformats.org/officeDocument/2006/relationships/image" Target="../media/image-1-6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8.xml"/><Relationship Id="rIdM3d28" Type="http://schemas.microsoft.com/office/2017/06/relationships/model3d" Target="../media/model3d28.glb"/><Relationship Id="rIdM3d29" Type="http://schemas.microsoft.com/office/2017/06/relationships/model3d" Target="../media/model3d29.glb"/><Relationship Id="rIdM3d30" Type="http://schemas.microsoft.com/office/2017/06/relationships/model3d" Target="../media/model3d30.glb"/><Relationship Id="rIdM3d31" Type="http://schemas.microsoft.com/office/2017/06/relationships/model3d" Target="../media/model3d31.glb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image" Target="../media/image-9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9-5.png"/><Relationship Id="rId6" Type="http://schemas.openxmlformats.org/officeDocument/2006/relationships/image" Target="../media/image-1-6.png"/><Relationship Id="rId7" Type="http://schemas.openxmlformats.org/officeDocument/2006/relationships/image" Target="../media/image-1-6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9.xml"/><Relationship Id="rIdM3d32" Type="http://schemas.microsoft.com/office/2017/06/relationships/model3d" Target="../media/model3d32.glb"/><Relationship Id="rIdM3d33" Type="http://schemas.microsoft.com/office/2017/06/relationships/model3d" Target="../media/model3d33.glb"/><Relationship Id="rIdM3d34" Type="http://schemas.microsoft.com/office/2017/06/relationships/model3d" Target="../media/model3d34.glb"/><Relationship Id="rIdM3d35" Type="http://schemas.microsoft.com/office/2017/06/relationships/model3d" Target="../media/model3d35.glb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image" Target="../media/image-10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0-5.png"/><Relationship Id="rId6" Type="http://schemas.openxmlformats.org/officeDocument/2006/relationships/image" Target="../media/image-1-6.png"/><Relationship Id="rId7" Type="http://schemas.openxmlformats.org/officeDocument/2006/relationships/image" Target="../media/image-1-6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0.xml"/><Relationship Id="rIdM3d36" Type="http://schemas.microsoft.com/office/2017/06/relationships/model3d" Target="../media/model3d36.glb"/><Relationship Id="rIdM3d37" Type="http://schemas.microsoft.com/office/2017/06/relationships/model3d" Target="../media/model3d37.glb"/><Relationship Id="rIdM3d38" Type="http://schemas.microsoft.com/office/2017/06/relationships/model3d" Target="../media/model3d38.glb"/><Relationship Id="rIdM3d39" Type="http://schemas.microsoft.com/office/2017/06/relationships/model3d" Target="../media/model3d39.glb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image" Target="../media/image-1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1-5.png"/><Relationship Id="rId6" Type="http://schemas.openxmlformats.org/officeDocument/2006/relationships/image" Target="../media/image-1-6.png"/><Relationship Id="rId7" Type="http://schemas.openxmlformats.org/officeDocument/2006/relationships/image" Target="../media/image-1-6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1.xml"/><Relationship Id="rIdM3d40" Type="http://schemas.microsoft.com/office/2017/06/relationships/model3d" Target="../media/model3d40.glb"/><Relationship Id="rIdM3d41" Type="http://schemas.microsoft.com/office/2017/06/relationships/model3d" Target="../media/model3d41.glb"/><Relationship Id="rIdM3d42" Type="http://schemas.microsoft.com/office/2017/06/relationships/model3d" Target="../media/model3d42.glb"/><Relationship Id="rIdM3d43" Type="http://schemas.microsoft.com/office/2017/06/relationships/model3d" Target="../media/model3d43.glb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image" Target="../media/image-12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2-5.png"/><Relationship Id="rId6" Type="http://schemas.openxmlformats.org/officeDocument/2006/relationships/image" Target="../media/image-1-6.png"/><Relationship Id="rId7" Type="http://schemas.openxmlformats.org/officeDocument/2006/relationships/image" Target="../media/image-1-6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2.xml"/><Relationship Id="rIdM3d44" Type="http://schemas.microsoft.com/office/2017/06/relationships/model3d" Target="../media/model3d44.glb"/><Relationship Id="rIdM3d45" Type="http://schemas.microsoft.com/office/2017/06/relationships/model3d" Target="../media/model3d45.glb"/><Relationship Id="rIdM3d46" Type="http://schemas.microsoft.com/office/2017/06/relationships/model3d" Target="../media/model3d46.glb"/><Relationship Id="rIdM3d47" Type="http://schemas.microsoft.com/office/2017/06/relationships/model3d" Target="../media/model3d47.glb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image" Target="../media/image-13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3-5.png"/><Relationship Id="rId6" Type="http://schemas.openxmlformats.org/officeDocument/2006/relationships/image" Target="../media/image-1-6.png"/><Relationship Id="rId7" Type="http://schemas.openxmlformats.org/officeDocument/2006/relationships/image" Target="../media/image-1-6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3.xml"/><Relationship Id="rIdM3d48" Type="http://schemas.microsoft.com/office/2017/06/relationships/model3d" Target="../media/model3d48.glb"/><Relationship Id="rIdM3d49" Type="http://schemas.microsoft.com/office/2017/06/relationships/model3d" Target="../media/model3d49.glb"/><Relationship Id="rIdM3d50" Type="http://schemas.microsoft.com/office/2017/06/relationships/model3d" Target="../media/model3d50.glb"/><Relationship Id="rIdM3d51" Type="http://schemas.microsoft.com/office/2017/06/relationships/model3d" Target="../media/model3d51.glb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image" Target="../media/image-14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4-5.png"/><Relationship Id="rId6" Type="http://schemas.openxmlformats.org/officeDocument/2006/relationships/image" Target="../media/image-1-6.png"/><Relationship Id="rId7" Type="http://schemas.openxmlformats.org/officeDocument/2006/relationships/image" Target="../media/image-1-6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4.xml"/><Relationship Id="rIdM3d52" Type="http://schemas.microsoft.com/office/2017/06/relationships/model3d" Target="../media/model3d52.glb"/><Relationship Id="rIdM3d53" Type="http://schemas.microsoft.com/office/2017/06/relationships/model3d" Target="../media/model3d53.glb"/><Relationship Id="rIdM3d54" Type="http://schemas.microsoft.com/office/2017/06/relationships/model3d" Target="../media/model3d54.glb"/><Relationship Id="rIdM3d55" Type="http://schemas.microsoft.com/office/2017/06/relationships/model3d" Target="../media/model3d55.glb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image" Target="../media/image-15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5-5.png"/><Relationship Id="rId6" Type="http://schemas.openxmlformats.org/officeDocument/2006/relationships/image" Target="../media/image-1-6.png"/><Relationship Id="rId7" Type="http://schemas.openxmlformats.org/officeDocument/2006/relationships/image" Target="../media/image-1-6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5.xml"/><Relationship Id="rIdM3d56" Type="http://schemas.microsoft.com/office/2017/06/relationships/model3d" Target="../media/model3d56.glb"/><Relationship Id="rIdM3d57" Type="http://schemas.microsoft.com/office/2017/06/relationships/model3d" Target="../media/model3d57.glb"/><Relationship Id="rIdM3d58" Type="http://schemas.microsoft.com/office/2017/06/relationships/model3d" Target="../media/model3d58.glb"/><Relationship Id="rIdM3d59" Type="http://schemas.microsoft.com/office/2017/06/relationships/model3d" Target="../media/model3d59.glb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image" Target="../media/image-16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6-5.png"/><Relationship Id="rId6" Type="http://schemas.openxmlformats.org/officeDocument/2006/relationships/image" Target="../media/image-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6.xml"/><Relationship Id="rIdM3d60" Type="http://schemas.microsoft.com/office/2017/06/relationships/model3d" Target="../media/model3d60.glb"/><Relationship Id="rIdM3d61" Type="http://schemas.microsoft.com/office/2017/06/relationships/model3d" Target="../media/model3d61.glb"/><Relationship Id="rIdM3d62" Type="http://schemas.microsoft.com/office/2017/06/relationships/model3d" Target="../media/model3d62.glb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image" Target="../media/image-17-2.png"/><Relationship Id="rId3" Type="http://schemas.openxmlformats.org/officeDocument/2006/relationships/image" Target="../media/image-1-6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7.xml"/><Relationship Id="rIdM3d63" Type="http://schemas.microsoft.com/office/2017/06/relationships/model3d" Target="../media/model3d63.glb"/><Relationship Id="rIdM3d64" Type="http://schemas.microsoft.com/office/2017/06/relationships/model3d" Target="../media/model3d64.glb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xmlns:am3d="http://schemas.microsoft.com/office/drawing/2017/model3d" mc:Ignorable="am3d">
  <p:cSld name="Slide 1">
    <p:bg>
      <p:bgPr>
        <a:solidFill>
          <a:srgbClr val="08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ackground" descr="/home/user/omgGame/presentations/cantillon/assets/stage-bg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!!track"/>
          <p:cNvSpPr/>
          <p:nvPr/>
        </p:nvSpPr>
        <p:spPr>
          <a:xfrm>
            <a:off x="685800" y="402336"/>
            <a:ext cx="10820095" cy="91"/>
          </a:xfrm>
          <a:prstGeom prst="line">
            <a:avLst/>
          </a:prstGeom>
          <a:noFill/>
          <a:ln w="9525">
            <a:solidFill>
              <a:srgbClr val="FFFFFF">
                <a:alpha val="16000"/>
              </a:srgbClr>
            </a:solidFill>
            <a:prstDash val="solid"/>
          </a:ln>
        </p:spPr>
      </p: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4" name="!!coin">
                <a:extLst>
                  <a:ext uri="{FF2B5EF4-FFF2-40B4-BE49-F238E27FC236}">
                    <a16:creationId xmlns:a16="http://schemas.microsoft.com/office/drawing/2014/main" id="{9A1E02E9-F241-D40B-F581-53B1510117D4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429768" y="117043"/>
              <a:ext cx="512064" cy="512064"/>
            </p:xfrm>
            <a:graphic>
              <a:graphicData uri="http://schemas.microsoft.com/office/drawing/2017/model3d">
                <am3d:model3d r:embed="rIdM3d1">
                  <am3d:spPr>
                    <a:xfrm>
                      <a:off x="0" y="0"/>
                      <a:ext cx="512064" cy="512064"/>
                    </a:xfrm>
                    <a:prstGeom prst="rect">
                      <a:avLst/>
                    </a:prstGeom>
                  </am3d:spPr>
                  <am3d:camera>
                    <am3d:pos x="0" y="0" z="66612804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500000" d="1000000"/>
                    <am3d:preTrans dx="0" dy="0" dz="-269999"/>
                    <am3d:scale>
                      <am3d:sx n="1000000" d="1000000"/>
                      <am3d:sy n="1000000" d="1000000"/>
                      <am3d:sz n="1000000" d="1000000"/>
                    </am3d:scale>
                    <am3d:rot ax="0" ay="-960000" az="0"/>
                    <am3d:postTrans dx="0" dy="0" dz="0"/>
                  </am3d:trans>
                  <am3d:raster rName="Office3DRenderer" rVer="16.0.8326">
                    <am3d:blip r:embed="rId2"/>
                  </am3d:raster>
                  <am3d:objViewport viewportSz="512064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4" name="!!coin">
                <a:extLst>
                  <a:ext uri="{FF2B5EF4-FFF2-40B4-BE49-F238E27FC236}">
                    <a16:creationId xmlns:a16="http://schemas.microsoft.com/office/drawing/2014/main" id="{9A1E02E9-F241-D40B-F581-53B1510117D4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429768" y="117043"/>
                <a:ext cx="512064" cy="512064"/>
              </a:xfrm>
              <a:prstGeom prst="rect">
                <a:avLst/>
              </a:prstGeom>
            </p:spPr>
          </p:pic>
        </mc:Fallback>
      </mc:AlternateContent>
      <p:sp>
        <p:nvSpPr>
          <p:cNvPr id="5" name="!!kickerbar"/>
          <p:cNvSpPr/>
          <p:nvPr/>
        </p:nvSpPr>
        <p:spPr>
          <a:xfrm>
            <a:off x="685800" y="713232"/>
            <a:ext cx="310896" cy="32004"/>
          </a:xfrm>
          <a:prstGeom prst="rect">
            <a:avLst/>
          </a:prstGeom>
          <a:solidFill>
            <a:srgbClr val="E2B45E"/>
          </a:solidFill>
          <a:ln/>
        </p:spPr>
      </p:sp>
      <p:sp>
        <p:nvSpPr>
          <p:cNvPr id="6" name="!!kicker"/>
          <p:cNvSpPr/>
          <p:nvPr/>
        </p:nvSpPr>
        <p:spPr>
          <a:xfrm>
            <a:off x="1124712" y="5943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spc="300" kern="0" dirty="0">
                <a:solidFill>
                  <a:srgbClr val="E2B4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ЭКОНОМИКА  ·  РИСК  ·  ПРЕДПРИНИМАТЕЛЬСТВО</a:t>
            </a:r>
            <a:endParaRPr lang="en-US" sz="1100" dirty="0"/>
          </a:p>
        </p:txBody>
      </p:sp>
      <p:sp>
        <p:nvSpPr>
          <p:cNvPr id="7" name="!!footline"/>
          <p:cNvSpPr/>
          <p:nvPr/>
        </p:nvSpPr>
        <p:spPr>
          <a:xfrm>
            <a:off x="685800" y="6400800"/>
            <a:ext cx="10820095" cy="91"/>
          </a:xfrm>
          <a:prstGeom prst="line">
            <a:avLst/>
          </a:prstGeom>
          <a:noFill/>
          <a:ln w="9525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8" name="!!footer"/>
          <p:cNvSpPr/>
          <p:nvPr/>
        </p:nvSpPr>
        <p:spPr>
          <a:xfrm>
            <a:off x="685800" y="649224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spc="200" kern="0" dirty="0">
                <a:solidFill>
                  <a:srgbClr val="BBAC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РИЧАРД КАНТИЛЬОН  ·  1680-е – 1734</a:t>
            </a:r>
            <a:endParaRPr lang="en-US" sz="900" dirty="0"/>
          </a:p>
        </p:txBody>
      </p:sp>
      <p:sp>
        <p:nvSpPr>
          <p:cNvPr id="9" name="!!pagenum"/>
          <p:cNvSpPr/>
          <p:nvPr/>
        </p:nvSpPr>
        <p:spPr>
          <a:xfrm>
            <a:off x="10134295" y="649224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900" spc="200" kern="0" dirty="0">
                <a:solidFill>
                  <a:srgbClr val="BBAC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/ 17</a:t>
            </a:r>
            <a:endParaRPr lang="en-US" sz="900" dirty="0"/>
          </a:p>
        </p:txBody>
      </p:sp>
      <p:pic>
        <p:nvPicPr>
          <p:cNvPr id="10" name="!!glow" descr="/home/user/omgGame/presentations/cantillon/assets/glow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4920" y="-868680"/>
            <a:ext cx="8778240" cy="8778240"/>
          </a:xfrm>
          <a:prstGeom prst="rect">
            <a:avLst/>
          </a:prstGeom>
        </p:spPr>
      </p:pic>
      <p:sp>
        <p:nvSpPr>
          <p:cNvPr id="11" name="!!ring1"/>
          <p:cNvSpPr/>
          <p:nvPr/>
        </p:nvSpPr>
        <p:spPr>
          <a:xfrm>
            <a:off x="6885432" y="941832"/>
            <a:ext cx="5157216" cy="5157216"/>
          </a:xfrm>
          <a:prstGeom prst="ellipse">
            <a:avLst/>
          </a:prstGeom>
          <a:ln w="9525">
            <a:solidFill>
              <a:srgbClr val="E2B45E">
                <a:alpha val="18000"/>
              </a:srgbClr>
            </a:solidFill>
            <a:prstDash val="solid"/>
          </a:ln>
        </p:spPr>
      </p:sp>
      <p:sp>
        <p:nvSpPr>
          <p:cNvPr id="12" name="!!ring2"/>
          <p:cNvSpPr/>
          <p:nvPr/>
        </p:nvSpPr>
        <p:spPr>
          <a:xfrm>
            <a:off x="6172200" y="228600"/>
            <a:ext cx="6583680" cy="6583680"/>
          </a:xfrm>
          <a:prstGeom prst="ellipse">
            <a:avLst/>
          </a:prstGeom>
          <a:ln w="9525">
            <a:solidFill>
              <a:srgbClr val="E2B45E">
                <a:alpha val="12000"/>
              </a:srgbClr>
            </a:solidFill>
            <a:prstDash val="dash"/>
          </a:ln>
        </p:spPr>
      </p:sp>
      <p:pic>
        <p:nvPicPr>
          <p:cNvPr id="13" name="!!shadow" descr="/home/user/omgGame/presentations/cantillon/assets/shadow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18120" y="5084064"/>
            <a:ext cx="3291840" cy="822960"/>
          </a:xfrm>
          <a:prstGeom prst="rect">
            <a:avLst/>
          </a:prstGeom>
        </p:spPr>
      </p:pic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14" name="!!m-candle">
                <a:extLst>
                  <a:ext uri="{FF2B5EF4-FFF2-40B4-BE49-F238E27FC236}">
                    <a16:creationId xmlns:a16="http://schemas.microsoft.com/office/drawing/2014/main" id="{42C8FE96-95AD-2270-B120-29ED4D3EDCD7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6720840" y="777240"/>
              <a:ext cx="5486400" cy="5486400"/>
            </p:xfrm>
            <a:graphic>
              <a:graphicData uri="http://schemas.microsoft.com/office/drawing/2017/model3d">
                <am3d:model3d r:embed="rIdM3d2">
                  <am3d:spPr>
                    <a:xfrm>
                      <a:off x="0" y="0"/>
                      <a:ext cx="5486400" cy="5486400"/>
                    </a:xfrm>
                    <a:prstGeom prst="rect">
                      <a:avLst/>
                    </a:prstGeom>
                  </am3d:spPr>
                  <am3d:camera>
                    <am3d:pos x="0" y="0" z="61174340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466200" d="1000000"/>
                    <am3d:preTrans dx="-1636364" dy="419582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360000" ay="-1080000" az="0"/>
                    <am3d:postTrans dx="0" dy="0" dz="0"/>
                  </am3d:trans>
                  <am3d:raster rName="Office3DRenderer" rVer="16.0.8326">
                    <am3d:blip r:embed="rId5"/>
                  </am3d:raster>
                  <am3d:objViewport viewportSz="5486400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14" name="!!m-candle">
                <a:extLst>
                  <a:ext uri="{FF2B5EF4-FFF2-40B4-BE49-F238E27FC236}">
                    <a16:creationId xmlns:a16="http://schemas.microsoft.com/office/drawing/2014/main" id="{42C8FE96-95AD-2270-B120-29ED4D3EDCD7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720840" y="777240"/>
                <a:ext cx="5486400" cy="5486400"/>
              </a:xfrm>
              <a:prstGeom prst="rect">
                <a:avLst/>
              </a:prstGeom>
            </p:spPr>
          </p:pic>
        </mc:Fallback>
      </mc:AlternateContent>
      <p:sp>
        <p:nvSpPr>
          <p:cNvPr id="15" name="fx1_9_0"/>
          <p:cNvSpPr/>
          <p:nvPr/>
        </p:nvSpPr>
        <p:spPr>
          <a:xfrm>
            <a:off x="8549640" y="571500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0000"/>
              </a:lnSpc>
              <a:buNone/>
            </a:pPr>
            <a:r>
              <a:rPr lang="en-US" sz="900" b="1" spc="250" kern="0" dirty="0">
                <a:solidFill>
                  <a:srgbClr val="E2B4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ЭКСПОНАТ 01</a:t>
            </a:r>
            <a:endParaRPr lang="en-US" sz="900" dirty="0"/>
          </a:p>
          <a:p>
            <a:pPr algn="r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BBAC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Свеча — запомните её, она ещё вернётся</a:t>
            </a:r>
            <a:endParaRPr lang="en-US" sz="900" dirty="0"/>
          </a:p>
        </p:txBody>
      </p:sp>
      <p:sp>
        <p:nvSpPr>
          <p:cNvPr id="16" name="!!title"/>
          <p:cNvSpPr/>
          <p:nvPr/>
        </p:nvSpPr>
        <p:spPr>
          <a:xfrm>
            <a:off x="685800" y="1143000"/>
            <a:ext cx="65836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5200" dirty="0">
                <a:solidFill>
                  <a:srgbClr val="F4DFB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Ричард</a:t>
            </a:r>
            <a:endParaRPr lang="en-US" sz="5200" dirty="0"/>
          </a:p>
          <a:p>
            <a:pPr algn="l" indent="0" marL="0">
              <a:lnSpc>
                <a:spcPct val="92000"/>
              </a:lnSpc>
              <a:buNone/>
            </a:pPr>
            <a:r>
              <a:rPr lang="en-US" sz="7000" dirty="0">
                <a:solidFill>
                  <a:srgbClr val="F6EFE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Кантильон</a:t>
            </a:r>
            <a:endParaRPr lang="en-US" sz="5200" dirty="0"/>
          </a:p>
        </p:txBody>
      </p:sp>
      <p:sp>
        <p:nvSpPr>
          <p:cNvPr id="17" name="fx1_1_1"/>
          <p:cNvSpPr/>
          <p:nvPr/>
        </p:nvSpPr>
        <p:spPr>
          <a:xfrm>
            <a:off x="685800" y="3584448"/>
            <a:ext cx="1005840" cy="36576"/>
          </a:xfrm>
          <a:prstGeom prst="rect">
            <a:avLst/>
          </a:prstGeom>
          <a:solidFill>
            <a:srgbClr val="E2B45E"/>
          </a:solidFill>
          <a:ln/>
        </p:spPr>
      </p:sp>
      <p:sp>
        <p:nvSpPr>
          <p:cNvPr id="18" name="fx1_1_2"/>
          <p:cNvSpPr/>
          <p:nvPr/>
        </p:nvSpPr>
        <p:spPr>
          <a:xfrm>
            <a:off x="685800" y="3749040"/>
            <a:ext cx="5669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800" i="1" dirty="0">
                <a:solidFill>
                  <a:srgbClr val="F6EFE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Банкир, миллионер и загадка — человек, который первым назвал предпринимателя</a:t>
            </a:r>
            <a:endParaRPr lang="en-US" sz="1800" dirty="0"/>
          </a:p>
        </p:txBody>
      </p:sp>
      <p:sp>
        <p:nvSpPr>
          <p:cNvPr id="19" name="fx1_2_3"/>
          <p:cNvSpPr/>
          <p:nvPr/>
        </p:nvSpPr>
        <p:spPr>
          <a:xfrm>
            <a:off x="685800" y="4773168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b="1" spc="250" kern="0" dirty="0">
                <a:solidFill>
                  <a:srgbClr val="BBAC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1680-е — 1734   ·   ИРЛАНДИЯ → ФРАНЦИЯ → ЛОНДОН</a:t>
            </a:r>
            <a:endParaRPr lang="en-US" sz="1200" dirty="0"/>
          </a:p>
        </p:txBody>
      </p:sp>
      <p:sp>
        <p:nvSpPr>
          <p:cNvPr id="20" name="fx1_8_4"/>
          <p:cNvSpPr/>
          <p:nvPr/>
        </p:nvSpPr>
        <p:spPr>
          <a:xfrm>
            <a:off x="685800" y="5349240"/>
            <a:ext cx="5486400" cy="841248"/>
          </a:xfrm>
          <a:prstGeom prst="roundRect">
            <a:avLst>
              <a:gd name="adj" fmla="val 8696"/>
            </a:avLst>
          </a:prstGeom>
          <a:solidFill>
            <a:srgbClr val="26180A">
              <a:alpha val="94000"/>
            </a:srgbClr>
          </a:solidFill>
          <a:ln w="12700">
            <a:solidFill>
              <a:srgbClr val="E2B45E">
                <a:alpha val="55000"/>
              </a:srgbClr>
            </a:solidFill>
            <a:prstDash val="solid"/>
          </a:ln>
          <a:effectLst>
            <a:outerShdw sx="100000" sy="100000" kx="0" ky="0" algn="bl" rotWithShape="0" blurRad="228600" dist="76200" dir="5400000">
              <a:srgbClr val="000000">
                <a:alpha val="45000"/>
              </a:srgbClr>
            </a:outerShdw>
          </a:effectLst>
        </p:spPr>
      </p:sp>
      <p:sp>
        <p:nvSpPr>
          <p:cNvPr id="21" name="fx1_8_5"/>
          <p:cNvSpPr/>
          <p:nvPr/>
        </p:nvSpPr>
        <p:spPr>
          <a:xfrm>
            <a:off x="685800" y="5495544"/>
            <a:ext cx="50292" cy="548640"/>
          </a:xfrm>
          <a:prstGeom prst="rect">
            <a:avLst/>
          </a:prstGeom>
          <a:solidFill>
            <a:srgbClr val="E2B45E"/>
          </a:solidFill>
          <a:ln/>
        </p:spPr>
      </p:sp>
      <p:sp>
        <p:nvSpPr>
          <p:cNvPr id="22" name="fx1_8_6"/>
          <p:cNvSpPr/>
          <p:nvPr/>
        </p:nvSpPr>
        <p:spPr>
          <a:xfrm>
            <a:off x="941832" y="5212080"/>
            <a:ext cx="1993392" cy="274320"/>
          </a:xfrm>
          <a:prstGeom prst="roundRect">
            <a:avLst>
              <a:gd name="adj" fmla="val 50000"/>
            </a:avLst>
          </a:prstGeom>
          <a:solidFill>
            <a:srgbClr val="E2B45E"/>
          </a:solidFill>
          <a:ln/>
        </p:spPr>
      </p:sp>
      <p:sp>
        <p:nvSpPr>
          <p:cNvPr id="23" name="fx1_8_7"/>
          <p:cNvSpPr/>
          <p:nvPr/>
        </p:nvSpPr>
        <p:spPr>
          <a:xfrm>
            <a:off x="941832" y="5212080"/>
            <a:ext cx="199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50" b="1" spc="150" kern="0" dirty="0">
                <a:solidFill>
                  <a:srgbClr val="0E08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  САМОЕ ИНТЕРЕСНОЕ</a:t>
            </a:r>
            <a:endParaRPr lang="en-US" sz="850" dirty="0"/>
          </a:p>
        </p:txBody>
      </p:sp>
      <p:sp>
        <p:nvSpPr>
          <p:cNvPr id="24" name="fx1_8_8"/>
          <p:cNvSpPr/>
          <p:nvPr/>
        </p:nvSpPr>
        <p:spPr>
          <a:xfrm>
            <a:off x="960120" y="5532120"/>
            <a:ext cx="5029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i="1" dirty="0">
                <a:solidFill>
                  <a:srgbClr val="F6EFE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Слово «предприниматель» в экономику ввёл он — около 1730 года, </a:t>
            </a:r>
            <a:pPr algn="l" indent="0" marL="0">
              <a:lnSpc>
                <a:spcPct val="105000"/>
              </a:lnSpc>
              <a:buNone/>
            </a:pPr>
            <a:r>
              <a:rPr lang="en-US" sz="1300" b="1" i="1" dirty="0">
                <a:solidFill>
                  <a:srgbClr val="F6EFE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за 37 лет до рождения Сэя</a:t>
            </a:r>
            <a:pPr algn="l" indent="0" marL="0">
              <a:lnSpc>
                <a:spcPct val="105000"/>
              </a:lnSpc>
              <a:buNone/>
            </a:pPr>
            <a:r>
              <a:rPr lang="en-US" sz="1300" i="1" dirty="0">
                <a:solidFill>
                  <a:srgbClr val="F6EFE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, которому это часто приписывают.</a:t>
            </a:r>
            <a:endParaRPr lang="en-US" sz="1300" dirty="0"/>
          </a:p>
        </p:txBody>
      </p: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25" name="!!m-frame">
                <a:extLst>
                  <a:ext uri="{FF2B5EF4-FFF2-40B4-BE49-F238E27FC236}">
                    <a16:creationId xmlns:a16="http://schemas.microsoft.com/office/drawing/2014/main" id="{A87D68D0-8F6A-DEF0-C26E-0E2FFBD9CF31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12740335" y="1325880"/>
              <a:ext cx="4206240" cy="4206240"/>
            </p:xfrm>
            <a:graphic>
              <a:graphicData uri="http://schemas.microsoft.com/office/drawing/2017/model3d">
                <am3d:model3d r:embed="rIdM3d3">
                  <am3d:spPr>
                    <a:xfrm>
                      <a:off x="0" y="0"/>
                      <a:ext cx="4206240" cy="4206240"/>
                    </a:xfrm>
                    <a:prstGeom prst="rect">
                      <a:avLst/>
                    </a:prstGeom>
                  </am3d:spPr>
                  <am3d:camera>
                    <am3d:pos x="0" y="0" z="59968518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499251" d="1000000"/>
                    <am3d:preTrans dx="0" dy="0" dz="-188716"/>
                    <am3d:scale>
                      <am3d:sx n="1000000" d="1000000"/>
                      <am3d:sy n="1000000" d="1000000"/>
                      <am3d:sz n="1000000" d="1000000"/>
                    </am3d:scale>
                    <am3d:rot ax="240000" ay="3360000" az="0"/>
                    <am3d:postTrans dx="0" dy="0" dz="0"/>
                  </am3d:trans>
                  <am3d:raster rName="Office3DRenderer" rVer="16.0.8326">
                    <am3d:blip r:embed="rId6"/>
                  </am3d:raster>
                  <am3d:objViewport viewportSz="4206240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25" name="!!m-frame">
                <a:extLst>
                  <a:ext uri="{FF2B5EF4-FFF2-40B4-BE49-F238E27FC236}">
                    <a16:creationId xmlns:a16="http://schemas.microsoft.com/office/drawing/2014/main" id="{A87D68D0-8F6A-DEF0-C26E-0E2FFBD9CF31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2740335" y="1325880"/>
                <a:ext cx="4206240" cy="42062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42" presetClass="entr" presetSubtype="0" fill="hold" grpId="0" nodeType="after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7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700" decel="100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00" decel="100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42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7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700" decel="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700" decel="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grpId="0" nodeType="withEffect">
                                  <p:stCondLst>
                                    <p:cond delay="41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7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700" decel="10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700" decel="10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67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7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700" decel="10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700" decel="10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grpId="0" nodeType="withEffect">
                                  <p:stCondLst>
                                    <p:cond delay="67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7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700" decel="100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700" decel="100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67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7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700" decel="100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700" decel="100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grpId="0" nodeType="withEffect">
                                  <p:stCondLst>
                                    <p:cond delay="67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7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700" decel="100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700" decel="100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42" presetClass="entr" presetSubtype="0" fill="hold" grpId="0" nodeType="withEffect">
                                  <p:stCondLst>
                                    <p:cond delay="67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7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700" decel="100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700" decel="100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42" presetClass="entr" presetSubtype="0" fill="hold" grpId="0" nodeType="withEffect">
                                  <p:stCondLst>
                                    <p:cond delay="93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7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700" decel="100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700" decel="100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15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xmlns:am3d="http://schemas.microsoft.com/office/drawing/2017/model3d" mc:Ignorable="am3d">
  <p:cSld name="Slide 2">
    <p:bg>
      <p:bgPr>
        <a:solidFill>
          <a:srgbClr val="08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ackground" descr="/home/user/omgGame/presentations/cantillon/assets/stage-bg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!!track"/>
          <p:cNvSpPr/>
          <p:nvPr/>
        </p:nvSpPr>
        <p:spPr>
          <a:xfrm>
            <a:off x="685800" y="402336"/>
            <a:ext cx="10820095" cy="91"/>
          </a:xfrm>
          <a:prstGeom prst="line">
            <a:avLst/>
          </a:prstGeom>
          <a:noFill/>
          <a:ln w="9525">
            <a:solidFill>
              <a:srgbClr val="FFFFFF">
                <a:alpha val="16000"/>
              </a:srgbClr>
            </a:solidFill>
            <a:prstDash val="solid"/>
          </a:ln>
        </p:spPr>
      </p:sp>
      <p:sp>
        <p:nvSpPr>
          <p:cNvPr id="4" name="!!progress"/>
          <p:cNvSpPr/>
          <p:nvPr/>
        </p:nvSpPr>
        <p:spPr>
          <a:xfrm>
            <a:off x="685800" y="391363"/>
            <a:ext cx="676256" cy="21946"/>
          </a:xfrm>
          <a:prstGeom prst="rect">
            <a:avLst/>
          </a:prstGeom>
          <a:solidFill>
            <a:srgbClr val="E2B45E"/>
          </a:solidFill>
          <a:ln/>
        </p:spPr>
      </p: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5" name="!!coin">
                <a:extLst>
                  <a:ext uri="{FF2B5EF4-FFF2-40B4-BE49-F238E27FC236}">
                    <a16:creationId xmlns:a16="http://schemas.microsoft.com/office/drawing/2014/main" id="{5BA6A588-A434-5FF5-30AE-B471887C7199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1106024" y="117043"/>
              <a:ext cx="512064" cy="512064"/>
            </p:xfrm>
            <a:graphic>
              <a:graphicData uri="http://schemas.microsoft.com/office/drawing/2017/model3d">
                <am3d:model3d r:embed="rIdM3d4">
                  <am3d:spPr>
                    <a:xfrm>
                      <a:off x="0" y="0"/>
                      <a:ext cx="512064" cy="512064"/>
                    </a:xfrm>
                    <a:prstGeom prst="rect">
                      <a:avLst/>
                    </a:prstGeom>
                  </am3d:spPr>
                  <am3d:camera>
                    <am3d:pos x="0" y="0" z="66612804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500000" d="1000000"/>
                    <am3d:preTrans dx="0" dy="0" dz="-269999"/>
                    <am3d:scale>
                      <am3d:sx n="1000000" d="1000000"/>
                      <am3d:sy n="1000000" d="1000000"/>
                      <am3d:sz n="1000000" d="1000000"/>
                    </am3d:scale>
                    <am3d:rot ax="0" ay="-960000" az="-9000000"/>
                    <am3d:postTrans dx="0" dy="0" dz="0"/>
                  </am3d:trans>
                  <am3d:raster rName="Office3DRenderer" rVer="16.0.8326">
                    <am3d:blip r:embed="rId2"/>
                  </am3d:raster>
                  <am3d:objViewport viewportSz="512064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5" name="!!coin">
                <a:extLst>
                  <a:ext uri="{FF2B5EF4-FFF2-40B4-BE49-F238E27FC236}">
                    <a16:creationId xmlns:a16="http://schemas.microsoft.com/office/drawing/2014/main" id="{5BA6A588-A434-5FF5-30AE-B471887C7199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1106024" y="117043"/>
                <a:ext cx="512064" cy="512064"/>
              </a:xfrm>
              <a:prstGeom prst="rect">
                <a:avLst/>
              </a:prstGeom>
            </p:spPr>
          </p:pic>
        </mc:Fallback>
      </mc:AlternateContent>
      <p:sp>
        <p:nvSpPr>
          <p:cNvPr id="6" name="!!kickerbar"/>
          <p:cNvSpPr/>
          <p:nvPr/>
        </p:nvSpPr>
        <p:spPr>
          <a:xfrm>
            <a:off x="685800" y="713232"/>
            <a:ext cx="310896" cy="32004"/>
          </a:xfrm>
          <a:prstGeom prst="rect">
            <a:avLst/>
          </a:prstGeom>
          <a:solidFill>
            <a:srgbClr val="E2B45E"/>
          </a:solidFill>
          <a:ln/>
        </p:spPr>
      </p:sp>
      <p:sp>
        <p:nvSpPr>
          <p:cNvPr id="7" name="!!kicker"/>
          <p:cNvSpPr/>
          <p:nvPr/>
        </p:nvSpPr>
        <p:spPr>
          <a:xfrm>
            <a:off x="1124712" y="5943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spc="300" kern="0" dirty="0">
                <a:solidFill>
                  <a:srgbClr val="E2B4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— КТО ОН И ОТКУДА</a:t>
            </a:r>
            <a:endParaRPr lang="en-US" sz="1100" dirty="0"/>
          </a:p>
        </p:txBody>
      </p:sp>
      <p:sp>
        <p:nvSpPr>
          <p:cNvPr id="8" name="!!footline"/>
          <p:cNvSpPr/>
          <p:nvPr/>
        </p:nvSpPr>
        <p:spPr>
          <a:xfrm>
            <a:off x="685800" y="6400800"/>
            <a:ext cx="10820095" cy="91"/>
          </a:xfrm>
          <a:prstGeom prst="line">
            <a:avLst/>
          </a:prstGeom>
          <a:noFill/>
          <a:ln w="9525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9" name="!!footer"/>
          <p:cNvSpPr/>
          <p:nvPr/>
        </p:nvSpPr>
        <p:spPr>
          <a:xfrm>
            <a:off x="685800" y="649224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spc="200" kern="0" dirty="0">
                <a:solidFill>
                  <a:srgbClr val="BBAC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РИЧАРД КАНТИЛЬОН  ·  1680-е – 1734</a:t>
            </a:r>
            <a:endParaRPr lang="en-US" sz="900" dirty="0"/>
          </a:p>
        </p:txBody>
      </p:sp>
      <p:sp>
        <p:nvSpPr>
          <p:cNvPr id="10" name="!!pagenum"/>
          <p:cNvSpPr/>
          <p:nvPr/>
        </p:nvSpPr>
        <p:spPr>
          <a:xfrm>
            <a:off x="10134295" y="649224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900" spc="200" kern="0" dirty="0">
                <a:solidFill>
                  <a:srgbClr val="BBAC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/ 17</a:t>
            </a:r>
            <a:endParaRPr lang="en-US" sz="900" dirty="0"/>
          </a:p>
        </p:txBody>
      </p:sp>
      <p:pic>
        <p:nvPicPr>
          <p:cNvPr id="11" name="!!glow" descr="/home/user/omgGame/presentations/cantillon/assets/glow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88836" y="13716"/>
            <a:ext cx="6099048" cy="6099048"/>
          </a:xfrm>
          <a:prstGeom prst="rect">
            <a:avLst/>
          </a:prstGeom>
        </p:spPr>
      </p:pic>
      <p:sp>
        <p:nvSpPr>
          <p:cNvPr id="12" name="!!ring1"/>
          <p:cNvSpPr/>
          <p:nvPr/>
        </p:nvSpPr>
        <p:spPr>
          <a:xfrm>
            <a:off x="7761427" y="1086307"/>
            <a:ext cx="3953866" cy="3953866"/>
          </a:xfrm>
          <a:prstGeom prst="ellipse">
            <a:avLst/>
          </a:prstGeom>
          <a:ln w="9525">
            <a:solidFill>
              <a:srgbClr val="E2B45E">
                <a:alpha val="18000"/>
              </a:srgbClr>
            </a:solidFill>
            <a:prstDash val="solid"/>
          </a:ln>
        </p:spPr>
      </p:sp>
      <p:sp>
        <p:nvSpPr>
          <p:cNvPr id="13" name="!!ring2"/>
          <p:cNvSpPr/>
          <p:nvPr/>
        </p:nvSpPr>
        <p:spPr>
          <a:xfrm>
            <a:off x="7214616" y="539496"/>
            <a:ext cx="5047488" cy="5047488"/>
          </a:xfrm>
          <a:prstGeom prst="ellipse">
            <a:avLst/>
          </a:prstGeom>
          <a:ln w="9525">
            <a:solidFill>
              <a:srgbClr val="E2B45E">
                <a:alpha val="12000"/>
              </a:srgbClr>
            </a:solidFill>
            <a:prstDash val="dash"/>
          </a:ln>
        </p:spPr>
      </p:sp>
      <p:pic>
        <p:nvPicPr>
          <p:cNvPr id="14" name="!!shadow" descr="/home/user/omgGame/presentations/cantillon/assets/shadow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34426" y="4251503"/>
            <a:ext cx="2607869" cy="651967"/>
          </a:xfrm>
          <a:prstGeom prst="rect">
            <a:avLst/>
          </a:prstGeom>
        </p:spPr>
      </p:pic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15" name="!!m-frame">
                <a:extLst>
                  <a:ext uri="{FF2B5EF4-FFF2-40B4-BE49-F238E27FC236}">
                    <a16:creationId xmlns:a16="http://schemas.microsoft.com/office/drawing/2014/main" id="{E0776C27-DB63-6F81-8250-C38984DDFE84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7635240" y="960120"/>
              <a:ext cx="4206240" cy="4206240"/>
            </p:xfrm>
            <a:graphic>
              <a:graphicData uri="http://schemas.microsoft.com/office/drawing/2017/model3d">
                <am3d:model3d r:embed="rIdM3d5">
                  <am3d:spPr>
                    <a:xfrm>
                      <a:off x="0" y="0"/>
                      <a:ext cx="4206240" cy="4206240"/>
                    </a:xfrm>
                    <a:prstGeom prst="rect">
                      <a:avLst/>
                    </a:prstGeom>
                  </am3d:spPr>
                  <am3d:camera>
                    <am3d:pos x="0" y="0" z="59968518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499251" d="1000000"/>
                    <am3d:preTrans dx="0" dy="0" dz="-188716"/>
                    <am3d:scale>
                      <am3d:sx n="1000000" d="1000000"/>
                      <am3d:sy n="1000000" d="1000000"/>
                      <am3d:sz n="1000000" d="1000000"/>
                    </am3d:scale>
                    <am3d:rot ax="240000" ay="-1440000" az="0"/>
                    <am3d:postTrans dx="0" dy="0" dz="0"/>
                  </am3d:trans>
                  <am3d:raster rName="Office3DRenderer" rVer="16.0.8326">
                    <am3d:blip r:embed="rId5"/>
                  </am3d:raster>
                  <am3d:objViewport viewportSz="4206240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15" name="!!m-frame">
                <a:extLst>
                  <a:ext uri="{FF2B5EF4-FFF2-40B4-BE49-F238E27FC236}">
                    <a16:creationId xmlns:a16="http://schemas.microsoft.com/office/drawing/2014/main" id="{E0776C27-DB63-6F81-8250-C38984DDFE84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635240" y="960120"/>
                <a:ext cx="4206240" cy="4206240"/>
              </a:xfrm>
              <a:prstGeom prst="rect">
                <a:avLst/>
              </a:prstGeom>
            </p:spPr>
          </p:pic>
        </mc:Fallback>
      </mc:AlternateContent>
      <p:sp>
        <p:nvSpPr>
          <p:cNvPr id="16" name="fx2_9_0"/>
          <p:cNvSpPr/>
          <p:nvPr/>
        </p:nvSpPr>
        <p:spPr>
          <a:xfrm>
            <a:off x="7955280" y="4871923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00" b="1" spc="250" kern="0" dirty="0">
                <a:solidFill>
                  <a:srgbClr val="E2B4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ЭКСПОНАТ 02</a:t>
            </a:r>
            <a:endParaRPr lang="en-US" sz="9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BBAC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Пустая рама: достоверного портрета нет</a:t>
            </a:r>
            <a:endParaRPr lang="en-US" sz="900" dirty="0"/>
          </a:p>
        </p:txBody>
      </p:sp>
      <p:sp>
        <p:nvSpPr>
          <p:cNvPr id="17" name="!!title"/>
          <p:cNvSpPr/>
          <p:nvPr/>
        </p:nvSpPr>
        <p:spPr>
          <a:xfrm>
            <a:off x="685800" y="987552"/>
            <a:ext cx="6583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600" dirty="0">
                <a:solidFill>
                  <a:srgbClr val="F6EFE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Ирландец, ставший французским банкиром</a:t>
            </a:r>
            <a:endParaRPr lang="en-US" sz="3600" dirty="0"/>
          </a:p>
        </p:txBody>
      </p:sp>
      <p:sp>
        <p:nvSpPr>
          <p:cNvPr id="18" name="fx2_1_1"/>
          <p:cNvSpPr/>
          <p:nvPr/>
        </p:nvSpPr>
        <p:spPr>
          <a:xfrm>
            <a:off x="685800" y="2194560"/>
            <a:ext cx="2971800" cy="914400"/>
          </a:xfrm>
          <a:prstGeom prst="roundRect">
            <a:avLst>
              <a:gd name="adj" fmla="val 8000"/>
            </a:avLst>
          </a:prstGeom>
          <a:solidFill>
            <a:srgbClr val="21130F">
              <a:alpha val="82000"/>
            </a:srgbClr>
          </a:solidFill>
          <a:ln w="9525">
            <a:solidFill>
              <a:srgbClr val="E2B45E">
                <a:alpha val="28000"/>
              </a:srgbClr>
            </a:solidFill>
            <a:prstDash val="solid"/>
          </a:ln>
        </p:spPr>
      </p:sp>
      <p:sp>
        <p:nvSpPr>
          <p:cNvPr id="19" name="fx2_1_2"/>
          <p:cNvSpPr/>
          <p:nvPr/>
        </p:nvSpPr>
        <p:spPr>
          <a:xfrm>
            <a:off x="685800" y="2359152"/>
            <a:ext cx="41148" cy="585216"/>
          </a:xfrm>
          <a:prstGeom prst="rect">
            <a:avLst/>
          </a:prstGeom>
          <a:solidFill>
            <a:srgbClr val="E2B45E"/>
          </a:solidFill>
          <a:ln/>
        </p:spPr>
      </p:sp>
      <p:sp>
        <p:nvSpPr>
          <p:cNvPr id="20" name="fx2_1_3"/>
          <p:cNvSpPr/>
          <p:nvPr/>
        </p:nvSpPr>
        <p:spPr>
          <a:xfrm>
            <a:off x="914400" y="2313432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b="1" spc="200" kern="0" dirty="0">
                <a:solidFill>
                  <a:srgbClr val="E2B4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РОДИЛСЯ</a:t>
            </a:r>
            <a:endParaRPr lang="en-US" sz="950" dirty="0"/>
          </a:p>
        </p:txBody>
      </p:sp>
      <p:sp>
        <p:nvSpPr>
          <p:cNvPr id="21" name="fx2_1_4"/>
          <p:cNvSpPr/>
          <p:nvPr/>
        </p:nvSpPr>
        <p:spPr>
          <a:xfrm>
            <a:off x="914400" y="2523744"/>
            <a:ext cx="2697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50" dirty="0">
                <a:solidFill>
                  <a:srgbClr val="F6EFE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1680-е годы</a:t>
            </a:r>
            <a:endParaRPr lang="en-US" sz="1650" dirty="0"/>
          </a:p>
        </p:txBody>
      </p:sp>
      <p:sp>
        <p:nvSpPr>
          <p:cNvPr id="22" name="fx2_1_5"/>
          <p:cNvSpPr/>
          <p:nvPr/>
        </p:nvSpPr>
        <p:spPr>
          <a:xfrm>
            <a:off x="914400" y="2825496"/>
            <a:ext cx="2697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BBAC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точный год неизвестен</a:t>
            </a:r>
            <a:endParaRPr lang="en-US" sz="1050" dirty="0"/>
          </a:p>
        </p:txBody>
      </p:sp>
      <p:sp>
        <p:nvSpPr>
          <p:cNvPr id="23" name="fx2_1_6"/>
          <p:cNvSpPr/>
          <p:nvPr/>
        </p:nvSpPr>
        <p:spPr>
          <a:xfrm>
            <a:off x="3794760" y="2194560"/>
            <a:ext cx="2971800" cy="914400"/>
          </a:xfrm>
          <a:prstGeom prst="roundRect">
            <a:avLst>
              <a:gd name="adj" fmla="val 8000"/>
            </a:avLst>
          </a:prstGeom>
          <a:solidFill>
            <a:srgbClr val="21130F">
              <a:alpha val="82000"/>
            </a:srgbClr>
          </a:solidFill>
          <a:ln w="9525">
            <a:solidFill>
              <a:srgbClr val="E2B45E">
                <a:alpha val="28000"/>
              </a:srgbClr>
            </a:solidFill>
            <a:prstDash val="solid"/>
          </a:ln>
        </p:spPr>
      </p:sp>
      <p:sp>
        <p:nvSpPr>
          <p:cNvPr id="24" name="fx2_1_7"/>
          <p:cNvSpPr/>
          <p:nvPr/>
        </p:nvSpPr>
        <p:spPr>
          <a:xfrm>
            <a:off x="3794760" y="2359152"/>
            <a:ext cx="41148" cy="585216"/>
          </a:xfrm>
          <a:prstGeom prst="rect">
            <a:avLst/>
          </a:prstGeom>
          <a:solidFill>
            <a:srgbClr val="E2B45E"/>
          </a:solidFill>
          <a:ln/>
        </p:spPr>
      </p:sp>
      <p:sp>
        <p:nvSpPr>
          <p:cNvPr id="25" name="fx2_1_8"/>
          <p:cNvSpPr/>
          <p:nvPr/>
        </p:nvSpPr>
        <p:spPr>
          <a:xfrm>
            <a:off x="4023360" y="2313432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b="1" spc="200" kern="0" dirty="0">
                <a:solidFill>
                  <a:srgbClr val="E2B4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МЕСТО</a:t>
            </a:r>
            <a:endParaRPr lang="en-US" sz="950" dirty="0"/>
          </a:p>
        </p:txBody>
      </p:sp>
      <p:sp>
        <p:nvSpPr>
          <p:cNvPr id="26" name="fx2_1_9"/>
          <p:cNvSpPr/>
          <p:nvPr/>
        </p:nvSpPr>
        <p:spPr>
          <a:xfrm>
            <a:off x="4023360" y="2523744"/>
            <a:ext cx="2697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50" dirty="0">
                <a:solidFill>
                  <a:srgbClr val="F6EFE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Графство Керри</a:t>
            </a:r>
            <a:endParaRPr lang="en-US" sz="1650" dirty="0"/>
          </a:p>
        </p:txBody>
      </p:sp>
      <p:sp>
        <p:nvSpPr>
          <p:cNvPr id="27" name="fx2_1_10"/>
          <p:cNvSpPr/>
          <p:nvPr/>
        </p:nvSpPr>
        <p:spPr>
          <a:xfrm>
            <a:off x="4023360" y="2825496"/>
            <a:ext cx="2697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BBAC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Баллиронан, юго-запад Ирландии</a:t>
            </a:r>
            <a:endParaRPr lang="en-US" sz="1050" dirty="0"/>
          </a:p>
        </p:txBody>
      </p:sp>
      <p:sp>
        <p:nvSpPr>
          <p:cNvPr id="28" name="fx2_2_11"/>
          <p:cNvSpPr/>
          <p:nvPr/>
        </p:nvSpPr>
        <p:spPr>
          <a:xfrm>
            <a:off x="685800" y="3227832"/>
            <a:ext cx="2971800" cy="914400"/>
          </a:xfrm>
          <a:prstGeom prst="roundRect">
            <a:avLst>
              <a:gd name="adj" fmla="val 8000"/>
            </a:avLst>
          </a:prstGeom>
          <a:solidFill>
            <a:srgbClr val="21130F">
              <a:alpha val="82000"/>
            </a:srgbClr>
          </a:solidFill>
          <a:ln w="9525">
            <a:solidFill>
              <a:srgbClr val="E2B45E">
                <a:alpha val="28000"/>
              </a:srgbClr>
            </a:solidFill>
            <a:prstDash val="solid"/>
          </a:ln>
        </p:spPr>
      </p:sp>
      <p:sp>
        <p:nvSpPr>
          <p:cNvPr id="29" name="fx2_2_12"/>
          <p:cNvSpPr/>
          <p:nvPr/>
        </p:nvSpPr>
        <p:spPr>
          <a:xfrm>
            <a:off x="685800" y="3392424"/>
            <a:ext cx="41148" cy="585216"/>
          </a:xfrm>
          <a:prstGeom prst="rect">
            <a:avLst/>
          </a:prstGeom>
          <a:solidFill>
            <a:srgbClr val="E2B45E"/>
          </a:solidFill>
          <a:ln/>
        </p:spPr>
      </p:sp>
      <p:sp>
        <p:nvSpPr>
          <p:cNvPr id="30" name="fx2_2_13"/>
          <p:cNvSpPr/>
          <p:nvPr/>
        </p:nvSpPr>
        <p:spPr>
          <a:xfrm>
            <a:off x="914400" y="3346704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b="1" spc="200" kern="0" dirty="0">
                <a:solidFill>
                  <a:srgbClr val="E2B4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СЕМЬЯ</a:t>
            </a:r>
            <a:endParaRPr lang="en-US" sz="950" dirty="0"/>
          </a:p>
        </p:txBody>
      </p:sp>
      <p:sp>
        <p:nvSpPr>
          <p:cNvPr id="31" name="fx2_2_14"/>
          <p:cNvSpPr/>
          <p:nvPr/>
        </p:nvSpPr>
        <p:spPr>
          <a:xfrm>
            <a:off x="914400" y="3557016"/>
            <a:ext cx="2697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50" dirty="0">
                <a:solidFill>
                  <a:srgbClr val="F6EFE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Второй сын фермера</a:t>
            </a:r>
            <a:endParaRPr lang="en-US" sz="1650" dirty="0"/>
          </a:p>
        </p:txBody>
      </p:sp>
      <p:sp>
        <p:nvSpPr>
          <p:cNvPr id="32" name="fx2_2_15"/>
          <p:cNvSpPr/>
          <p:nvPr/>
        </p:nvSpPr>
        <p:spPr>
          <a:xfrm>
            <a:off x="914400" y="3858768"/>
            <a:ext cx="2697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BBAC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земли рода конфисковал Кромвель</a:t>
            </a:r>
            <a:endParaRPr lang="en-US" sz="1050" dirty="0"/>
          </a:p>
        </p:txBody>
      </p:sp>
      <p:sp>
        <p:nvSpPr>
          <p:cNvPr id="33" name="fx2_2_16"/>
          <p:cNvSpPr/>
          <p:nvPr/>
        </p:nvSpPr>
        <p:spPr>
          <a:xfrm>
            <a:off x="3794760" y="3227832"/>
            <a:ext cx="2971800" cy="914400"/>
          </a:xfrm>
          <a:prstGeom prst="roundRect">
            <a:avLst>
              <a:gd name="adj" fmla="val 8000"/>
            </a:avLst>
          </a:prstGeom>
          <a:solidFill>
            <a:srgbClr val="21130F">
              <a:alpha val="82000"/>
            </a:srgbClr>
          </a:solidFill>
          <a:ln w="9525">
            <a:solidFill>
              <a:srgbClr val="E2B45E">
                <a:alpha val="28000"/>
              </a:srgbClr>
            </a:solidFill>
            <a:prstDash val="solid"/>
          </a:ln>
        </p:spPr>
      </p:sp>
      <p:sp>
        <p:nvSpPr>
          <p:cNvPr id="34" name="fx2_2_17"/>
          <p:cNvSpPr/>
          <p:nvPr/>
        </p:nvSpPr>
        <p:spPr>
          <a:xfrm>
            <a:off x="3794760" y="3392424"/>
            <a:ext cx="41148" cy="585216"/>
          </a:xfrm>
          <a:prstGeom prst="rect">
            <a:avLst/>
          </a:prstGeom>
          <a:solidFill>
            <a:srgbClr val="E2B45E"/>
          </a:solidFill>
          <a:ln/>
        </p:spPr>
      </p:sp>
      <p:sp>
        <p:nvSpPr>
          <p:cNvPr id="35" name="fx2_2_18"/>
          <p:cNvSpPr/>
          <p:nvPr/>
        </p:nvSpPr>
        <p:spPr>
          <a:xfrm>
            <a:off x="4023360" y="3346704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b="1" spc="200" kern="0" dirty="0">
                <a:solidFill>
                  <a:srgbClr val="E2B4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РОДИТЕЛИ</a:t>
            </a:r>
            <a:endParaRPr lang="en-US" sz="950" dirty="0"/>
          </a:p>
        </p:txBody>
      </p:sp>
      <p:sp>
        <p:nvSpPr>
          <p:cNvPr id="36" name="fx2_2_19"/>
          <p:cNvSpPr/>
          <p:nvPr/>
        </p:nvSpPr>
        <p:spPr>
          <a:xfrm>
            <a:off x="4023360" y="3557016"/>
            <a:ext cx="2697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50" dirty="0">
                <a:solidFill>
                  <a:srgbClr val="F6EFE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Были родственниками</a:t>
            </a:r>
            <a:endParaRPr lang="en-US" sz="1650" dirty="0"/>
          </a:p>
        </p:txBody>
      </p:sp>
      <p:sp>
        <p:nvSpPr>
          <p:cNvPr id="37" name="fx2_2_20"/>
          <p:cNvSpPr/>
          <p:nvPr/>
        </p:nvSpPr>
        <p:spPr>
          <a:xfrm>
            <a:off x="4023360" y="3858768"/>
            <a:ext cx="2697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BBAC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 брак нужно было разрешение церкви</a:t>
            </a:r>
            <a:endParaRPr lang="en-US" sz="1050" dirty="0"/>
          </a:p>
        </p:txBody>
      </p:sp>
      <p:sp>
        <p:nvSpPr>
          <p:cNvPr id="38" name="fx2_3_21"/>
          <p:cNvSpPr/>
          <p:nvPr/>
        </p:nvSpPr>
        <p:spPr>
          <a:xfrm>
            <a:off x="685800" y="4261104"/>
            <a:ext cx="2971800" cy="914400"/>
          </a:xfrm>
          <a:prstGeom prst="roundRect">
            <a:avLst>
              <a:gd name="adj" fmla="val 8000"/>
            </a:avLst>
          </a:prstGeom>
          <a:solidFill>
            <a:srgbClr val="21130F">
              <a:alpha val="82000"/>
            </a:srgbClr>
          </a:solidFill>
          <a:ln w="9525">
            <a:solidFill>
              <a:srgbClr val="E2B45E">
                <a:alpha val="28000"/>
              </a:srgbClr>
            </a:solidFill>
            <a:prstDash val="solid"/>
          </a:ln>
        </p:spPr>
      </p:sp>
      <p:sp>
        <p:nvSpPr>
          <p:cNvPr id="39" name="fx2_3_22"/>
          <p:cNvSpPr/>
          <p:nvPr/>
        </p:nvSpPr>
        <p:spPr>
          <a:xfrm>
            <a:off x="685800" y="4425696"/>
            <a:ext cx="41148" cy="585216"/>
          </a:xfrm>
          <a:prstGeom prst="rect">
            <a:avLst/>
          </a:prstGeom>
          <a:solidFill>
            <a:srgbClr val="E2B45E"/>
          </a:solidFill>
          <a:ln/>
        </p:spPr>
      </p:sp>
      <p:sp>
        <p:nvSpPr>
          <p:cNvPr id="40" name="fx2_3_23"/>
          <p:cNvSpPr/>
          <p:nvPr/>
        </p:nvSpPr>
        <p:spPr>
          <a:xfrm>
            <a:off x="914400" y="4379976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b="1" spc="200" kern="0" dirty="0">
                <a:solidFill>
                  <a:srgbClr val="E2B4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ПЕРЕЕЗД</a:t>
            </a:r>
            <a:endParaRPr lang="en-US" sz="950" dirty="0"/>
          </a:p>
        </p:txBody>
      </p:sp>
      <p:sp>
        <p:nvSpPr>
          <p:cNvPr id="41" name="fx2_3_24"/>
          <p:cNvSpPr/>
          <p:nvPr/>
        </p:nvSpPr>
        <p:spPr>
          <a:xfrm>
            <a:off x="914400" y="4590288"/>
            <a:ext cx="2697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50" dirty="0">
                <a:solidFill>
                  <a:srgbClr val="F6EFE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Франция, к 1708</a:t>
            </a:r>
            <a:endParaRPr lang="en-US" sz="1650" dirty="0"/>
          </a:p>
        </p:txBody>
      </p:sp>
      <p:sp>
        <p:nvSpPr>
          <p:cNvPr id="42" name="fx2_3_25"/>
          <p:cNvSpPr/>
          <p:nvPr/>
        </p:nvSpPr>
        <p:spPr>
          <a:xfrm>
            <a:off x="914400" y="4892040"/>
            <a:ext cx="2697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BBAC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получил французское подданство</a:t>
            </a:r>
            <a:endParaRPr lang="en-US" sz="1050" dirty="0"/>
          </a:p>
        </p:txBody>
      </p:sp>
      <p:sp>
        <p:nvSpPr>
          <p:cNvPr id="43" name="fx2_3_26"/>
          <p:cNvSpPr/>
          <p:nvPr/>
        </p:nvSpPr>
        <p:spPr>
          <a:xfrm>
            <a:off x="3794760" y="4261104"/>
            <a:ext cx="2971800" cy="914400"/>
          </a:xfrm>
          <a:prstGeom prst="roundRect">
            <a:avLst>
              <a:gd name="adj" fmla="val 8000"/>
            </a:avLst>
          </a:prstGeom>
          <a:solidFill>
            <a:srgbClr val="21130F">
              <a:alpha val="82000"/>
            </a:srgbClr>
          </a:solidFill>
          <a:ln w="9525">
            <a:solidFill>
              <a:srgbClr val="E2B45E">
                <a:alpha val="28000"/>
              </a:srgbClr>
            </a:solidFill>
            <a:prstDash val="solid"/>
          </a:ln>
        </p:spPr>
      </p:sp>
      <p:sp>
        <p:nvSpPr>
          <p:cNvPr id="44" name="fx2_3_27"/>
          <p:cNvSpPr/>
          <p:nvPr/>
        </p:nvSpPr>
        <p:spPr>
          <a:xfrm>
            <a:off x="3794760" y="4425696"/>
            <a:ext cx="41148" cy="585216"/>
          </a:xfrm>
          <a:prstGeom prst="rect">
            <a:avLst/>
          </a:prstGeom>
          <a:solidFill>
            <a:srgbClr val="E2B45E"/>
          </a:solidFill>
          <a:ln/>
        </p:spPr>
      </p:sp>
      <p:sp>
        <p:nvSpPr>
          <p:cNvPr id="45" name="fx2_3_28"/>
          <p:cNvSpPr/>
          <p:nvPr/>
        </p:nvSpPr>
        <p:spPr>
          <a:xfrm>
            <a:off x="4023360" y="4379976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b="1" spc="200" kern="0" dirty="0">
                <a:solidFill>
                  <a:srgbClr val="E2B4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ГОРОДА</a:t>
            </a:r>
            <a:endParaRPr lang="en-US" sz="950" dirty="0"/>
          </a:p>
        </p:txBody>
      </p:sp>
      <p:sp>
        <p:nvSpPr>
          <p:cNvPr id="46" name="fx2_3_29"/>
          <p:cNvSpPr/>
          <p:nvPr/>
        </p:nvSpPr>
        <p:spPr>
          <a:xfrm>
            <a:off x="4023360" y="4590288"/>
            <a:ext cx="2697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50" dirty="0">
                <a:solidFill>
                  <a:srgbClr val="F6EFE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Париж · Лондон · Амстердам</a:t>
            </a:r>
            <a:endParaRPr lang="en-US" sz="1450" dirty="0"/>
          </a:p>
        </p:txBody>
      </p:sp>
      <p:sp>
        <p:nvSpPr>
          <p:cNvPr id="47" name="fx2_3_30"/>
          <p:cNvSpPr/>
          <p:nvPr/>
        </p:nvSpPr>
        <p:spPr>
          <a:xfrm>
            <a:off x="4023360" y="4892040"/>
            <a:ext cx="2697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BBAC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банкир между тремя столицами</a:t>
            </a:r>
            <a:endParaRPr lang="en-US" sz="1050" dirty="0"/>
          </a:p>
        </p:txBody>
      </p:sp>
      <p:sp>
        <p:nvSpPr>
          <p:cNvPr id="48" name="fx2_8_31"/>
          <p:cNvSpPr/>
          <p:nvPr/>
        </p:nvSpPr>
        <p:spPr>
          <a:xfrm>
            <a:off x="685800" y="5440680"/>
            <a:ext cx="6080760" cy="749808"/>
          </a:xfrm>
          <a:prstGeom prst="roundRect">
            <a:avLst>
              <a:gd name="adj" fmla="val 9756"/>
            </a:avLst>
          </a:prstGeom>
          <a:solidFill>
            <a:srgbClr val="26180A">
              <a:alpha val="94000"/>
            </a:srgbClr>
          </a:solidFill>
          <a:ln w="12700">
            <a:solidFill>
              <a:srgbClr val="E2B45E">
                <a:alpha val="55000"/>
              </a:srgbClr>
            </a:solidFill>
            <a:prstDash val="solid"/>
          </a:ln>
          <a:effectLst>
            <a:outerShdw sx="100000" sy="100000" kx="0" ky="0" algn="bl" rotWithShape="0" blurRad="228600" dist="76200" dir="5400000">
              <a:srgbClr val="000000">
                <a:alpha val="45000"/>
              </a:srgbClr>
            </a:outerShdw>
          </a:effectLst>
        </p:spPr>
      </p:sp>
      <p:sp>
        <p:nvSpPr>
          <p:cNvPr id="49" name="fx2_8_32"/>
          <p:cNvSpPr/>
          <p:nvPr/>
        </p:nvSpPr>
        <p:spPr>
          <a:xfrm>
            <a:off x="685800" y="5586984"/>
            <a:ext cx="50292" cy="457200"/>
          </a:xfrm>
          <a:prstGeom prst="rect">
            <a:avLst/>
          </a:prstGeom>
          <a:solidFill>
            <a:srgbClr val="E2B45E"/>
          </a:solidFill>
          <a:ln/>
        </p:spPr>
      </p:sp>
      <p:sp>
        <p:nvSpPr>
          <p:cNvPr id="50" name="fx2_8_33"/>
          <p:cNvSpPr/>
          <p:nvPr/>
        </p:nvSpPr>
        <p:spPr>
          <a:xfrm>
            <a:off x="941832" y="5303520"/>
            <a:ext cx="1993392" cy="274320"/>
          </a:xfrm>
          <a:prstGeom prst="roundRect">
            <a:avLst>
              <a:gd name="adj" fmla="val 50000"/>
            </a:avLst>
          </a:prstGeom>
          <a:solidFill>
            <a:srgbClr val="E2B45E"/>
          </a:solidFill>
          <a:ln/>
        </p:spPr>
      </p:sp>
      <p:sp>
        <p:nvSpPr>
          <p:cNvPr id="51" name="fx2_8_34"/>
          <p:cNvSpPr/>
          <p:nvPr/>
        </p:nvSpPr>
        <p:spPr>
          <a:xfrm>
            <a:off x="941832" y="5303520"/>
            <a:ext cx="199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50" b="1" spc="150" kern="0" dirty="0">
                <a:solidFill>
                  <a:srgbClr val="0E08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  САМОЕ ИНТЕРЕСНОЕ</a:t>
            </a:r>
            <a:endParaRPr lang="en-US" sz="850" dirty="0"/>
          </a:p>
        </p:txBody>
      </p:sp>
      <p:sp>
        <p:nvSpPr>
          <p:cNvPr id="52" name="fx2_8_35"/>
          <p:cNvSpPr/>
          <p:nvPr/>
        </p:nvSpPr>
        <p:spPr>
          <a:xfrm>
            <a:off x="960120" y="5623560"/>
            <a:ext cx="5623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250" i="1" dirty="0">
                <a:solidFill>
                  <a:srgbClr val="F6EFE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Ни одного достоверного портрета Кантильона </a:t>
            </a:r>
            <a:pPr algn="l" indent="0" marL="0">
              <a:lnSpc>
                <a:spcPct val="105000"/>
              </a:lnSpc>
              <a:buNone/>
            </a:pPr>
            <a:r>
              <a:rPr lang="en-US" sz="1250" b="1" i="1" dirty="0">
                <a:solidFill>
                  <a:srgbClr val="F6EFE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не сохранилось</a:t>
            </a:r>
            <a:pPr algn="l" indent="0" marL="0">
              <a:lnSpc>
                <a:spcPct val="105000"/>
              </a:lnSpc>
              <a:buNone/>
            </a:pPr>
            <a:r>
              <a:rPr lang="en-US" sz="1250" i="1" dirty="0">
                <a:solidFill>
                  <a:srgbClr val="F6EFE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— мы не знаем, как выглядел человек, придумавший предпринимателя.</a:t>
            </a:r>
            <a:endParaRPr lang="en-US" sz="1250" dirty="0"/>
          </a:p>
        </p:txBody>
      </p: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53" name="!!m-candle">
                <a:extLst>
                  <a:ext uri="{FF2B5EF4-FFF2-40B4-BE49-F238E27FC236}">
                    <a16:creationId xmlns:a16="http://schemas.microsoft.com/office/drawing/2014/main" id="{10E0B582-FA26-1CA8-D3C6-90F8A247FF8B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-6035040" y="1143000"/>
              <a:ext cx="5486400" cy="5486400"/>
            </p:xfrm>
            <a:graphic>
              <a:graphicData uri="http://schemas.microsoft.com/office/drawing/2017/model3d">
                <am3d:model3d r:embed="rIdM3d6">
                  <am3d:spPr>
                    <a:xfrm>
                      <a:off x="0" y="0"/>
                      <a:ext cx="5486400" cy="5486400"/>
                    </a:xfrm>
                    <a:prstGeom prst="rect">
                      <a:avLst/>
                    </a:prstGeom>
                  </am3d:spPr>
                  <am3d:camera>
                    <am3d:pos x="0" y="0" z="61174340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466200" d="1000000"/>
                    <am3d:preTrans dx="-1636364" dy="419582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360000" ay="-5880000" az="0"/>
                    <am3d:postTrans dx="0" dy="0" dz="0"/>
                  </am3d:trans>
                  <am3d:raster rName="Office3DRenderer" rVer="16.0.8326">
                    <am3d:blip r:embed="rId6"/>
                  </am3d:raster>
                  <am3d:objViewport viewportSz="5486400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53" name="!!m-candle">
                <a:extLst>
                  <a:ext uri="{FF2B5EF4-FFF2-40B4-BE49-F238E27FC236}">
                    <a16:creationId xmlns:a16="http://schemas.microsoft.com/office/drawing/2014/main" id="{10E0B582-FA26-1CA8-D3C6-90F8A247FF8B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-6035040" y="1143000"/>
                <a:ext cx="5486400" cy="5486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54" name="!!m-compass">
                <a:extLst>
                  <a:ext uri="{FF2B5EF4-FFF2-40B4-BE49-F238E27FC236}">
                    <a16:creationId xmlns:a16="http://schemas.microsoft.com/office/drawing/2014/main" id="{479C71DC-34AE-D766-BC0B-42CB658D15C4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12740335" y="731520"/>
              <a:ext cx="3566160" cy="3566160"/>
            </p:xfrm>
            <a:graphic>
              <a:graphicData uri="http://schemas.microsoft.com/office/drawing/2017/model3d">
                <am3d:model3d r:embed="rIdM3d7">
                  <am3d:spPr>
                    <a:xfrm>
                      <a:off x="0" y="0"/>
                      <a:ext cx="3566160" cy="3566160"/>
                    </a:xfrm>
                    <a:prstGeom prst="rect">
                      <a:avLst/>
                    </a:prstGeom>
                  </am3d:spPr>
                  <am3d:camera>
                    <am3d:pos x="0" y="0" z="73052143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793651" d="1000000"/>
                    <am3d:preTrans dx="0" dy="116675" dz="1006157"/>
                    <am3d:scale>
                      <am3d:sx n="1000000" d="1000000"/>
                      <am3d:sy n="1000000" d="1000000"/>
                      <am3d:sz n="1000000" d="1000000"/>
                    </am3d:scale>
                    <am3d:rot ax="600000" ay="3960000" az="0"/>
                    <am3d:postTrans dx="0" dy="0" dz="0"/>
                  </am3d:trans>
                  <am3d:raster rName="Office3DRenderer" rVer="16.0.8326">
                    <am3d:blip r:embed="rId7"/>
                  </am3d:raster>
                  <am3d:objViewport viewportSz="3566160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54" name="!!m-compass">
                <a:extLst>
                  <a:ext uri="{FF2B5EF4-FFF2-40B4-BE49-F238E27FC236}">
                    <a16:creationId xmlns:a16="http://schemas.microsoft.com/office/drawing/2014/main" id="{479C71DC-34AE-D766-BC0B-42CB658D15C4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2740335" y="731520"/>
                <a:ext cx="3566160" cy="35661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6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42" presetClass="entr" presetSubtype="0" fill="hold" grpId="0" nodeType="after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7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700" decel="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00" decel="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42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7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700" decel="10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700" decel="10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7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700" decel="10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700" decel="10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7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700" decel="100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700" decel="100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7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700" decel="100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700" decel="100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7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700" decel="100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700" decel="100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7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700" decel="100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700" decel="100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42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7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700" decel="100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700" decel="100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42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7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700" decel="100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700" decel="100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42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7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700" decel="100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700" decel="100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42" presetClass="entr" presetSubtype="0" fill="hold" grpId="0" nodeType="withEffect">
                                  <p:stCondLst>
                                    <p:cond delay="41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7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700" decel="100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700" decel="100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42" presetClass="entr" presetSubtype="0" fill="hold" grpId="0" nodeType="withEffect">
                                  <p:stCondLst>
                                    <p:cond delay="41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7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700" decel="100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700" decel="100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42" presetClass="entr" presetSubtype="0" fill="hold" grpId="0" nodeType="withEffect">
                                  <p:stCondLst>
                                    <p:cond delay="41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7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700" decel="100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700" decel="100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42" presetClass="entr" presetSubtype="0" fill="hold" grpId="0" nodeType="withEffect">
                                  <p:stCondLst>
                                    <p:cond delay="41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7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3" dur="700" decel="100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700" decel="100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42" presetClass="entr" presetSubtype="0" fill="hold" grpId="0" nodeType="withEffect">
                                  <p:stCondLst>
                                    <p:cond delay="41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7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700" decel="100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700" decel="100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2" presetID="42" presetClass="entr" presetSubtype="0" fill="hold" grpId="0" nodeType="withEffect">
                                  <p:stCondLst>
                                    <p:cond delay="41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7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3" dur="700" decel="100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700" decel="100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7" presetID="42" presetClass="entr" presetSubtype="0" fill="hold" grpId="0" nodeType="withEffect">
                                  <p:stCondLst>
                                    <p:cond delay="41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7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8" dur="700" decel="100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700" decel="100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2" presetID="42" presetClass="entr" presetSubtype="0" fill="hold" grpId="0" nodeType="withEffect">
                                  <p:stCondLst>
                                    <p:cond delay="41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7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3" dur="700" decel="100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700" decel="100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7" presetID="42" presetClass="entr" presetSubtype="0" fill="hold" grpId="0" nodeType="withEffect">
                                  <p:stCondLst>
                                    <p:cond delay="41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7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8" dur="700" decel="100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700" decel="100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2" presetID="42" presetClass="entr" presetSubtype="0" fill="hold" grpId="0" nodeType="withEffect">
                                  <p:stCondLst>
                                    <p:cond delay="41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7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3" dur="700" decel="100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4" dur="700" decel="100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7" presetID="42" presetClass="entr" presetSubtype="0" fill="hold" grpId="0" nodeType="withEffect">
                                  <p:stCondLst>
                                    <p:cond delay="67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7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8" dur="700" decel="100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9" dur="700" decel="100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2" presetID="42" presetClass="entr" presetSubtype="0" fill="hold" grpId="0" nodeType="withEffect">
                                  <p:stCondLst>
                                    <p:cond delay="67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7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3" dur="700" decel="100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4" dur="700" decel="100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7" presetID="42" presetClass="entr" presetSubtype="0" fill="hold" grpId="0" nodeType="withEffect">
                                  <p:stCondLst>
                                    <p:cond delay="67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6" dur="7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8" dur="700" decel="100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9" dur="700" decel="100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2" presetID="42" presetClass="entr" presetSubtype="0" fill="hold" grpId="0" nodeType="withEffect">
                                  <p:stCondLst>
                                    <p:cond delay="67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7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3" dur="700" decel="100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4" dur="700" decel="100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7" presetID="42" presetClass="entr" presetSubtype="0" fill="hold" grpId="0" nodeType="withEffect">
                                  <p:stCondLst>
                                    <p:cond delay="67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6" dur="7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8" dur="700" decel="100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9" dur="700" decel="100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2" presetID="42" presetClass="entr" presetSubtype="0" fill="hold" grpId="0" nodeType="withEffect">
                                  <p:stCondLst>
                                    <p:cond delay="67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1" dur="7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3" dur="700" decel="100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4" dur="700" decel="100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7" presetID="42" presetClass="entr" presetSubtype="0" fill="hold" grpId="0" nodeType="withEffect">
                                  <p:stCondLst>
                                    <p:cond delay="67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6" dur="7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8" dur="700" decel="100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9" dur="700" decel="100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2" presetID="42" presetClass="entr" presetSubtype="0" fill="hold" grpId="0" nodeType="withEffect">
                                  <p:stCondLst>
                                    <p:cond delay="67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1" dur="7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3" dur="700" decel="100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4" dur="700" decel="100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7" presetID="42" presetClass="entr" presetSubtype="0" fill="hold" grpId="0" nodeType="withEffect">
                                  <p:stCondLst>
                                    <p:cond delay="67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6" dur="7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8" dur="700" decel="100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9" dur="700" decel="100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2" presetID="42" presetClass="entr" presetSubtype="0" fill="hold" grpId="0" nodeType="withEffect">
                                  <p:stCondLst>
                                    <p:cond delay="67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1" dur="7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3" dur="700" decel="100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4" dur="700" decel="100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7" presetID="42" presetClass="entr" presetSubtype="0" fill="hold" grpId="0" nodeType="withEffect">
                                  <p:stCondLst>
                                    <p:cond delay="93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6" dur="7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8" dur="700" decel="100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9" dur="700" decel="100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2" presetID="42" presetClass="entr" presetSubtype="0" fill="hold" grpId="0" nodeType="withEffect">
                                  <p:stCondLst>
                                    <p:cond delay="93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1" dur="7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3" dur="700" decel="1000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4" dur="700" decel="1000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7" presetID="42" presetClass="entr" presetSubtype="0" fill="hold" grpId="0" nodeType="withEffect">
                                  <p:stCondLst>
                                    <p:cond delay="93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6" dur="7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8" dur="700" decel="100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9" dur="700" decel="100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2" presetID="42" presetClass="entr" presetSubtype="0" fill="hold" grpId="0" nodeType="withEffect">
                                  <p:stCondLst>
                                    <p:cond delay="93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1" dur="7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3" dur="700" decel="100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4" dur="700" decel="100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7" presetID="42" presetClass="entr" presetSubtype="0" fill="hold" grpId="0" nodeType="withEffect">
                                  <p:stCondLst>
                                    <p:cond delay="93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6" dur="7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8" dur="700" decel="100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9" dur="700" decel="100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2" presetID="42" presetClass="entr" presetSubtype="0" fill="hold" grpId="0" nodeType="withEffect">
                                  <p:stCondLst>
                                    <p:cond delay="119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1" dur="7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3" dur="70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4" dur="70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  <p:bldP spid="42" grpId="0" animBg="1"/>
      <p:bldP spid="43" grpId="0" animBg="1"/>
      <p:bldP spid="44" grpId="0" animBg="1"/>
      <p:bldP spid="45" grpId="0" animBg="1"/>
      <p:bldP spid="46" grpId="0" animBg="1"/>
      <p:bldP spid="47" grpId="0" animBg="1"/>
      <p:bldP spid="48" grpId="0" animBg="1"/>
      <p:bldP spid="49" grpId="0" animBg="1"/>
      <p:bldP spid="50" grpId="0" animBg="1"/>
      <p:bldP spid="51" grpId="0" animBg="1"/>
      <p:bldP spid="52" grpId="0" animBg="1"/>
      <p:bldP spid="16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xmlns:am3d="http://schemas.microsoft.com/office/drawing/2017/model3d" mc:Ignorable="am3d">
  <p:cSld name="Slide 3">
    <p:bg>
      <p:bgPr>
        <a:solidFill>
          <a:srgbClr val="08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ackground" descr="/home/user/omgGame/presentations/cantillon/assets/stage-bg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!!track"/>
          <p:cNvSpPr/>
          <p:nvPr/>
        </p:nvSpPr>
        <p:spPr>
          <a:xfrm>
            <a:off x="685800" y="402336"/>
            <a:ext cx="10820095" cy="91"/>
          </a:xfrm>
          <a:prstGeom prst="line">
            <a:avLst/>
          </a:prstGeom>
          <a:noFill/>
          <a:ln w="9525">
            <a:solidFill>
              <a:srgbClr val="FFFFFF">
                <a:alpha val="16000"/>
              </a:srgbClr>
            </a:solidFill>
            <a:prstDash val="solid"/>
          </a:ln>
        </p:spPr>
      </p:sp>
      <p:sp>
        <p:nvSpPr>
          <p:cNvPr id="4" name="!!progress"/>
          <p:cNvSpPr/>
          <p:nvPr/>
        </p:nvSpPr>
        <p:spPr>
          <a:xfrm>
            <a:off x="685800" y="391363"/>
            <a:ext cx="1352512" cy="21946"/>
          </a:xfrm>
          <a:prstGeom prst="rect">
            <a:avLst/>
          </a:prstGeom>
          <a:solidFill>
            <a:srgbClr val="E2B45E"/>
          </a:solidFill>
          <a:ln/>
        </p:spPr>
      </p: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5" name="!!coin">
                <a:extLst>
                  <a:ext uri="{FF2B5EF4-FFF2-40B4-BE49-F238E27FC236}">
                    <a16:creationId xmlns:a16="http://schemas.microsoft.com/office/drawing/2014/main" id="{12A0E007-ECA8-02A4-EC24-107FC5338DD5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1782280" y="117043"/>
              <a:ext cx="512064" cy="512064"/>
            </p:xfrm>
            <a:graphic>
              <a:graphicData uri="http://schemas.microsoft.com/office/drawing/2017/model3d">
                <am3d:model3d r:embed="rIdM3d8">
                  <am3d:spPr>
                    <a:xfrm>
                      <a:off x="0" y="0"/>
                      <a:ext cx="512064" cy="512064"/>
                    </a:xfrm>
                    <a:prstGeom prst="rect">
                      <a:avLst/>
                    </a:prstGeom>
                  </am3d:spPr>
                  <am3d:camera>
                    <am3d:pos x="0" y="0" z="66612804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500000" d="1000000"/>
                    <am3d:preTrans dx="0" dy="0" dz="-269999"/>
                    <am3d:scale>
                      <am3d:sx n="1000000" d="1000000"/>
                      <am3d:sy n="1000000" d="1000000"/>
                      <am3d:sz n="1000000" d="1000000"/>
                    </am3d:scale>
                    <am3d:rot ax="0" ay="-960000" az="-18000000"/>
                    <am3d:postTrans dx="0" dy="0" dz="0"/>
                  </am3d:trans>
                  <am3d:raster rName="Office3DRenderer" rVer="16.0.8326">
                    <am3d:blip r:embed="rId2"/>
                  </am3d:raster>
                  <am3d:objViewport viewportSz="512064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5" name="!!coin">
                <a:extLst>
                  <a:ext uri="{FF2B5EF4-FFF2-40B4-BE49-F238E27FC236}">
                    <a16:creationId xmlns:a16="http://schemas.microsoft.com/office/drawing/2014/main" id="{12A0E007-ECA8-02A4-EC24-107FC5338DD5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1782280" y="117043"/>
                <a:ext cx="512064" cy="512064"/>
              </a:xfrm>
              <a:prstGeom prst="rect">
                <a:avLst/>
              </a:prstGeom>
            </p:spPr>
          </p:pic>
        </mc:Fallback>
      </mc:AlternateContent>
      <p:sp>
        <p:nvSpPr>
          <p:cNvPr id="6" name="!!kickerbar"/>
          <p:cNvSpPr/>
          <p:nvPr/>
        </p:nvSpPr>
        <p:spPr>
          <a:xfrm>
            <a:off x="685800" y="713232"/>
            <a:ext cx="310896" cy="32004"/>
          </a:xfrm>
          <a:prstGeom prst="rect">
            <a:avLst/>
          </a:prstGeom>
          <a:solidFill>
            <a:srgbClr val="E2B45E"/>
          </a:solidFill>
          <a:ln/>
        </p:spPr>
      </p:sp>
      <p:sp>
        <p:nvSpPr>
          <p:cNvPr id="7" name="!!kicker"/>
          <p:cNvSpPr/>
          <p:nvPr/>
        </p:nvSpPr>
        <p:spPr>
          <a:xfrm>
            <a:off x="1124712" y="5943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spc="300" kern="0" dirty="0">
                <a:solidFill>
                  <a:srgbClr val="E2B4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— ЧЕМ ЗАНИМАЛСЯ: ПУТЬ</a:t>
            </a:r>
            <a:endParaRPr lang="en-US" sz="1100" dirty="0"/>
          </a:p>
        </p:txBody>
      </p:sp>
      <p:sp>
        <p:nvSpPr>
          <p:cNvPr id="8" name="!!footline"/>
          <p:cNvSpPr/>
          <p:nvPr/>
        </p:nvSpPr>
        <p:spPr>
          <a:xfrm>
            <a:off x="685800" y="6400800"/>
            <a:ext cx="10820095" cy="91"/>
          </a:xfrm>
          <a:prstGeom prst="line">
            <a:avLst/>
          </a:prstGeom>
          <a:noFill/>
          <a:ln w="9525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9" name="!!footer"/>
          <p:cNvSpPr/>
          <p:nvPr/>
        </p:nvSpPr>
        <p:spPr>
          <a:xfrm>
            <a:off x="685800" y="649224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spc="200" kern="0" dirty="0">
                <a:solidFill>
                  <a:srgbClr val="BBAC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РИЧАРД КАНТИЛЬОН  ·  1680-е – 1734</a:t>
            </a:r>
            <a:endParaRPr lang="en-US" sz="900" dirty="0"/>
          </a:p>
        </p:txBody>
      </p:sp>
      <p:sp>
        <p:nvSpPr>
          <p:cNvPr id="10" name="!!pagenum"/>
          <p:cNvSpPr/>
          <p:nvPr/>
        </p:nvSpPr>
        <p:spPr>
          <a:xfrm>
            <a:off x="10134295" y="649224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900" spc="200" kern="0" dirty="0">
                <a:solidFill>
                  <a:srgbClr val="BBAC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/ 17</a:t>
            </a:r>
            <a:endParaRPr lang="en-US" sz="900" dirty="0"/>
          </a:p>
        </p:txBody>
      </p:sp>
      <p:pic>
        <p:nvPicPr>
          <p:cNvPr id="11" name="!!glow" descr="/home/user/omgGame/presentations/cantillon/assets/glow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98614" y="-436626"/>
            <a:ext cx="5170932" cy="5170932"/>
          </a:xfrm>
          <a:prstGeom prst="rect">
            <a:avLst/>
          </a:prstGeom>
        </p:spPr>
      </p:pic>
      <p:sp>
        <p:nvSpPr>
          <p:cNvPr id="12" name="!!ring1"/>
          <p:cNvSpPr/>
          <p:nvPr/>
        </p:nvSpPr>
        <p:spPr>
          <a:xfrm>
            <a:off x="8107985" y="472745"/>
            <a:ext cx="3352190" cy="3352190"/>
          </a:xfrm>
          <a:prstGeom prst="ellipse">
            <a:avLst/>
          </a:prstGeom>
          <a:ln w="9525">
            <a:solidFill>
              <a:srgbClr val="E2B45E">
                <a:alpha val="18000"/>
              </a:srgbClr>
            </a:solidFill>
            <a:prstDash val="solid"/>
          </a:ln>
        </p:spPr>
      </p:sp>
      <p:sp>
        <p:nvSpPr>
          <p:cNvPr id="13" name="!!ring2"/>
          <p:cNvSpPr/>
          <p:nvPr/>
        </p:nvSpPr>
        <p:spPr>
          <a:xfrm>
            <a:off x="7644384" y="9144"/>
            <a:ext cx="4279392" cy="4279392"/>
          </a:xfrm>
          <a:prstGeom prst="ellipse">
            <a:avLst/>
          </a:prstGeom>
          <a:ln w="9525">
            <a:solidFill>
              <a:srgbClr val="E2B45E">
                <a:alpha val="12000"/>
              </a:srgbClr>
            </a:solidFill>
            <a:prstDash val="dash"/>
          </a:ln>
        </p:spPr>
      </p:sp>
      <p:pic>
        <p:nvPicPr>
          <p:cNvPr id="14" name="!!shadow" descr="/home/user/omgGame/presentations/cantillon/assets/shadow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14232" y="3093872"/>
            <a:ext cx="2139696" cy="534924"/>
          </a:xfrm>
          <a:prstGeom prst="rect">
            <a:avLst/>
          </a:prstGeom>
        </p:spPr>
      </p:pic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15" name="!!m-compass">
                <a:extLst>
                  <a:ext uri="{FF2B5EF4-FFF2-40B4-BE49-F238E27FC236}">
                    <a16:creationId xmlns:a16="http://schemas.microsoft.com/office/drawing/2014/main" id="{2ECEBC23-3B52-0D41-E8BB-3FCF018BAD4D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8001000" y="365760"/>
              <a:ext cx="3566160" cy="3566160"/>
            </p:xfrm>
            <a:graphic>
              <a:graphicData uri="http://schemas.microsoft.com/office/drawing/2017/model3d">
                <am3d:model3d r:embed="rIdM3d9">
                  <am3d:spPr>
                    <a:xfrm>
                      <a:off x="0" y="0"/>
                      <a:ext cx="3566160" cy="3566160"/>
                    </a:xfrm>
                    <a:prstGeom prst="rect">
                      <a:avLst/>
                    </a:prstGeom>
                  </am3d:spPr>
                  <am3d:camera>
                    <am3d:pos x="0" y="0" z="73052143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793651" d="1000000"/>
                    <am3d:preTrans dx="0" dy="116675" dz="1006157"/>
                    <am3d:scale>
                      <am3d:sx n="1000000" d="1000000"/>
                      <am3d:sy n="1000000" d="1000000"/>
                      <am3d:sz n="1000000" d="1000000"/>
                    </am3d:scale>
                    <am3d:rot ax="600000" ay="-840000" az="0"/>
                    <am3d:postTrans dx="0" dy="0" dz="0"/>
                  </am3d:trans>
                  <am3d:raster rName="Office3DRenderer" rVer="16.0.8326">
                    <am3d:blip r:embed="rId5"/>
                  </am3d:raster>
                  <am3d:objViewport viewportSz="3566160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15" name="!!m-compass">
                <a:extLst>
                  <a:ext uri="{FF2B5EF4-FFF2-40B4-BE49-F238E27FC236}">
                    <a16:creationId xmlns:a16="http://schemas.microsoft.com/office/drawing/2014/main" id="{2ECEBC23-3B52-0D41-E8BB-3FCF018BAD4D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8001000" y="365760"/>
                <a:ext cx="3566160" cy="3566160"/>
              </a:xfrm>
              <a:prstGeom prst="rect">
                <a:avLst/>
              </a:prstGeom>
            </p:spPr>
          </p:pic>
        </mc:Fallback>
      </mc:AlternateContent>
      <p:sp>
        <p:nvSpPr>
          <p:cNvPr id="16" name="fx3_9_0"/>
          <p:cNvSpPr/>
          <p:nvPr/>
        </p:nvSpPr>
        <p:spPr>
          <a:xfrm>
            <a:off x="5029200" y="320040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0000"/>
              </a:lnSpc>
              <a:buNone/>
            </a:pPr>
            <a:r>
              <a:rPr lang="en-US" sz="900" b="1" spc="250" kern="0" dirty="0">
                <a:solidFill>
                  <a:srgbClr val="E2B4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ЭКСПОНАТ 03</a:t>
            </a:r>
            <a:endParaRPr lang="en-US" sz="900" dirty="0"/>
          </a:p>
          <a:p>
            <a:pPr algn="r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BBAC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Компас: Керри · Мадрид · Париж · Амстердам · Лондон</a:t>
            </a:r>
            <a:endParaRPr lang="en-US" sz="900" dirty="0"/>
          </a:p>
        </p:txBody>
      </p:sp>
      <p:sp>
        <p:nvSpPr>
          <p:cNvPr id="17" name="!!title"/>
          <p:cNvSpPr/>
          <p:nvPr/>
        </p:nvSpPr>
        <p:spPr>
          <a:xfrm>
            <a:off x="685800" y="987552"/>
            <a:ext cx="685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600" dirty="0">
                <a:solidFill>
                  <a:srgbClr val="F6EFE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Путь: от Керри до Лондона</a:t>
            </a:r>
            <a:endParaRPr lang="en-US" sz="3600" dirty="0"/>
          </a:p>
        </p:txBody>
      </p:sp>
      <p:sp>
        <p:nvSpPr>
          <p:cNvPr id="18" name="fx3_1_1"/>
          <p:cNvSpPr/>
          <p:nvPr/>
        </p:nvSpPr>
        <p:spPr>
          <a:xfrm>
            <a:off x="685800" y="1965960"/>
            <a:ext cx="6583680" cy="1051560"/>
          </a:xfrm>
          <a:prstGeom prst="roundRect">
            <a:avLst>
              <a:gd name="adj" fmla="val 6957"/>
            </a:avLst>
          </a:prstGeom>
          <a:solidFill>
            <a:srgbClr val="26180A">
              <a:alpha val="94000"/>
            </a:srgbClr>
          </a:solidFill>
          <a:ln w="12700">
            <a:solidFill>
              <a:srgbClr val="E2B45E">
                <a:alpha val="55000"/>
              </a:srgbClr>
            </a:solidFill>
            <a:prstDash val="solid"/>
          </a:ln>
          <a:effectLst>
            <a:outerShdw sx="100000" sy="100000" kx="0" ky="0" algn="bl" rotWithShape="0" blurRad="228600" dist="76200" dir="5400000">
              <a:srgbClr val="000000">
                <a:alpha val="45000"/>
              </a:srgbClr>
            </a:outerShdw>
          </a:effectLst>
        </p:spPr>
      </p:sp>
      <p:sp>
        <p:nvSpPr>
          <p:cNvPr id="19" name="fx3_1_2"/>
          <p:cNvSpPr/>
          <p:nvPr/>
        </p:nvSpPr>
        <p:spPr>
          <a:xfrm>
            <a:off x="685800" y="2112264"/>
            <a:ext cx="50292" cy="758952"/>
          </a:xfrm>
          <a:prstGeom prst="rect">
            <a:avLst/>
          </a:prstGeom>
          <a:solidFill>
            <a:srgbClr val="E2B45E"/>
          </a:solidFill>
          <a:ln/>
        </p:spPr>
      </p:sp>
      <p:sp>
        <p:nvSpPr>
          <p:cNvPr id="20" name="fx3_1_3"/>
          <p:cNvSpPr/>
          <p:nvPr/>
        </p:nvSpPr>
        <p:spPr>
          <a:xfrm>
            <a:off x="941832" y="1828800"/>
            <a:ext cx="1993392" cy="274320"/>
          </a:xfrm>
          <a:prstGeom prst="roundRect">
            <a:avLst>
              <a:gd name="adj" fmla="val 50000"/>
            </a:avLst>
          </a:prstGeom>
          <a:solidFill>
            <a:srgbClr val="E2B45E"/>
          </a:solidFill>
          <a:ln/>
        </p:spPr>
      </p:sp>
      <p:sp>
        <p:nvSpPr>
          <p:cNvPr id="21" name="fx3_1_4"/>
          <p:cNvSpPr/>
          <p:nvPr/>
        </p:nvSpPr>
        <p:spPr>
          <a:xfrm>
            <a:off x="941832" y="1828800"/>
            <a:ext cx="199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50" b="1" spc="150" kern="0" dirty="0">
                <a:solidFill>
                  <a:srgbClr val="0E08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  САМОЕ ИНТЕРЕСНОЕ</a:t>
            </a:r>
            <a:endParaRPr lang="en-US" sz="850" dirty="0"/>
          </a:p>
        </p:txBody>
      </p:sp>
      <p:sp>
        <p:nvSpPr>
          <p:cNvPr id="22" name="fx3_1_5"/>
          <p:cNvSpPr/>
          <p:nvPr/>
        </p:nvSpPr>
        <p:spPr>
          <a:xfrm>
            <a:off x="960120" y="2148840"/>
            <a:ext cx="6126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50" i="1" dirty="0">
                <a:solidFill>
                  <a:srgbClr val="F6EFE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Первая работа — в Испании у британского казначея: во время войны за испанское наследство Кантильон </a:t>
            </a:r>
            <a:pPr algn="l" indent="0" marL="0">
              <a:lnSpc>
                <a:spcPct val="105000"/>
              </a:lnSpc>
              <a:buNone/>
            </a:pPr>
            <a:r>
              <a:rPr lang="en-US" sz="1350" b="1" i="1" dirty="0">
                <a:solidFill>
                  <a:srgbClr val="F6EFE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организовывал выплаты британским военнопленным.</a:t>
            </a:r>
            <a:endParaRPr lang="en-US" sz="1350" dirty="0"/>
          </a:p>
        </p:txBody>
      </p:sp>
      <p:sp>
        <p:nvSpPr>
          <p:cNvPr id="23" name="fx3_2_6"/>
          <p:cNvSpPr/>
          <p:nvPr/>
        </p:nvSpPr>
        <p:spPr>
          <a:xfrm>
            <a:off x="1362056" y="4206240"/>
            <a:ext cx="9467583" cy="91"/>
          </a:xfrm>
          <a:prstGeom prst="line">
            <a:avLst/>
          </a:prstGeom>
          <a:noFill/>
          <a:ln w="19050">
            <a:solidFill>
              <a:srgbClr val="E2B45E">
                <a:alpha val="65000"/>
              </a:srgbClr>
            </a:solidFill>
            <a:prstDash val="solid"/>
          </a:ln>
        </p:spPr>
      </p:sp>
      <p:sp>
        <p:nvSpPr>
          <p:cNvPr id="24" name="fx3_2_7"/>
          <p:cNvSpPr/>
          <p:nvPr/>
        </p:nvSpPr>
        <p:spPr>
          <a:xfrm>
            <a:off x="1270616" y="4114800"/>
            <a:ext cx="182880" cy="182880"/>
          </a:xfrm>
          <a:prstGeom prst="ellipse">
            <a:avLst/>
          </a:prstGeom>
          <a:solidFill>
            <a:srgbClr val="0E0807"/>
          </a:solidFill>
          <a:ln w="25400">
            <a:solidFill>
              <a:srgbClr val="E2B45E"/>
            </a:solidFill>
            <a:prstDash val="solid"/>
          </a:ln>
        </p:spPr>
      </p:sp>
      <p:sp>
        <p:nvSpPr>
          <p:cNvPr id="25" name="fx3_2_8"/>
          <p:cNvSpPr/>
          <p:nvPr/>
        </p:nvSpPr>
        <p:spPr>
          <a:xfrm>
            <a:off x="731520" y="4389120"/>
            <a:ext cx="1261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900" dirty="0">
                <a:solidFill>
                  <a:srgbClr val="E2B4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1680-е</a:t>
            </a:r>
            <a:endParaRPr lang="en-US" sz="1900" dirty="0"/>
          </a:p>
        </p:txBody>
      </p:sp>
      <p:sp>
        <p:nvSpPr>
          <p:cNvPr id="26" name="fx3_2_9"/>
          <p:cNvSpPr/>
          <p:nvPr/>
        </p:nvSpPr>
        <p:spPr>
          <a:xfrm>
            <a:off x="731520" y="4791456"/>
            <a:ext cx="1261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6EF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Ирландия</a:t>
            </a:r>
            <a:endParaRPr lang="en-US" sz="1200" dirty="0"/>
          </a:p>
        </p:txBody>
      </p:sp>
      <p:sp>
        <p:nvSpPr>
          <p:cNvPr id="27" name="fx3_2_10"/>
          <p:cNvSpPr/>
          <p:nvPr/>
        </p:nvSpPr>
        <p:spPr>
          <a:xfrm>
            <a:off x="731520" y="5074920"/>
            <a:ext cx="126107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BBAC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Родился в графстве Керри</a:t>
            </a:r>
            <a:endParaRPr lang="en-US" sz="1000" dirty="0"/>
          </a:p>
        </p:txBody>
      </p:sp>
      <p:sp>
        <p:nvSpPr>
          <p:cNvPr id="28" name="fx3_2_11"/>
          <p:cNvSpPr/>
          <p:nvPr/>
        </p:nvSpPr>
        <p:spPr>
          <a:xfrm>
            <a:off x="2623128" y="4114800"/>
            <a:ext cx="182880" cy="182880"/>
          </a:xfrm>
          <a:prstGeom prst="ellipse">
            <a:avLst/>
          </a:prstGeom>
          <a:solidFill>
            <a:srgbClr val="0E0807"/>
          </a:solidFill>
          <a:ln w="25400">
            <a:solidFill>
              <a:srgbClr val="E2B45E"/>
            </a:solidFill>
            <a:prstDash val="solid"/>
          </a:ln>
        </p:spPr>
      </p:sp>
      <p:sp>
        <p:nvSpPr>
          <p:cNvPr id="29" name="fx3_2_12"/>
          <p:cNvSpPr/>
          <p:nvPr/>
        </p:nvSpPr>
        <p:spPr>
          <a:xfrm>
            <a:off x="2084032" y="4389120"/>
            <a:ext cx="1261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900" dirty="0">
                <a:solidFill>
                  <a:srgbClr val="E2B4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1708</a:t>
            </a:r>
            <a:endParaRPr lang="en-US" sz="1900" dirty="0"/>
          </a:p>
        </p:txBody>
      </p:sp>
      <p:sp>
        <p:nvSpPr>
          <p:cNvPr id="30" name="fx3_2_13"/>
          <p:cNvSpPr/>
          <p:nvPr/>
        </p:nvSpPr>
        <p:spPr>
          <a:xfrm>
            <a:off x="2084032" y="4791456"/>
            <a:ext cx="1261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6EF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Франция</a:t>
            </a:r>
            <a:endParaRPr lang="en-US" sz="1200" dirty="0"/>
          </a:p>
        </p:txBody>
      </p:sp>
      <p:sp>
        <p:nvSpPr>
          <p:cNvPr id="31" name="fx3_2_14"/>
          <p:cNvSpPr/>
          <p:nvPr/>
        </p:nvSpPr>
        <p:spPr>
          <a:xfrm>
            <a:off x="2084032" y="5074920"/>
            <a:ext cx="126107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BBAC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Получает французское подданство</a:t>
            </a:r>
            <a:endParaRPr lang="en-US" sz="1000" dirty="0"/>
          </a:p>
        </p:txBody>
      </p:sp>
      <p:sp>
        <p:nvSpPr>
          <p:cNvPr id="32" name="fx3_3_15"/>
          <p:cNvSpPr/>
          <p:nvPr/>
        </p:nvSpPr>
        <p:spPr>
          <a:xfrm>
            <a:off x="3975640" y="4114800"/>
            <a:ext cx="182880" cy="182880"/>
          </a:xfrm>
          <a:prstGeom prst="ellipse">
            <a:avLst/>
          </a:prstGeom>
          <a:solidFill>
            <a:srgbClr val="0E0807"/>
          </a:solidFill>
          <a:ln w="25400">
            <a:solidFill>
              <a:srgbClr val="E2B45E"/>
            </a:solidFill>
            <a:prstDash val="solid"/>
          </a:ln>
        </p:spPr>
      </p:sp>
      <p:sp>
        <p:nvSpPr>
          <p:cNvPr id="33" name="fx3_3_16"/>
          <p:cNvSpPr/>
          <p:nvPr/>
        </p:nvSpPr>
        <p:spPr>
          <a:xfrm>
            <a:off x="3436544" y="4389120"/>
            <a:ext cx="1261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900" dirty="0">
                <a:solidFill>
                  <a:srgbClr val="E2B4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1711</a:t>
            </a:r>
            <a:endParaRPr lang="en-US" sz="1900" dirty="0"/>
          </a:p>
        </p:txBody>
      </p:sp>
      <p:sp>
        <p:nvSpPr>
          <p:cNvPr id="34" name="fx3_3_17"/>
          <p:cNvSpPr/>
          <p:nvPr/>
        </p:nvSpPr>
        <p:spPr>
          <a:xfrm>
            <a:off x="3436544" y="4791456"/>
            <a:ext cx="1261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6EF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Испания</a:t>
            </a:r>
            <a:endParaRPr lang="en-US" sz="1200" dirty="0"/>
          </a:p>
        </p:txBody>
      </p:sp>
      <p:sp>
        <p:nvSpPr>
          <p:cNvPr id="35" name="fx3_3_18"/>
          <p:cNvSpPr/>
          <p:nvPr/>
        </p:nvSpPr>
        <p:spPr>
          <a:xfrm>
            <a:off x="3436544" y="5074920"/>
            <a:ext cx="126107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BBAC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Работает на казначея Джеймса Брайджеса</a:t>
            </a:r>
            <a:endParaRPr lang="en-US" sz="1000" dirty="0"/>
          </a:p>
        </p:txBody>
      </p:sp>
      <p:sp>
        <p:nvSpPr>
          <p:cNvPr id="36" name="fx3_3_19"/>
          <p:cNvSpPr/>
          <p:nvPr/>
        </p:nvSpPr>
        <p:spPr>
          <a:xfrm>
            <a:off x="5328152" y="4114800"/>
            <a:ext cx="182880" cy="182880"/>
          </a:xfrm>
          <a:prstGeom prst="ellipse">
            <a:avLst/>
          </a:prstGeom>
          <a:solidFill>
            <a:srgbClr val="0E0807"/>
          </a:solidFill>
          <a:ln w="25400">
            <a:solidFill>
              <a:srgbClr val="E2B45E"/>
            </a:solidFill>
            <a:prstDash val="solid"/>
          </a:ln>
        </p:spPr>
      </p:sp>
      <p:sp>
        <p:nvSpPr>
          <p:cNvPr id="37" name="fx3_3_20"/>
          <p:cNvSpPr/>
          <p:nvPr/>
        </p:nvSpPr>
        <p:spPr>
          <a:xfrm>
            <a:off x="4789056" y="4389120"/>
            <a:ext cx="1261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900" dirty="0">
                <a:solidFill>
                  <a:srgbClr val="E2B4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1714</a:t>
            </a:r>
            <a:endParaRPr lang="en-US" sz="1900" dirty="0"/>
          </a:p>
        </p:txBody>
      </p:sp>
      <p:sp>
        <p:nvSpPr>
          <p:cNvPr id="38" name="fx3_3_21"/>
          <p:cNvSpPr/>
          <p:nvPr/>
        </p:nvSpPr>
        <p:spPr>
          <a:xfrm>
            <a:off x="4789056" y="4791456"/>
            <a:ext cx="1261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6EF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Париж</a:t>
            </a:r>
            <a:endParaRPr lang="en-US" sz="1200" dirty="0"/>
          </a:p>
        </p:txBody>
      </p:sp>
      <p:sp>
        <p:nvSpPr>
          <p:cNvPr id="39" name="fx3_3_22"/>
          <p:cNvSpPr/>
          <p:nvPr/>
        </p:nvSpPr>
        <p:spPr>
          <a:xfrm>
            <a:off x="4789056" y="5074920"/>
            <a:ext cx="126107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BBAC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Поступает в банк кузена</a:t>
            </a:r>
            <a:endParaRPr lang="en-US" sz="1000" dirty="0"/>
          </a:p>
        </p:txBody>
      </p:sp>
      <p:sp>
        <p:nvSpPr>
          <p:cNvPr id="40" name="fx3_4_23"/>
          <p:cNvSpPr/>
          <p:nvPr/>
        </p:nvSpPr>
        <p:spPr>
          <a:xfrm>
            <a:off x="6680664" y="4114800"/>
            <a:ext cx="182880" cy="182880"/>
          </a:xfrm>
          <a:prstGeom prst="ellipse">
            <a:avLst/>
          </a:prstGeom>
          <a:solidFill>
            <a:srgbClr val="0E0807"/>
          </a:solidFill>
          <a:ln w="25400">
            <a:solidFill>
              <a:srgbClr val="E2B45E"/>
            </a:solidFill>
            <a:prstDash val="solid"/>
          </a:ln>
        </p:spPr>
      </p:sp>
      <p:sp>
        <p:nvSpPr>
          <p:cNvPr id="41" name="fx3_4_24"/>
          <p:cNvSpPr/>
          <p:nvPr/>
        </p:nvSpPr>
        <p:spPr>
          <a:xfrm>
            <a:off x="6141568" y="4389120"/>
            <a:ext cx="1261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900" dirty="0">
                <a:solidFill>
                  <a:srgbClr val="E2B4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1716</a:t>
            </a:r>
            <a:endParaRPr lang="en-US" sz="1900" dirty="0"/>
          </a:p>
        </p:txBody>
      </p:sp>
      <p:sp>
        <p:nvSpPr>
          <p:cNvPr id="42" name="fx3_4_25"/>
          <p:cNvSpPr/>
          <p:nvPr/>
        </p:nvSpPr>
        <p:spPr>
          <a:xfrm>
            <a:off x="6141568" y="4791456"/>
            <a:ext cx="1261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6EF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Банкир</a:t>
            </a:r>
            <a:endParaRPr lang="en-US" sz="1200" dirty="0"/>
          </a:p>
        </p:txBody>
      </p:sp>
      <p:sp>
        <p:nvSpPr>
          <p:cNvPr id="43" name="fx3_4_26"/>
          <p:cNvSpPr/>
          <p:nvPr/>
        </p:nvSpPr>
        <p:spPr>
          <a:xfrm>
            <a:off x="6141568" y="5074920"/>
            <a:ext cx="126107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BBAC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Выкупает банк: переводы Париж — Лондон</a:t>
            </a:r>
            <a:endParaRPr lang="en-US" sz="1000" dirty="0"/>
          </a:p>
        </p:txBody>
      </p:sp>
      <p:sp>
        <p:nvSpPr>
          <p:cNvPr id="44" name="fx3_4_27"/>
          <p:cNvSpPr/>
          <p:nvPr/>
        </p:nvSpPr>
        <p:spPr>
          <a:xfrm>
            <a:off x="8033175" y="4114800"/>
            <a:ext cx="182880" cy="182880"/>
          </a:xfrm>
          <a:prstGeom prst="ellipse">
            <a:avLst/>
          </a:prstGeom>
          <a:solidFill>
            <a:srgbClr val="0E0807"/>
          </a:solidFill>
          <a:ln w="25400">
            <a:solidFill>
              <a:srgbClr val="E2B45E"/>
            </a:solidFill>
            <a:prstDash val="solid"/>
          </a:ln>
        </p:spPr>
      </p:sp>
      <p:sp>
        <p:nvSpPr>
          <p:cNvPr id="45" name="fx3_4_28"/>
          <p:cNvSpPr/>
          <p:nvPr/>
        </p:nvSpPr>
        <p:spPr>
          <a:xfrm>
            <a:off x="7494080" y="4389120"/>
            <a:ext cx="1261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900" dirty="0">
                <a:solidFill>
                  <a:srgbClr val="E2B4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1719</a:t>
            </a:r>
            <a:endParaRPr lang="en-US" sz="1900" dirty="0"/>
          </a:p>
        </p:txBody>
      </p:sp>
      <p:sp>
        <p:nvSpPr>
          <p:cNvPr id="46" name="fx3_4_29"/>
          <p:cNvSpPr/>
          <p:nvPr/>
        </p:nvSpPr>
        <p:spPr>
          <a:xfrm>
            <a:off x="7494080" y="4791456"/>
            <a:ext cx="1261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6EF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Амстердам</a:t>
            </a:r>
            <a:endParaRPr lang="en-US" sz="1200" dirty="0"/>
          </a:p>
        </p:txBody>
      </p:sp>
      <p:sp>
        <p:nvSpPr>
          <p:cNvPr id="47" name="fx3_4_30"/>
          <p:cNvSpPr/>
          <p:nvPr/>
        </p:nvSpPr>
        <p:spPr>
          <a:xfrm>
            <a:off x="7494080" y="5074920"/>
            <a:ext cx="126107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BBAC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Уезжает из Парижа на пике пузыря</a:t>
            </a:r>
            <a:endParaRPr lang="en-US" sz="1000" dirty="0"/>
          </a:p>
        </p:txBody>
      </p:sp>
      <p:sp>
        <p:nvSpPr>
          <p:cNvPr id="48" name="fx3_5_31"/>
          <p:cNvSpPr/>
          <p:nvPr/>
        </p:nvSpPr>
        <p:spPr>
          <a:xfrm>
            <a:off x="9385687" y="4114800"/>
            <a:ext cx="182880" cy="182880"/>
          </a:xfrm>
          <a:prstGeom prst="ellipse">
            <a:avLst/>
          </a:prstGeom>
          <a:solidFill>
            <a:srgbClr val="0E0807"/>
          </a:solidFill>
          <a:ln w="25400">
            <a:solidFill>
              <a:srgbClr val="E2B45E"/>
            </a:solidFill>
            <a:prstDash val="solid"/>
          </a:ln>
        </p:spPr>
      </p:sp>
      <p:sp>
        <p:nvSpPr>
          <p:cNvPr id="49" name="fx3_5_32"/>
          <p:cNvSpPr/>
          <p:nvPr/>
        </p:nvSpPr>
        <p:spPr>
          <a:xfrm>
            <a:off x="8846591" y="4389120"/>
            <a:ext cx="1261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900" dirty="0">
                <a:solidFill>
                  <a:srgbClr val="E2B4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1722</a:t>
            </a:r>
            <a:endParaRPr lang="en-US" sz="1900" dirty="0"/>
          </a:p>
        </p:txBody>
      </p:sp>
      <p:sp>
        <p:nvSpPr>
          <p:cNvPr id="50" name="fx3_5_33"/>
          <p:cNvSpPr/>
          <p:nvPr/>
        </p:nvSpPr>
        <p:spPr>
          <a:xfrm>
            <a:off x="8846591" y="4791456"/>
            <a:ext cx="1261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6EF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Брак</a:t>
            </a:r>
            <a:endParaRPr lang="en-US" sz="1200" dirty="0"/>
          </a:p>
        </p:txBody>
      </p:sp>
      <p:sp>
        <p:nvSpPr>
          <p:cNvPr id="51" name="fx3_5_34"/>
          <p:cNvSpPr/>
          <p:nvPr/>
        </p:nvSpPr>
        <p:spPr>
          <a:xfrm>
            <a:off x="8846591" y="5074920"/>
            <a:ext cx="126107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BBAC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Женится на Мэри Энн О'Махони</a:t>
            </a:r>
            <a:endParaRPr lang="en-US" sz="1000" dirty="0"/>
          </a:p>
        </p:txBody>
      </p:sp>
      <p:sp>
        <p:nvSpPr>
          <p:cNvPr id="52" name="fx3_5_35"/>
          <p:cNvSpPr/>
          <p:nvPr/>
        </p:nvSpPr>
        <p:spPr>
          <a:xfrm>
            <a:off x="10738199" y="4114800"/>
            <a:ext cx="182880" cy="182880"/>
          </a:xfrm>
          <a:prstGeom prst="ellipse">
            <a:avLst/>
          </a:prstGeom>
          <a:solidFill>
            <a:srgbClr val="E9784A"/>
          </a:solidFill>
          <a:ln w="25400">
            <a:solidFill>
              <a:srgbClr val="E9784A"/>
            </a:solidFill>
            <a:prstDash val="solid"/>
          </a:ln>
        </p:spPr>
      </p:sp>
      <p:sp>
        <p:nvSpPr>
          <p:cNvPr id="53" name="fx3_5_36"/>
          <p:cNvSpPr/>
          <p:nvPr/>
        </p:nvSpPr>
        <p:spPr>
          <a:xfrm>
            <a:off x="10199103" y="4389120"/>
            <a:ext cx="1261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900" dirty="0">
                <a:solidFill>
                  <a:srgbClr val="E978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1734</a:t>
            </a:r>
            <a:endParaRPr lang="en-US" sz="1900" dirty="0"/>
          </a:p>
        </p:txBody>
      </p:sp>
      <p:sp>
        <p:nvSpPr>
          <p:cNvPr id="54" name="fx3_5_37"/>
          <p:cNvSpPr/>
          <p:nvPr/>
        </p:nvSpPr>
        <p:spPr>
          <a:xfrm>
            <a:off x="10199103" y="4791456"/>
            <a:ext cx="1261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6EF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Лондон</a:t>
            </a:r>
            <a:endParaRPr lang="en-US" sz="1200" dirty="0"/>
          </a:p>
        </p:txBody>
      </p:sp>
      <p:sp>
        <p:nvSpPr>
          <p:cNvPr id="55" name="fx3_5_38"/>
          <p:cNvSpPr/>
          <p:nvPr/>
        </p:nvSpPr>
        <p:spPr>
          <a:xfrm>
            <a:off x="10199103" y="5074920"/>
            <a:ext cx="126107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BBAC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Пожар в доме на Олбемарл-стрит</a:t>
            </a:r>
            <a:endParaRPr lang="en-US" sz="1000" dirty="0"/>
          </a:p>
        </p:txBody>
      </p: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56" name="!!m-frame">
                <a:extLst>
                  <a:ext uri="{FF2B5EF4-FFF2-40B4-BE49-F238E27FC236}">
                    <a16:creationId xmlns:a16="http://schemas.microsoft.com/office/drawing/2014/main" id="{4C3E1F70-26EE-353E-576F-14EC415F9B0C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-4754880" y="1325880"/>
              <a:ext cx="4206240" cy="4206240"/>
            </p:xfrm>
            <a:graphic>
              <a:graphicData uri="http://schemas.microsoft.com/office/drawing/2017/model3d">
                <am3d:model3d r:embed="rIdM3d10">
                  <am3d:spPr>
                    <a:xfrm>
                      <a:off x="0" y="0"/>
                      <a:ext cx="4206240" cy="4206240"/>
                    </a:xfrm>
                    <a:prstGeom prst="rect">
                      <a:avLst/>
                    </a:prstGeom>
                  </am3d:spPr>
                  <am3d:camera>
                    <am3d:pos x="0" y="0" z="59968518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499251" d="1000000"/>
                    <am3d:preTrans dx="0" dy="0" dz="-188716"/>
                    <am3d:scale>
                      <am3d:sx n="1000000" d="1000000"/>
                      <am3d:sy n="1000000" d="1000000"/>
                      <am3d:sz n="1000000" d="1000000"/>
                    </am3d:scale>
                    <am3d:rot ax="240000" ay="-6240000" az="0"/>
                    <am3d:postTrans dx="0" dy="0" dz="0"/>
                  </am3d:trans>
                  <am3d:raster rName="Office3DRenderer" rVer="16.0.8326">
                    <am3d:blip r:embed="rId6"/>
                  </am3d:raster>
                  <am3d:objViewport viewportSz="4206240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56" name="!!m-frame">
                <a:extLst>
                  <a:ext uri="{FF2B5EF4-FFF2-40B4-BE49-F238E27FC236}">
                    <a16:creationId xmlns:a16="http://schemas.microsoft.com/office/drawing/2014/main" id="{4C3E1F70-26EE-353E-576F-14EC415F9B0C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-4754880" y="1325880"/>
                <a:ext cx="4206240" cy="4206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57" name="!!m-moneybag">
                <a:extLst>
                  <a:ext uri="{FF2B5EF4-FFF2-40B4-BE49-F238E27FC236}">
                    <a16:creationId xmlns:a16="http://schemas.microsoft.com/office/drawing/2014/main" id="{77FFCB05-4DAF-DCFA-93AD-CF53FD581743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12740335" y="1417320"/>
              <a:ext cx="4206240" cy="4206240"/>
            </p:xfrm>
            <a:graphic>
              <a:graphicData uri="http://schemas.microsoft.com/office/drawing/2017/model3d">
                <am3d:model3d r:embed="rIdM3d11">
                  <am3d:spPr>
                    <a:xfrm>
                      <a:off x="0" y="0"/>
                      <a:ext cx="4206240" cy="4206240"/>
                    </a:xfrm>
                    <a:prstGeom prst="rect">
                      <a:avLst/>
                    </a:prstGeom>
                  </am3d:spPr>
                  <am3d:camera>
                    <am3d:pos x="0" y="0" z="72141998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578119" d="1000000"/>
                    <am3d:preTrans dx="-2395254" dy="-14456" dz="-3533225"/>
                    <am3d:scale>
                      <am3d:sx n="1000000" d="1000000"/>
                      <am3d:sy n="1000000" d="1000000"/>
                      <am3d:sz n="1000000" d="1000000"/>
                    </am3d:scale>
                    <am3d:rot ax="840000" ay="3720000" az="0"/>
                    <am3d:postTrans dx="0" dy="0" dz="0"/>
                  </am3d:trans>
                  <am3d:raster rName="Office3DRenderer" rVer="16.0.8326">
                    <am3d:blip r:embed="rId7"/>
                  </am3d:raster>
                  <am3d:objViewport viewportSz="4206240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57" name="!!m-moneybag">
                <a:extLst>
                  <a:ext uri="{FF2B5EF4-FFF2-40B4-BE49-F238E27FC236}">
                    <a16:creationId xmlns:a16="http://schemas.microsoft.com/office/drawing/2014/main" id="{77FFCB05-4DAF-DCFA-93AD-CF53FD581743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2740335" y="1417320"/>
                <a:ext cx="4206240" cy="42062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6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42" presetClass="entr" presetSubtype="0" fill="hold" grpId="0" nodeType="after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7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700" decel="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00" decel="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42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7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700" decel="10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700" decel="10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7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700" decel="10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700" decel="10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7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700" decel="100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700" decel="100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7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700" decel="100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700" decel="100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41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7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700" decel="100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700" decel="100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grpId="0" nodeType="withEffect">
                                  <p:stCondLst>
                                    <p:cond delay="41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7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700" decel="100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700" decel="100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42" presetClass="entr" presetSubtype="0" fill="hold" grpId="0" nodeType="withEffect">
                                  <p:stCondLst>
                                    <p:cond delay="41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7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700" decel="100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700" decel="100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42" presetClass="entr" presetSubtype="0" fill="hold" grpId="0" nodeType="withEffect">
                                  <p:stCondLst>
                                    <p:cond delay="41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7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700" decel="100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700" decel="100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42" presetClass="entr" presetSubtype="0" fill="hold" grpId="0" nodeType="withEffect">
                                  <p:stCondLst>
                                    <p:cond delay="41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7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700" decel="100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700" decel="100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42" presetClass="entr" presetSubtype="0" fill="hold" grpId="0" nodeType="withEffect">
                                  <p:stCondLst>
                                    <p:cond delay="41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7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700" decel="100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700" decel="100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42" presetClass="entr" presetSubtype="0" fill="hold" grpId="0" nodeType="withEffect">
                                  <p:stCondLst>
                                    <p:cond delay="41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7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700" decel="100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700" decel="100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42" presetClass="entr" presetSubtype="0" fill="hold" grpId="0" nodeType="withEffect">
                                  <p:stCondLst>
                                    <p:cond delay="41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7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700" decel="100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700" decel="100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42" presetClass="entr" presetSubtype="0" fill="hold" grpId="0" nodeType="withEffect">
                                  <p:stCondLst>
                                    <p:cond delay="41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7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3" dur="700" decel="100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700" decel="100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42" presetClass="entr" presetSubtype="0" fill="hold" grpId="0" nodeType="withEffect">
                                  <p:stCondLst>
                                    <p:cond delay="67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7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700" decel="100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700" decel="100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2" presetID="42" presetClass="entr" presetSubtype="0" fill="hold" grpId="0" nodeType="withEffect">
                                  <p:stCondLst>
                                    <p:cond delay="67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7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3" dur="700" decel="100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700" decel="100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7" presetID="42" presetClass="entr" presetSubtype="0" fill="hold" grpId="0" nodeType="withEffect">
                                  <p:stCondLst>
                                    <p:cond delay="67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7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8" dur="700" decel="100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700" decel="100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2" presetID="42" presetClass="entr" presetSubtype="0" fill="hold" grpId="0" nodeType="withEffect">
                                  <p:stCondLst>
                                    <p:cond delay="67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7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3" dur="700" decel="100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700" decel="100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7" presetID="42" presetClass="entr" presetSubtype="0" fill="hold" grpId="0" nodeType="withEffect">
                                  <p:stCondLst>
                                    <p:cond delay="67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7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8" dur="700" decel="100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700" decel="100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2" presetID="42" presetClass="entr" presetSubtype="0" fill="hold" grpId="0" nodeType="withEffect">
                                  <p:stCondLst>
                                    <p:cond delay="67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7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3" dur="700" decel="100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4" dur="700" decel="100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7" presetID="42" presetClass="entr" presetSubtype="0" fill="hold" grpId="0" nodeType="withEffect">
                                  <p:stCondLst>
                                    <p:cond delay="67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7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8" dur="700" decel="100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9" dur="700" decel="100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2" presetID="42" presetClass="entr" presetSubtype="0" fill="hold" grpId="0" nodeType="withEffect">
                                  <p:stCondLst>
                                    <p:cond delay="67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7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3" dur="700" decel="100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4" dur="700" decel="100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7" presetID="42" presetClass="entr" presetSubtype="0" fill="hold" grpId="0" nodeType="withEffect">
                                  <p:stCondLst>
                                    <p:cond delay="93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6" dur="7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8" dur="700" decel="100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9" dur="700" decel="100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2" presetID="42" presetClass="entr" presetSubtype="0" fill="hold" grpId="0" nodeType="withEffect">
                                  <p:stCondLst>
                                    <p:cond delay="93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7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3" dur="700" decel="100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4" dur="700" decel="100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7" presetID="42" presetClass="entr" presetSubtype="0" fill="hold" grpId="0" nodeType="withEffect">
                                  <p:stCondLst>
                                    <p:cond delay="93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6" dur="7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8" dur="700" decel="100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9" dur="700" decel="100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2" presetID="42" presetClass="entr" presetSubtype="0" fill="hold" grpId="0" nodeType="withEffect">
                                  <p:stCondLst>
                                    <p:cond delay="93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1" dur="7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3" dur="700" decel="100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4" dur="700" decel="100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7" presetID="42" presetClass="entr" presetSubtype="0" fill="hold" grpId="0" nodeType="withEffect">
                                  <p:stCondLst>
                                    <p:cond delay="93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6" dur="7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8" dur="700" decel="100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9" dur="700" decel="100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2" presetID="42" presetClass="entr" presetSubtype="0" fill="hold" grpId="0" nodeType="withEffect">
                                  <p:stCondLst>
                                    <p:cond delay="93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1" dur="7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3" dur="700" decel="100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4" dur="700" decel="100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7" presetID="42" presetClass="entr" presetSubtype="0" fill="hold" grpId="0" nodeType="withEffect">
                                  <p:stCondLst>
                                    <p:cond delay="93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6" dur="7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8" dur="700" decel="100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9" dur="700" decel="100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2" presetID="42" presetClass="entr" presetSubtype="0" fill="hold" grpId="0" nodeType="withEffect">
                                  <p:stCondLst>
                                    <p:cond delay="93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1" dur="7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3" dur="700" decel="100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4" dur="700" decel="100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7" presetID="42" presetClass="entr" presetSubtype="0" fill="hold" grpId="0" nodeType="withEffect">
                                  <p:stCondLst>
                                    <p:cond delay="119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6" dur="7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8" dur="700" decel="100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9" dur="700" decel="100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2" presetID="42" presetClass="entr" presetSubtype="0" fill="hold" grpId="0" nodeType="withEffect">
                                  <p:stCondLst>
                                    <p:cond delay="119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1" dur="7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3" dur="700" decel="1000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4" dur="700" decel="1000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7" presetID="42" presetClass="entr" presetSubtype="0" fill="hold" grpId="0" nodeType="withEffect">
                                  <p:stCondLst>
                                    <p:cond delay="119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6" dur="7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8" dur="700" decel="100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9" dur="700" decel="100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2" presetID="42" presetClass="entr" presetSubtype="0" fill="hold" grpId="0" nodeType="withEffect">
                                  <p:stCondLst>
                                    <p:cond delay="119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1" dur="7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3" dur="700" decel="100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4" dur="700" decel="100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7" presetID="42" presetClass="entr" presetSubtype="0" fill="hold" grpId="0" nodeType="withEffect">
                                  <p:stCondLst>
                                    <p:cond delay="119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6" dur="7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8" dur="700" decel="100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9" dur="700" decel="100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2" presetID="42" presetClass="entr" presetSubtype="0" fill="hold" grpId="0" nodeType="withEffect">
                                  <p:stCondLst>
                                    <p:cond delay="119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1" dur="7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3" dur="700" decel="1000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4" dur="700" decel="1000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7" presetID="42" presetClass="entr" presetSubtype="0" fill="hold" grpId="0" nodeType="withEffect">
                                  <p:stCondLst>
                                    <p:cond delay="119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6" dur="7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8" dur="700" decel="100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9" dur="700" decel="100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2" presetID="42" presetClass="entr" presetSubtype="0" fill="hold" grpId="0" nodeType="withEffect">
                                  <p:stCondLst>
                                    <p:cond delay="119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1" dur="7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3" dur="700" decel="1000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4" dur="700" decel="1000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7" presetID="42" presetClass="entr" presetSubtype="0" fill="hold" grpId="0" nodeType="withEffect">
                                  <p:stCondLst>
                                    <p:cond delay="1450"/>
                                  </p:stCondLst>
                                  <p:childTnLs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6" dur="7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8" dur="70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9" dur="70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  <p:bldP spid="42" grpId="0" animBg="1"/>
      <p:bldP spid="43" grpId="0" animBg="1"/>
      <p:bldP spid="44" grpId="0" animBg="1"/>
      <p:bldP spid="45" grpId="0" animBg="1"/>
      <p:bldP spid="46" grpId="0" animBg="1"/>
      <p:bldP spid="47" grpId="0" animBg="1"/>
      <p:bldP spid="48" grpId="0" animBg="1"/>
      <p:bldP spid="49" grpId="0" animBg="1"/>
      <p:bldP spid="50" grpId="0" animBg="1"/>
      <p:bldP spid="51" grpId="0" animBg="1"/>
      <p:bldP spid="52" grpId="0" animBg="1"/>
      <p:bldP spid="53" grpId="0" animBg="1"/>
      <p:bldP spid="54" grpId="0" animBg="1"/>
      <p:bldP spid="55" grpId="0" animBg="1"/>
      <p:bldP spid="16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xmlns:am3d="http://schemas.microsoft.com/office/drawing/2017/model3d" mc:Ignorable="am3d">
  <p:cSld name="Slide 4">
    <p:bg>
      <p:bgPr>
        <a:solidFill>
          <a:srgbClr val="08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ackground" descr="/home/user/omgGame/presentations/cantillon/assets/stage-bg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!!track"/>
          <p:cNvSpPr/>
          <p:nvPr/>
        </p:nvSpPr>
        <p:spPr>
          <a:xfrm>
            <a:off x="685800" y="402336"/>
            <a:ext cx="10820095" cy="91"/>
          </a:xfrm>
          <a:prstGeom prst="line">
            <a:avLst/>
          </a:prstGeom>
          <a:noFill/>
          <a:ln w="9525">
            <a:solidFill>
              <a:srgbClr val="FFFFFF">
                <a:alpha val="16000"/>
              </a:srgbClr>
            </a:solidFill>
            <a:prstDash val="solid"/>
          </a:ln>
        </p:spPr>
      </p:sp>
      <p:sp>
        <p:nvSpPr>
          <p:cNvPr id="4" name="!!progress"/>
          <p:cNvSpPr/>
          <p:nvPr/>
        </p:nvSpPr>
        <p:spPr>
          <a:xfrm>
            <a:off x="685800" y="391363"/>
            <a:ext cx="2028768" cy="21946"/>
          </a:xfrm>
          <a:prstGeom prst="rect">
            <a:avLst/>
          </a:prstGeom>
          <a:solidFill>
            <a:srgbClr val="E2B45E"/>
          </a:solidFill>
          <a:ln/>
        </p:spPr>
      </p: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5" name="!!coin">
                <a:extLst>
                  <a:ext uri="{FF2B5EF4-FFF2-40B4-BE49-F238E27FC236}">
                    <a16:creationId xmlns:a16="http://schemas.microsoft.com/office/drawing/2014/main" id="{A0CD095D-703B-44BD-CB3A-97BF8DFA782A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2458536" y="117043"/>
              <a:ext cx="512064" cy="512064"/>
            </p:xfrm>
            <a:graphic>
              <a:graphicData uri="http://schemas.microsoft.com/office/drawing/2017/model3d">
                <am3d:model3d r:embed="rIdM3d12">
                  <am3d:spPr>
                    <a:xfrm>
                      <a:off x="0" y="0"/>
                      <a:ext cx="512064" cy="512064"/>
                    </a:xfrm>
                    <a:prstGeom prst="rect">
                      <a:avLst/>
                    </a:prstGeom>
                  </am3d:spPr>
                  <am3d:camera>
                    <am3d:pos x="0" y="0" z="66612804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500000" d="1000000"/>
                    <am3d:preTrans dx="0" dy="0" dz="-269999"/>
                    <am3d:scale>
                      <am3d:sx n="1000000" d="1000000"/>
                      <am3d:sy n="1000000" d="1000000"/>
                      <am3d:sz n="1000000" d="1000000"/>
                    </am3d:scale>
                    <am3d:rot ax="0" ay="-960000" az="-27000000"/>
                    <am3d:postTrans dx="0" dy="0" dz="0"/>
                  </am3d:trans>
                  <am3d:raster rName="Office3DRenderer" rVer="16.0.8326">
                    <am3d:blip r:embed="rId2"/>
                  </am3d:raster>
                  <am3d:objViewport viewportSz="512064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5" name="!!coin">
                <a:extLst>
                  <a:ext uri="{FF2B5EF4-FFF2-40B4-BE49-F238E27FC236}">
                    <a16:creationId xmlns:a16="http://schemas.microsoft.com/office/drawing/2014/main" id="{A0CD095D-703B-44BD-CB3A-97BF8DFA782A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2458536" y="117043"/>
                <a:ext cx="512064" cy="512064"/>
              </a:xfrm>
              <a:prstGeom prst="rect">
                <a:avLst/>
              </a:prstGeom>
            </p:spPr>
          </p:pic>
        </mc:Fallback>
      </mc:AlternateContent>
      <p:sp>
        <p:nvSpPr>
          <p:cNvPr id="6" name="!!kickerbar"/>
          <p:cNvSpPr/>
          <p:nvPr/>
        </p:nvSpPr>
        <p:spPr>
          <a:xfrm>
            <a:off x="685800" y="713232"/>
            <a:ext cx="310896" cy="32004"/>
          </a:xfrm>
          <a:prstGeom prst="rect">
            <a:avLst/>
          </a:prstGeom>
          <a:solidFill>
            <a:srgbClr val="E2B45E"/>
          </a:solidFill>
          <a:ln/>
        </p:spPr>
      </p:sp>
      <p:sp>
        <p:nvSpPr>
          <p:cNvPr id="7" name="!!kicker"/>
          <p:cNvSpPr/>
          <p:nvPr/>
        </p:nvSpPr>
        <p:spPr>
          <a:xfrm>
            <a:off x="1124712" y="5943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spc="300" kern="0" dirty="0">
                <a:solidFill>
                  <a:srgbClr val="E2B4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— ЧЕМ ЗАНИМАЛСЯ: ЧЕТЫРЕ РОЛИ</a:t>
            </a:r>
            <a:endParaRPr lang="en-US" sz="1100" dirty="0"/>
          </a:p>
        </p:txBody>
      </p:sp>
      <p:sp>
        <p:nvSpPr>
          <p:cNvPr id="8" name="!!footline"/>
          <p:cNvSpPr/>
          <p:nvPr/>
        </p:nvSpPr>
        <p:spPr>
          <a:xfrm>
            <a:off x="685800" y="6400800"/>
            <a:ext cx="10820095" cy="91"/>
          </a:xfrm>
          <a:prstGeom prst="line">
            <a:avLst/>
          </a:prstGeom>
          <a:noFill/>
          <a:ln w="9525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9" name="!!footer"/>
          <p:cNvSpPr/>
          <p:nvPr/>
        </p:nvSpPr>
        <p:spPr>
          <a:xfrm>
            <a:off x="685800" y="649224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spc="200" kern="0" dirty="0">
                <a:solidFill>
                  <a:srgbClr val="BBAC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РИЧАРД КАНТИЛЬОН  ·  1680-е – 1734</a:t>
            </a:r>
            <a:endParaRPr lang="en-US" sz="900" dirty="0"/>
          </a:p>
        </p:txBody>
      </p:sp>
      <p:sp>
        <p:nvSpPr>
          <p:cNvPr id="10" name="!!pagenum"/>
          <p:cNvSpPr/>
          <p:nvPr/>
        </p:nvSpPr>
        <p:spPr>
          <a:xfrm>
            <a:off x="10134295" y="649224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900" spc="200" kern="0" dirty="0">
                <a:solidFill>
                  <a:srgbClr val="BBAC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/ 17</a:t>
            </a:r>
            <a:endParaRPr lang="en-US" sz="900" dirty="0"/>
          </a:p>
        </p:txBody>
      </p:sp>
      <p:pic>
        <p:nvPicPr>
          <p:cNvPr id="11" name="!!glow" descr="/home/user/omgGame/presentations/cantillon/assets/glow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97396" y="105156"/>
            <a:ext cx="6099048" cy="6099048"/>
          </a:xfrm>
          <a:prstGeom prst="rect">
            <a:avLst/>
          </a:prstGeom>
        </p:spPr>
      </p:pic>
      <p:sp>
        <p:nvSpPr>
          <p:cNvPr id="12" name="!!ring1"/>
          <p:cNvSpPr/>
          <p:nvPr/>
        </p:nvSpPr>
        <p:spPr>
          <a:xfrm>
            <a:off x="7669987" y="1177747"/>
            <a:ext cx="3953866" cy="3953866"/>
          </a:xfrm>
          <a:prstGeom prst="ellipse">
            <a:avLst/>
          </a:prstGeom>
          <a:ln w="9525">
            <a:solidFill>
              <a:srgbClr val="E2B45E">
                <a:alpha val="18000"/>
              </a:srgbClr>
            </a:solidFill>
            <a:prstDash val="solid"/>
          </a:ln>
        </p:spPr>
      </p:sp>
      <p:sp>
        <p:nvSpPr>
          <p:cNvPr id="13" name="!!ring2"/>
          <p:cNvSpPr/>
          <p:nvPr/>
        </p:nvSpPr>
        <p:spPr>
          <a:xfrm>
            <a:off x="7123176" y="630936"/>
            <a:ext cx="5047488" cy="5047488"/>
          </a:xfrm>
          <a:prstGeom prst="ellipse">
            <a:avLst/>
          </a:prstGeom>
          <a:ln w="9525">
            <a:solidFill>
              <a:srgbClr val="E2B45E">
                <a:alpha val="12000"/>
              </a:srgbClr>
            </a:solidFill>
            <a:prstDash val="dash"/>
          </a:ln>
        </p:spPr>
      </p:sp>
      <p:pic>
        <p:nvPicPr>
          <p:cNvPr id="14" name="!!shadow" descr="/home/user/omgGame/presentations/cantillon/assets/shadow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06486" y="4006444"/>
            <a:ext cx="3280867" cy="820217"/>
          </a:xfrm>
          <a:prstGeom prst="rect">
            <a:avLst/>
          </a:prstGeom>
        </p:spPr>
      </p:pic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15" name="!!m-moneybag">
                <a:extLst>
                  <a:ext uri="{FF2B5EF4-FFF2-40B4-BE49-F238E27FC236}">
                    <a16:creationId xmlns:a16="http://schemas.microsoft.com/office/drawing/2014/main" id="{C648268D-4FF6-A967-B4A0-DFC051BE877C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7543800" y="1051560"/>
              <a:ext cx="4206240" cy="4206240"/>
            </p:xfrm>
            <a:graphic>
              <a:graphicData uri="http://schemas.microsoft.com/office/drawing/2017/model3d">
                <am3d:model3d r:embed="rIdM3d13">
                  <am3d:spPr>
                    <a:xfrm>
                      <a:off x="0" y="0"/>
                      <a:ext cx="4206240" cy="4206240"/>
                    </a:xfrm>
                    <a:prstGeom prst="rect">
                      <a:avLst/>
                    </a:prstGeom>
                  </am3d:spPr>
                  <am3d:camera>
                    <am3d:pos x="0" y="0" z="72141998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578119" d="1000000"/>
                    <am3d:preTrans dx="-2395254" dy="-14456" dz="-3533225"/>
                    <am3d:scale>
                      <am3d:sx n="1000000" d="1000000"/>
                      <am3d:sy n="1000000" d="1000000"/>
                      <am3d:sz n="1000000" d="1000000"/>
                    </am3d:scale>
                    <am3d:rot ax="840000" ay="-1080000" az="0"/>
                    <am3d:postTrans dx="0" dy="0" dz="0"/>
                  </am3d:trans>
                  <am3d:raster rName="Office3DRenderer" rVer="16.0.8326">
                    <am3d:blip r:embed="rId5"/>
                  </am3d:raster>
                  <am3d:objViewport viewportSz="4206240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15" name="!!m-moneybag">
                <a:extLst>
                  <a:ext uri="{FF2B5EF4-FFF2-40B4-BE49-F238E27FC236}">
                    <a16:creationId xmlns:a16="http://schemas.microsoft.com/office/drawing/2014/main" id="{C648268D-4FF6-A967-B4A0-DFC051BE877C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543800" y="1051560"/>
                <a:ext cx="4206240" cy="4206240"/>
              </a:xfrm>
              <a:prstGeom prst="rect">
                <a:avLst/>
              </a:prstGeom>
            </p:spPr>
          </p:pic>
        </mc:Fallback>
      </mc:AlternateContent>
      <p:sp>
        <p:nvSpPr>
          <p:cNvPr id="16" name="fx4_9_0"/>
          <p:cNvSpPr/>
          <p:nvPr/>
        </p:nvSpPr>
        <p:spPr>
          <a:xfrm>
            <a:off x="8001000" y="4963363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00" b="1" spc="250" kern="0" dirty="0">
                <a:solidFill>
                  <a:srgbClr val="E2B4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ЭКСПОНАТ 04</a:t>
            </a:r>
            <a:endParaRPr lang="en-US" sz="9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BBAC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Мешок золотых ливров</a:t>
            </a:r>
            <a:endParaRPr lang="en-US" sz="900" dirty="0"/>
          </a:p>
        </p:txBody>
      </p:sp>
      <p:sp>
        <p:nvSpPr>
          <p:cNvPr id="17" name="!!title"/>
          <p:cNvSpPr/>
          <p:nvPr/>
        </p:nvSpPr>
        <p:spPr>
          <a:xfrm>
            <a:off x="685800" y="987552"/>
            <a:ext cx="6766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600" dirty="0">
                <a:solidFill>
                  <a:srgbClr val="F6EFE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Банкир, спекулянт, кредитор, мыслитель</a:t>
            </a:r>
            <a:endParaRPr lang="en-US" sz="3600" dirty="0"/>
          </a:p>
        </p:txBody>
      </p:sp>
      <p:sp>
        <p:nvSpPr>
          <p:cNvPr id="18" name="fx4_1_1"/>
          <p:cNvSpPr/>
          <p:nvPr/>
        </p:nvSpPr>
        <p:spPr>
          <a:xfrm>
            <a:off x="685800" y="2148840"/>
            <a:ext cx="3227832" cy="1353312"/>
          </a:xfrm>
          <a:prstGeom prst="roundRect">
            <a:avLst>
              <a:gd name="adj" fmla="val 5405"/>
            </a:avLst>
          </a:prstGeom>
          <a:solidFill>
            <a:srgbClr val="21130F">
              <a:alpha val="88000"/>
            </a:srgbClr>
          </a:solidFill>
          <a:ln w="9525">
            <a:solidFill>
              <a:srgbClr val="E2B45E">
                <a:alpha val="28000"/>
              </a:srgbClr>
            </a:solidFill>
            <a:prstDash val="solid"/>
          </a:ln>
        </p:spPr>
      </p:sp>
      <p:sp>
        <p:nvSpPr>
          <p:cNvPr id="19" name="fx4_1_2"/>
          <p:cNvSpPr/>
          <p:nvPr/>
        </p:nvSpPr>
        <p:spPr>
          <a:xfrm>
            <a:off x="886968" y="2276856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200" dirty="0">
                <a:solidFill>
                  <a:srgbClr val="E2B4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</a:t>
            </a:r>
            <a:endParaRPr lang="en-US" sz="2200" dirty="0"/>
          </a:p>
        </p:txBody>
      </p:sp>
      <p:sp>
        <p:nvSpPr>
          <p:cNvPr id="20" name="fx4_1_3"/>
          <p:cNvSpPr/>
          <p:nvPr/>
        </p:nvSpPr>
        <p:spPr>
          <a:xfrm>
            <a:off x="1417320" y="2331720"/>
            <a:ext cx="23591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6EF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Банкир</a:t>
            </a:r>
            <a:endParaRPr lang="en-US" sz="1400" dirty="0"/>
          </a:p>
        </p:txBody>
      </p:sp>
      <p:sp>
        <p:nvSpPr>
          <p:cNvPr id="21" name="fx4_1_4"/>
          <p:cNvSpPr/>
          <p:nvPr/>
        </p:nvSpPr>
        <p:spPr>
          <a:xfrm>
            <a:off x="886968" y="2734056"/>
            <a:ext cx="28620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BBAC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Владелец парижского банка: переводы между Парижем, Лондоном и Амстердамом.</a:t>
            </a:r>
            <a:endParaRPr lang="en-US" sz="1100" dirty="0"/>
          </a:p>
        </p:txBody>
      </p:sp>
      <p:sp>
        <p:nvSpPr>
          <p:cNvPr id="22" name="fx4_2_5"/>
          <p:cNvSpPr/>
          <p:nvPr/>
        </p:nvSpPr>
        <p:spPr>
          <a:xfrm>
            <a:off x="4050792" y="2148840"/>
            <a:ext cx="3227832" cy="1353312"/>
          </a:xfrm>
          <a:prstGeom prst="roundRect">
            <a:avLst>
              <a:gd name="adj" fmla="val 5405"/>
            </a:avLst>
          </a:prstGeom>
          <a:solidFill>
            <a:srgbClr val="21130F">
              <a:alpha val="88000"/>
            </a:srgbClr>
          </a:solidFill>
          <a:ln w="9525">
            <a:solidFill>
              <a:srgbClr val="E2B45E">
                <a:alpha val="28000"/>
              </a:srgbClr>
            </a:solidFill>
            <a:prstDash val="solid"/>
          </a:ln>
        </p:spPr>
      </p:sp>
      <p:sp>
        <p:nvSpPr>
          <p:cNvPr id="23" name="fx4_2_6"/>
          <p:cNvSpPr/>
          <p:nvPr/>
        </p:nvSpPr>
        <p:spPr>
          <a:xfrm>
            <a:off x="4251960" y="2276856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200" dirty="0">
                <a:solidFill>
                  <a:srgbClr val="E2B4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II</a:t>
            </a:r>
            <a:endParaRPr lang="en-US" sz="2200" dirty="0"/>
          </a:p>
        </p:txBody>
      </p:sp>
      <p:sp>
        <p:nvSpPr>
          <p:cNvPr id="24" name="fx4_2_7"/>
          <p:cNvSpPr/>
          <p:nvPr/>
        </p:nvSpPr>
        <p:spPr>
          <a:xfrm>
            <a:off x="4782312" y="2331720"/>
            <a:ext cx="23591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6EF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Спекулянт</a:t>
            </a:r>
            <a:endParaRPr lang="en-US" sz="1400" dirty="0"/>
          </a:p>
        </p:txBody>
      </p:sp>
      <p:sp>
        <p:nvSpPr>
          <p:cNvPr id="25" name="fx4_2_8"/>
          <p:cNvSpPr/>
          <p:nvPr/>
        </p:nvSpPr>
        <p:spPr>
          <a:xfrm>
            <a:off x="4251960" y="2734056"/>
            <a:ext cx="28620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BBAC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Купил акции Миссисипской компании рано — и продал на пике.</a:t>
            </a:r>
            <a:endParaRPr lang="en-US" sz="1100" dirty="0"/>
          </a:p>
        </p:txBody>
      </p:sp>
      <p:sp>
        <p:nvSpPr>
          <p:cNvPr id="26" name="fx4_3_9"/>
          <p:cNvSpPr/>
          <p:nvPr/>
        </p:nvSpPr>
        <p:spPr>
          <a:xfrm>
            <a:off x="685800" y="3630168"/>
            <a:ext cx="3227832" cy="1353312"/>
          </a:xfrm>
          <a:prstGeom prst="roundRect">
            <a:avLst>
              <a:gd name="adj" fmla="val 5405"/>
            </a:avLst>
          </a:prstGeom>
          <a:solidFill>
            <a:srgbClr val="21130F">
              <a:alpha val="88000"/>
            </a:srgbClr>
          </a:solidFill>
          <a:ln w="9525">
            <a:solidFill>
              <a:srgbClr val="E2B45E">
                <a:alpha val="28000"/>
              </a:srgbClr>
            </a:solidFill>
            <a:prstDash val="solid"/>
          </a:ln>
        </p:spPr>
      </p:sp>
      <p:sp>
        <p:nvSpPr>
          <p:cNvPr id="27" name="fx4_3_10"/>
          <p:cNvSpPr/>
          <p:nvPr/>
        </p:nvSpPr>
        <p:spPr>
          <a:xfrm>
            <a:off x="886968" y="3758184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200" dirty="0">
                <a:solidFill>
                  <a:srgbClr val="E2B4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III</a:t>
            </a:r>
            <a:endParaRPr lang="en-US" sz="2200" dirty="0"/>
          </a:p>
        </p:txBody>
      </p:sp>
      <p:sp>
        <p:nvSpPr>
          <p:cNvPr id="28" name="fx4_3_11"/>
          <p:cNvSpPr/>
          <p:nvPr/>
        </p:nvSpPr>
        <p:spPr>
          <a:xfrm>
            <a:off x="1417320" y="3813048"/>
            <a:ext cx="23591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6EF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Кредитор</a:t>
            </a:r>
            <a:endParaRPr lang="en-US" sz="1400" dirty="0"/>
          </a:p>
        </p:txBody>
      </p:sp>
      <p:sp>
        <p:nvSpPr>
          <p:cNvPr id="29" name="fx4_3_12"/>
          <p:cNvSpPr/>
          <p:nvPr/>
        </p:nvSpPr>
        <p:spPr>
          <a:xfrm>
            <a:off x="886968" y="4215384"/>
            <a:ext cx="28620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BBAC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Давал крупные займы под залог акций — и требовал возврата после краха.</a:t>
            </a:r>
            <a:endParaRPr lang="en-US" sz="1100" dirty="0"/>
          </a:p>
        </p:txBody>
      </p:sp>
      <p:sp>
        <p:nvSpPr>
          <p:cNvPr id="30" name="fx4_4_13"/>
          <p:cNvSpPr/>
          <p:nvPr/>
        </p:nvSpPr>
        <p:spPr>
          <a:xfrm>
            <a:off x="4050792" y="3630168"/>
            <a:ext cx="3227832" cy="1353312"/>
          </a:xfrm>
          <a:prstGeom prst="roundRect">
            <a:avLst>
              <a:gd name="adj" fmla="val 5405"/>
            </a:avLst>
          </a:prstGeom>
          <a:solidFill>
            <a:srgbClr val="21130F">
              <a:alpha val="88000"/>
            </a:srgbClr>
          </a:solidFill>
          <a:ln w="9525">
            <a:solidFill>
              <a:srgbClr val="E2B45E">
                <a:alpha val="28000"/>
              </a:srgbClr>
            </a:solidFill>
            <a:prstDash val="solid"/>
          </a:ln>
        </p:spPr>
      </p:sp>
      <p:sp>
        <p:nvSpPr>
          <p:cNvPr id="31" name="fx4_4_14"/>
          <p:cNvSpPr/>
          <p:nvPr/>
        </p:nvSpPr>
        <p:spPr>
          <a:xfrm>
            <a:off x="4251960" y="3758184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200" dirty="0">
                <a:solidFill>
                  <a:srgbClr val="E2B4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IV</a:t>
            </a:r>
            <a:endParaRPr lang="en-US" sz="2200" dirty="0"/>
          </a:p>
        </p:txBody>
      </p:sp>
      <p:sp>
        <p:nvSpPr>
          <p:cNvPr id="32" name="fx4_4_15"/>
          <p:cNvSpPr/>
          <p:nvPr/>
        </p:nvSpPr>
        <p:spPr>
          <a:xfrm>
            <a:off x="4782312" y="3813048"/>
            <a:ext cx="23591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6EF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Мыслитель</a:t>
            </a:r>
            <a:endParaRPr lang="en-US" sz="1400" dirty="0"/>
          </a:p>
        </p:txBody>
      </p:sp>
      <p:sp>
        <p:nvSpPr>
          <p:cNvPr id="33" name="fx4_4_16"/>
          <p:cNvSpPr/>
          <p:nvPr/>
        </p:nvSpPr>
        <p:spPr>
          <a:xfrm>
            <a:off x="4251960" y="4215384"/>
            <a:ext cx="28620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BBAC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Около 1730 г. написал Essai — первый полный трактат по экономике.</a:t>
            </a:r>
            <a:endParaRPr lang="en-US" sz="1100" dirty="0"/>
          </a:p>
        </p:txBody>
      </p:sp>
      <p:sp>
        <p:nvSpPr>
          <p:cNvPr id="34" name="fx4_8_17"/>
          <p:cNvSpPr/>
          <p:nvPr/>
        </p:nvSpPr>
        <p:spPr>
          <a:xfrm>
            <a:off x="685800" y="5257800"/>
            <a:ext cx="6592824" cy="932688"/>
          </a:xfrm>
          <a:prstGeom prst="roundRect">
            <a:avLst>
              <a:gd name="adj" fmla="val 7843"/>
            </a:avLst>
          </a:prstGeom>
          <a:solidFill>
            <a:srgbClr val="26180A">
              <a:alpha val="94000"/>
            </a:srgbClr>
          </a:solidFill>
          <a:ln w="12700">
            <a:solidFill>
              <a:srgbClr val="E2B45E">
                <a:alpha val="55000"/>
              </a:srgbClr>
            </a:solidFill>
            <a:prstDash val="solid"/>
          </a:ln>
          <a:effectLst>
            <a:outerShdw sx="100000" sy="100000" kx="0" ky="0" algn="bl" rotWithShape="0" blurRad="228600" dist="76200" dir="5400000">
              <a:srgbClr val="000000">
                <a:alpha val="45000"/>
              </a:srgbClr>
            </a:outerShdw>
          </a:effectLst>
        </p:spPr>
      </p:sp>
      <p:sp>
        <p:nvSpPr>
          <p:cNvPr id="35" name="fx4_8_18"/>
          <p:cNvSpPr/>
          <p:nvPr/>
        </p:nvSpPr>
        <p:spPr>
          <a:xfrm>
            <a:off x="685800" y="5404104"/>
            <a:ext cx="50292" cy="640080"/>
          </a:xfrm>
          <a:prstGeom prst="rect">
            <a:avLst/>
          </a:prstGeom>
          <a:solidFill>
            <a:srgbClr val="E2B45E"/>
          </a:solidFill>
          <a:ln/>
        </p:spPr>
      </p:sp>
      <p:sp>
        <p:nvSpPr>
          <p:cNvPr id="36" name="fx4_8_19"/>
          <p:cNvSpPr/>
          <p:nvPr/>
        </p:nvSpPr>
        <p:spPr>
          <a:xfrm>
            <a:off x="941832" y="5120640"/>
            <a:ext cx="1993392" cy="274320"/>
          </a:xfrm>
          <a:prstGeom prst="roundRect">
            <a:avLst>
              <a:gd name="adj" fmla="val 50000"/>
            </a:avLst>
          </a:prstGeom>
          <a:solidFill>
            <a:srgbClr val="E2B45E"/>
          </a:solidFill>
          <a:ln/>
        </p:spPr>
      </p:sp>
      <p:sp>
        <p:nvSpPr>
          <p:cNvPr id="37" name="fx4_8_20"/>
          <p:cNvSpPr/>
          <p:nvPr/>
        </p:nvSpPr>
        <p:spPr>
          <a:xfrm>
            <a:off x="941832" y="5120640"/>
            <a:ext cx="199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50" b="1" spc="150" kern="0" dirty="0">
                <a:solidFill>
                  <a:srgbClr val="0E08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  САМОЕ ИНТЕРЕСНОЕ</a:t>
            </a:r>
            <a:endParaRPr lang="en-US" sz="850" dirty="0"/>
          </a:p>
        </p:txBody>
      </p:sp>
      <p:sp>
        <p:nvSpPr>
          <p:cNvPr id="38" name="fx4_8_21"/>
          <p:cNvSpPr/>
          <p:nvPr/>
        </p:nvSpPr>
        <p:spPr>
          <a:xfrm>
            <a:off x="960120" y="5440680"/>
            <a:ext cx="613562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i="1" dirty="0">
                <a:solidFill>
                  <a:srgbClr val="F6EFE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Он считал систему Ло </a:t>
            </a:r>
            <a:pPr algn="l" indent="0" marL="0">
              <a:lnSpc>
                <a:spcPct val="105000"/>
              </a:lnSpc>
              <a:buNone/>
            </a:pPr>
            <a:r>
              <a:rPr lang="en-US" sz="1300" b="1" i="1" dirty="0">
                <a:solidFill>
                  <a:srgbClr val="F6EFE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«необоснованной и обречённой»</a:t>
            </a:r>
            <a:pPr algn="l" indent="0" marL="0">
              <a:lnSpc>
                <a:spcPct val="105000"/>
              </a:lnSpc>
              <a:buNone/>
            </a:pPr>
            <a:r>
              <a:rPr lang="en-US" sz="1300" i="1" dirty="0">
                <a:solidFill>
                  <a:srgbClr val="F6EFE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— и именно поэтому разбогател: купил рано, продал дорого и вовремя вышел.</a:t>
            </a:r>
            <a:endParaRPr lang="en-US" sz="1300" dirty="0"/>
          </a:p>
        </p:txBody>
      </p: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39" name="!!m-compass">
                <a:extLst>
                  <a:ext uri="{FF2B5EF4-FFF2-40B4-BE49-F238E27FC236}">
                    <a16:creationId xmlns:a16="http://schemas.microsoft.com/office/drawing/2014/main" id="{B962F2A2-5A47-EB9E-94E1-2FEF78E6690B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-4114800" y="731520"/>
              <a:ext cx="3566160" cy="3566160"/>
            </p:xfrm>
            <a:graphic>
              <a:graphicData uri="http://schemas.microsoft.com/office/drawing/2017/model3d">
                <am3d:model3d r:embed="rIdM3d14">
                  <am3d:spPr>
                    <a:xfrm>
                      <a:off x="0" y="0"/>
                      <a:ext cx="3566160" cy="3566160"/>
                    </a:xfrm>
                    <a:prstGeom prst="rect">
                      <a:avLst/>
                    </a:prstGeom>
                  </am3d:spPr>
                  <am3d:camera>
                    <am3d:pos x="0" y="0" z="73052143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793651" d="1000000"/>
                    <am3d:preTrans dx="0" dy="116675" dz="1006157"/>
                    <am3d:scale>
                      <am3d:sx n="1000000" d="1000000"/>
                      <am3d:sy n="1000000" d="1000000"/>
                      <am3d:sz n="1000000" d="1000000"/>
                    </am3d:scale>
                    <am3d:rot ax="600000" ay="-5640000" az="0"/>
                    <am3d:postTrans dx="0" dy="0" dz="0"/>
                  </am3d:trans>
                  <am3d:raster rName="Office3DRenderer" rVer="16.0.8326">
                    <am3d:blip r:embed="rId6"/>
                  </am3d:raster>
                  <am3d:objViewport viewportSz="3566160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39" name="!!m-compass">
                <a:extLst>
                  <a:ext uri="{FF2B5EF4-FFF2-40B4-BE49-F238E27FC236}">
                    <a16:creationId xmlns:a16="http://schemas.microsoft.com/office/drawing/2014/main" id="{B962F2A2-5A47-EB9E-94E1-2FEF78E6690B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-4114800" y="731520"/>
                <a:ext cx="3566160" cy="3566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40" name="!!m-bubble">
                <a:extLst>
                  <a:ext uri="{FF2B5EF4-FFF2-40B4-BE49-F238E27FC236}">
                    <a16:creationId xmlns:a16="http://schemas.microsoft.com/office/drawing/2014/main" id="{E68BADBA-591E-4E9D-BE61-57BBBA9E6331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12740335" y="1280160"/>
              <a:ext cx="4023360" cy="4023360"/>
            </p:xfrm>
            <a:graphic>
              <a:graphicData uri="http://schemas.microsoft.com/office/drawing/2017/model3d">
                <am3d:model3d r:embed="rIdM3d15">
                  <am3d:spPr>
                    <a:xfrm>
                      <a:off x="0" y="0"/>
                      <a:ext cx="4023360" cy="4023360"/>
                    </a:xfrm>
                    <a:prstGeom prst="rect">
                      <a:avLst/>
                    </a:prstGeom>
                  </am3d:spPr>
                  <am3d:camera>
                    <am3d:pos x="0" y="0" z="80407765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490196" d="1000000"/>
                    <am3d:preTrans dx="-2" dy="352941" dz="2"/>
                    <am3d:scale>
                      <am3d:sx n="1000000" d="1000000"/>
                      <am3d:sy n="1000000" d="1000000"/>
                      <am3d:sz n="1000000" d="1000000"/>
                    </am3d:scale>
                    <am3d:rot ax="480000" ay="3600000" az="0"/>
                    <am3d:postTrans dx="0" dy="0" dz="0"/>
                  </am3d:trans>
                  <am3d:raster rName="Office3DRenderer" rVer="16.0.8326">
                    <am3d:blip r:embed="rId7"/>
                  </am3d:raster>
                  <am3d:objViewport viewportSz="4023360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40" name="!!m-bubble">
                <a:extLst>
                  <a:ext uri="{FF2B5EF4-FFF2-40B4-BE49-F238E27FC236}">
                    <a16:creationId xmlns:a16="http://schemas.microsoft.com/office/drawing/2014/main" id="{E68BADBA-591E-4E9D-BE61-57BBBA9E6331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2740335" y="1280160"/>
                <a:ext cx="4023360" cy="40233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6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42" presetClass="entr" presetSubtype="0" fill="hold" grpId="0" nodeType="after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7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700" decel="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00" decel="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42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7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700" decel="10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700" decel="10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7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700" decel="10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700" decel="10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7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700" decel="100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700" decel="100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grpId="0" nodeType="withEffect">
                                  <p:stCondLst>
                                    <p:cond delay="41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7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700" decel="100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700" decel="100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41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7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700" decel="100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700" decel="100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grpId="0" nodeType="withEffect">
                                  <p:stCondLst>
                                    <p:cond delay="41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7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700" decel="100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700" decel="100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42" presetClass="entr" presetSubtype="0" fill="hold" grpId="0" nodeType="withEffect">
                                  <p:stCondLst>
                                    <p:cond delay="41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7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700" decel="100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700" decel="100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42" presetClass="entr" presetSubtype="0" fill="hold" grpId="0" nodeType="withEffect">
                                  <p:stCondLst>
                                    <p:cond delay="67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7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700" decel="100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700" decel="100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42" presetClass="entr" presetSubtype="0" fill="hold" grpId="0" nodeType="withEffect">
                                  <p:stCondLst>
                                    <p:cond delay="67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7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700" decel="100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700" decel="100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42" presetClass="entr" presetSubtype="0" fill="hold" grpId="0" nodeType="withEffect">
                                  <p:stCondLst>
                                    <p:cond delay="67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7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700" decel="100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700" decel="100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42" presetClass="entr" presetSubtype="0" fill="hold" grpId="0" nodeType="withEffect">
                                  <p:stCondLst>
                                    <p:cond delay="67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7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700" decel="100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700" decel="100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42" presetClass="entr" presetSubtype="0" fill="hold" grpId="0" nodeType="withEffect">
                                  <p:stCondLst>
                                    <p:cond delay="93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7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700" decel="100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700" decel="100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42" presetClass="entr" presetSubtype="0" fill="hold" grpId="0" nodeType="withEffect">
                                  <p:stCondLst>
                                    <p:cond delay="93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7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3" dur="700" decel="100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700" decel="100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42" presetClass="entr" presetSubtype="0" fill="hold" grpId="0" nodeType="withEffect">
                                  <p:stCondLst>
                                    <p:cond delay="93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7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700" decel="100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700" decel="100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2" presetID="42" presetClass="entr" presetSubtype="0" fill="hold" grpId="0" nodeType="withEffect">
                                  <p:stCondLst>
                                    <p:cond delay="93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7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3" dur="700" decel="100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700" decel="100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7" presetID="42" presetClass="entr" presetSubtype="0" fill="hold" grpId="0" nodeType="withEffect">
                                  <p:stCondLst>
                                    <p:cond delay="119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7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8" dur="700" decel="100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700" decel="100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2" presetID="42" presetClass="entr" presetSubtype="0" fill="hold" grpId="0" nodeType="withEffect">
                                  <p:stCondLst>
                                    <p:cond delay="119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7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3" dur="700" decel="100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700" decel="100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7" presetID="42" presetClass="entr" presetSubtype="0" fill="hold" grpId="0" nodeType="withEffect">
                                  <p:stCondLst>
                                    <p:cond delay="119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7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8" dur="700" decel="100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700" decel="100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2" presetID="42" presetClass="entr" presetSubtype="0" fill="hold" grpId="0" nodeType="withEffect">
                                  <p:stCondLst>
                                    <p:cond delay="119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7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3" dur="700" decel="100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4" dur="700" decel="100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7" presetID="42" presetClass="entr" presetSubtype="0" fill="hold" grpId="0" nodeType="withEffect">
                                  <p:stCondLst>
                                    <p:cond delay="119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7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8" dur="700" decel="100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9" dur="700" decel="100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2" presetID="42" presetClass="entr" presetSubtype="0" fill="hold" grpId="0" nodeType="withEffect">
                                  <p:stCondLst>
                                    <p:cond delay="145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7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3" dur="70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4" dur="70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xmlns:am3d="http://schemas.microsoft.com/office/drawing/2017/model3d" mc:Ignorable="am3d">
  <p:cSld name="Slide 5">
    <p:bg>
      <p:bgPr>
        <a:solidFill>
          <a:srgbClr val="08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ackground" descr="/home/user/omgGame/presentations/cantillon/assets/stage-bg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!!track"/>
          <p:cNvSpPr/>
          <p:nvPr/>
        </p:nvSpPr>
        <p:spPr>
          <a:xfrm>
            <a:off x="685800" y="402336"/>
            <a:ext cx="10820095" cy="91"/>
          </a:xfrm>
          <a:prstGeom prst="line">
            <a:avLst/>
          </a:prstGeom>
          <a:noFill/>
          <a:ln w="9525">
            <a:solidFill>
              <a:srgbClr val="FFFFFF">
                <a:alpha val="16000"/>
              </a:srgbClr>
            </a:solidFill>
            <a:prstDash val="solid"/>
          </a:ln>
        </p:spPr>
      </p:sp>
      <p:sp>
        <p:nvSpPr>
          <p:cNvPr id="4" name="!!progress"/>
          <p:cNvSpPr/>
          <p:nvPr/>
        </p:nvSpPr>
        <p:spPr>
          <a:xfrm>
            <a:off x="685800" y="391363"/>
            <a:ext cx="2705024" cy="21946"/>
          </a:xfrm>
          <a:prstGeom prst="rect">
            <a:avLst/>
          </a:prstGeom>
          <a:solidFill>
            <a:srgbClr val="E2B45E"/>
          </a:solidFill>
          <a:ln/>
        </p:spPr>
      </p: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5" name="!!coin">
                <a:extLst>
                  <a:ext uri="{FF2B5EF4-FFF2-40B4-BE49-F238E27FC236}">
                    <a16:creationId xmlns:a16="http://schemas.microsoft.com/office/drawing/2014/main" id="{85BAE302-4A0A-9AF0-301C-95BD8D2D9707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3134792" y="117043"/>
              <a:ext cx="512064" cy="512064"/>
            </p:xfrm>
            <a:graphic>
              <a:graphicData uri="http://schemas.microsoft.com/office/drawing/2017/model3d">
                <am3d:model3d r:embed="rIdM3d16">
                  <am3d:spPr>
                    <a:xfrm>
                      <a:off x="0" y="0"/>
                      <a:ext cx="512064" cy="512064"/>
                    </a:xfrm>
                    <a:prstGeom prst="rect">
                      <a:avLst/>
                    </a:prstGeom>
                  </am3d:spPr>
                  <am3d:camera>
                    <am3d:pos x="0" y="0" z="66612804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500000" d="1000000"/>
                    <am3d:preTrans dx="0" dy="0" dz="-269999"/>
                    <am3d:scale>
                      <am3d:sx n="1000000" d="1000000"/>
                      <am3d:sy n="1000000" d="1000000"/>
                      <am3d:sz n="1000000" d="1000000"/>
                    </am3d:scale>
                    <am3d:rot ax="0" ay="-960000" az="-36000000"/>
                    <am3d:postTrans dx="0" dy="0" dz="0"/>
                  </am3d:trans>
                  <am3d:raster rName="Office3DRenderer" rVer="16.0.8326">
                    <am3d:blip r:embed="rId2"/>
                  </am3d:raster>
                  <am3d:objViewport viewportSz="512064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5" name="!!coin">
                <a:extLst>
                  <a:ext uri="{FF2B5EF4-FFF2-40B4-BE49-F238E27FC236}">
                    <a16:creationId xmlns:a16="http://schemas.microsoft.com/office/drawing/2014/main" id="{85BAE302-4A0A-9AF0-301C-95BD8D2D9707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3134792" y="117043"/>
                <a:ext cx="512064" cy="512064"/>
              </a:xfrm>
              <a:prstGeom prst="rect">
                <a:avLst/>
              </a:prstGeom>
            </p:spPr>
          </p:pic>
        </mc:Fallback>
      </mc:AlternateContent>
      <p:sp>
        <p:nvSpPr>
          <p:cNvPr id="6" name="!!kickerbar"/>
          <p:cNvSpPr/>
          <p:nvPr/>
        </p:nvSpPr>
        <p:spPr>
          <a:xfrm>
            <a:off x="685800" y="713232"/>
            <a:ext cx="310896" cy="32004"/>
          </a:xfrm>
          <a:prstGeom prst="rect">
            <a:avLst/>
          </a:prstGeom>
          <a:solidFill>
            <a:srgbClr val="E2B45E"/>
          </a:solidFill>
          <a:ln/>
        </p:spPr>
      </p:sp>
      <p:sp>
        <p:nvSpPr>
          <p:cNvPr id="7" name="!!kicker"/>
          <p:cNvSpPr/>
          <p:nvPr/>
        </p:nvSpPr>
        <p:spPr>
          <a:xfrm>
            <a:off x="1124712" y="5943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spc="300" kern="0" dirty="0">
                <a:solidFill>
                  <a:srgbClr val="E2B4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— ПУЗЫРЬ МИССИСИПИ · 1716–1720</a:t>
            </a:r>
            <a:endParaRPr lang="en-US" sz="1100" dirty="0"/>
          </a:p>
        </p:txBody>
      </p:sp>
      <p:sp>
        <p:nvSpPr>
          <p:cNvPr id="8" name="!!footline"/>
          <p:cNvSpPr/>
          <p:nvPr/>
        </p:nvSpPr>
        <p:spPr>
          <a:xfrm>
            <a:off x="685800" y="6400800"/>
            <a:ext cx="10820095" cy="91"/>
          </a:xfrm>
          <a:prstGeom prst="line">
            <a:avLst/>
          </a:prstGeom>
          <a:noFill/>
          <a:ln w="9525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9" name="!!footer"/>
          <p:cNvSpPr/>
          <p:nvPr/>
        </p:nvSpPr>
        <p:spPr>
          <a:xfrm>
            <a:off x="685800" y="649224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spc="200" kern="0" dirty="0">
                <a:solidFill>
                  <a:srgbClr val="BBAC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РИЧАРД КАНТИЛЬОН  ·  1680-е – 1734</a:t>
            </a:r>
            <a:endParaRPr lang="en-US" sz="900" dirty="0"/>
          </a:p>
        </p:txBody>
      </p:sp>
      <p:sp>
        <p:nvSpPr>
          <p:cNvPr id="10" name="!!pagenum"/>
          <p:cNvSpPr/>
          <p:nvPr/>
        </p:nvSpPr>
        <p:spPr>
          <a:xfrm>
            <a:off x="10134295" y="649224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900" spc="200" kern="0" dirty="0">
                <a:solidFill>
                  <a:srgbClr val="BBAC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/ 17</a:t>
            </a:r>
            <a:endParaRPr lang="en-US" sz="900" dirty="0"/>
          </a:p>
        </p:txBody>
      </p:sp>
      <p:pic>
        <p:nvPicPr>
          <p:cNvPr id="11" name="!!glow" descr="/home/user/omgGame/presentations/cantillon/assets/glow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12864" y="9144"/>
            <a:ext cx="5833872" cy="5833872"/>
          </a:xfrm>
          <a:prstGeom prst="rect">
            <a:avLst/>
          </a:prstGeom>
        </p:spPr>
      </p:pic>
      <p:sp>
        <p:nvSpPr>
          <p:cNvPr id="12" name="!!ring1"/>
          <p:cNvSpPr/>
          <p:nvPr/>
        </p:nvSpPr>
        <p:spPr>
          <a:xfrm>
            <a:off x="7938821" y="1035101"/>
            <a:ext cx="3781958" cy="3781958"/>
          </a:xfrm>
          <a:prstGeom prst="ellipse">
            <a:avLst/>
          </a:prstGeom>
          <a:ln w="9525">
            <a:solidFill>
              <a:srgbClr val="E2B45E">
                <a:alpha val="18000"/>
              </a:srgbClr>
            </a:solidFill>
            <a:prstDash val="solid"/>
          </a:ln>
        </p:spPr>
      </p:sp>
      <p:sp>
        <p:nvSpPr>
          <p:cNvPr id="13" name="!!ring2"/>
          <p:cNvSpPr/>
          <p:nvPr/>
        </p:nvSpPr>
        <p:spPr>
          <a:xfrm>
            <a:off x="7415784" y="512064"/>
            <a:ext cx="4828032" cy="4828032"/>
          </a:xfrm>
          <a:prstGeom prst="ellipse">
            <a:avLst/>
          </a:prstGeom>
          <a:ln w="9525">
            <a:solidFill>
              <a:srgbClr val="E2B45E">
                <a:alpha val="12000"/>
              </a:srgbClr>
            </a:solidFill>
            <a:prstDash val="dash"/>
          </a:ln>
        </p:spPr>
      </p:sp>
      <p:pic>
        <p:nvPicPr>
          <p:cNvPr id="14" name="!!shadow" descr="/home/user/omgGame/presentations/cantillon/assets/shadow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24544" y="4389577"/>
            <a:ext cx="1810512" cy="452628"/>
          </a:xfrm>
          <a:prstGeom prst="rect">
            <a:avLst/>
          </a:prstGeom>
        </p:spPr>
      </p:pic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15" name="!!m-bubble">
                <a:extLst>
                  <a:ext uri="{FF2B5EF4-FFF2-40B4-BE49-F238E27FC236}">
                    <a16:creationId xmlns:a16="http://schemas.microsoft.com/office/drawing/2014/main" id="{6F5AAA51-2F49-D8F9-7082-28E5955D672B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7818120" y="914400"/>
              <a:ext cx="4023360" cy="4023360"/>
            </p:xfrm>
            <a:graphic>
              <a:graphicData uri="http://schemas.microsoft.com/office/drawing/2017/model3d">
                <am3d:model3d r:embed="rIdM3d17">
                  <am3d:spPr>
                    <a:xfrm>
                      <a:off x="0" y="0"/>
                      <a:ext cx="4023360" cy="4023360"/>
                    </a:xfrm>
                    <a:prstGeom prst="rect">
                      <a:avLst/>
                    </a:prstGeom>
                  </am3d:spPr>
                  <am3d:camera>
                    <am3d:pos x="0" y="0" z="80407765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490196" d="1000000"/>
                    <am3d:preTrans dx="-2" dy="352941" dz="2"/>
                    <am3d:scale>
                      <am3d:sx n="1000000" d="1000000"/>
                      <am3d:sy n="1000000" d="1000000"/>
                      <am3d:sz n="1000000" d="1000000"/>
                    </am3d:scale>
                    <am3d:rot ax="480000" ay="-1200000" az="0"/>
                    <am3d:postTrans dx="0" dy="0" dz="0"/>
                  </am3d:trans>
                  <am3d:raster rName="Office3DRenderer" rVer="16.0.8326">
                    <am3d:blip r:embed="rId5"/>
                  </am3d:raster>
                  <am3d:objViewport viewportSz="4023360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15" name="!!m-bubble">
                <a:extLst>
                  <a:ext uri="{FF2B5EF4-FFF2-40B4-BE49-F238E27FC236}">
                    <a16:creationId xmlns:a16="http://schemas.microsoft.com/office/drawing/2014/main" id="{6F5AAA51-2F49-D8F9-7082-28E5955D672B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818120" y="914400"/>
                <a:ext cx="4023360" cy="4023360"/>
              </a:xfrm>
              <a:prstGeom prst="rect">
                <a:avLst/>
              </a:prstGeom>
            </p:spPr>
          </p:pic>
        </mc:Fallback>
      </mc:AlternateContent>
      <p:sp>
        <p:nvSpPr>
          <p:cNvPr id="16" name="fx5_9_0"/>
          <p:cNvSpPr/>
          <p:nvPr/>
        </p:nvSpPr>
        <p:spPr>
          <a:xfrm>
            <a:off x="8092440" y="489204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00" b="1" spc="250" kern="0" dirty="0">
                <a:solidFill>
                  <a:srgbClr val="E2B4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ЭКСПОНАТ 05</a:t>
            </a:r>
            <a:endParaRPr lang="en-US" sz="9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BBAC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Пузырь: монеты, акция — и пустота вокруг</a:t>
            </a:r>
            <a:endParaRPr lang="en-US" sz="900" dirty="0"/>
          </a:p>
        </p:txBody>
      </p:sp>
      <p:sp>
        <p:nvSpPr>
          <p:cNvPr id="17" name="!!title"/>
          <p:cNvSpPr/>
          <p:nvPr/>
        </p:nvSpPr>
        <p:spPr>
          <a:xfrm>
            <a:off x="685800" y="987552"/>
            <a:ext cx="7086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200" dirty="0">
                <a:solidFill>
                  <a:srgbClr val="F6EFE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Джон Ло и пузырь Миссисипи</a:t>
            </a:r>
            <a:endParaRPr lang="en-US" sz="3200" dirty="0"/>
          </a:p>
        </p:txBody>
      </p:sp>
      <p:sp>
        <p:nvSpPr>
          <p:cNvPr id="18" name="fx5_1_1"/>
          <p:cNvSpPr/>
          <p:nvPr/>
        </p:nvSpPr>
        <p:spPr>
          <a:xfrm>
            <a:off x="685800" y="1920240"/>
            <a:ext cx="1572768" cy="1783080"/>
          </a:xfrm>
          <a:prstGeom prst="roundRect">
            <a:avLst>
              <a:gd name="adj" fmla="val 4651"/>
            </a:avLst>
          </a:prstGeom>
          <a:solidFill>
            <a:srgbClr val="21130F">
              <a:alpha val="90000"/>
            </a:srgbClr>
          </a:solidFill>
          <a:ln w="9525">
            <a:solidFill>
              <a:srgbClr val="E2B45E">
                <a:alpha val="30000"/>
              </a:srgbClr>
            </a:solidFill>
            <a:prstDash val="solid"/>
          </a:ln>
        </p:spPr>
      </p:sp>
      <p:sp>
        <p:nvSpPr>
          <p:cNvPr id="19" name="fx5_1_2"/>
          <p:cNvSpPr/>
          <p:nvPr/>
        </p:nvSpPr>
        <p:spPr>
          <a:xfrm>
            <a:off x="685800" y="1920240"/>
            <a:ext cx="1572768" cy="45720"/>
          </a:xfrm>
          <a:prstGeom prst="rect">
            <a:avLst/>
          </a:prstGeom>
          <a:solidFill>
            <a:srgbClr val="E2B45E"/>
          </a:solidFill>
          <a:ln/>
        </p:spPr>
      </p:sp>
      <p:sp>
        <p:nvSpPr>
          <p:cNvPr id="20" name="fx5_1_3"/>
          <p:cNvSpPr/>
          <p:nvPr/>
        </p:nvSpPr>
        <p:spPr>
          <a:xfrm>
            <a:off x="832104" y="2048256"/>
            <a:ext cx="13441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100" dirty="0">
                <a:solidFill>
                  <a:srgbClr val="E2B4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1716</a:t>
            </a:r>
            <a:endParaRPr lang="en-US" sz="2100" dirty="0"/>
          </a:p>
        </p:txBody>
      </p:sp>
      <p:sp>
        <p:nvSpPr>
          <p:cNvPr id="21" name="fx5_1_4"/>
          <p:cNvSpPr/>
          <p:nvPr/>
        </p:nvSpPr>
        <p:spPr>
          <a:xfrm>
            <a:off x="832104" y="2468880"/>
            <a:ext cx="1344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6EF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Банк Ло</a:t>
            </a:r>
            <a:endParaRPr lang="en-US" sz="1300" dirty="0"/>
          </a:p>
        </p:txBody>
      </p:sp>
      <p:sp>
        <p:nvSpPr>
          <p:cNvPr id="22" name="fx5_1_5"/>
          <p:cNvSpPr/>
          <p:nvPr/>
        </p:nvSpPr>
        <p:spPr>
          <a:xfrm>
            <a:off x="832104" y="2761488"/>
            <a:ext cx="134416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BBAC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Banque Générale получает право выпускать бумажные деньги</a:t>
            </a:r>
            <a:endParaRPr lang="en-US" sz="1050" dirty="0"/>
          </a:p>
        </p:txBody>
      </p:sp>
      <p:sp>
        <p:nvSpPr>
          <p:cNvPr id="23" name="fx5_2_6"/>
          <p:cNvSpPr/>
          <p:nvPr/>
        </p:nvSpPr>
        <p:spPr>
          <a:xfrm>
            <a:off x="2368296" y="1920240"/>
            <a:ext cx="1572768" cy="1783080"/>
          </a:xfrm>
          <a:prstGeom prst="roundRect">
            <a:avLst>
              <a:gd name="adj" fmla="val 4651"/>
            </a:avLst>
          </a:prstGeom>
          <a:solidFill>
            <a:srgbClr val="21130F">
              <a:alpha val="90000"/>
            </a:srgbClr>
          </a:solidFill>
          <a:ln w="9525">
            <a:solidFill>
              <a:srgbClr val="E2B45E">
                <a:alpha val="30000"/>
              </a:srgbClr>
            </a:solidFill>
            <a:prstDash val="solid"/>
          </a:ln>
        </p:spPr>
      </p:sp>
      <p:sp>
        <p:nvSpPr>
          <p:cNvPr id="24" name="fx5_2_7"/>
          <p:cNvSpPr/>
          <p:nvPr/>
        </p:nvSpPr>
        <p:spPr>
          <a:xfrm>
            <a:off x="2368296" y="1920240"/>
            <a:ext cx="1572768" cy="45720"/>
          </a:xfrm>
          <a:prstGeom prst="rect">
            <a:avLst/>
          </a:prstGeom>
          <a:solidFill>
            <a:srgbClr val="E2B45E"/>
          </a:solidFill>
          <a:ln/>
        </p:spPr>
      </p:sp>
      <p:sp>
        <p:nvSpPr>
          <p:cNvPr id="25" name="fx5_2_8"/>
          <p:cNvSpPr/>
          <p:nvPr/>
        </p:nvSpPr>
        <p:spPr>
          <a:xfrm>
            <a:off x="2514600" y="2048256"/>
            <a:ext cx="13441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100" dirty="0">
                <a:solidFill>
                  <a:srgbClr val="E2B4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1717</a:t>
            </a:r>
            <a:endParaRPr lang="en-US" sz="2100" dirty="0"/>
          </a:p>
        </p:txBody>
      </p:sp>
      <p:sp>
        <p:nvSpPr>
          <p:cNvPr id="26" name="fx5_2_9"/>
          <p:cNvSpPr/>
          <p:nvPr/>
        </p:nvSpPr>
        <p:spPr>
          <a:xfrm>
            <a:off x="2514600" y="2468880"/>
            <a:ext cx="1344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6EF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Компания</a:t>
            </a:r>
            <a:endParaRPr lang="en-US" sz="1300" dirty="0"/>
          </a:p>
        </p:txBody>
      </p:sp>
      <p:sp>
        <p:nvSpPr>
          <p:cNvPr id="27" name="fx5_2_10"/>
          <p:cNvSpPr/>
          <p:nvPr/>
        </p:nvSpPr>
        <p:spPr>
          <a:xfrm>
            <a:off x="2514600" y="2761488"/>
            <a:ext cx="134416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BBAC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Миссисипская компания — монополия на Луизиану</a:t>
            </a:r>
            <a:endParaRPr lang="en-US" sz="1050" dirty="0"/>
          </a:p>
        </p:txBody>
      </p:sp>
      <p:sp>
        <p:nvSpPr>
          <p:cNvPr id="28" name="fx5_3_11"/>
          <p:cNvSpPr/>
          <p:nvPr/>
        </p:nvSpPr>
        <p:spPr>
          <a:xfrm>
            <a:off x="4050792" y="1920240"/>
            <a:ext cx="1572768" cy="1783080"/>
          </a:xfrm>
          <a:prstGeom prst="roundRect">
            <a:avLst>
              <a:gd name="adj" fmla="val 4651"/>
            </a:avLst>
          </a:prstGeom>
          <a:solidFill>
            <a:srgbClr val="21130F">
              <a:alpha val="90000"/>
            </a:srgbClr>
          </a:solidFill>
          <a:ln w="9525">
            <a:solidFill>
              <a:srgbClr val="E2B45E">
                <a:alpha val="30000"/>
              </a:srgbClr>
            </a:solidFill>
            <a:prstDash val="solid"/>
          </a:ln>
        </p:spPr>
      </p:sp>
      <p:sp>
        <p:nvSpPr>
          <p:cNvPr id="29" name="fx5_3_12"/>
          <p:cNvSpPr/>
          <p:nvPr/>
        </p:nvSpPr>
        <p:spPr>
          <a:xfrm>
            <a:off x="4050792" y="1920240"/>
            <a:ext cx="1572768" cy="45720"/>
          </a:xfrm>
          <a:prstGeom prst="rect">
            <a:avLst/>
          </a:prstGeom>
          <a:solidFill>
            <a:srgbClr val="E2B45E"/>
          </a:solidFill>
          <a:ln/>
        </p:spPr>
      </p:sp>
      <p:sp>
        <p:nvSpPr>
          <p:cNvPr id="30" name="fx5_3_13"/>
          <p:cNvSpPr/>
          <p:nvPr/>
        </p:nvSpPr>
        <p:spPr>
          <a:xfrm>
            <a:off x="4197096" y="2048256"/>
            <a:ext cx="13441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100" dirty="0">
                <a:solidFill>
                  <a:srgbClr val="E2B4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1719</a:t>
            </a:r>
            <a:endParaRPr lang="en-US" sz="2100" dirty="0"/>
          </a:p>
        </p:txBody>
      </p:sp>
      <p:sp>
        <p:nvSpPr>
          <p:cNvPr id="31" name="fx5_3_14"/>
          <p:cNvSpPr/>
          <p:nvPr/>
        </p:nvSpPr>
        <p:spPr>
          <a:xfrm>
            <a:off x="4197096" y="2468880"/>
            <a:ext cx="1344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6EF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Ажиотаж</a:t>
            </a:r>
            <a:endParaRPr lang="en-US" sz="1300" dirty="0"/>
          </a:p>
        </p:txBody>
      </p:sp>
      <p:sp>
        <p:nvSpPr>
          <p:cNvPr id="32" name="fx5_3_15"/>
          <p:cNvSpPr/>
          <p:nvPr/>
        </p:nvSpPr>
        <p:spPr>
          <a:xfrm>
            <a:off x="4197096" y="2761488"/>
            <a:ext cx="134416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BBAC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Акции покупают на бумажные деньги — цены взлетают</a:t>
            </a:r>
            <a:endParaRPr lang="en-US" sz="1050" dirty="0"/>
          </a:p>
        </p:txBody>
      </p:sp>
      <p:sp>
        <p:nvSpPr>
          <p:cNvPr id="33" name="fx5_4_16"/>
          <p:cNvSpPr/>
          <p:nvPr/>
        </p:nvSpPr>
        <p:spPr>
          <a:xfrm>
            <a:off x="5733288" y="1920240"/>
            <a:ext cx="1572768" cy="1783080"/>
          </a:xfrm>
          <a:prstGeom prst="roundRect">
            <a:avLst>
              <a:gd name="adj" fmla="val 4651"/>
            </a:avLst>
          </a:prstGeom>
          <a:solidFill>
            <a:srgbClr val="21130F">
              <a:alpha val="90000"/>
            </a:srgbClr>
          </a:solidFill>
          <a:ln w="9525">
            <a:solidFill>
              <a:srgbClr val="E9784A">
                <a:alpha val="65000"/>
              </a:srgbClr>
            </a:solidFill>
            <a:prstDash val="solid"/>
          </a:ln>
        </p:spPr>
      </p:sp>
      <p:sp>
        <p:nvSpPr>
          <p:cNvPr id="34" name="fx5_4_17"/>
          <p:cNvSpPr/>
          <p:nvPr/>
        </p:nvSpPr>
        <p:spPr>
          <a:xfrm>
            <a:off x="5733288" y="1920240"/>
            <a:ext cx="1572768" cy="45720"/>
          </a:xfrm>
          <a:prstGeom prst="rect">
            <a:avLst/>
          </a:prstGeom>
          <a:solidFill>
            <a:srgbClr val="E9784A"/>
          </a:solidFill>
          <a:ln/>
        </p:spPr>
      </p:sp>
      <p:sp>
        <p:nvSpPr>
          <p:cNvPr id="35" name="fx5_4_18"/>
          <p:cNvSpPr/>
          <p:nvPr/>
        </p:nvSpPr>
        <p:spPr>
          <a:xfrm>
            <a:off x="5879592" y="2048256"/>
            <a:ext cx="13441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100" dirty="0">
                <a:solidFill>
                  <a:srgbClr val="E978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1720</a:t>
            </a:r>
            <a:endParaRPr lang="en-US" sz="2100" dirty="0"/>
          </a:p>
        </p:txBody>
      </p:sp>
      <p:sp>
        <p:nvSpPr>
          <p:cNvPr id="36" name="fx5_4_19"/>
          <p:cNvSpPr/>
          <p:nvPr/>
        </p:nvSpPr>
        <p:spPr>
          <a:xfrm>
            <a:off x="5879592" y="2468880"/>
            <a:ext cx="1344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6EF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Крах</a:t>
            </a:r>
            <a:endParaRPr lang="en-US" sz="1300" dirty="0"/>
          </a:p>
        </p:txBody>
      </p:sp>
      <p:sp>
        <p:nvSpPr>
          <p:cNvPr id="37" name="fx5_4_20"/>
          <p:cNvSpPr/>
          <p:nvPr/>
        </p:nvSpPr>
        <p:spPr>
          <a:xfrm>
            <a:off x="5879592" y="2761488"/>
            <a:ext cx="134416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BBAC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Пузырь лопнул: тысячи разорённых</a:t>
            </a:r>
            <a:endParaRPr lang="en-US" sz="1050" dirty="0"/>
          </a:p>
        </p:txBody>
      </p:sp>
      <p:sp>
        <p:nvSpPr>
          <p:cNvPr id="38" name="fx5_6_21"/>
          <p:cNvSpPr/>
          <p:nvPr/>
        </p:nvSpPr>
        <p:spPr>
          <a:xfrm>
            <a:off x="685800" y="4069080"/>
            <a:ext cx="6629400" cy="2103120"/>
          </a:xfrm>
          <a:prstGeom prst="roundRect">
            <a:avLst>
              <a:gd name="adj" fmla="val 3478"/>
            </a:avLst>
          </a:prstGeom>
          <a:solidFill>
            <a:srgbClr val="26180A">
              <a:alpha val="94000"/>
            </a:srgbClr>
          </a:solidFill>
          <a:ln w="12700">
            <a:solidFill>
              <a:srgbClr val="E2B45E">
                <a:alpha val="55000"/>
              </a:srgbClr>
            </a:solidFill>
            <a:prstDash val="solid"/>
          </a:ln>
          <a:effectLst>
            <a:outerShdw sx="100000" sy="100000" kx="0" ky="0" algn="bl" rotWithShape="0" blurRad="228600" dist="76200" dir="5400000">
              <a:srgbClr val="000000">
                <a:alpha val="45000"/>
              </a:srgbClr>
            </a:outerShdw>
          </a:effectLst>
        </p:spPr>
      </p:sp>
      <p:sp>
        <p:nvSpPr>
          <p:cNvPr id="39" name="fx5_6_22"/>
          <p:cNvSpPr/>
          <p:nvPr/>
        </p:nvSpPr>
        <p:spPr>
          <a:xfrm>
            <a:off x="685800" y="4215384"/>
            <a:ext cx="50292" cy="1810512"/>
          </a:xfrm>
          <a:prstGeom prst="rect">
            <a:avLst/>
          </a:prstGeom>
          <a:solidFill>
            <a:srgbClr val="E2B45E"/>
          </a:solidFill>
          <a:ln/>
        </p:spPr>
      </p:sp>
      <p:sp>
        <p:nvSpPr>
          <p:cNvPr id="40" name="fx5_6_23"/>
          <p:cNvSpPr/>
          <p:nvPr/>
        </p:nvSpPr>
        <p:spPr>
          <a:xfrm>
            <a:off x="941832" y="3931920"/>
            <a:ext cx="3433572" cy="274320"/>
          </a:xfrm>
          <a:prstGeom prst="roundRect">
            <a:avLst>
              <a:gd name="adj" fmla="val 50000"/>
            </a:avLst>
          </a:prstGeom>
          <a:solidFill>
            <a:srgbClr val="E2B45E"/>
          </a:solidFill>
          <a:ln/>
        </p:spPr>
      </p:sp>
      <p:sp>
        <p:nvSpPr>
          <p:cNvPr id="41" name="fx5_6_24"/>
          <p:cNvSpPr/>
          <p:nvPr/>
        </p:nvSpPr>
        <p:spPr>
          <a:xfrm>
            <a:off x="941832" y="3931920"/>
            <a:ext cx="34335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50" b="1" spc="150" kern="0" dirty="0">
                <a:solidFill>
                  <a:srgbClr val="0E08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  ДИАЛОГ, КОТОРЫЙ СТОИТ ЗАПОМНИТЬ</a:t>
            </a:r>
            <a:endParaRPr lang="en-US" sz="850" dirty="0"/>
          </a:p>
        </p:txBody>
      </p:sp>
      <p:sp>
        <p:nvSpPr>
          <p:cNvPr id="42" name="fx5_6_25"/>
          <p:cNvSpPr/>
          <p:nvPr/>
        </p:nvSpPr>
        <p:spPr>
          <a:xfrm>
            <a:off x="960120" y="4251960"/>
            <a:ext cx="6172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i="1" dirty="0">
                <a:solidFill>
                  <a:srgbClr val="F6EFE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Ло пригрозил посадить Кантильона, если тот не уедет из Франции за 24 часа. Ответ: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800" b="1" i="1" dirty="0">
                <a:solidFill>
                  <a:srgbClr val="F4DFB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«Я никуда не уеду — но я заставлю вашу систему работать».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BBAC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В 1718 году они вместе с Джозефом Гейджем создали общую компанию.</a:t>
            </a:r>
            <a:endParaRPr lang="en-US" sz="1300" dirty="0"/>
          </a:p>
        </p:txBody>
      </p: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43" name="!!m-moneybag">
                <a:extLst>
                  <a:ext uri="{FF2B5EF4-FFF2-40B4-BE49-F238E27FC236}">
                    <a16:creationId xmlns:a16="http://schemas.microsoft.com/office/drawing/2014/main" id="{E04C1063-5CE7-AA41-F5F1-239B1E7E84A0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-4754880" y="1417320"/>
              <a:ext cx="4206240" cy="4206240"/>
            </p:xfrm>
            <a:graphic>
              <a:graphicData uri="http://schemas.microsoft.com/office/drawing/2017/model3d">
                <am3d:model3d r:embed="rIdM3d18">
                  <am3d:spPr>
                    <a:xfrm>
                      <a:off x="0" y="0"/>
                      <a:ext cx="4206240" cy="4206240"/>
                    </a:xfrm>
                    <a:prstGeom prst="rect">
                      <a:avLst/>
                    </a:prstGeom>
                  </am3d:spPr>
                  <am3d:camera>
                    <am3d:pos x="0" y="0" z="72141998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578119" d="1000000"/>
                    <am3d:preTrans dx="-2395254" dy="-14456" dz="-3533225"/>
                    <am3d:scale>
                      <am3d:sx n="1000000" d="1000000"/>
                      <am3d:sy n="1000000" d="1000000"/>
                      <am3d:sz n="1000000" d="1000000"/>
                    </am3d:scale>
                    <am3d:rot ax="840000" ay="-5880000" az="0"/>
                    <am3d:postTrans dx="0" dy="0" dz="0"/>
                  </am3d:trans>
                  <am3d:raster rName="Office3DRenderer" rVer="16.0.8326">
                    <am3d:blip r:embed="rId6"/>
                  </am3d:raster>
                  <am3d:objViewport viewportSz="4206240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43" name="!!m-moneybag">
                <a:extLst>
                  <a:ext uri="{FF2B5EF4-FFF2-40B4-BE49-F238E27FC236}">
                    <a16:creationId xmlns:a16="http://schemas.microsoft.com/office/drawing/2014/main" id="{E04C1063-5CE7-AA41-F5F1-239B1E7E84A0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-4754880" y="1417320"/>
                <a:ext cx="4206240" cy="4206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44" name="!!m-gavel">
                <a:extLst>
                  <a:ext uri="{FF2B5EF4-FFF2-40B4-BE49-F238E27FC236}">
                    <a16:creationId xmlns:a16="http://schemas.microsoft.com/office/drawing/2014/main" id="{3C087940-6AD4-F88D-8A2E-CF0C6C99A6F7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12740335" y="1463040"/>
              <a:ext cx="4206240" cy="4206240"/>
            </p:xfrm>
            <a:graphic>
              <a:graphicData uri="http://schemas.microsoft.com/office/drawing/2017/model3d">
                <am3d:model3d r:embed="rIdM3d19">
                  <am3d:spPr>
                    <a:xfrm>
                      <a:off x="0" y="0"/>
                      <a:ext cx="4206240" cy="4206240"/>
                    </a:xfrm>
                    <a:prstGeom prst="rect">
                      <a:avLst/>
                    </a:prstGeom>
                  </am3d:spPr>
                  <am3d:camera>
                    <am3d:pos x="0" y="0" z="61362465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670592" d="1000000"/>
                    <am3d:preTrans dx="3998032" dy="271944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1200000" ay="3480000" az="0"/>
                    <am3d:postTrans dx="0" dy="0" dz="0"/>
                  </am3d:trans>
                  <am3d:raster rName="Office3DRenderer" rVer="16.0.8326">
                    <am3d:blip r:embed="rId7"/>
                  </am3d:raster>
                  <am3d:objViewport viewportSz="4206240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44" name="!!m-gavel">
                <a:extLst>
                  <a:ext uri="{FF2B5EF4-FFF2-40B4-BE49-F238E27FC236}">
                    <a16:creationId xmlns:a16="http://schemas.microsoft.com/office/drawing/2014/main" id="{3C087940-6AD4-F88D-8A2E-CF0C6C99A6F7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2740335" y="1463040"/>
                <a:ext cx="4206240" cy="42062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6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42" presetClass="entr" presetSubtype="0" fill="hold" grpId="0" nodeType="after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7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700" decel="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00" decel="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42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7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700" decel="10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700" decel="10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7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700" decel="10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700" decel="10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7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700" decel="100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700" decel="100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7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700" decel="100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700" decel="100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41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7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700" decel="100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700" decel="100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grpId="0" nodeType="withEffect">
                                  <p:stCondLst>
                                    <p:cond delay="41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7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700" decel="100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700" decel="100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42" presetClass="entr" presetSubtype="0" fill="hold" grpId="0" nodeType="withEffect">
                                  <p:stCondLst>
                                    <p:cond delay="41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7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700" decel="100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700" decel="100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42" presetClass="entr" presetSubtype="0" fill="hold" grpId="0" nodeType="withEffect">
                                  <p:stCondLst>
                                    <p:cond delay="41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7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700" decel="100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700" decel="100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42" presetClass="entr" presetSubtype="0" fill="hold" grpId="0" nodeType="withEffect">
                                  <p:stCondLst>
                                    <p:cond delay="41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7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700" decel="100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700" decel="100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42" presetClass="entr" presetSubtype="0" fill="hold" grpId="0" nodeType="withEffect">
                                  <p:stCondLst>
                                    <p:cond delay="67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7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700" decel="100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700" decel="100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42" presetClass="entr" presetSubtype="0" fill="hold" grpId="0" nodeType="withEffect">
                                  <p:stCondLst>
                                    <p:cond delay="67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7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700" decel="100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700" decel="100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42" presetClass="entr" presetSubtype="0" fill="hold" grpId="0" nodeType="withEffect">
                                  <p:stCondLst>
                                    <p:cond delay="67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7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700" decel="100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700" decel="100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42" presetClass="entr" presetSubtype="0" fill="hold" grpId="0" nodeType="withEffect">
                                  <p:stCondLst>
                                    <p:cond delay="67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7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3" dur="700" decel="100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700" decel="100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42" presetClass="entr" presetSubtype="0" fill="hold" grpId="0" nodeType="withEffect">
                                  <p:stCondLst>
                                    <p:cond delay="67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7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700" decel="100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700" decel="100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2" presetID="42" presetClass="entr" presetSubtype="0" fill="hold" grpId="0" nodeType="withEffect">
                                  <p:stCondLst>
                                    <p:cond delay="93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7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3" dur="700" decel="100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700" decel="100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7" presetID="42" presetClass="entr" presetSubtype="0" fill="hold" grpId="0" nodeType="withEffect">
                                  <p:stCondLst>
                                    <p:cond delay="93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7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8" dur="700" decel="100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700" decel="100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2" presetID="42" presetClass="entr" presetSubtype="0" fill="hold" grpId="0" nodeType="withEffect">
                                  <p:stCondLst>
                                    <p:cond delay="93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7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3" dur="700" decel="100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700" decel="100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7" presetID="42" presetClass="entr" presetSubtype="0" fill="hold" grpId="0" nodeType="withEffect">
                                  <p:stCondLst>
                                    <p:cond delay="93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7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8" dur="700" decel="100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700" decel="100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2" presetID="42" presetClass="entr" presetSubtype="0" fill="hold" grpId="0" nodeType="withEffect">
                                  <p:stCondLst>
                                    <p:cond delay="93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7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3" dur="700" decel="100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4" dur="700" decel="100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7" presetID="42" presetClass="entr" presetSubtype="0" fill="hold" grpId="0" nodeType="withEffect">
                                  <p:stCondLst>
                                    <p:cond delay="119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7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8" dur="700" decel="100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9" dur="700" decel="100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2" presetID="42" presetClass="entr" presetSubtype="0" fill="hold" grpId="0" nodeType="withEffect">
                                  <p:stCondLst>
                                    <p:cond delay="119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7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3" dur="700" decel="100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4" dur="700" decel="100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7" presetID="42" presetClass="entr" presetSubtype="0" fill="hold" grpId="0" nodeType="withEffect">
                                  <p:stCondLst>
                                    <p:cond delay="119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6" dur="7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8" dur="700" decel="100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9" dur="700" decel="100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2" presetID="42" presetClass="entr" presetSubtype="0" fill="hold" grpId="0" nodeType="withEffect">
                                  <p:stCondLst>
                                    <p:cond delay="119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7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3" dur="700" decel="100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4" dur="700" decel="100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7" presetID="42" presetClass="entr" presetSubtype="0" fill="hold" grpId="0" nodeType="withEffect">
                                  <p:stCondLst>
                                    <p:cond delay="119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6" dur="7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8" dur="700" decel="100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9" dur="700" decel="100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2" presetID="42" presetClass="entr" presetSubtype="0" fill="hold" grpId="0" nodeType="withEffect">
                                  <p:stCondLst>
                                    <p:cond delay="145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1" dur="7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3" dur="70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4" dur="70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  <p:bldP spid="42" grpId="0" animBg="1"/>
      <p:bldP spid="16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xmlns:am3d="http://schemas.microsoft.com/office/drawing/2017/model3d" mc:Ignorable="am3d">
  <p:cSld name="Slide 6">
    <p:bg>
      <p:bgPr>
        <a:solidFill>
          <a:srgbClr val="08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ackground" descr="/home/user/omgGame/presentations/cantillon/assets/stage-bg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!!track"/>
          <p:cNvSpPr/>
          <p:nvPr/>
        </p:nvSpPr>
        <p:spPr>
          <a:xfrm>
            <a:off x="685800" y="402336"/>
            <a:ext cx="10820095" cy="91"/>
          </a:xfrm>
          <a:prstGeom prst="line">
            <a:avLst/>
          </a:prstGeom>
          <a:noFill/>
          <a:ln w="9525">
            <a:solidFill>
              <a:srgbClr val="FFFFFF">
                <a:alpha val="16000"/>
              </a:srgbClr>
            </a:solidFill>
            <a:prstDash val="solid"/>
          </a:ln>
        </p:spPr>
      </p:sp>
      <p:sp>
        <p:nvSpPr>
          <p:cNvPr id="4" name="!!progress"/>
          <p:cNvSpPr/>
          <p:nvPr/>
        </p:nvSpPr>
        <p:spPr>
          <a:xfrm>
            <a:off x="685800" y="391363"/>
            <a:ext cx="3381280" cy="21946"/>
          </a:xfrm>
          <a:prstGeom prst="rect">
            <a:avLst/>
          </a:prstGeom>
          <a:solidFill>
            <a:srgbClr val="E2B45E"/>
          </a:solidFill>
          <a:ln/>
        </p:spPr>
      </p: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5" name="!!coin">
                <a:extLst>
                  <a:ext uri="{FF2B5EF4-FFF2-40B4-BE49-F238E27FC236}">
                    <a16:creationId xmlns:a16="http://schemas.microsoft.com/office/drawing/2014/main" id="{2211B53C-6482-5629-C2C3-EC7D7354B01F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3811048" y="117043"/>
              <a:ext cx="512064" cy="512064"/>
            </p:xfrm>
            <a:graphic>
              <a:graphicData uri="http://schemas.microsoft.com/office/drawing/2017/model3d">
                <am3d:model3d r:embed="rIdM3d20">
                  <am3d:spPr>
                    <a:xfrm>
                      <a:off x="0" y="0"/>
                      <a:ext cx="512064" cy="512064"/>
                    </a:xfrm>
                    <a:prstGeom prst="rect">
                      <a:avLst/>
                    </a:prstGeom>
                  </am3d:spPr>
                  <am3d:camera>
                    <am3d:pos x="0" y="0" z="66612804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500000" d="1000000"/>
                    <am3d:preTrans dx="0" dy="0" dz="-269999"/>
                    <am3d:scale>
                      <am3d:sx n="1000000" d="1000000"/>
                      <am3d:sy n="1000000" d="1000000"/>
                      <am3d:sz n="1000000" d="1000000"/>
                    </am3d:scale>
                    <am3d:rot ax="0" ay="-960000" az="-45000000"/>
                    <am3d:postTrans dx="0" dy="0" dz="0"/>
                  </am3d:trans>
                  <am3d:raster rName="Office3DRenderer" rVer="16.0.8326">
                    <am3d:blip r:embed="rId2"/>
                  </am3d:raster>
                  <am3d:objViewport viewportSz="512064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5" name="!!coin">
                <a:extLst>
                  <a:ext uri="{FF2B5EF4-FFF2-40B4-BE49-F238E27FC236}">
                    <a16:creationId xmlns:a16="http://schemas.microsoft.com/office/drawing/2014/main" id="{2211B53C-6482-5629-C2C3-EC7D7354B01F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3811048" y="117043"/>
                <a:ext cx="512064" cy="512064"/>
              </a:xfrm>
              <a:prstGeom prst="rect">
                <a:avLst/>
              </a:prstGeom>
            </p:spPr>
          </p:pic>
        </mc:Fallback>
      </mc:AlternateContent>
      <p:sp>
        <p:nvSpPr>
          <p:cNvPr id="6" name="!!kickerbar"/>
          <p:cNvSpPr/>
          <p:nvPr/>
        </p:nvSpPr>
        <p:spPr>
          <a:xfrm>
            <a:off x="685800" y="713232"/>
            <a:ext cx="310896" cy="32004"/>
          </a:xfrm>
          <a:prstGeom prst="rect">
            <a:avLst/>
          </a:prstGeom>
          <a:solidFill>
            <a:srgbClr val="E2B45E"/>
          </a:solidFill>
          <a:ln/>
        </p:spPr>
      </p:sp>
      <p:sp>
        <p:nvSpPr>
          <p:cNvPr id="7" name="!!kicker"/>
          <p:cNvSpPr/>
          <p:nvPr/>
        </p:nvSpPr>
        <p:spPr>
          <a:xfrm>
            <a:off x="1124712" y="5943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spc="300" kern="0" dirty="0">
                <a:solidFill>
                  <a:srgbClr val="E2B4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— КУШ И ВРАГИ</a:t>
            </a:r>
            <a:endParaRPr lang="en-US" sz="1100" dirty="0"/>
          </a:p>
        </p:txBody>
      </p:sp>
      <p:sp>
        <p:nvSpPr>
          <p:cNvPr id="8" name="!!footline"/>
          <p:cNvSpPr/>
          <p:nvPr/>
        </p:nvSpPr>
        <p:spPr>
          <a:xfrm>
            <a:off x="685800" y="6400800"/>
            <a:ext cx="10820095" cy="91"/>
          </a:xfrm>
          <a:prstGeom prst="line">
            <a:avLst/>
          </a:prstGeom>
          <a:noFill/>
          <a:ln w="9525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9" name="!!footer"/>
          <p:cNvSpPr/>
          <p:nvPr/>
        </p:nvSpPr>
        <p:spPr>
          <a:xfrm>
            <a:off x="685800" y="649224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spc="200" kern="0" dirty="0">
                <a:solidFill>
                  <a:srgbClr val="BBAC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РИЧАРД КАНТИЛЬОН  ·  1680-е – 1734</a:t>
            </a:r>
            <a:endParaRPr lang="en-US" sz="900" dirty="0"/>
          </a:p>
        </p:txBody>
      </p:sp>
      <p:sp>
        <p:nvSpPr>
          <p:cNvPr id="10" name="!!pagenum"/>
          <p:cNvSpPr/>
          <p:nvPr/>
        </p:nvSpPr>
        <p:spPr>
          <a:xfrm>
            <a:off x="10134295" y="649224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900" spc="200" kern="0" dirty="0">
                <a:solidFill>
                  <a:srgbClr val="BBAC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/ 17</a:t>
            </a:r>
            <a:endParaRPr lang="en-US" sz="900" dirty="0"/>
          </a:p>
        </p:txBody>
      </p:sp>
      <p:pic>
        <p:nvPicPr>
          <p:cNvPr id="11" name="!!glow" descr="/home/user/omgGame/presentations/cantillon/assets/glow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3116" y="150876"/>
            <a:ext cx="6099048" cy="6099048"/>
          </a:xfrm>
          <a:prstGeom prst="rect">
            <a:avLst/>
          </a:prstGeom>
        </p:spPr>
      </p:pic>
      <p:sp>
        <p:nvSpPr>
          <p:cNvPr id="12" name="!!ring1"/>
          <p:cNvSpPr/>
          <p:nvPr/>
        </p:nvSpPr>
        <p:spPr>
          <a:xfrm>
            <a:off x="7715707" y="1223467"/>
            <a:ext cx="3953866" cy="3953866"/>
          </a:xfrm>
          <a:prstGeom prst="ellipse">
            <a:avLst/>
          </a:prstGeom>
          <a:ln w="9525">
            <a:solidFill>
              <a:srgbClr val="E2B45E">
                <a:alpha val="18000"/>
              </a:srgbClr>
            </a:solidFill>
            <a:prstDash val="solid"/>
          </a:ln>
        </p:spPr>
      </p:sp>
      <p:sp>
        <p:nvSpPr>
          <p:cNvPr id="13" name="!!ring2"/>
          <p:cNvSpPr/>
          <p:nvPr/>
        </p:nvSpPr>
        <p:spPr>
          <a:xfrm>
            <a:off x="7168896" y="676656"/>
            <a:ext cx="5047488" cy="5047488"/>
          </a:xfrm>
          <a:prstGeom prst="ellipse">
            <a:avLst/>
          </a:prstGeom>
          <a:ln w="9525">
            <a:solidFill>
              <a:srgbClr val="E2B45E">
                <a:alpha val="12000"/>
              </a:srgbClr>
            </a:solidFill>
            <a:prstDash val="dash"/>
          </a:ln>
        </p:spPr>
      </p:sp>
      <p:pic>
        <p:nvPicPr>
          <p:cNvPr id="14" name="!!shadow" descr="/home/user/omgGame/presentations/cantillon/assets/shadow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52206" y="3883914"/>
            <a:ext cx="3280867" cy="820217"/>
          </a:xfrm>
          <a:prstGeom prst="rect">
            <a:avLst/>
          </a:prstGeom>
        </p:spPr>
      </p:pic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15" name="!!m-gavel">
                <a:extLst>
                  <a:ext uri="{FF2B5EF4-FFF2-40B4-BE49-F238E27FC236}">
                    <a16:creationId xmlns:a16="http://schemas.microsoft.com/office/drawing/2014/main" id="{85676890-8560-41D9-655E-3A57EE0AF243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7589520" y="1097280"/>
              <a:ext cx="4206240" cy="4206240"/>
            </p:xfrm>
            <a:graphic>
              <a:graphicData uri="http://schemas.microsoft.com/office/drawing/2017/model3d">
                <am3d:model3d r:embed="rIdM3d21">
                  <am3d:spPr>
                    <a:xfrm>
                      <a:off x="0" y="0"/>
                      <a:ext cx="4206240" cy="4206240"/>
                    </a:xfrm>
                    <a:prstGeom prst="rect">
                      <a:avLst/>
                    </a:prstGeom>
                  </am3d:spPr>
                  <am3d:camera>
                    <am3d:pos x="0" y="0" z="61362465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670592" d="1000000"/>
                    <am3d:preTrans dx="3998032" dy="271944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1200000" ay="-1320000" az="0"/>
                    <am3d:postTrans dx="0" dy="0" dz="0"/>
                  </am3d:trans>
                  <am3d:raster rName="Office3DRenderer" rVer="16.0.8326">
                    <am3d:blip r:embed="rId5"/>
                  </am3d:raster>
                  <am3d:objViewport viewportSz="4206240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15" name="!!m-gavel">
                <a:extLst>
                  <a:ext uri="{FF2B5EF4-FFF2-40B4-BE49-F238E27FC236}">
                    <a16:creationId xmlns:a16="http://schemas.microsoft.com/office/drawing/2014/main" id="{85676890-8560-41D9-655E-3A57EE0AF243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589520" y="1097280"/>
                <a:ext cx="4206240" cy="4206240"/>
              </a:xfrm>
              <a:prstGeom prst="rect">
                <a:avLst/>
              </a:prstGeom>
            </p:spPr>
          </p:pic>
        </mc:Fallback>
      </mc:AlternateContent>
      <p:sp>
        <p:nvSpPr>
          <p:cNvPr id="16" name="fx6_9_0"/>
          <p:cNvSpPr/>
          <p:nvPr/>
        </p:nvSpPr>
        <p:spPr>
          <a:xfrm>
            <a:off x="7909560" y="5009083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00" b="1" spc="250" kern="0" dirty="0">
                <a:solidFill>
                  <a:srgbClr val="E2B4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ЭКСПОНАТ 06</a:t>
            </a:r>
            <a:endParaRPr lang="en-US" sz="9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BBAC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Судейский молоток: иски шли до самой смерти</a:t>
            </a:r>
            <a:endParaRPr lang="en-US" sz="900" dirty="0"/>
          </a:p>
        </p:txBody>
      </p:sp>
      <p:sp>
        <p:nvSpPr>
          <p:cNvPr id="17" name="!!title"/>
          <p:cNvSpPr/>
          <p:nvPr/>
        </p:nvSpPr>
        <p:spPr>
          <a:xfrm>
            <a:off x="685800" y="987552"/>
            <a:ext cx="6949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200" dirty="0">
                <a:solidFill>
                  <a:srgbClr val="F6EFE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Миллионер — и десятки врагов</a:t>
            </a:r>
            <a:endParaRPr lang="en-US" sz="3200" dirty="0"/>
          </a:p>
        </p:txBody>
      </p:sp>
      <p:sp>
        <p:nvSpPr>
          <p:cNvPr id="18" name="fx6_1_1"/>
          <p:cNvSpPr/>
          <p:nvPr/>
        </p:nvSpPr>
        <p:spPr>
          <a:xfrm>
            <a:off x="685800" y="1920240"/>
            <a:ext cx="2084832" cy="1481328"/>
          </a:xfrm>
          <a:prstGeom prst="roundRect">
            <a:avLst>
              <a:gd name="adj" fmla="val 4938"/>
            </a:avLst>
          </a:prstGeom>
          <a:solidFill>
            <a:srgbClr val="21130F">
              <a:alpha val="90000"/>
            </a:srgbClr>
          </a:solidFill>
          <a:ln w="9525">
            <a:solidFill>
              <a:srgbClr val="E2B45E">
                <a:alpha val="28000"/>
              </a:srgbClr>
            </a:solidFill>
            <a:prstDash val="solid"/>
          </a:ln>
        </p:spPr>
      </p:sp>
      <p:sp>
        <p:nvSpPr>
          <p:cNvPr id="19" name="fx6_1_2"/>
          <p:cNvSpPr/>
          <p:nvPr/>
        </p:nvSpPr>
        <p:spPr>
          <a:xfrm>
            <a:off x="868680" y="2029968"/>
            <a:ext cx="18105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000" dirty="0">
                <a:solidFill>
                  <a:srgbClr val="E2B4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 млн</a:t>
            </a:r>
            <a:endParaRPr lang="en-US" sz="3000" dirty="0"/>
          </a:p>
        </p:txBody>
      </p:sp>
      <p:sp>
        <p:nvSpPr>
          <p:cNvPr id="20" name="fx6_1_3"/>
          <p:cNvSpPr/>
          <p:nvPr/>
        </p:nvSpPr>
        <p:spPr>
          <a:xfrm>
            <a:off x="868680" y="2596896"/>
            <a:ext cx="1810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6EF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ливров</a:t>
            </a:r>
            <a:endParaRPr lang="en-US" sz="1200" dirty="0"/>
          </a:p>
        </p:txBody>
      </p:sp>
      <p:sp>
        <p:nvSpPr>
          <p:cNvPr id="21" name="fx6_1_4"/>
          <p:cNvSpPr/>
          <p:nvPr/>
        </p:nvSpPr>
        <p:spPr>
          <a:xfrm>
            <a:off x="868680" y="2852928"/>
            <a:ext cx="18105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BBAC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его состояние после пузыря Миссисипи</a:t>
            </a:r>
            <a:endParaRPr lang="en-US" sz="1000" dirty="0"/>
          </a:p>
        </p:txBody>
      </p:sp>
      <p:sp>
        <p:nvSpPr>
          <p:cNvPr id="22" name="fx6_2_5"/>
          <p:cNvSpPr/>
          <p:nvPr/>
        </p:nvSpPr>
        <p:spPr>
          <a:xfrm>
            <a:off x="2898648" y="1920240"/>
            <a:ext cx="2084832" cy="1481328"/>
          </a:xfrm>
          <a:prstGeom prst="roundRect">
            <a:avLst>
              <a:gd name="adj" fmla="val 4938"/>
            </a:avLst>
          </a:prstGeom>
          <a:solidFill>
            <a:srgbClr val="21130F">
              <a:alpha val="90000"/>
            </a:srgbClr>
          </a:solidFill>
          <a:ln w="9525">
            <a:solidFill>
              <a:srgbClr val="E2B45E">
                <a:alpha val="28000"/>
              </a:srgbClr>
            </a:solidFill>
            <a:prstDash val="solid"/>
          </a:ln>
        </p:spPr>
      </p:sp>
      <p:sp>
        <p:nvSpPr>
          <p:cNvPr id="23" name="fx6_2_6"/>
          <p:cNvSpPr/>
          <p:nvPr/>
        </p:nvSpPr>
        <p:spPr>
          <a:xfrm>
            <a:off x="3081528" y="2029968"/>
            <a:ext cx="18105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600" dirty="0">
                <a:solidFill>
                  <a:srgbClr val="E2B4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≈ €60 млн</a:t>
            </a:r>
            <a:endParaRPr lang="en-US" sz="2600" dirty="0"/>
          </a:p>
        </p:txBody>
      </p:sp>
      <p:sp>
        <p:nvSpPr>
          <p:cNvPr id="24" name="fx6_2_7"/>
          <p:cNvSpPr/>
          <p:nvPr/>
        </p:nvSpPr>
        <p:spPr>
          <a:xfrm>
            <a:off x="3081528" y="2596896"/>
            <a:ext cx="1810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6EF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сегодня</a:t>
            </a:r>
            <a:endParaRPr lang="en-US" sz="1200" dirty="0"/>
          </a:p>
        </p:txBody>
      </p:sp>
      <p:sp>
        <p:nvSpPr>
          <p:cNvPr id="25" name="fx6_2_8"/>
          <p:cNvSpPr/>
          <p:nvPr/>
        </p:nvSpPr>
        <p:spPr>
          <a:xfrm>
            <a:off x="3081528" y="2852928"/>
            <a:ext cx="18105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BBAC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оценка Irish Independent (2013)</a:t>
            </a:r>
            <a:endParaRPr lang="en-US" sz="1000" dirty="0"/>
          </a:p>
        </p:txBody>
      </p:sp>
      <p:sp>
        <p:nvSpPr>
          <p:cNvPr id="26" name="fx6_3_9"/>
          <p:cNvSpPr/>
          <p:nvPr/>
        </p:nvSpPr>
        <p:spPr>
          <a:xfrm>
            <a:off x="5111496" y="1920240"/>
            <a:ext cx="2084832" cy="1481328"/>
          </a:xfrm>
          <a:prstGeom prst="roundRect">
            <a:avLst>
              <a:gd name="adj" fmla="val 4938"/>
            </a:avLst>
          </a:prstGeom>
          <a:solidFill>
            <a:srgbClr val="21130F">
              <a:alpha val="90000"/>
            </a:srgbClr>
          </a:solidFill>
          <a:ln w="9525">
            <a:solidFill>
              <a:srgbClr val="E2B45E">
                <a:alpha val="28000"/>
              </a:srgbClr>
            </a:solidFill>
            <a:prstDash val="solid"/>
          </a:ln>
        </p:spPr>
      </p:sp>
      <p:sp>
        <p:nvSpPr>
          <p:cNvPr id="27" name="fx6_3_10"/>
          <p:cNvSpPr/>
          <p:nvPr/>
        </p:nvSpPr>
        <p:spPr>
          <a:xfrm>
            <a:off x="5294376" y="2029968"/>
            <a:ext cx="18105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000" dirty="0">
                <a:solidFill>
                  <a:srgbClr val="E2B4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3000" dirty="0"/>
          </a:p>
        </p:txBody>
      </p:sp>
      <p:sp>
        <p:nvSpPr>
          <p:cNvPr id="28" name="fx6_3_11"/>
          <p:cNvSpPr/>
          <p:nvPr/>
        </p:nvSpPr>
        <p:spPr>
          <a:xfrm>
            <a:off x="5294376" y="2596896"/>
            <a:ext cx="1810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6EF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пузыря</a:t>
            </a:r>
            <a:endParaRPr lang="en-US" sz="1200" dirty="0"/>
          </a:p>
        </p:txBody>
      </p:sp>
      <p:sp>
        <p:nvSpPr>
          <p:cNvPr id="29" name="fx6_3_12"/>
          <p:cNvSpPr/>
          <p:nvPr/>
        </p:nvSpPr>
        <p:spPr>
          <a:xfrm>
            <a:off x="5294376" y="2852928"/>
            <a:ext cx="18105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BBAC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Миссисипи и Компания Южных морей (1720)</a:t>
            </a:r>
            <a:endParaRPr lang="en-US" sz="1000" dirty="0"/>
          </a:p>
        </p:txBody>
      </p:sp>
      <p:sp>
        <p:nvSpPr>
          <p:cNvPr id="30" name="fx6_4_13"/>
          <p:cNvSpPr/>
          <p:nvPr/>
        </p:nvSpPr>
        <p:spPr>
          <a:xfrm>
            <a:off x="685800" y="3639312"/>
            <a:ext cx="6583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E978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Обратная сторона: </a:t>
            </a:r>
            <a:pPr algn="l"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F6EF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он кредитовал покупателей акций под их залог. После краха должники разорились — а Кантильон требовал вернуть долги с высокими процентами.</a:t>
            </a:r>
            <a:endParaRPr lang="en-US" sz="1300" dirty="0"/>
          </a:p>
        </p:txBody>
      </p:sp>
      <p:sp>
        <p:nvSpPr>
          <p:cNvPr id="31" name="fx6_8_14"/>
          <p:cNvSpPr/>
          <p:nvPr/>
        </p:nvSpPr>
        <p:spPr>
          <a:xfrm>
            <a:off x="685800" y="4983480"/>
            <a:ext cx="6583680" cy="1188720"/>
          </a:xfrm>
          <a:prstGeom prst="roundRect">
            <a:avLst>
              <a:gd name="adj" fmla="val 6154"/>
            </a:avLst>
          </a:prstGeom>
          <a:solidFill>
            <a:srgbClr val="26180A">
              <a:alpha val="94000"/>
            </a:srgbClr>
          </a:solidFill>
          <a:ln w="12700">
            <a:solidFill>
              <a:srgbClr val="E2B45E">
                <a:alpha val="55000"/>
              </a:srgbClr>
            </a:solidFill>
            <a:prstDash val="solid"/>
          </a:ln>
          <a:effectLst>
            <a:outerShdw sx="100000" sy="100000" kx="0" ky="0" algn="bl" rotWithShape="0" blurRad="228600" dist="76200" dir="5400000">
              <a:srgbClr val="000000">
                <a:alpha val="45000"/>
              </a:srgbClr>
            </a:outerShdw>
          </a:effectLst>
        </p:spPr>
      </p:sp>
      <p:sp>
        <p:nvSpPr>
          <p:cNvPr id="32" name="fx6_8_15"/>
          <p:cNvSpPr/>
          <p:nvPr/>
        </p:nvSpPr>
        <p:spPr>
          <a:xfrm>
            <a:off x="685800" y="5129784"/>
            <a:ext cx="50292" cy="896112"/>
          </a:xfrm>
          <a:prstGeom prst="rect">
            <a:avLst/>
          </a:prstGeom>
          <a:solidFill>
            <a:srgbClr val="E2B45E"/>
          </a:solidFill>
          <a:ln/>
        </p:spPr>
      </p:sp>
      <p:sp>
        <p:nvSpPr>
          <p:cNvPr id="33" name="fx6_8_16"/>
          <p:cNvSpPr/>
          <p:nvPr/>
        </p:nvSpPr>
        <p:spPr>
          <a:xfrm>
            <a:off x="941832" y="4846320"/>
            <a:ext cx="1993392" cy="274320"/>
          </a:xfrm>
          <a:prstGeom prst="roundRect">
            <a:avLst>
              <a:gd name="adj" fmla="val 50000"/>
            </a:avLst>
          </a:prstGeom>
          <a:solidFill>
            <a:srgbClr val="E2B45E"/>
          </a:solidFill>
          <a:ln/>
        </p:spPr>
      </p:sp>
      <p:sp>
        <p:nvSpPr>
          <p:cNvPr id="34" name="fx6_8_17"/>
          <p:cNvSpPr/>
          <p:nvPr/>
        </p:nvSpPr>
        <p:spPr>
          <a:xfrm>
            <a:off x="941832" y="4846320"/>
            <a:ext cx="199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50" b="1" spc="150" kern="0" dirty="0">
                <a:solidFill>
                  <a:srgbClr val="0E08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  САМОЕ ИНТЕРЕСНОЕ</a:t>
            </a:r>
            <a:endParaRPr lang="en-US" sz="850" dirty="0"/>
          </a:p>
        </p:txBody>
      </p:sp>
      <p:sp>
        <p:nvSpPr>
          <p:cNvPr id="35" name="fx6_8_18"/>
          <p:cNvSpPr/>
          <p:nvPr/>
        </p:nvSpPr>
        <p:spPr>
          <a:xfrm>
            <a:off x="960120" y="5166360"/>
            <a:ext cx="6126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50" i="1" dirty="0">
                <a:solidFill>
                  <a:srgbClr val="F6EFE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Он был одним из примерно 25 «миссисипских миллионеров». А должники судились с ним до самой смерти — дошло до </a:t>
            </a:r>
            <a:pPr algn="l" indent="0" marL="0">
              <a:lnSpc>
                <a:spcPct val="105000"/>
              </a:lnSpc>
              <a:buNone/>
            </a:pPr>
            <a:r>
              <a:rPr lang="en-US" sz="1350" b="1" i="1" dirty="0">
                <a:solidFill>
                  <a:srgbClr val="F6EFE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уголовных обвинений и заговоров с целью убийства.</a:t>
            </a:r>
            <a:endParaRPr lang="en-US" sz="1350" dirty="0"/>
          </a:p>
        </p:txBody>
      </p: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36" name="!!m-bubble">
                <a:extLst>
                  <a:ext uri="{FF2B5EF4-FFF2-40B4-BE49-F238E27FC236}">
                    <a16:creationId xmlns:a16="http://schemas.microsoft.com/office/drawing/2014/main" id="{D0524948-514C-A1DC-2417-4B218930B5E5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-4572000" y="1280160"/>
              <a:ext cx="4023360" cy="4023360"/>
            </p:xfrm>
            <a:graphic>
              <a:graphicData uri="http://schemas.microsoft.com/office/drawing/2017/model3d">
                <am3d:model3d r:embed="rIdM3d22">
                  <am3d:spPr>
                    <a:xfrm>
                      <a:off x="0" y="0"/>
                      <a:ext cx="4023360" cy="4023360"/>
                    </a:xfrm>
                    <a:prstGeom prst="rect">
                      <a:avLst/>
                    </a:prstGeom>
                  </am3d:spPr>
                  <am3d:camera>
                    <am3d:pos x="0" y="0" z="80407765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490196" d="1000000"/>
                    <am3d:preTrans dx="-2" dy="352941" dz="2"/>
                    <am3d:scale>
                      <am3d:sx n="1000000" d="1000000"/>
                      <am3d:sy n="1000000" d="1000000"/>
                      <am3d:sz n="1000000" d="1000000"/>
                    </am3d:scale>
                    <am3d:rot ax="480000" ay="-6000000" az="0"/>
                    <am3d:postTrans dx="0" dy="0" dz="0"/>
                  </am3d:trans>
                  <am3d:raster rName="Office3DRenderer" rVer="16.0.8326">
                    <am3d:blip r:embed="rId6"/>
                  </am3d:raster>
                  <am3d:objViewport viewportSz="4023360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36" name="!!m-bubble">
                <a:extLst>
                  <a:ext uri="{FF2B5EF4-FFF2-40B4-BE49-F238E27FC236}">
                    <a16:creationId xmlns:a16="http://schemas.microsoft.com/office/drawing/2014/main" id="{D0524948-514C-A1DC-2417-4B218930B5E5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-4572000" y="1280160"/>
                <a:ext cx="4023360" cy="4023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37" name="!!m-quill">
                <a:extLst>
                  <a:ext uri="{FF2B5EF4-FFF2-40B4-BE49-F238E27FC236}">
                    <a16:creationId xmlns:a16="http://schemas.microsoft.com/office/drawing/2014/main" id="{C34E2800-099B-406B-8E39-2E986D19F1D2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12740335" y="1280160"/>
              <a:ext cx="4480560" cy="4480560"/>
            </p:xfrm>
            <a:graphic>
              <a:graphicData uri="http://schemas.microsoft.com/office/drawing/2017/model3d">
                <am3d:model3d r:embed="rIdM3d23">
                  <am3d:spPr>
                    <a:xfrm>
                      <a:off x="0" y="0"/>
                      <a:ext cx="4480560" cy="4480560"/>
                    </a:xfrm>
                    <a:prstGeom prst="rect">
                      <a:avLst/>
                    </a:prstGeom>
                  </am3d:spPr>
                  <am3d:camera>
                    <am3d:pos x="0" y="0" z="75001928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780959" d="1000000"/>
                    <am3d:preTrans dx="117169" dy="-1" dz="-573277"/>
                    <am3d:scale>
                      <am3d:sx n="1000000" d="1000000"/>
                      <am3d:sy n="1000000" d="1000000"/>
                      <am3d:sz n="1000000" d="1000000"/>
                    </am3d:scale>
                    <am3d:rot ax="1440000" ay="3600000" az="0"/>
                    <am3d:postTrans dx="0" dy="0" dz="0"/>
                  </am3d:trans>
                  <am3d:raster rName="Office3DRenderer" rVer="16.0.8326">
                    <am3d:blip r:embed="rId7"/>
                  </am3d:raster>
                  <am3d:objViewport viewportSz="4480560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37" name="!!m-quill">
                <a:extLst>
                  <a:ext uri="{FF2B5EF4-FFF2-40B4-BE49-F238E27FC236}">
                    <a16:creationId xmlns:a16="http://schemas.microsoft.com/office/drawing/2014/main" id="{C34E2800-099B-406B-8E39-2E986D19F1D2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2740335" y="1280160"/>
                <a:ext cx="4480560" cy="44805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6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42" presetClass="entr" presetSubtype="0" fill="hold" grpId="0" nodeType="after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7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700" decel="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00" decel="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42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7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700" decel="10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700" decel="10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7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700" decel="10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700" decel="10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7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700" decel="100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700" decel="100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grpId="0" nodeType="withEffect">
                                  <p:stCondLst>
                                    <p:cond delay="41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7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700" decel="100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700" decel="100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41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7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700" decel="100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700" decel="100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grpId="0" nodeType="withEffect">
                                  <p:stCondLst>
                                    <p:cond delay="41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7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700" decel="100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700" decel="100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42" presetClass="entr" presetSubtype="0" fill="hold" grpId="0" nodeType="withEffect">
                                  <p:stCondLst>
                                    <p:cond delay="41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7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700" decel="100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700" decel="100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42" presetClass="entr" presetSubtype="0" fill="hold" grpId="0" nodeType="withEffect">
                                  <p:stCondLst>
                                    <p:cond delay="67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7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700" decel="100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700" decel="100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42" presetClass="entr" presetSubtype="0" fill="hold" grpId="0" nodeType="withEffect">
                                  <p:stCondLst>
                                    <p:cond delay="67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7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700" decel="100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700" decel="100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42" presetClass="entr" presetSubtype="0" fill="hold" grpId="0" nodeType="withEffect">
                                  <p:stCondLst>
                                    <p:cond delay="67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7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700" decel="100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700" decel="100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42" presetClass="entr" presetSubtype="0" fill="hold" grpId="0" nodeType="withEffect">
                                  <p:stCondLst>
                                    <p:cond delay="67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7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700" decel="100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700" decel="100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42" presetClass="entr" presetSubtype="0" fill="hold" grpId="0" nodeType="withEffect">
                                  <p:stCondLst>
                                    <p:cond delay="93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7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700" decel="100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700" decel="100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42" presetClass="entr" presetSubtype="0" fill="hold" grpId="0" nodeType="withEffect">
                                  <p:stCondLst>
                                    <p:cond delay="119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7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3" dur="700" decel="100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700" decel="100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42" presetClass="entr" presetSubtype="0" fill="hold" grpId="0" nodeType="withEffect">
                                  <p:stCondLst>
                                    <p:cond delay="119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7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700" decel="100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700" decel="100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2" presetID="42" presetClass="entr" presetSubtype="0" fill="hold" grpId="0" nodeType="withEffect">
                                  <p:stCondLst>
                                    <p:cond delay="119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7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3" dur="700" decel="100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700" decel="100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7" presetID="42" presetClass="entr" presetSubtype="0" fill="hold" grpId="0" nodeType="withEffect">
                                  <p:stCondLst>
                                    <p:cond delay="119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7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8" dur="700" decel="100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700" decel="100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2" presetID="42" presetClass="entr" presetSubtype="0" fill="hold" grpId="0" nodeType="withEffect">
                                  <p:stCondLst>
                                    <p:cond delay="119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7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3" dur="700" decel="100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700" decel="100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7" presetID="42" presetClass="entr" presetSubtype="0" fill="hold" grpId="0" nodeType="withEffect">
                                  <p:stCondLst>
                                    <p:cond delay="145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7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8" dur="70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70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16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xmlns:am3d="http://schemas.microsoft.com/office/drawing/2017/model3d" mc:Ignorable="am3d">
  <p:cSld name="Slide 7">
    <p:bg>
      <p:bgPr>
        <a:solidFill>
          <a:srgbClr val="08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ackground" descr="/home/user/omgGame/presentations/cantillon/assets/stage-bg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!!track"/>
          <p:cNvSpPr/>
          <p:nvPr/>
        </p:nvSpPr>
        <p:spPr>
          <a:xfrm>
            <a:off x="685800" y="402336"/>
            <a:ext cx="10820095" cy="91"/>
          </a:xfrm>
          <a:prstGeom prst="line">
            <a:avLst/>
          </a:prstGeom>
          <a:noFill/>
          <a:ln w="9525">
            <a:solidFill>
              <a:srgbClr val="FFFFFF">
                <a:alpha val="16000"/>
              </a:srgbClr>
            </a:solidFill>
            <a:prstDash val="solid"/>
          </a:ln>
        </p:spPr>
      </p:sp>
      <p:sp>
        <p:nvSpPr>
          <p:cNvPr id="4" name="!!progress"/>
          <p:cNvSpPr/>
          <p:nvPr/>
        </p:nvSpPr>
        <p:spPr>
          <a:xfrm>
            <a:off x="685800" y="391363"/>
            <a:ext cx="4057536" cy="21946"/>
          </a:xfrm>
          <a:prstGeom prst="rect">
            <a:avLst/>
          </a:prstGeom>
          <a:solidFill>
            <a:srgbClr val="E2B45E"/>
          </a:solidFill>
          <a:ln/>
        </p:spPr>
      </p: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5" name="!!coin">
                <a:extLst>
                  <a:ext uri="{FF2B5EF4-FFF2-40B4-BE49-F238E27FC236}">
                    <a16:creationId xmlns:a16="http://schemas.microsoft.com/office/drawing/2014/main" id="{475BC4AB-5B80-D192-9BBB-7708C1D3B096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4487304" y="117043"/>
              <a:ext cx="512064" cy="512064"/>
            </p:xfrm>
            <a:graphic>
              <a:graphicData uri="http://schemas.microsoft.com/office/drawing/2017/model3d">
                <am3d:model3d r:embed="rIdM3d24">
                  <am3d:spPr>
                    <a:xfrm>
                      <a:off x="0" y="0"/>
                      <a:ext cx="512064" cy="512064"/>
                    </a:xfrm>
                    <a:prstGeom prst="rect">
                      <a:avLst/>
                    </a:prstGeom>
                  </am3d:spPr>
                  <am3d:camera>
                    <am3d:pos x="0" y="0" z="66612804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500000" d="1000000"/>
                    <am3d:preTrans dx="0" dy="0" dz="-269999"/>
                    <am3d:scale>
                      <am3d:sx n="1000000" d="1000000"/>
                      <am3d:sy n="1000000" d="1000000"/>
                      <am3d:sz n="1000000" d="1000000"/>
                    </am3d:scale>
                    <am3d:rot ax="0" ay="-960000" az="-54000000"/>
                    <am3d:postTrans dx="0" dy="0" dz="0"/>
                  </am3d:trans>
                  <am3d:raster rName="Office3DRenderer" rVer="16.0.8326">
                    <am3d:blip r:embed="rId2"/>
                  </am3d:raster>
                  <am3d:objViewport viewportSz="512064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5" name="!!coin">
                <a:extLst>
                  <a:ext uri="{FF2B5EF4-FFF2-40B4-BE49-F238E27FC236}">
                    <a16:creationId xmlns:a16="http://schemas.microsoft.com/office/drawing/2014/main" id="{475BC4AB-5B80-D192-9BBB-7708C1D3B096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4487304" y="117043"/>
                <a:ext cx="512064" cy="512064"/>
              </a:xfrm>
              <a:prstGeom prst="rect">
                <a:avLst/>
              </a:prstGeom>
            </p:spPr>
          </p:pic>
        </mc:Fallback>
      </mc:AlternateContent>
      <p:sp>
        <p:nvSpPr>
          <p:cNvPr id="6" name="!!kickerbar"/>
          <p:cNvSpPr/>
          <p:nvPr/>
        </p:nvSpPr>
        <p:spPr>
          <a:xfrm>
            <a:off x="685800" y="713232"/>
            <a:ext cx="310896" cy="32004"/>
          </a:xfrm>
          <a:prstGeom prst="rect">
            <a:avLst/>
          </a:prstGeom>
          <a:solidFill>
            <a:srgbClr val="E2B45E"/>
          </a:solidFill>
          <a:ln/>
        </p:spPr>
      </p:sp>
      <p:sp>
        <p:nvSpPr>
          <p:cNvPr id="7" name="!!kicker"/>
          <p:cNvSpPr/>
          <p:nvPr/>
        </p:nvSpPr>
        <p:spPr>
          <a:xfrm>
            <a:off x="1124712" y="5943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spc="300" kern="0" dirty="0">
                <a:solidFill>
                  <a:srgbClr val="E2B4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— ГЛАВНАЯ КНИГА</a:t>
            </a:r>
            <a:endParaRPr lang="en-US" sz="1100" dirty="0"/>
          </a:p>
        </p:txBody>
      </p:sp>
      <p:sp>
        <p:nvSpPr>
          <p:cNvPr id="8" name="!!footline"/>
          <p:cNvSpPr/>
          <p:nvPr/>
        </p:nvSpPr>
        <p:spPr>
          <a:xfrm>
            <a:off x="685800" y="6400800"/>
            <a:ext cx="10820095" cy="91"/>
          </a:xfrm>
          <a:prstGeom prst="line">
            <a:avLst/>
          </a:prstGeom>
          <a:noFill/>
          <a:ln w="9525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9" name="!!footer"/>
          <p:cNvSpPr/>
          <p:nvPr/>
        </p:nvSpPr>
        <p:spPr>
          <a:xfrm>
            <a:off x="685800" y="649224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spc="200" kern="0" dirty="0">
                <a:solidFill>
                  <a:srgbClr val="BBAC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РИЧАРД КАНТИЛЬОН  ·  1680-е – 1734</a:t>
            </a:r>
            <a:endParaRPr lang="en-US" sz="900" dirty="0"/>
          </a:p>
        </p:txBody>
      </p:sp>
      <p:sp>
        <p:nvSpPr>
          <p:cNvPr id="10" name="!!pagenum"/>
          <p:cNvSpPr/>
          <p:nvPr/>
        </p:nvSpPr>
        <p:spPr>
          <a:xfrm>
            <a:off x="10134295" y="649224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900" spc="200" kern="0" dirty="0">
                <a:solidFill>
                  <a:srgbClr val="BBAC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/ 17</a:t>
            </a:r>
            <a:endParaRPr lang="en-US" sz="900" dirty="0"/>
          </a:p>
        </p:txBody>
      </p:sp>
      <p:pic>
        <p:nvPicPr>
          <p:cNvPr id="11" name="!!glow" descr="/home/user/omgGame/presentations/cantillon/assets/glow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7074" y="-93726"/>
            <a:ext cx="6496812" cy="6496812"/>
          </a:xfrm>
          <a:prstGeom prst="rect">
            <a:avLst/>
          </a:prstGeom>
        </p:spPr>
      </p:pic>
      <p:sp>
        <p:nvSpPr>
          <p:cNvPr id="12" name="!!ring1"/>
          <p:cNvSpPr/>
          <p:nvPr/>
        </p:nvSpPr>
        <p:spPr>
          <a:xfrm>
            <a:off x="7449617" y="1048817"/>
            <a:ext cx="4211726" cy="4211726"/>
          </a:xfrm>
          <a:prstGeom prst="ellipse">
            <a:avLst/>
          </a:prstGeom>
          <a:ln w="9525">
            <a:solidFill>
              <a:srgbClr val="E2B45E">
                <a:alpha val="18000"/>
              </a:srgbClr>
            </a:solidFill>
            <a:prstDash val="solid"/>
          </a:ln>
        </p:spPr>
      </p:sp>
      <p:sp>
        <p:nvSpPr>
          <p:cNvPr id="13" name="!!ring2"/>
          <p:cNvSpPr/>
          <p:nvPr/>
        </p:nvSpPr>
        <p:spPr>
          <a:xfrm>
            <a:off x="6867144" y="466344"/>
            <a:ext cx="5376672" cy="5376672"/>
          </a:xfrm>
          <a:prstGeom prst="ellipse">
            <a:avLst/>
          </a:prstGeom>
          <a:ln w="9525">
            <a:solidFill>
              <a:srgbClr val="E2B45E">
                <a:alpha val="12000"/>
              </a:srgbClr>
            </a:solidFill>
            <a:prstDash val="dash"/>
          </a:ln>
        </p:spPr>
      </p:sp>
      <p:pic>
        <p:nvPicPr>
          <p:cNvPr id="14" name="!!shadow" descr="/home/user/omgGame/presentations/cantillon/assets/shadow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08062" y="4061993"/>
            <a:ext cx="3494837" cy="873709"/>
          </a:xfrm>
          <a:prstGeom prst="rect">
            <a:avLst/>
          </a:prstGeom>
        </p:spPr>
      </p:pic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15" name="!!m-quill">
                <a:extLst>
                  <a:ext uri="{FF2B5EF4-FFF2-40B4-BE49-F238E27FC236}">
                    <a16:creationId xmlns:a16="http://schemas.microsoft.com/office/drawing/2014/main" id="{DEA61CDC-95DA-2798-2773-CA25547C982D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7315200" y="914400"/>
              <a:ext cx="4480560" cy="4480560"/>
            </p:xfrm>
            <a:graphic>
              <a:graphicData uri="http://schemas.microsoft.com/office/drawing/2017/model3d">
                <am3d:model3d r:embed="rIdM3d25">
                  <am3d:spPr>
                    <a:xfrm>
                      <a:off x="0" y="0"/>
                      <a:ext cx="4480560" cy="4480560"/>
                    </a:xfrm>
                    <a:prstGeom prst="rect">
                      <a:avLst/>
                    </a:prstGeom>
                  </am3d:spPr>
                  <am3d:camera>
                    <am3d:pos x="0" y="0" z="75001928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780959" d="1000000"/>
                    <am3d:preTrans dx="117169" dy="-1" dz="-573277"/>
                    <am3d:scale>
                      <am3d:sx n="1000000" d="1000000"/>
                      <am3d:sy n="1000000" d="1000000"/>
                      <am3d:sz n="1000000" d="1000000"/>
                    </am3d:scale>
                    <am3d:rot ax="1440000" ay="-1200000" az="0"/>
                    <am3d:postTrans dx="0" dy="0" dz="0"/>
                  </am3d:trans>
                  <am3d:raster rName="Office3DRenderer" rVer="16.0.8326">
                    <am3d:blip r:embed="rId5"/>
                  </am3d:raster>
                  <am3d:objViewport viewportSz="4480560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15" name="!!m-quill">
                <a:extLst>
                  <a:ext uri="{FF2B5EF4-FFF2-40B4-BE49-F238E27FC236}">
                    <a16:creationId xmlns:a16="http://schemas.microsoft.com/office/drawing/2014/main" id="{DEA61CDC-95DA-2798-2773-CA25547C982D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315200" y="914400"/>
                <a:ext cx="4480560" cy="4480560"/>
              </a:xfrm>
              <a:prstGeom prst="rect">
                <a:avLst/>
              </a:prstGeom>
            </p:spPr>
          </p:pic>
        </mc:Fallback>
      </mc:AlternateContent>
      <p:sp>
        <p:nvSpPr>
          <p:cNvPr id="16" name="fx7_9_0"/>
          <p:cNvSpPr/>
          <p:nvPr/>
        </p:nvSpPr>
        <p:spPr>
          <a:xfrm>
            <a:off x="7909560" y="5081321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00" b="1" spc="250" kern="0" dirty="0">
                <a:solidFill>
                  <a:srgbClr val="E2B4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ЭКСПОНАТ 07</a:t>
            </a:r>
            <a:endParaRPr lang="en-US" sz="9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BBAC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Essai, перо и чернильница</a:t>
            </a:r>
            <a:endParaRPr lang="en-US" sz="900" dirty="0"/>
          </a:p>
        </p:txBody>
      </p:sp>
      <p:sp>
        <p:nvSpPr>
          <p:cNvPr id="17" name="!!title"/>
          <p:cNvSpPr/>
          <p:nvPr/>
        </p:nvSpPr>
        <p:spPr>
          <a:xfrm>
            <a:off x="685800" y="987552"/>
            <a:ext cx="6583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600" dirty="0">
                <a:solidFill>
                  <a:srgbClr val="F6EFE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Essai — первая книга по экономике как науке</a:t>
            </a:r>
            <a:endParaRPr lang="en-US" sz="3600" dirty="0"/>
          </a:p>
        </p:txBody>
      </p:sp>
      <p:sp>
        <p:nvSpPr>
          <p:cNvPr id="18" name="fx7_1_1"/>
          <p:cNvSpPr/>
          <p:nvPr/>
        </p:nvSpPr>
        <p:spPr>
          <a:xfrm>
            <a:off x="795528" y="2350008"/>
            <a:ext cx="91" cy="2194560"/>
          </a:xfrm>
          <a:prstGeom prst="line">
            <a:avLst/>
          </a:prstGeom>
          <a:noFill/>
          <a:ln w="19050">
            <a:solidFill>
              <a:srgbClr val="E2B45E">
                <a:alpha val="55000"/>
              </a:srgbClr>
            </a:solidFill>
            <a:prstDash val="solid"/>
          </a:ln>
        </p:spPr>
      </p:sp>
      <p:sp>
        <p:nvSpPr>
          <p:cNvPr id="19" name="fx7_1_2"/>
          <p:cNvSpPr/>
          <p:nvPr/>
        </p:nvSpPr>
        <p:spPr>
          <a:xfrm>
            <a:off x="704088" y="2258568"/>
            <a:ext cx="182880" cy="182880"/>
          </a:xfrm>
          <a:prstGeom prst="ellipse">
            <a:avLst/>
          </a:prstGeom>
          <a:solidFill>
            <a:srgbClr val="0E0807"/>
          </a:solidFill>
          <a:ln w="25400">
            <a:solidFill>
              <a:srgbClr val="E2B45E"/>
            </a:solidFill>
            <a:prstDash val="solid"/>
          </a:ln>
        </p:spPr>
      </p:sp>
      <p:sp>
        <p:nvSpPr>
          <p:cNvPr id="20" name="fx7_1_3"/>
          <p:cNvSpPr/>
          <p:nvPr/>
        </p:nvSpPr>
        <p:spPr>
          <a:xfrm>
            <a:off x="1143000" y="2221992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E2B4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1730   </a:t>
            </a:r>
            <a:pPr algn="l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6EF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Написана</a:t>
            </a:r>
            <a:endParaRPr lang="en-US" sz="1300" dirty="0"/>
          </a:p>
        </p:txBody>
      </p:sp>
      <p:sp>
        <p:nvSpPr>
          <p:cNvPr id="21" name="fx7_1_4"/>
          <p:cNvSpPr/>
          <p:nvPr/>
        </p:nvSpPr>
        <p:spPr>
          <a:xfrm>
            <a:off x="1143000" y="2514600"/>
            <a:ext cx="5669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BBAC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«Опыт о природе торговли вообще» — единственная сохранившаяся работа.</a:t>
            </a:r>
            <a:endParaRPr lang="en-US" sz="1150" dirty="0"/>
          </a:p>
        </p:txBody>
      </p:sp>
      <p:sp>
        <p:nvSpPr>
          <p:cNvPr id="22" name="fx7_2_5"/>
          <p:cNvSpPr/>
          <p:nvPr/>
        </p:nvSpPr>
        <p:spPr>
          <a:xfrm>
            <a:off x="704088" y="2990088"/>
            <a:ext cx="182880" cy="182880"/>
          </a:xfrm>
          <a:prstGeom prst="ellipse">
            <a:avLst/>
          </a:prstGeom>
          <a:solidFill>
            <a:srgbClr val="0E0807"/>
          </a:solidFill>
          <a:ln w="25400">
            <a:solidFill>
              <a:srgbClr val="E2B45E"/>
            </a:solidFill>
            <a:prstDash val="solid"/>
          </a:ln>
        </p:spPr>
      </p:sp>
      <p:sp>
        <p:nvSpPr>
          <p:cNvPr id="23" name="fx7_2_6"/>
          <p:cNvSpPr/>
          <p:nvPr/>
        </p:nvSpPr>
        <p:spPr>
          <a:xfrm>
            <a:off x="1143000" y="2953512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E2B4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1730–1755   </a:t>
            </a:r>
            <a:pPr algn="l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6EF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Ходит в рукописи</a:t>
            </a:r>
            <a:endParaRPr lang="en-US" sz="1300" dirty="0"/>
          </a:p>
        </p:txBody>
      </p:sp>
      <p:sp>
        <p:nvSpPr>
          <p:cNvPr id="24" name="fx7_2_7"/>
          <p:cNvSpPr/>
          <p:nvPr/>
        </p:nvSpPr>
        <p:spPr>
          <a:xfrm>
            <a:off x="1143000" y="3246120"/>
            <a:ext cx="5669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BBAC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Мирабо владел копией с 1740 г.; идеи доходят до Кенэ и Тюрго.</a:t>
            </a:r>
            <a:endParaRPr lang="en-US" sz="1150" dirty="0"/>
          </a:p>
        </p:txBody>
      </p:sp>
      <p:sp>
        <p:nvSpPr>
          <p:cNvPr id="25" name="fx7_3_8"/>
          <p:cNvSpPr/>
          <p:nvPr/>
        </p:nvSpPr>
        <p:spPr>
          <a:xfrm>
            <a:off x="704088" y="3721608"/>
            <a:ext cx="182880" cy="182880"/>
          </a:xfrm>
          <a:prstGeom prst="ellipse">
            <a:avLst/>
          </a:prstGeom>
          <a:solidFill>
            <a:srgbClr val="0E0807"/>
          </a:solidFill>
          <a:ln w="25400">
            <a:solidFill>
              <a:srgbClr val="E2B45E"/>
            </a:solidFill>
            <a:prstDash val="solid"/>
          </a:ln>
        </p:spPr>
      </p:sp>
      <p:sp>
        <p:nvSpPr>
          <p:cNvPr id="26" name="fx7_3_9"/>
          <p:cNvSpPr/>
          <p:nvPr/>
        </p:nvSpPr>
        <p:spPr>
          <a:xfrm>
            <a:off x="1143000" y="3685032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E2B4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1755   </a:t>
            </a:r>
            <a:pPr algn="l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6EF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Издана анонимно</a:t>
            </a:r>
            <a:endParaRPr lang="en-US" sz="1300" dirty="0"/>
          </a:p>
        </p:txBody>
      </p:sp>
      <p:sp>
        <p:nvSpPr>
          <p:cNvPr id="27" name="fx7_3_10"/>
          <p:cNvSpPr/>
          <p:nvPr/>
        </p:nvSpPr>
        <p:spPr>
          <a:xfrm>
            <a:off x="1143000" y="3977640"/>
            <a:ext cx="5669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BBAC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Без имени автора — из-за французской цензуры.</a:t>
            </a:r>
            <a:endParaRPr lang="en-US" sz="1150" dirty="0"/>
          </a:p>
        </p:txBody>
      </p:sp>
      <p:sp>
        <p:nvSpPr>
          <p:cNvPr id="28" name="fx7_4_11"/>
          <p:cNvSpPr/>
          <p:nvPr/>
        </p:nvSpPr>
        <p:spPr>
          <a:xfrm>
            <a:off x="704088" y="4453128"/>
            <a:ext cx="182880" cy="182880"/>
          </a:xfrm>
          <a:prstGeom prst="ellipse">
            <a:avLst/>
          </a:prstGeom>
          <a:solidFill>
            <a:srgbClr val="0E0807"/>
          </a:solidFill>
          <a:ln w="25400">
            <a:solidFill>
              <a:srgbClr val="E2B45E"/>
            </a:solidFill>
            <a:prstDash val="solid"/>
          </a:ln>
        </p:spPr>
      </p:sp>
      <p:sp>
        <p:nvSpPr>
          <p:cNvPr id="29" name="fx7_4_12"/>
          <p:cNvSpPr/>
          <p:nvPr/>
        </p:nvSpPr>
        <p:spPr>
          <a:xfrm>
            <a:off x="1143000" y="4416552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E2B4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1881   </a:t>
            </a:r>
            <a:pPr algn="l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6EF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Переоткрыта</a:t>
            </a:r>
            <a:endParaRPr lang="en-US" sz="1300" dirty="0"/>
          </a:p>
        </p:txBody>
      </p:sp>
      <p:sp>
        <p:nvSpPr>
          <p:cNvPr id="30" name="fx7_4_13"/>
          <p:cNvSpPr/>
          <p:nvPr/>
        </p:nvSpPr>
        <p:spPr>
          <a:xfrm>
            <a:off x="1143000" y="4709160"/>
            <a:ext cx="5669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BBAC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Джевонс назвал её «колыбелью политической экономии».</a:t>
            </a:r>
            <a:endParaRPr lang="en-US" sz="1150" dirty="0"/>
          </a:p>
        </p:txBody>
      </p:sp>
      <p:sp>
        <p:nvSpPr>
          <p:cNvPr id="31" name="fx7_8_14"/>
          <p:cNvSpPr/>
          <p:nvPr/>
        </p:nvSpPr>
        <p:spPr>
          <a:xfrm>
            <a:off x="685800" y="5349240"/>
            <a:ext cx="6172200" cy="841248"/>
          </a:xfrm>
          <a:prstGeom prst="roundRect">
            <a:avLst>
              <a:gd name="adj" fmla="val 8696"/>
            </a:avLst>
          </a:prstGeom>
          <a:solidFill>
            <a:srgbClr val="26180A">
              <a:alpha val="94000"/>
            </a:srgbClr>
          </a:solidFill>
          <a:ln w="12700">
            <a:solidFill>
              <a:srgbClr val="E2B45E">
                <a:alpha val="55000"/>
              </a:srgbClr>
            </a:solidFill>
            <a:prstDash val="solid"/>
          </a:ln>
          <a:effectLst>
            <a:outerShdw sx="100000" sy="100000" kx="0" ky="0" algn="bl" rotWithShape="0" blurRad="228600" dist="76200" dir="5400000">
              <a:srgbClr val="000000">
                <a:alpha val="45000"/>
              </a:srgbClr>
            </a:outerShdw>
          </a:effectLst>
        </p:spPr>
      </p:sp>
      <p:sp>
        <p:nvSpPr>
          <p:cNvPr id="32" name="fx7_8_15"/>
          <p:cNvSpPr/>
          <p:nvPr/>
        </p:nvSpPr>
        <p:spPr>
          <a:xfrm>
            <a:off x="685800" y="5495544"/>
            <a:ext cx="50292" cy="548640"/>
          </a:xfrm>
          <a:prstGeom prst="rect">
            <a:avLst/>
          </a:prstGeom>
          <a:solidFill>
            <a:srgbClr val="E2B45E"/>
          </a:solidFill>
          <a:ln/>
        </p:spPr>
      </p:sp>
      <p:sp>
        <p:nvSpPr>
          <p:cNvPr id="33" name="fx7_8_16"/>
          <p:cNvSpPr/>
          <p:nvPr/>
        </p:nvSpPr>
        <p:spPr>
          <a:xfrm>
            <a:off x="941832" y="5212080"/>
            <a:ext cx="1993392" cy="274320"/>
          </a:xfrm>
          <a:prstGeom prst="roundRect">
            <a:avLst>
              <a:gd name="adj" fmla="val 50000"/>
            </a:avLst>
          </a:prstGeom>
          <a:solidFill>
            <a:srgbClr val="E2B45E"/>
          </a:solidFill>
          <a:ln/>
        </p:spPr>
      </p:sp>
      <p:sp>
        <p:nvSpPr>
          <p:cNvPr id="34" name="fx7_8_17"/>
          <p:cNvSpPr/>
          <p:nvPr/>
        </p:nvSpPr>
        <p:spPr>
          <a:xfrm>
            <a:off x="941832" y="5212080"/>
            <a:ext cx="199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50" b="1" spc="150" kern="0" dirty="0">
                <a:solidFill>
                  <a:srgbClr val="0E08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  САМОЕ ИНТЕРЕСНОЕ</a:t>
            </a:r>
            <a:endParaRPr lang="en-US" sz="850" dirty="0"/>
          </a:p>
        </p:txBody>
      </p:sp>
      <p:sp>
        <p:nvSpPr>
          <p:cNvPr id="35" name="fx7_8_18"/>
          <p:cNvSpPr/>
          <p:nvPr/>
        </p:nvSpPr>
        <p:spPr>
          <a:xfrm>
            <a:off x="960120" y="5532120"/>
            <a:ext cx="5715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250" i="1" dirty="0">
                <a:solidFill>
                  <a:srgbClr val="F6EFE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Книгу издали </a:t>
            </a:r>
            <a:pPr algn="l" indent="0" marL="0">
              <a:lnSpc>
                <a:spcPct val="105000"/>
              </a:lnSpc>
              <a:buNone/>
            </a:pPr>
            <a:r>
              <a:rPr lang="en-US" sz="1250" b="1" i="1" dirty="0">
                <a:solidFill>
                  <a:srgbClr val="F6EFE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через 21 год после смерти автора — и без его имени.</a:t>
            </a:r>
            <a:pPr algn="l" indent="0" marL="0">
              <a:lnSpc>
                <a:spcPct val="105000"/>
              </a:lnSpc>
              <a:buNone/>
            </a:pPr>
            <a:r>
              <a:rPr lang="en-US" sz="1250" i="1" dirty="0">
                <a:solidFill>
                  <a:srgbClr val="F6EFE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Адам Смит — один из немногих, кто на неё ссылается.</a:t>
            </a:r>
            <a:endParaRPr lang="en-US" sz="1250" dirty="0"/>
          </a:p>
        </p:txBody>
      </p: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36" name="!!m-gavel">
                <a:extLst>
                  <a:ext uri="{FF2B5EF4-FFF2-40B4-BE49-F238E27FC236}">
                    <a16:creationId xmlns:a16="http://schemas.microsoft.com/office/drawing/2014/main" id="{2EEDDAFE-D9C0-647C-DF56-6B8914A414A2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-4754880" y="1463040"/>
              <a:ext cx="4206240" cy="4206240"/>
            </p:xfrm>
            <a:graphic>
              <a:graphicData uri="http://schemas.microsoft.com/office/drawing/2017/model3d">
                <am3d:model3d r:embed="rIdM3d26">
                  <am3d:spPr>
                    <a:xfrm>
                      <a:off x="0" y="0"/>
                      <a:ext cx="4206240" cy="4206240"/>
                    </a:xfrm>
                    <a:prstGeom prst="rect">
                      <a:avLst/>
                    </a:prstGeom>
                  </am3d:spPr>
                  <am3d:camera>
                    <am3d:pos x="0" y="0" z="61362465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670592" d="1000000"/>
                    <am3d:preTrans dx="3998032" dy="271944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1200000" ay="-6120000" az="0"/>
                    <am3d:postTrans dx="0" dy="0" dz="0"/>
                  </am3d:trans>
                  <am3d:raster rName="Office3DRenderer" rVer="16.0.8326">
                    <am3d:blip r:embed="rId6"/>
                  </am3d:raster>
                  <am3d:objViewport viewportSz="4206240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36" name="!!m-gavel">
                <a:extLst>
                  <a:ext uri="{FF2B5EF4-FFF2-40B4-BE49-F238E27FC236}">
                    <a16:creationId xmlns:a16="http://schemas.microsoft.com/office/drawing/2014/main" id="{2EEDDAFE-D9C0-647C-DF56-6B8914A414A2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-4754880" y="1463040"/>
                <a:ext cx="4206240" cy="4206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37" name="!!m-dice">
                <a:extLst>
                  <a:ext uri="{FF2B5EF4-FFF2-40B4-BE49-F238E27FC236}">
                    <a16:creationId xmlns:a16="http://schemas.microsoft.com/office/drawing/2014/main" id="{710BAEDC-A36A-0577-FD79-70099F5D3EAF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12740335" y="1508760"/>
              <a:ext cx="4023360" cy="4023360"/>
            </p:xfrm>
            <a:graphic>
              <a:graphicData uri="http://schemas.microsoft.com/office/drawing/2017/model3d">
                <am3d:model3d r:embed="rIdM3d27">
                  <am3d:spPr>
                    <a:xfrm>
                      <a:off x="0" y="0"/>
                      <a:ext cx="4023360" cy="4023360"/>
                    </a:xfrm>
                    <a:prstGeom prst="rect">
                      <a:avLst/>
                    </a:prstGeom>
                  </am3d:spPr>
                  <am3d:camera>
                    <am3d:pos x="0" y="0" z="60919733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615749" d="1000000"/>
                    <am3d:preTrans dx="-814595" dy="220250" dz="-1494600"/>
                    <am3d:scale>
                      <am3d:sx n="1000000" d="1000000"/>
                      <am3d:sy n="1000000" d="1000000"/>
                      <am3d:sz n="1000000" d="1000000"/>
                    </am3d:scale>
                    <am3d:rot ax="1320000" ay="3240000" az="0"/>
                    <am3d:postTrans dx="0" dy="0" dz="0"/>
                  </am3d:trans>
                  <am3d:raster rName="Office3DRenderer" rVer="16.0.8326">
                    <am3d:blip r:embed="rId7"/>
                  </am3d:raster>
                  <am3d:objViewport viewportSz="4023360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37" name="!!m-dice">
                <a:extLst>
                  <a:ext uri="{FF2B5EF4-FFF2-40B4-BE49-F238E27FC236}">
                    <a16:creationId xmlns:a16="http://schemas.microsoft.com/office/drawing/2014/main" id="{710BAEDC-A36A-0577-FD79-70099F5D3EAF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2740335" y="1508760"/>
                <a:ext cx="4023360" cy="40233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6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42" presetClass="entr" presetSubtype="0" fill="hold" grpId="0" nodeType="after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7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700" decel="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00" decel="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42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7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700" decel="10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700" decel="10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7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700" decel="10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700" decel="10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7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700" decel="100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700" decel="100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grpId="0" nodeType="withEffect">
                                  <p:stCondLst>
                                    <p:cond delay="41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7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700" decel="100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700" decel="100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41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7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700" decel="100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700" decel="100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grpId="0" nodeType="withEffect">
                                  <p:stCondLst>
                                    <p:cond delay="41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7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700" decel="100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700" decel="100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42" presetClass="entr" presetSubtype="0" fill="hold" grpId="0" nodeType="withEffect">
                                  <p:stCondLst>
                                    <p:cond delay="67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7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700" decel="100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700" decel="100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42" presetClass="entr" presetSubtype="0" fill="hold" grpId="0" nodeType="withEffect">
                                  <p:stCondLst>
                                    <p:cond delay="67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7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700" decel="100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700" decel="100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42" presetClass="entr" presetSubtype="0" fill="hold" grpId="0" nodeType="withEffect">
                                  <p:stCondLst>
                                    <p:cond delay="67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7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700" decel="100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700" decel="100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42" presetClass="entr" presetSubtype="0" fill="hold" grpId="0" nodeType="withEffect">
                                  <p:stCondLst>
                                    <p:cond delay="93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7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700" decel="100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700" decel="100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42" presetClass="entr" presetSubtype="0" fill="hold" grpId="0" nodeType="withEffect">
                                  <p:stCondLst>
                                    <p:cond delay="93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7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700" decel="100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700" decel="100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42" presetClass="entr" presetSubtype="0" fill="hold" grpId="0" nodeType="withEffect">
                                  <p:stCondLst>
                                    <p:cond delay="93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7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700" decel="100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700" decel="100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42" presetClass="entr" presetSubtype="0" fill="hold" grpId="0" nodeType="withEffect">
                                  <p:stCondLst>
                                    <p:cond delay="119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7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3" dur="700" decel="100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700" decel="100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42" presetClass="entr" presetSubtype="0" fill="hold" grpId="0" nodeType="withEffect">
                                  <p:stCondLst>
                                    <p:cond delay="119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7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700" decel="100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700" decel="100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2" presetID="42" presetClass="entr" presetSubtype="0" fill="hold" grpId="0" nodeType="withEffect">
                                  <p:stCondLst>
                                    <p:cond delay="119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7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3" dur="700" decel="100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700" decel="100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7" presetID="42" presetClass="entr" presetSubtype="0" fill="hold" grpId="0" nodeType="withEffect">
                                  <p:stCondLst>
                                    <p:cond delay="119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7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8" dur="700" decel="100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700" decel="100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2" presetID="42" presetClass="entr" presetSubtype="0" fill="hold" grpId="0" nodeType="withEffect">
                                  <p:stCondLst>
                                    <p:cond delay="119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7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3" dur="700" decel="100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700" decel="100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7" presetID="42" presetClass="entr" presetSubtype="0" fill="hold" grpId="0" nodeType="withEffect">
                                  <p:stCondLst>
                                    <p:cond delay="145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7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8" dur="70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70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16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xmlns:am3d="http://schemas.microsoft.com/office/drawing/2017/model3d" mc:Ignorable="am3d">
  <p:cSld name="Slide 8">
    <p:bg>
      <p:bgPr>
        <a:solidFill>
          <a:srgbClr val="08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ackground" descr="/home/user/omgGame/presentations/cantillon/assets/stage-bg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!!track"/>
          <p:cNvSpPr/>
          <p:nvPr/>
        </p:nvSpPr>
        <p:spPr>
          <a:xfrm>
            <a:off x="685800" y="402336"/>
            <a:ext cx="10820095" cy="91"/>
          </a:xfrm>
          <a:prstGeom prst="line">
            <a:avLst/>
          </a:prstGeom>
          <a:noFill/>
          <a:ln w="9525">
            <a:solidFill>
              <a:srgbClr val="FFFFFF">
                <a:alpha val="16000"/>
              </a:srgbClr>
            </a:solidFill>
            <a:prstDash val="solid"/>
          </a:ln>
        </p:spPr>
      </p:sp>
      <p:sp>
        <p:nvSpPr>
          <p:cNvPr id="4" name="!!progress"/>
          <p:cNvSpPr/>
          <p:nvPr/>
        </p:nvSpPr>
        <p:spPr>
          <a:xfrm>
            <a:off x="685800" y="391363"/>
            <a:ext cx="4733792" cy="21946"/>
          </a:xfrm>
          <a:prstGeom prst="rect">
            <a:avLst/>
          </a:prstGeom>
          <a:solidFill>
            <a:srgbClr val="E2B45E"/>
          </a:solidFill>
          <a:ln/>
        </p:spPr>
      </p: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5" name="!!coin">
                <a:extLst>
                  <a:ext uri="{FF2B5EF4-FFF2-40B4-BE49-F238E27FC236}">
                    <a16:creationId xmlns:a16="http://schemas.microsoft.com/office/drawing/2014/main" id="{85914BAC-DE10-4720-A199-79F92D00755B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5163560" y="117043"/>
              <a:ext cx="512064" cy="512064"/>
            </p:xfrm>
            <a:graphic>
              <a:graphicData uri="http://schemas.microsoft.com/office/drawing/2017/model3d">
                <am3d:model3d r:embed="rIdM3d28">
                  <am3d:spPr>
                    <a:xfrm>
                      <a:off x="0" y="0"/>
                      <a:ext cx="512064" cy="512064"/>
                    </a:xfrm>
                    <a:prstGeom prst="rect">
                      <a:avLst/>
                    </a:prstGeom>
                  </am3d:spPr>
                  <am3d:camera>
                    <am3d:pos x="0" y="0" z="66612804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500000" d="1000000"/>
                    <am3d:preTrans dx="0" dy="0" dz="-269999"/>
                    <am3d:scale>
                      <am3d:sx n="1000000" d="1000000"/>
                      <am3d:sy n="1000000" d="1000000"/>
                      <am3d:sz n="1000000" d="1000000"/>
                    </am3d:scale>
                    <am3d:rot ax="0" ay="-960000" az="-63000000"/>
                    <am3d:postTrans dx="0" dy="0" dz="0"/>
                  </am3d:trans>
                  <am3d:raster rName="Office3DRenderer" rVer="16.0.8326">
                    <am3d:blip r:embed="rId2"/>
                  </am3d:raster>
                  <am3d:objViewport viewportSz="512064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5" name="!!coin">
                <a:extLst>
                  <a:ext uri="{FF2B5EF4-FFF2-40B4-BE49-F238E27FC236}">
                    <a16:creationId xmlns:a16="http://schemas.microsoft.com/office/drawing/2014/main" id="{85914BAC-DE10-4720-A199-79F92D00755B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5163560" y="117043"/>
                <a:ext cx="512064" cy="512064"/>
              </a:xfrm>
              <a:prstGeom prst="rect">
                <a:avLst/>
              </a:prstGeom>
            </p:spPr>
          </p:pic>
        </mc:Fallback>
      </mc:AlternateContent>
      <p:sp>
        <p:nvSpPr>
          <p:cNvPr id="6" name="!!kickerbar"/>
          <p:cNvSpPr/>
          <p:nvPr/>
        </p:nvSpPr>
        <p:spPr>
          <a:xfrm>
            <a:off x="685800" y="713232"/>
            <a:ext cx="310896" cy="32004"/>
          </a:xfrm>
          <a:prstGeom prst="rect">
            <a:avLst/>
          </a:prstGeom>
          <a:solidFill>
            <a:srgbClr val="E2B45E"/>
          </a:solidFill>
          <a:ln/>
        </p:spPr>
      </p:sp>
      <p:sp>
        <p:nvSpPr>
          <p:cNvPr id="7" name="!!kicker"/>
          <p:cNvSpPr/>
          <p:nvPr/>
        </p:nvSpPr>
        <p:spPr>
          <a:xfrm>
            <a:off x="1124712" y="5943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spc="300" kern="0" dirty="0">
                <a:solidFill>
                  <a:srgbClr val="E2B4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— ГЛАВНАЯ ИДЕЯ</a:t>
            </a:r>
            <a:endParaRPr lang="en-US" sz="1100" dirty="0"/>
          </a:p>
        </p:txBody>
      </p:sp>
      <p:sp>
        <p:nvSpPr>
          <p:cNvPr id="8" name="!!footline"/>
          <p:cNvSpPr/>
          <p:nvPr/>
        </p:nvSpPr>
        <p:spPr>
          <a:xfrm>
            <a:off x="685800" y="6400800"/>
            <a:ext cx="10820095" cy="91"/>
          </a:xfrm>
          <a:prstGeom prst="line">
            <a:avLst/>
          </a:prstGeom>
          <a:noFill/>
          <a:ln w="9525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9" name="!!footer"/>
          <p:cNvSpPr/>
          <p:nvPr/>
        </p:nvSpPr>
        <p:spPr>
          <a:xfrm>
            <a:off x="685800" y="649224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spc="200" kern="0" dirty="0">
                <a:solidFill>
                  <a:srgbClr val="BBAC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РИЧАРД КАНТИЛЬОН  ·  1680-е – 1734</a:t>
            </a:r>
            <a:endParaRPr lang="en-US" sz="900" dirty="0"/>
          </a:p>
        </p:txBody>
      </p:sp>
      <p:sp>
        <p:nvSpPr>
          <p:cNvPr id="10" name="!!pagenum"/>
          <p:cNvSpPr/>
          <p:nvPr/>
        </p:nvSpPr>
        <p:spPr>
          <a:xfrm>
            <a:off x="10134295" y="649224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900" spc="200" kern="0" dirty="0">
                <a:solidFill>
                  <a:srgbClr val="BBAC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 / 17</a:t>
            </a:r>
            <a:endParaRPr lang="en-US" sz="900" dirty="0"/>
          </a:p>
        </p:txBody>
      </p:sp>
      <p:pic>
        <p:nvPicPr>
          <p:cNvPr id="11" name="!!glow" descr="/home/user/omgGame/presentations/cantillon/assets/glow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21424" y="237744"/>
            <a:ext cx="5833872" cy="5833872"/>
          </a:xfrm>
          <a:prstGeom prst="rect">
            <a:avLst/>
          </a:prstGeom>
        </p:spPr>
      </p:pic>
      <p:sp>
        <p:nvSpPr>
          <p:cNvPr id="12" name="!!ring1"/>
          <p:cNvSpPr/>
          <p:nvPr/>
        </p:nvSpPr>
        <p:spPr>
          <a:xfrm>
            <a:off x="7847381" y="1263701"/>
            <a:ext cx="3781958" cy="3781958"/>
          </a:xfrm>
          <a:prstGeom prst="ellipse">
            <a:avLst/>
          </a:prstGeom>
          <a:ln w="9525">
            <a:solidFill>
              <a:srgbClr val="E2B45E">
                <a:alpha val="18000"/>
              </a:srgbClr>
            </a:solidFill>
            <a:prstDash val="solid"/>
          </a:ln>
        </p:spPr>
      </p:sp>
      <p:sp>
        <p:nvSpPr>
          <p:cNvPr id="13" name="!!ring2"/>
          <p:cNvSpPr/>
          <p:nvPr/>
        </p:nvSpPr>
        <p:spPr>
          <a:xfrm>
            <a:off x="7324344" y="740664"/>
            <a:ext cx="4828032" cy="4828032"/>
          </a:xfrm>
          <a:prstGeom prst="ellipse">
            <a:avLst/>
          </a:prstGeom>
          <a:ln w="9525">
            <a:solidFill>
              <a:srgbClr val="E2B45E">
                <a:alpha val="12000"/>
              </a:srgbClr>
            </a:solidFill>
            <a:prstDash val="dash"/>
          </a:ln>
        </p:spPr>
      </p:sp>
      <p:pic>
        <p:nvPicPr>
          <p:cNvPr id="14" name="!!shadow" descr="/home/user/omgGame/presentations/cantillon/assets/shadow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69250" y="3969410"/>
            <a:ext cx="3138221" cy="784555"/>
          </a:xfrm>
          <a:prstGeom prst="rect">
            <a:avLst/>
          </a:prstGeom>
        </p:spPr>
      </p:pic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15" name="!!m-dice">
                <a:extLst>
                  <a:ext uri="{FF2B5EF4-FFF2-40B4-BE49-F238E27FC236}">
                    <a16:creationId xmlns:a16="http://schemas.microsoft.com/office/drawing/2014/main" id="{71E76775-B682-F49B-DB62-1D5C509DE03C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7726680" y="1143000"/>
              <a:ext cx="4023360" cy="4023360"/>
            </p:xfrm>
            <a:graphic>
              <a:graphicData uri="http://schemas.microsoft.com/office/drawing/2017/model3d">
                <am3d:model3d r:embed="rIdM3d29">
                  <am3d:spPr>
                    <a:xfrm>
                      <a:off x="0" y="0"/>
                      <a:ext cx="4023360" cy="4023360"/>
                    </a:xfrm>
                    <a:prstGeom prst="rect">
                      <a:avLst/>
                    </a:prstGeom>
                  </am3d:spPr>
                  <am3d:camera>
                    <am3d:pos x="0" y="0" z="60919733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615749" d="1000000"/>
                    <am3d:preTrans dx="-814595" dy="220250" dz="-1494600"/>
                    <am3d:scale>
                      <am3d:sx n="1000000" d="1000000"/>
                      <am3d:sy n="1000000" d="1000000"/>
                      <am3d:sz n="1000000" d="1000000"/>
                    </am3d:scale>
                    <am3d:rot ax="1320000" ay="-1560000" az="0"/>
                    <am3d:postTrans dx="0" dy="0" dz="0"/>
                  </am3d:trans>
                  <am3d:raster rName="Office3DRenderer" rVer="16.0.8326">
                    <am3d:blip r:embed="rId5"/>
                  </am3d:raster>
                  <am3d:objViewport viewportSz="4023360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15" name="!!m-dice">
                <a:extLst>
                  <a:ext uri="{FF2B5EF4-FFF2-40B4-BE49-F238E27FC236}">
                    <a16:creationId xmlns:a16="http://schemas.microsoft.com/office/drawing/2014/main" id="{71E76775-B682-F49B-DB62-1D5C509DE03C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726680" y="1143000"/>
                <a:ext cx="4023360" cy="4023360"/>
              </a:xfrm>
              <a:prstGeom prst="rect">
                <a:avLst/>
              </a:prstGeom>
            </p:spPr>
          </p:pic>
        </mc:Fallback>
      </mc:AlternateContent>
      <p:sp>
        <p:nvSpPr>
          <p:cNvPr id="16" name="fx8_9_0"/>
          <p:cNvSpPr/>
          <p:nvPr/>
        </p:nvSpPr>
        <p:spPr>
          <a:xfrm>
            <a:off x="7909560" y="4884725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00" b="1" spc="250" kern="0" dirty="0">
                <a:solidFill>
                  <a:srgbClr val="E2B4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ЭКСПОНАТ 08</a:t>
            </a:r>
            <a:endParaRPr lang="en-US" sz="9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BBAC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Кости: доход предпринимателя не известен заранее</a:t>
            </a:r>
            <a:endParaRPr lang="en-US" sz="900" dirty="0"/>
          </a:p>
        </p:txBody>
      </p:sp>
      <p:sp>
        <p:nvSpPr>
          <p:cNvPr id="17" name="!!title"/>
          <p:cNvSpPr/>
          <p:nvPr/>
        </p:nvSpPr>
        <p:spPr>
          <a:xfrm>
            <a:off x="685800" y="987552"/>
            <a:ext cx="6675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600" dirty="0">
                <a:solidFill>
                  <a:srgbClr val="F6EFE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Предприниматель живёт в неопределённости</a:t>
            </a:r>
            <a:endParaRPr lang="en-US" sz="3600" dirty="0"/>
          </a:p>
        </p:txBody>
      </p:sp>
      <p:sp>
        <p:nvSpPr>
          <p:cNvPr id="18" name="fx8_1_1"/>
          <p:cNvSpPr/>
          <p:nvPr/>
        </p:nvSpPr>
        <p:spPr>
          <a:xfrm>
            <a:off x="685800" y="2194560"/>
            <a:ext cx="2084832" cy="868680"/>
          </a:xfrm>
          <a:prstGeom prst="roundRect">
            <a:avLst>
              <a:gd name="adj" fmla="val 8421"/>
            </a:avLst>
          </a:prstGeom>
          <a:solidFill>
            <a:srgbClr val="21130F">
              <a:alpha val="85000"/>
            </a:srgbClr>
          </a:solidFill>
          <a:ln w="9525">
            <a:solidFill>
              <a:srgbClr val="8A7A68">
                <a:alpha val="35000"/>
              </a:srgbClr>
            </a:solidFill>
            <a:prstDash val="solid"/>
          </a:ln>
        </p:spPr>
      </p:sp>
      <p:sp>
        <p:nvSpPr>
          <p:cNvPr id="19" name="fx8_1_2"/>
          <p:cNvSpPr/>
          <p:nvPr/>
        </p:nvSpPr>
        <p:spPr>
          <a:xfrm>
            <a:off x="850392" y="2340864"/>
            <a:ext cx="18105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b="1" spc="200" kern="0" dirty="0">
                <a:solidFill>
                  <a:srgbClr val="BBAC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ЗЕМЛЕВЛАДЕЛЬЦЫ</a:t>
            </a:r>
            <a:endParaRPr lang="en-US" sz="950" dirty="0"/>
          </a:p>
        </p:txBody>
      </p:sp>
      <p:sp>
        <p:nvSpPr>
          <p:cNvPr id="20" name="fx8_1_3"/>
          <p:cNvSpPr/>
          <p:nvPr/>
        </p:nvSpPr>
        <p:spPr>
          <a:xfrm>
            <a:off x="850392" y="2596896"/>
            <a:ext cx="18105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F6EF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независимы</a:t>
            </a:r>
            <a:endParaRPr lang="en-US" sz="1250" dirty="0"/>
          </a:p>
        </p:txBody>
      </p:sp>
      <p:sp>
        <p:nvSpPr>
          <p:cNvPr id="21" name="fx8_1_4"/>
          <p:cNvSpPr/>
          <p:nvPr/>
        </p:nvSpPr>
        <p:spPr>
          <a:xfrm>
            <a:off x="2898648" y="2194560"/>
            <a:ext cx="2084832" cy="868680"/>
          </a:xfrm>
          <a:prstGeom prst="roundRect">
            <a:avLst>
              <a:gd name="adj" fmla="val 8421"/>
            </a:avLst>
          </a:prstGeom>
          <a:solidFill>
            <a:srgbClr val="21130F">
              <a:alpha val="85000"/>
            </a:srgbClr>
          </a:solidFill>
          <a:ln w="9525">
            <a:solidFill>
              <a:srgbClr val="8A7A68">
                <a:alpha val="35000"/>
              </a:srgbClr>
            </a:solidFill>
            <a:prstDash val="solid"/>
          </a:ln>
        </p:spPr>
      </p:sp>
      <p:sp>
        <p:nvSpPr>
          <p:cNvPr id="22" name="fx8_1_5"/>
          <p:cNvSpPr/>
          <p:nvPr/>
        </p:nvSpPr>
        <p:spPr>
          <a:xfrm>
            <a:off x="3063240" y="2340864"/>
            <a:ext cx="18105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b="1" spc="200" kern="0" dirty="0">
                <a:solidFill>
                  <a:srgbClr val="BBAC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НАЁМНЫЕ</a:t>
            </a:r>
            <a:endParaRPr lang="en-US" sz="950" dirty="0"/>
          </a:p>
        </p:txBody>
      </p:sp>
      <p:sp>
        <p:nvSpPr>
          <p:cNvPr id="23" name="fx8_1_6"/>
          <p:cNvSpPr/>
          <p:nvPr/>
        </p:nvSpPr>
        <p:spPr>
          <a:xfrm>
            <a:off x="3063240" y="2596896"/>
            <a:ext cx="18105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F6EF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фиксированный доход</a:t>
            </a:r>
            <a:endParaRPr lang="en-US" sz="1250" dirty="0"/>
          </a:p>
        </p:txBody>
      </p:sp>
      <p:sp>
        <p:nvSpPr>
          <p:cNvPr id="24" name="fx8_1_7"/>
          <p:cNvSpPr/>
          <p:nvPr/>
        </p:nvSpPr>
        <p:spPr>
          <a:xfrm>
            <a:off x="5111496" y="2194560"/>
            <a:ext cx="2084832" cy="868680"/>
          </a:xfrm>
          <a:prstGeom prst="roundRect">
            <a:avLst>
              <a:gd name="adj" fmla="val 8421"/>
            </a:avLst>
          </a:prstGeom>
          <a:solidFill>
            <a:srgbClr val="3A2610"/>
          </a:solidFill>
          <a:ln w="9525">
            <a:solidFill>
              <a:srgbClr val="E2B45E">
                <a:alpha val="75000"/>
              </a:srgbClr>
            </a:solidFill>
            <a:prstDash val="solid"/>
          </a:ln>
        </p:spPr>
      </p:sp>
      <p:sp>
        <p:nvSpPr>
          <p:cNvPr id="25" name="fx8_1_8"/>
          <p:cNvSpPr/>
          <p:nvPr/>
        </p:nvSpPr>
        <p:spPr>
          <a:xfrm>
            <a:off x="5276088" y="2340864"/>
            <a:ext cx="18105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b="1" spc="200" kern="0" dirty="0">
                <a:solidFill>
                  <a:srgbClr val="E2B4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ПРЕДПРИНИМАТЕЛИ</a:t>
            </a:r>
            <a:endParaRPr lang="en-US" sz="950" dirty="0"/>
          </a:p>
        </p:txBody>
      </p:sp>
      <p:sp>
        <p:nvSpPr>
          <p:cNvPr id="26" name="fx8_1_9"/>
          <p:cNvSpPr/>
          <p:nvPr/>
        </p:nvSpPr>
        <p:spPr>
          <a:xfrm>
            <a:off x="5276088" y="2596896"/>
            <a:ext cx="18105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F6EF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нефиксированный доход</a:t>
            </a:r>
            <a:endParaRPr lang="en-US" sz="1250" dirty="0"/>
          </a:p>
        </p:txBody>
      </p:sp>
      <p:sp>
        <p:nvSpPr>
          <p:cNvPr id="27" name="fx8_2_10"/>
          <p:cNvSpPr/>
          <p:nvPr/>
        </p:nvSpPr>
        <p:spPr>
          <a:xfrm>
            <a:off x="685800" y="3364992"/>
            <a:ext cx="1828800" cy="868680"/>
          </a:xfrm>
          <a:prstGeom prst="roundRect">
            <a:avLst>
              <a:gd name="adj" fmla="val 50526"/>
            </a:avLst>
          </a:prstGeom>
          <a:solidFill>
            <a:srgbClr val="0E0807">
              <a:alpha val="70000"/>
            </a:srgbClr>
          </a:solidFill>
          <a:ln w="9525">
            <a:solidFill>
              <a:srgbClr val="E2B45E">
                <a:alpha val="50000"/>
              </a:srgbClr>
            </a:solidFill>
            <a:prstDash val="solid"/>
          </a:ln>
        </p:spPr>
      </p:sp>
      <p:sp>
        <p:nvSpPr>
          <p:cNvPr id="28" name="fx8_2_11"/>
          <p:cNvSpPr/>
          <p:nvPr/>
        </p:nvSpPr>
        <p:spPr>
          <a:xfrm>
            <a:off x="685800" y="3364992"/>
            <a:ext cx="1828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6EF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Покупает</a:t>
            </a:r>
            <a:endParaRPr lang="en-US" sz="14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BBAC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 известной цене</a:t>
            </a:r>
            <a:endParaRPr lang="en-US" sz="1400" dirty="0"/>
          </a:p>
        </p:txBody>
      </p:sp>
      <p:sp>
        <p:nvSpPr>
          <p:cNvPr id="29" name="fx8_2_12"/>
          <p:cNvSpPr/>
          <p:nvPr/>
        </p:nvSpPr>
        <p:spPr>
          <a:xfrm>
            <a:off x="2514600" y="3529584"/>
            <a:ext cx="3840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400" dirty="0">
                <a:solidFill>
                  <a:srgbClr val="E2B4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</a:t>
            </a:r>
            <a:endParaRPr lang="en-US" sz="2400" dirty="0"/>
          </a:p>
        </p:txBody>
      </p:sp>
      <p:sp>
        <p:nvSpPr>
          <p:cNvPr id="30" name="fx8_3_13"/>
          <p:cNvSpPr/>
          <p:nvPr/>
        </p:nvSpPr>
        <p:spPr>
          <a:xfrm>
            <a:off x="2898648" y="3364992"/>
            <a:ext cx="1828800" cy="868680"/>
          </a:xfrm>
          <a:prstGeom prst="roundRect">
            <a:avLst>
              <a:gd name="adj" fmla="val 50526"/>
            </a:avLst>
          </a:prstGeom>
          <a:solidFill>
            <a:srgbClr val="0E0807">
              <a:alpha val="70000"/>
            </a:srgbClr>
          </a:solidFill>
          <a:ln w="9525">
            <a:solidFill>
              <a:srgbClr val="E2B45E">
                <a:alpha val="50000"/>
              </a:srgbClr>
            </a:solidFill>
            <a:prstDash val="solid"/>
          </a:ln>
        </p:spPr>
      </p:sp>
      <p:sp>
        <p:nvSpPr>
          <p:cNvPr id="31" name="fx8_3_14"/>
          <p:cNvSpPr/>
          <p:nvPr/>
        </p:nvSpPr>
        <p:spPr>
          <a:xfrm>
            <a:off x="2898648" y="3364992"/>
            <a:ext cx="1828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6EF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Ждёт</a:t>
            </a:r>
            <a:endParaRPr lang="en-US" sz="14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BBAC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спрос и цены неизвестны</a:t>
            </a:r>
            <a:endParaRPr lang="en-US" sz="1400" dirty="0"/>
          </a:p>
        </p:txBody>
      </p:sp>
      <p:sp>
        <p:nvSpPr>
          <p:cNvPr id="32" name="fx8_3_15"/>
          <p:cNvSpPr/>
          <p:nvPr/>
        </p:nvSpPr>
        <p:spPr>
          <a:xfrm>
            <a:off x="4727448" y="3529584"/>
            <a:ext cx="3840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400" dirty="0">
                <a:solidFill>
                  <a:srgbClr val="E2B4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</a:t>
            </a:r>
            <a:endParaRPr lang="en-US" sz="2400" dirty="0"/>
          </a:p>
        </p:txBody>
      </p:sp>
      <p:sp>
        <p:nvSpPr>
          <p:cNvPr id="33" name="fx8_4_16"/>
          <p:cNvSpPr/>
          <p:nvPr/>
        </p:nvSpPr>
        <p:spPr>
          <a:xfrm>
            <a:off x="5111496" y="3364992"/>
            <a:ext cx="1828800" cy="868680"/>
          </a:xfrm>
          <a:prstGeom prst="roundRect">
            <a:avLst>
              <a:gd name="adj" fmla="val 50526"/>
            </a:avLst>
          </a:prstGeom>
          <a:solidFill>
            <a:srgbClr val="0E0807">
              <a:alpha val="70000"/>
            </a:srgbClr>
          </a:solidFill>
          <a:ln w="9525">
            <a:solidFill>
              <a:srgbClr val="E2B45E">
                <a:alpha val="50000"/>
              </a:srgbClr>
            </a:solidFill>
            <a:prstDash val="solid"/>
          </a:ln>
        </p:spPr>
      </p:sp>
      <p:sp>
        <p:nvSpPr>
          <p:cNvPr id="34" name="fx8_4_17"/>
          <p:cNvSpPr/>
          <p:nvPr/>
        </p:nvSpPr>
        <p:spPr>
          <a:xfrm>
            <a:off x="5111496" y="3364992"/>
            <a:ext cx="1828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6EF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Продаёт</a:t>
            </a:r>
            <a:endParaRPr lang="en-US" sz="14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BBAC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 неизвестной цене</a:t>
            </a:r>
            <a:endParaRPr lang="en-US" sz="1400" dirty="0"/>
          </a:p>
        </p:txBody>
      </p:sp>
      <p:sp>
        <p:nvSpPr>
          <p:cNvPr id="35" name="fx8_5_18"/>
          <p:cNvSpPr/>
          <p:nvPr/>
        </p:nvSpPr>
        <p:spPr>
          <a:xfrm>
            <a:off x="685800" y="4389120"/>
            <a:ext cx="6675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E2B4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Итог: </a:t>
            </a:r>
            <a:pPr algn="l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F6EF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прибыль — награда за верный прогноз; ошибка — банкротство.</a:t>
            </a:r>
            <a:endParaRPr lang="en-US" sz="1300" dirty="0"/>
          </a:p>
        </p:txBody>
      </p:sp>
      <p:sp>
        <p:nvSpPr>
          <p:cNvPr id="36" name="fx8_8_19"/>
          <p:cNvSpPr/>
          <p:nvPr/>
        </p:nvSpPr>
        <p:spPr>
          <a:xfrm>
            <a:off x="685800" y="5074920"/>
            <a:ext cx="6629400" cy="1115568"/>
          </a:xfrm>
          <a:prstGeom prst="roundRect">
            <a:avLst>
              <a:gd name="adj" fmla="val 6557"/>
            </a:avLst>
          </a:prstGeom>
          <a:solidFill>
            <a:srgbClr val="26180A">
              <a:alpha val="94000"/>
            </a:srgbClr>
          </a:solidFill>
          <a:ln w="12700">
            <a:solidFill>
              <a:srgbClr val="E2B45E">
                <a:alpha val="55000"/>
              </a:srgbClr>
            </a:solidFill>
            <a:prstDash val="solid"/>
          </a:ln>
          <a:effectLst>
            <a:outerShdw sx="100000" sy="100000" kx="0" ky="0" algn="bl" rotWithShape="0" blurRad="228600" dist="76200" dir="5400000">
              <a:srgbClr val="000000">
                <a:alpha val="45000"/>
              </a:srgbClr>
            </a:outerShdw>
          </a:effectLst>
        </p:spPr>
      </p:sp>
      <p:sp>
        <p:nvSpPr>
          <p:cNvPr id="37" name="fx8_8_20"/>
          <p:cNvSpPr/>
          <p:nvPr/>
        </p:nvSpPr>
        <p:spPr>
          <a:xfrm>
            <a:off x="685800" y="5221224"/>
            <a:ext cx="50292" cy="822960"/>
          </a:xfrm>
          <a:prstGeom prst="rect">
            <a:avLst/>
          </a:prstGeom>
          <a:solidFill>
            <a:srgbClr val="E2B45E"/>
          </a:solidFill>
          <a:ln/>
        </p:spPr>
      </p:sp>
      <p:sp>
        <p:nvSpPr>
          <p:cNvPr id="38" name="fx8_8_21"/>
          <p:cNvSpPr/>
          <p:nvPr/>
        </p:nvSpPr>
        <p:spPr>
          <a:xfrm>
            <a:off x="941832" y="4937760"/>
            <a:ext cx="2473452" cy="274320"/>
          </a:xfrm>
          <a:prstGeom prst="roundRect">
            <a:avLst>
              <a:gd name="adj" fmla="val 50000"/>
            </a:avLst>
          </a:prstGeom>
          <a:solidFill>
            <a:srgbClr val="E2B45E"/>
          </a:solidFill>
          <a:ln/>
        </p:spPr>
      </p:sp>
      <p:sp>
        <p:nvSpPr>
          <p:cNvPr id="39" name="fx8_8_22"/>
          <p:cNvSpPr/>
          <p:nvPr/>
        </p:nvSpPr>
        <p:spPr>
          <a:xfrm>
            <a:off x="941832" y="4937760"/>
            <a:ext cx="24734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50" b="1" spc="150" kern="0" dirty="0">
                <a:solidFill>
                  <a:srgbClr val="0E08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  ЕГО СОБСТВЕННЫЕ СЛОВА</a:t>
            </a:r>
            <a:endParaRPr lang="en-US" sz="850" dirty="0"/>
          </a:p>
        </p:txBody>
      </p:sp>
      <p:sp>
        <p:nvSpPr>
          <p:cNvPr id="40" name="fx8_8_23"/>
          <p:cNvSpPr/>
          <p:nvPr/>
        </p:nvSpPr>
        <p:spPr>
          <a:xfrm>
            <a:off x="960120" y="5257800"/>
            <a:ext cx="6172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400" i="1" dirty="0">
                <a:solidFill>
                  <a:srgbClr val="F6EFE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«Эти предприниматели никогда не знают, каким будет спрос в их городе… </a:t>
            </a:r>
            <a:pPr algn="l" indent="0" marL="0">
              <a:lnSpc>
                <a:spcPct val="105000"/>
              </a:lnSpc>
              <a:buNone/>
            </a:pPr>
            <a:r>
              <a:rPr lang="en-US" sz="1400" b="1" i="1" dirty="0">
                <a:solidFill>
                  <a:srgbClr val="F6EFE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каждый день видишь, как кто-то из них становится банкротом</a:t>
            </a:r>
            <a:pPr algn="l" indent="0" marL="0">
              <a:lnSpc>
                <a:spcPct val="105000"/>
              </a:lnSpc>
              <a:buNone/>
            </a:pPr>
            <a:r>
              <a:rPr lang="en-US" sz="1400" i="1" dirty="0">
                <a:solidFill>
                  <a:srgbClr val="F6EFE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».</a:t>
            </a:r>
            <a:endParaRPr lang="en-US" sz="1400" dirty="0"/>
          </a:p>
        </p:txBody>
      </p: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41" name="!!m-quill">
                <a:extLst>
                  <a:ext uri="{FF2B5EF4-FFF2-40B4-BE49-F238E27FC236}">
                    <a16:creationId xmlns:a16="http://schemas.microsoft.com/office/drawing/2014/main" id="{1DC40023-7999-BEF5-527E-A8263B1B0575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-5029200" y="1280160"/>
              <a:ext cx="4480560" cy="4480560"/>
            </p:xfrm>
            <a:graphic>
              <a:graphicData uri="http://schemas.microsoft.com/office/drawing/2017/model3d">
                <am3d:model3d r:embed="rIdM3d30">
                  <am3d:spPr>
                    <a:xfrm>
                      <a:off x="0" y="0"/>
                      <a:ext cx="4480560" cy="4480560"/>
                    </a:xfrm>
                    <a:prstGeom prst="rect">
                      <a:avLst/>
                    </a:prstGeom>
                  </am3d:spPr>
                  <am3d:camera>
                    <am3d:pos x="0" y="0" z="75001928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780959" d="1000000"/>
                    <am3d:preTrans dx="117169" dy="-1" dz="-573277"/>
                    <am3d:scale>
                      <am3d:sx n="1000000" d="1000000"/>
                      <am3d:sy n="1000000" d="1000000"/>
                      <am3d:sz n="1000000" d="1000000"/>
                    </am3d:scale>
                    <am3d:rot ax="1440000" ay="-6000000" az="0"/>
                    <am3d:postTrans dx="0" dy="0" dz="0"/>
                  </am3d:trans>
                  <am3d:raster rName="Office3DRenderer" rVer="16.0.8326">
                    <am3d:blip r:embed="rId6"/>
                  </am3d:raster>
                  <am3d:objViewport viewportSz="4480560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41" name="!!m-quill">
                <a:extLst>
                  <a:ext uri="{FF2B5EF4-FFF2-40B4-BE49-F238E27FC236}">
                    <a16:creationId xmlns:a16="http://schemas.microsoft.com/office/drawing/2014/main" id="{1DC40023-7999-BEF5-527E-A8263B1B0575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-5029200" y="1280160"/>
                <a:ext cx="4480560" cy="4480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42" name="!!m-wheat">
                <a:extLst>
                  <a:ext uri="{FF2B5EF4-FFF2-40B4-BE49-F238E27FC236}">
                    <a16:creationId xmlns:a16="http://schemas.microsoft.com/office/drawing/2014/main" id="{8CEC022B-D3F8-D2A5-E2C8-A9E6ADD30ECD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12740335" y="1234440"/>
              <a:ext cx="4206240" cy="4206240"/>
            </p:xfrm>
            <a:graphic>
              <a:graphicData uri="http://schemas.microsoft.com/office/drawing/2017/model3d">
                <am3d:model3d r:embed="rIdM3d31">
                  <am3d:spPr>
                    <a:xfrm>
                      <a:off x="0" y="0"/>
                      <a:ext cx="4206240" cy="4206240"/>
                    </a:xfrm>
                    <a:prstGeom prst="rect">
                      <a:avLst/>
                    </a:prstGeom>
                  </am3d:spPr>
                  <am3d:camera>
                    <am3d:pos x="0" y="0" z="61781567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505029" d="1000000"/>
                    <am3d:preTrans dx="594907" dy="0" dz="-446824"/>
                    <am3d:scale>
                      <am3d:sx n="1000000" d="1000000"/>
                      <am3d:sy n="1000000" d="1000000"/>
                      <am3d:sz n="1000000" d="1000000"/>
                    </am3d:scale>
                    <am3d:rot ax="360000" ay="3600000" az="0"/>
                    <am3d:postTrans dx="0" dy="0" dz="0"/>
                  </am3d:trans>
                  <am3d:raster rName="Office3DRenderer" rVer="16.0.8326">
                    <am3d:blip r:embed="rId7"/>
                  </am3d:raster>
                  <am3d:objViewport viewportSz="4206240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42" name="!!m-wheat">
                <a:extLst>
                  <a:ext uri="{FF2B5EF4-FFF2-40B4-BE49-F238E27FC236}">
                    <a16:creationId xmlns:a16="http://schemas.microsoft.com/office/drawing/2014/main" id="{8CEC022B-D3F8-D2A5-E2C8-A9E6ADD30ECD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2740335" y="1234440"/>
                <a:ext cx="4206240" cy="42062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6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42" presetClass="entr" presetSubtype="0" fill="hold" grpId="0" nodeType="after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7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700" decel="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00" decel="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42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7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700" decel="10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700" decel="10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7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700" decel="10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700" decel="10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7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700" decel="100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700" decel="100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7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700" decel="100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700" decel="100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7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700" decel="100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700" decel="100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7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700" decel="100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700" decel="100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42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7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700" decel="100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700" decel="100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42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7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700" decel="100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700" decel="100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42" presetClass="entr" presetSubtype="0" fill="hold" grpId="0" nodeType="withEffect">
                                  <p:stCondLst>
                                    <p:cond delay="41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7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700" decel="100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700" decel="100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42" presetClass="entr" presetSubtype="0" fill="hold" grpId="0" nodeType="withEffect">
                                  <p:stCondLst>
                                    <p:cond delay="41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7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700" decel="100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700" decel="100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42" presetClass="entr" presetSubtype="0" fill="hold" grpId="0" nodeType="withEffect">
                                  <p:stCondLst>
                                    <p:cond delay="41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7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700" decel="100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700" decel="100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42" presetClass="entr" presetSubtype="0" fill="hold" grpId="0" nodeType="withEffect">
                                  <p:stCondLst>
                                    <p:cond delay="67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7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700" decel="100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700" decel="100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42" presetClass="entr" presetSubtype="0" fill="hold" grpId="0" nodeType="withEffect">
                                  <p:stCondLst>
                                    <p:cond delay="67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7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3" dur="700" decel="100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700" decel="100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42" presetClass="entr" presetSubtype="0" fill="hold" grpId="0" nodeType="withEffect">
                                  <p:stCondLst>
                                    <p:cond delay="67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7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700" decel="100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700" decel="100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2" presetID="42" presetClass="entr" presetSubtype="0" fill="hold" grpId="0" nodeType="withEffect">
                                  <p:stCondLst>
                                    <p:cond delay="93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7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3" dur="700" decel="100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700" decel="100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7" presetID="42" presetClass="entr" presetSubtype="0" fill="hold" grpId="0" nodeType="withEffect">
                                  <p:stCondLst>
                                    <p:cond delay="93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7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8" dur="700" decel="100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700" decel="100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2" presetID="42" presetClass="entr" presetSubtype="0" fill="hold" grpId="0" nodeType="withEffect">
                                  <p:stCondLst>
                                    <p:cond delay="119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7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3" dur="700" decel="100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700" decel="100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7" presetID="42" presetClass="entr" presetSubtype="0" fill="hold" grpId="0" nodeType="withEffect">
                                  <p:stCondLst>
                                    <p:cond delay="145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7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8" dur="700" decel="100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700" decel="100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2" presetID="42" presetClass="entr" presetSubtype="0" fill="hold" grpId="0" nodeType="withEffect">
                                  <p:stCondLst>
                                    <p:cond delay="145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7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3" dur="700" decel="100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4" dur="700" decel="100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7" presetID="42" presetClass="entr" presetSubtype="0" fill="hold" grpId="0" nodeType="withEffect">
                                  <p:stCondLst>
                                    <p:cond delay="145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7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8" dur="700" decel="100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9" dur="700" decel="100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2" presetID="42" presetClass="entr" presetSubtype="0" fill="hold" grpId="0" nodeType="withEffect">
                                  <p:stCondLst>
                                    <p:cond delay="145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7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3" dur="700" decel="100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4" dur="700" decel="100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7" presetID="42" presetClass="entr" presetSubtype="0" fill="hold" grpId="0" nodeType="withEffect">
                                  <p:stCondLst>
                                    <p:cond delay="145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6" dur="7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8" dur="700" decel="100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9" dur="700" decel="100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2" presetID="42" presetClass="entr" presetSubtype="0" fill="hold" grpId="0" nodeType="withEffect">
                                  <p:stCondLst>
                                    <p:cond delay="171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7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3" dur="70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4" dur="70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16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xmlns:am3d="http://schemas.microsoft.com/office/drawing/2017/model3d" mc:Ignorable="am3d">
  <p:cSld name="Slide 9">
    <p:bg>
      <p:bgPr>
        <a:solidFill>
          <a:srgbClr val="08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ackground" descr="/home/user/omgGame/presentations/cantillon/assets/stage-bg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!!track"/>
          <p:cNvSpPr/>
          <p:nvPr/>
        </p:nvSpPr>
        <p:spPr>
          <a:xfrm>
            <a:off x="685800" y="402336"/>
            <a:ext cx="10820095" cy="91"/>
          </a:xfrm>
          <a:prstGeom prst="line">
            <a:avLst/>
          </a:prstGeom>
          <a:noFill/>
          <a:ln w="9525">
            <a:solidFill>
              <a:srgbClr val="FFFFFF">
                <a:alpha val="16000"/>
              </a:srgbClr>
            </a:solidFill>
            <a:prstDash val="solid"/>
          </a:ln>
        </p:spPr>
      </p:sp>
      <p:sp>
        <p:nvSpPr>
          <p:cNvPr id="4" name="!!progress"/>
          <p:cNvSpPr/>
          <p:nvPr/>
        </p:nvSpPr>
        <p:spPr>
          <a:xfrm>
            <a:off x="685800" y="391363"/>
            <a:ext cx="5410048" cy="21946"/>
          </a:xfrm>
          <a:prstGeom prst="rect">
            <a:avLst/>
          </a:prstGeom>
          <a:solidFill>
            <a:srgbClr val="E2B45E"/>
          </a:solidFill>
          <a:ln/>
        </p:spPr>
      </p: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5" name="!!coin">
                <a:extLst>
                  <a:ext uri="{FF2B5EF4-FFF2-40B4-BE49-F238E27FC236}">
                    <a16:creationId xmlns:a16="http://schemas.microsoft.com/office/drawing/2014/main" id="{7B1FC48D-2562-AAC4-6EEF-A6442D962781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5839816" y="117043"/>
              <a:ext cx="512064" cy="512064"/>
            </p:xfrm>
            <a:graphic>
              <a:graphicData uri="http://schemas.microsoft.com/office/drawing/2017/model3d">
                <am3d:model3d r:embed="rIdM3d32">
                  <am3d:spPr>
                    <a:xfrm>
                      <a:off x="0" y="0"/>
                      <a:ext cx="512064" cy="512064"/>
                    </a:xfrm>
                    <a:prstGeom prst="rect">
                      <a:avLst/>
                    </a:prstGeom>
                  </am3d:spPr>
                  <am3d:camera>
                    <am3d:pos x="0" y="0" z="66612804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500000" d="1000000"/>
                    <am3d:preTrans dx="0" dy="0" dz="-269999"/>
                    <am3d:scale>
                      <am3d:sx n="1000000" d="1000000"/>
                      <am3d:sy n="1000000" d="1000000"/>
                      <am3d:sz n="1000000" d="1000000"/>
                    </am3d:scale>
                    <am3d:rot ax="0" ay="-960000" az="-72000000"/>
                    <am3d:postTrans dx="0" dy="0" dz="0"/>
                  </am3d:trans>
                  <am3d:raster rName="Office3DRenderer" rVer="16.0.8326">
                    <am3d:blip r:embed="rId2"/>
                  </am3d:raster>
                  <am3d:objViewport viewportSz="512064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5" name="!!coin">
                <a:extLst>
                  <a:ext uri="{FF2B5EF4-FFF2-40B4-BE49-F238E27FC236}">
                    <a16:creationId xmlns:a16="http://schemas.microsoft.com/office/drawing/2014/main" id="{7B1FC48D-2562-AAC4-6EEF-A6442D962781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5839816" y="117043"/>
                <a:ext cx="512064" cy="512064"/>
              </a:xfrm>
              <a:prstGeom prst="rect">
                <a:avLst/>
              </a:prstGeom>
            </p:spPr>
          </p:pic>
        </mc:Fallback>
      </mc:AlternateContent>
      <p:sp>
        <p:nvSpPr>
          <p:cNvPr id="6" name="!!kickerbar"/>
          <p:cNvSpPr/>
          <p:nvPr/>
        </p:nvSpPr>
        <p:spPr>
          <a:xfrm>
            <a:off x="685800" y="713232"/>
            <a:ext cx="310896" cy="32004"/>
          </a:xfrm>
          <a:prstGeom prst="rect">
            <a:avLst/>
          </a:prstGeom>
          <a:solidFill>
            <a:srgbClr val="E2B45E"/>
          </a:solidFill>
          <a:ln/>
        </p:spPr>
      </p:sp>
      <p:sp>
        <p:nvSpPr>
          <p:cNvPr id="7" name="!!kicker"/>
          <p:cNvSpPr/>
          <p:nvPr/>
        </p:nvSpPr>
        <p:spPr>
          <a:xfrm>
            <a:off x="1124712" y="5943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spc="300" kern="0" dirty="0">
                <a:solidFill>
                  <a:srgbClr val="E2B4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 — КТО ТАКОЙ ПРЕДПРИНИМАТЕЛЬ</a:t>
            </a:r>
            <a:endParaRPr lang="en-US" sz="1100" dirty="0"/>
          </a:p>
        </p:txBody>
      </p:sp>
      <p:sp>
        <p:nvSpPr>
          <p:cNvPr id="8" name="!!footline"/>
          <p:cNvSpPr/>
          <p:nvPr/>
        </p:nvSpPr>
        <p:spPr>
          <a:xfrm>
            <a:off x="685800" y="6400800"/>
            <a:ext cx="10820095" cy="91"/>
          </a:xfrm>
          <a:prstGeom prst="line">
            <a:avLst/>
          </a:prstGeom>
          <a:noFill/>
          <a:ln w="9525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9" name="!!footer"/>
          <p:cNvSpPr/>
          <p:nvPr/>
        </p:nvSpPr>
        <p:spPr>
          <a:xfrm>
            <a:off x="685800" y="649224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spc="200" kern="0" dirty="0">
                <a:solidFill>
                  <a:srgbClr val="BBAC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РИЧАРД КАНТИЛЬОН  ·  1680-е – 1734</a:t>
            </a:r>
            <a:endParaRPr lang="en-US" sz="900" dirty="0"/>
          </a:p>
        </p:txBody>
      </p:sp>
      <p:sp>
        <p:nvSpPr>
          <p:cNvPr id="10" name="!!pagenum"/>
          <p:cNvSpPr/>
          <p:nvPr/>
        </p:nvSpPr>
        <p:spPr>
          <a:xfrm>
            <a:off x="10134295" y="649224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900" spc="200" kern="0" dirty="0">
                <a:solidFill>
                  <a:srgbClr val="BBAC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 / 17</a:t>
            </a:r>
            <a:endParaRPr lang="en-US" sz="900" dirty="0"/>
          </a:p>
        </p:txBody>
      </p:sp>
      <p:pic>
        <p:nvPicPr>
          <p:cNvPr id="11" name="!!glow" descr="/home/user/omgGame/presentations/cantillon/assets/glow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71716" y="-77724"/>
            <a:ext cx="6099048" cy="6099048"/>
          </a:xfrm>
          <a:prstGeom prst="rect">
            <a:avLst/>
          </a:prstGeom>
        </p:spPr>
      </p:pic>
      <p:sp>
        <p:nvSpPr>
          <p:cNvPr id="12" name="!!ring1"/>
          <p:cNvSpPr/>
          <p:nvPr/>
        </p:nvSpPr>
        <p:spPr>
          <a:xfrm>
            <a:off x="7944307" y="994867"/>
            <a:ext cx="3953866" cy="3953866"/>
          </a:xfrm>
          <a:prstGeom prst="ellipse">
            <a:avLst/>
          </a:prstGeom>
          <a:ln w="9525">
            <a:solidFill>
              <a:srgbClr val="E2B45E">
                <a:alpha val="18000"/>
              </a:srgbClr>
            </a:solidFill>
            <a:prstDash val="solid"/>
          </a:ln>
        </p:spPr>
      </p:sp>
      <p:sp>
        <p:nvSpPr>
          <p:cNvPr id="13" name="!!ring2"/>
          <p:cNvSpPr/>
          <p:nvPr/>
        </p:nvSpPr>
        <p:spPr>
          <a:xfrm>
            <a:off x="7397496" y="448056"/>
            <a:ext cx="5047488" cy="5047488"/>
          </a:xfrm>
          <a:prstGeom prst="ellipse">
            <a:avLst/>
          </a:prstGeom>
          <a:ln w="9525">
            <a:solidFill>
              <a:srgbClr val="E2B45E">
                <a:alpha val="12000"/>
              </a:srgbClr>
            </a:solidFill>
            <a:prstDash val="dash"/>
          </a:ln>
        </p:spPr>
      </p:sp>
      <p:pic>
        <p:nvPicPr>
          <p:cNvPr id="14" name="!!shadow" descr="/home/user/omgGame/presentations/cantillon/assets/shadow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64524" y="4280992"/>
            <a:ext cx="2313432" cy="578358"/>
          </a:xfrm>
          <a:prstGeom prst="rect">
            <a:avLst/>
          </a:prstGeom>
        </p:spPr>
      </p:pic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15" name="!!m-wheat">
                <a:extLst>
                  <a:ext uri="{FF2B5EF4-FFF2-40B4-BE49-F238E27FC236}">
                    <a16:creationId xmlns:a16="http://schemas.microsoft.com/office/drawing/2014/main" id="{16F272EA-18A2-2958-EF14-E479E88FC6D7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7818120" y="868680"/>
              <a:ext cx="4206240" cy="4206240"/>
            </p:xfrm>
            <a:graphic>
              <a:graphicData uri="http://schemas.microsoft.com/office/drawing/2017/model3d">
                <am3d:model3d r:embed="rIdM3d33">
                  <am3d:spPr>
                    <a:xfrm>
                      <a:off x="0" y="0"/>
                      <a:ext cx="4206240" cy="4206240"/>
                    </a:xfrm>
                    <a:prstGeom prst="rect">
                      <a:avLst/>
                    </a:prstGeom>
                  </am3d:spPr>
                  <am3d:camera>
                    <am3d:pos x="0" y="0" z="61781567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505029" d="1000000"/>
                    <am3d:preTrans dx="594907" dy="0" dz="-446824"/>
                    <am3d:scale>
                      <am3d:sx n="1000000" d="1000000"/>
                      <am3d:sy n="1000000" d="1000000"/>
                      <am3d:sz n="1000000" d="1000000"/>
                    </am3d:scale>
                    <am3d:rot ax="360000" ay="-1200000" az="0"/>
                    <am3d:postTrans dx="0" dy="0" dz="0"/>
                  </am3d:trans>
                  <am3d:raster rName="Office3DRenderer" rVer="16.0.8326">
                    <am3d:blip r:embed="rId5"/>
                  </am3d:raster>
                  <am3d:objViewport viewportSz="4206240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15" name="!!m-wheat">
                <a:extLst>
                  <a:ext uri="{FF2B5EF4-FFF2-40B4-BE49-F238E27FC236}">
                    <a16:creationId xmlns:a16="http://schemas.microsoft.com/office/drawing/2014/main" id="{16F272EA-18A2-2958-EF14-E479E88FC6D7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818120" y="868680"/>
                <a:ext cx="4206240" cy="4206240"/>
              </a:xfrm>
              <a:prstGeom prst="rect">
                <a:avLst/>
              </a:prstGeom>
            </p:spPr>
          </p:pic>
        </mc:Fallback>
      </mc:AlternateContent>
      <p:sp>
        <p:nvSpPr>
          <p:cNvPr id="16" name="fx9_9_0"/>
          <p:cNvSpPr/>
          <p:nvPr/>
        </p:nvSpPr>
        <p:spPr>
          <a:xfrm>
            <a:off x="8138160" y="4780483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00" b="1" spc="250" kern="0" dirty="0">
                <a:solidFill>
                  <a:srgbClr val="E2B4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ЭКСПОНАТ 09</a:t>
            </a:r>
            <a:endParaRPr lang="en-US" sz="9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BBAC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Сноп: фермер — главный пример Кантильона</a:t>
            </a:r>
            <a:endParaRPr lang="en-US" sz="900" dirty="0"/>
          </a:p>
        </p:txBody>
      </p:sp>
      <p:sp>
        <p:nvSpPr>
          <p:cNvPr id="17" name="!!title"/>
          <p:cNvSpPr/>
          <p:nvPr/>
        </p:nvSpPr>
        <p:spPr>
          <a:xfrm>
            <a:off x="685800" y="987552"/>
            <a:ext cx="6583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600" dirty="0">
                <a:solidFill>
                  <a:srgbClr val="F6EFE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Предприниматель — почти каждый, кто рискует</a:t>
            </a:r>
            <a:endParaRPr lang="en-US" sz="3600" dirty="0"/>
          </a:p>
        </p:txBody>
      </p:sp>
      <p:sp>
        <p:nvSpPr>
          <p:cNvPr id="18" name="fx9_1_1"/>
          <p:cNvSpPr/>
          <p:nvPr/>
        </p:nvSpPr>
        <p:spPr>
          <a:xfrm>
            <a:off x="685800" y="2240280"/>
            <a:ext cx="3227832" cy="1005840"/>
          </a:xfrm>
          <a:prstGeom prst="roundRect">
            <a:avLst>
              <a:gd name="adj" fmla="val 7273"/>
            </a:avLst>
          </a:prstGeom>
          <a:solidFill>
            <a:srgbClr val="21130F">
              <a:alpha val="86000"/>
            </a:srgbClr>
          </a:solidFill>
          <a:ln w="9525">
            <a:solidFill>
              <a:srgbClr val="E2B45E">
                <a:alpha val="28000"/>
              </a:srgbClr>
            </a:solidFill>
            <a:prstDash val="solid"/>
          </a:ln>
        </p:spPr>
      </p:sp>
      <p:sp>
        <p:nvSpPr>
          <p:cNvPr id="19" name="fx9_1_2"/>
          <p:cNvSpPr/>
          <p:nvPr/>
        </p:nvSpPr>
        <p:spPr>
          <a:xfrm>
            <a:off x="886968" y="2368296"/>
            <a:ext cx="2907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F4DF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Фермер</a:t>
            </a:r>
            <a:endParaRPr lang="en-US" sz="1350" dirty="0"/>
          </a:p>
        </p:txBody>
      </p:sp>
      <p:sp>
        <p:nvSpPr>
          <p:cNvPr id="20" name="fx9_1_3"/>
          <p:cNvSpPr/>
          <p:nvPr/>
        </p:nvSpPr>
        <p:spPr>
          <a:xfrm>
            <a:off x="886968" y="2697480"/>
            <a:ext cx="29077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BBAC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Платит фиксированную ренту, а цена урожая неизвестна</a:t>
            </a:r>
            <a:endParaRPr lang="en-US" sz="1100" dirty="0"/>
          </a:p>
        </p:txBody>
      </p:sp>
      <p:sp>
        <p:nvSpPr>
          <p:cNvPr id="21" name="fx9_2_4"/>
          <p:cNvSpPr/>
          <p:nvPr/>
        </p:nvSpPr>
        <p:spPr>
          <a:xfrm>
            <a:off x="4050792" y="2240280"/>
            <a:ext cx="3227832" cy="1005840"/>
          </a:xfrm>
          <a:prstGeom prst="roundRect">
            <a:avLst>
              <a:gd name="adj" fmla="val 7273"/>
            </a:avLst>
          </a:prstGeom>
          <a:solidFill>
            <a:srgbClr val="21130F">
              <a:alpha val="86000"/>
            </a:srgbClr>
          </a:solidFill>
          <a:ln w="9525">
            <a:solidFill>
              <a:srgbClr val="E2B45E">
                <a:alpha val="28000"/>
              </a:srgbClr>
            </a:solidFill>
            <a:prstDash val="solid"/>
          </a:ln>
        </p:spPr>
      </p:sp>
      <p:sp>
        <p:nvSpPr>
          <p:cNvPr id="22" name="fx9_2_5"/>
          <p:cNvSpPr/>
          <p:nvPr/>
        </p:nvSpPr>
        <p:spPr>
          <a:xfrm>
            <a:off x="4251960" y="2368296"/>
            <a:ext cx="2907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F4DF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Торговцы и ремесленники</a:t>
            </a:r>
            <a:endParaRPr lang="en-US" sz="1350" dirty="0"/>
          </a:p>
        </p:txBody>
      </p:sp>
      <p:sp>
        <p:nvSpPr>
          <p:cNvPr id="23" name="fx9_2_6"/>
          <p:cNvSpPr/>
          <p:nvPr/>
        </p:nvSpPr>
        <p:spPr>
          <a:xfrm>
            <a:off x="4251960" y="2697480"/>
            <a:ext cx="29077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BBAC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Шерсть, зерно, пекари, мясники, лавочники</a:t>
            </a:r>
            <a:endParaRPr lang="en-US" sz="1100" dirty="0"/>
          </a:p>
        </p:txBody>
      </p:sp>
      <p:sp>
        <p:nvSpPr>
          <p:cNvPr id="24" name="fx9_3_7"/>
          <p:cNvSpPr/>
          <p:nvPr/>
        </p:nvSpPr>
        <p:spPr>
          <a:xfrm>
            <a:off x="685800" y="3383280"/>
            <a:ext cx="3227832" cy="1005840"/>
          </a:xfrm>
          <a:prstGeom prst="roundRect">
            <a:avLst>
              <a:gd name="adj" fmla="val 7273"/>
            </a:avLst>
          </a:prstGeom>
          <a:solidFill>
            <a:srgbClr val="21130F">
              <a:alpha val="86000"/>
            </a:srgbClr>
          </a:solidFill>
          <a:ln w="9525">
            <a:solidFill>
              <a:srgbClr val="E2B45E">
                <a:alpha val="28000"/>
              </a:srgbClr>
            </a:solidFill>
            <a:prstDash val="solid"/>
          </a:ln>
        </p:spPr>
      </p:sp>
      <p:sp>
        <p:nvSpPr>
          <p:cNvPr id="25" name="fx9_3_8"/>
          <p:cNvSpPr/>
          <p:nvPr/>
        </p:nvSpPr>
        <p:spPr>
          <a:xfrm>
            <a:off x="886968" y="3511296"/>
            <a:ext cx="2907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F4DF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Свой труд вместо капитала</a:t>
            </a:r>
            <a:endParaRPr lang="en-US" sz="1350" dirty="0"/>
          </a:p>
        </p:txBody>
      </p:sp>
      <p:sp>
        <p:nvSpPr>
          <p:cNvPr id="26" name="fx9_3_9"/>
          <p:cNvSpPr/>
          <p:nvPr/>
        </p:nvSpPr>
        <p:spPr>
          <a:xfrm>
            <a:off x="886968" y="3840480"/>
            <a:ext cx="29077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BBAC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Трубочисты, водоносы, швеи, медники</a:t>
            </a:r>
            <a:endParaRPr lang="en-US" sz="1100" dirty="0"/>
          </a:p>
        </p:txBody>
      </p:sp>
      <p:sp>
        <p:nvSpPr>
          <p:cNvPr id="27" name="fx9_4_10"/>
          <p:cNvSpPr/>
          <p:nvPr/>
        </p:nvSpPr>
        <p:spPr>
          <a:xfrm>
            <a:off x="4050792" y="3383280"/>
            <a:ext cx="3227832" cy="1005840"/>
          </a:xfrm>
          <a:prstGeom prst="roundRect">
            <a:avLst>
              <a:gd name="adj" fmla="val 7273"/>
            </a:avLst>
          </a:prstGeom>
          <a:solidFill>
            <a:srgbClr val="21130F">
              <a:alpha val="86000"/>
            </a:srgbClr>
          </a:solidFill>
          <a:ln w="9525">
            <a:solidFill>
              <a:srgbClr val="E2B45E">
                <a:alpha val="28000"/>
              </a:srgbClr>
            </a:solidFill>
            <a:prstDash val="solid"/>
          </a:ln>
        </p:spPr>
      </p:sp>
      <p:sp>
        <p:nvSpPr>
          <p:cNvPr id="28" name="fx9_4_11"/>
          <p:cNvSpPr/>
          <p:nvPr/>
        </p:nvSpPr>
        <p:spPr>
          <a:xfrm>
            <a:off x="4251960" y="3511296"/>
            <a:ext cx="2907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F4DF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Свободные профессии</a:t>
            </a:r>
            <a:endParaRPr lang="en-US" sz="1350" dirty="0"/>
          </a:p>
        </p:txBody>
      </p:sp>
      <p:sp>
        <p:nvSpPr>
          <p:cNvPr id="29" name="fx9_4_12"/>
          <p:cNvSpPr/>
          <p:nvPr/>
        </p:nvSpPr>
        <p:spPr>
          <a:xfrm>
            <a:off x="4251960" y="3840480"/>
            <a:ext cx="29077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BBAC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Художники, врачи, юристы</a:t>
            </a:r>
            <a:endParaRPr lang="en-US" sz="1100" dirty="0"/>
          </a:p>
        </p:txBody>
      </p:sp>
      <p:sp>
        <p:nvSpPr>
          <p:cNvPr id="30" name="fx9_5_13"/>
          <p:cNvSpPr/>
          <p:nvPr/>
        </p:nvSpPr>
        <p:spPr>
          <a:xfrm>
            <a:off x="685800" y="4553712"/>
            <a:ext cx="6675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E2B4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Критерий один: </a:t>
            </a:r>
            <a:pPr algn="l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F6EF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доход не фиксирован — человек живёт «в неопределённости».</a:t>
            </a:r>
            <a:endParaRPr lang="en-US" sz="1300" dirty="0"/>
          </a:p>
        </p:txBody>
      </p:sp>
      <p:sp>
        <p:nvSpPr>
          <p:cNvPr id="31" name="fx9_8_14"/>
          <p:cNvSpPr/>
          <p:nvPr/>
        </p:nvSpPr>
        <p:spPr>
          <a:xfrm>
            <a:off x="685800" y="5257800"/>
            <a:ext cx="6592824" cy="932688"/>
          </a:xfrm>
          <a:prstGeom prst="roundRect">
            <a:avLst>
              <a:gd name="adj" fmla="val 7843"/>
            </a:avLst>
          </a:prstGeom>
          <a:solidFill>
            <a:srgbClr val="26180A">
              <a:alpha val="94000"/>
            </a:srgbClr>
          </a:solidFill>
          <a:ln w="12700">
            <a:solidFill>
              <a:srgbClr val="E2B45E">
                <a:alpha val="55000"/>
              </a:srgbClr>
            </a:solidFill>
            <a:prstDash val="solid"/>
          </a:ln>
          <a:effectLst>
            <a:outerShdw sx="100000" sy="100000" kx="0" ky="0" algn="bl" rotWithShape="0" blurRad="228600" dist="76200" dir="5400000">
              <a:srgbClr val="000000">
                <a:alpha val="45000"/>
              </a:srgbClr>
            </a:outerShdw>
          </a:effectLst>
        </p:spPr>
      </p:sp>
      <p:sp>
        <p:nvSpPr>
          <p:cNvPr id="32" name="fx9_8_15"/>
          <p:cNvSpPr/>
          <p:nvPr/>
        </p:nvSpPr>
        <p:spPr>
          <a:xfrm>
            <a:off x="685800" y="5404104"/>
            <a:ext cx="50292" cy="640080"/>
          </a:xfrm>
          <a:prstGeom prst="rect">
            <a:avLst/>
          </a:prstGeom>
          <a:solidFill>
            <a:srgbClr val="E2B45E"/>
          </a:solidFill>
          <a:ln/>
        </p:spPr>
      </p:sp>
      <p:sp>
        <p:nvSpPr>
          <p:cNvPr id="33" name="fx9_8_16"/>
          <p:cNvSpPr/>
          <p:nvPr/>
        </p:nvSpPr>
        <p:spPr>
          <a:xfrm>
            <a:off x="941832" y="5120640"/>
            <a:ext cx="2761488" cy="274320"/>
          </a:xfrm>
          <a:prstGeom prst="roundRect">
            <a:avLst>
              <a:gd name="adj" fmla="val 50000"/>
            </a:avLst>
          </a:prstGeom>
          <a:solidFill>
            <a:srgbClr val="E2B45E"/>
          </a:solidFill>
          <a:ln/>
        </p:spPr>
      </p:sp>
      <p:sp>
        <p:nvSpPr>
          <p:cNvPr id="34" name="fx9_8_17"/>
          <p:cNvSpPr/>
          <p:nvPr/>
        </p:nvSpPr>
        <p:spPr>
          <a:xfrm>
            <a:off x="941832" y="5120640"/>
            <a:ext cx="2761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50" b="1" spc="150" kern="0" dirty="0">
                <a:solidFill>
                  <a:srgbClr val="0E08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  ЦИТАТА, КОТОРАЯ УДИВЛЯЕТ</a:t>
            </a:r>
            <a:endParaRPr lang="en-US" sz="850" dirty="0"/>
          </a:p>
        </p:txBody>
      </p:sp>
      <p:sp>
        <p:nvSpPr>
          <p:cNvPr id="35" name="fx9_8_18"/>
          <p:cNvSpPr/>
          <p:nvPr/>
        </p:nvSpPr>
        <p:spPr>
          <a:xfrm>
            <a:off x="960120" y="5440680"/>
            <a:ext cx="613562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500" i="1" dirty="0">
                <a:solidFill>
                  <a:srgbClr val="F6EFE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«…</a:t>
            </a:r>
            <a:pPr algn="l" indent="0" marL="0">
              <a:lnSpc>
                <a:spcPct val="105000"/>
              </a:lnSpc>
              <a:buNone/>
            </a:pPr>
            <a:r>
              <a:rPr lang="en-US" sz="1500" b="1" i="1" dirty="0">
                <a:solidFill>
                  <a:srgbClr val="F6EFE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даже нищие и разбойники — предприниматели</a:t>
            </a:r>
            <a:pPr algn="l" indent="0" marL="0">
              <a:lnSpc>
                <a:spcPct val="105000"/>
              </a:lnSpc>
              <a:buNone/>
            </a:pPr>
            <a:r>
              <a:rPr lang="en-US" sz="1500" i="1" dirty="0">
                <a:solidFill>
                  <a:srgbClr val="F6EFE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этого класса». — Essai, ч. I, гл. XIII</a:t>
            </a:r>
            <a:endParaRPr lang="en-US" sz="1500" dirty="0"/>
          </a:p>
        </p:txBody>
      </p: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36" name="!!m-dice">
                <a:extLst>
                  <a:ext uri="{FF2B5EF4-FFF2-40B4-BE49-F238E27FC236}">
                    <a16:creationId xmlns:a16="http://schemas.microsoft.com/office/drawing/2014/main" id="{2E78879A-6DE6-15AB-3B2C-23F303251D73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-4572000" y="1508760"/>
              <a:ext cx="4023360" cy="4023360"/>
            </p:xfrm>
            <a:graphic>
              <a:graphicData uri="http://schemas.microsoft.com/office/drawing/2017/model3d">
                <am3d:model3d r:embed="rIdM3d34">
                  <am3d:spPr>
                    <a:xfrm>
                      <a:off x="0" y="0"/>
                      <a:ext cx="4023360" cy="4023360"/>
                    </a:xfrm>
                    <a:prstGeom prst="rect">
                      <a:avLst/>
                    </a:prstGeom>
                  </am3d:spPr>
                  <am3d:camera>
                    <am3d:pos x="0" y="0" z="60919733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615749" d="1000000"/>
                    <am3d:preTrans dx="-814595" dy="220250" dz="-1494600"/>
                    <am3d:scale>
                      <am3d:sx n="1000000" d="1000000"/>
                      <am3d:sy n="1000000" d="1000000"/>
                      <am3d:sz n="1000000" d="1000000"/>
                    </am3d:scale>
                    <am3d:rot ax="1320000" ay="-6360000" az="0"/>
                    <am3d:postTrans dx="0" dy="0" dz="0"/>
                  </am3d:trans>
                  <am3d:raster rName="Office3DRenderer" rVer="16.0.8326">
                    <am3d:blip r:embed="rId6"/>
                  </am3d:raster>
                  <am3d:objViewport viewportSz="4023360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36" name="!!m-dice">
                <a:extLst>
                  <a:ext uri="{FF2B5EF4-FFF2-40B4-BE49-F238E27FC236}">
                    <a16:creationId xmlns:a16="http://schemas.microsoft.com/office/drawing/2014/main" id="{2E78879A-6DE6-15AB-3B2C-23F303251D73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-4572000" y="1508760"/>
                <a:ext cx="4023360" cy="4023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37" name="!!m-scales">
                <a:extLst>
                  <a:ext uri="{FF2B5EF4-FFF2-40B4-BE49-F238E27FC236}">
                    <a16:creationId xmlns:a16="http://schemas.microsoft.com/office/drawing/2014/main" id="{8B9B26A5-A530-445C-DAB9-714FF6C903CE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12740335" y="1024128"/>
              <a:ext cx="3291840" cy="3291840"/>
            </p:xfrm>
            <a:graphic>
              <a:graphicData uri="http://schemas.microsoft.com/office/drawing/2017/model3d">
                <am3d:model3d r:embed="rIdM3d35">
                  <am3d:spPr>
                    <a:xfrm>
                      <a:off x="0" y="0"/>
                      <a:ext cx="3291840" cy="3291840"/>
                    </a:xfrm>
                    <a:prstGeom prst="rect">
                      <a:avLst/>
                    </a:prstGeom>
                  </am3d:spPr>
                  <am3d:camera>
                    <am3d:pos x="0" y="0" z="61940126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485437" d="1000000"/>
                    <am3d:preTrans dx="0" dy="-1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480000" ay="3840000" az="0"/>
                    <am3d:postTrans dx="0" dy="0" dz="0"/>
                  </am3d:trans>
                  <am3d:raster rName="Office3DRenderer" rVer="16.0.8326">
                    <am3d:blip r:embed="rId7"/>
                  </am3d:raster>
                  <am3d:objViewport viewportSz="3291840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37" name="!!m-scales">
                <a:extLst>
                  <a:ext uri="{FF2B5EF4-FFF2-40B4-BE49-F238E27FC236}">
                    <a16:creationId xmlns:a16="http://schemas.microsoft.com/office/drawing/2014/main" id="{8B9B26A5-A530-445C-DAB9-714FF6C903CE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2740335" y="1024128"/>
                <a:ext cx="3291840" cy="32918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6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42" presetClass="entr" presetSubtype="0" fill="hold" grpId="0" nodeType="after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7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700" decel="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00" decel="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42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7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700" decel="10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700" decel="10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7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700" decel="10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700" decel="10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41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7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700" decel="100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700" decel="100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grpId="0" nodeType="withEffect">
                                  <p:stCondLst>
                                    <p:cond delay="41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7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700" decel="100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700" decel="100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41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7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700" decel="100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700" decel="100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grpId="0" nodeType="withEffect">
                                  <p:stCondLst>
                                    <p:cond delay="67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7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700" decel="100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700" decel="100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42" presetClass="entr" presetSubtype="0" fill="hold" grpId="0" nodeType="withEffect">
                                  <p:stCondLst>
                                    <p:cond delay="67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7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700" decel="100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700" decel="100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42" presetClass="entr" presetSubtype="0" fill="hold" grpId="0" nodeType="withEffect">
                                  <p:stCondLst>
                                    <p:cond delay="67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7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700" decel="100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700" decel="100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42" presetClass="entr" presetSubtype="0" fill="hold" grpId="0" nodeType="withEffect">
                                  <p:stCondLst>
                                    <p:cond delay="93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7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700" decel="100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700" decel="100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42" presetClass="entr" presetSubtype="0" fill="hold" grpId="0" nodeType="withEffect">
                                  <p:stCondLst>
                                    <p:cond delay="93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7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700" decel="100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700" decel="100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42" presetClass="entr" presetSubtype="0" fill="hold" grpId="0" nodeType="withEffect">
                                  <p:stCondLst>
                                    <p:cond delay="93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7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700" decel="100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700" decel="100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42" presetClass="entr" presetSubtype="0" fill="hold" grpId="0" nodeType="withEffect">
                                  <p:stCondLst>
                                    <p:cond delay="119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7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700" decel="100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700" decel="100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42" presetClass="entr" presetSubtype="0" fill="hold" grpId="0" nodeType="withEffect">
                                  <p:stCondLst>
                                    <p:cond delay="145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7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3" dur="700" decel="100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700" decel="100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42" presetClass="entr" presetSubtype="0" fill="hold" grpId="0" nodeType="withEffect">
                                  <p:stCondLst>
                                    <p:cond delay="145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7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700" decel="100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700" decel="100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2" presetID="42" presetClass="entr" presetSubtype="0" fill="hold" grpId="0" nodeType="withEffect">
                                  <p:stCondLst>
                                    <p:cond delay="145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7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3" dur="700" decel="100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700" decel="100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7" presetID="42" presetClass="entr" presetSubtype="0" fill="hold" grpId="0" nodeType="withEffect">
                                  <p:stCondLst>
                                    <p:cond delay="145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7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8" dur="700" decel="100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700" decel="100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2" presetID="42" presetClass="entr" presetSubtype="0" fill="hold" grpId="0" nodeType="withEffect">
                                  <p:stCondLst>
                                    <p:cond delay="145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7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3" dur="700" decel="100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700" decel="100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7" presetID="42" presetClass="entr" presetSubtype="0" fill="hold" grpId="0" nodeType="withEffect">
                                  <p:stCondLst>
                                    <p:cond delay="171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7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8" dur="70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70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16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xmlns:am3d="http://schemas.microsoft.com/office/drawing/2017/model3d" mc:Ignorable="am3d">
  <p:cSld name="Slide 10">
    <p:bg>
      <p:bgPr>
        <a:solidFill>
          <a:srgbClr val="08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ackground" descr="/home/user/omgGame/presentations/cantillon/assets/stage-bg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!!track"/>
          <p:cNvSpPr/>
          <p:nvPr/>
        </p:nvSpPr>
        <p:spPr>
          <a:xfrm>
            <a:off x="685800" y="402336"/>
            <a:ext cx="10820095" cy="91"/>
          </a:xfrm>
          <a:prstGeom prst="line">
            <a:avLst/>
          </a:prstGeom>
          <a:noFill/>
          <a:ln w="9525">
            <a:solidFill>
              <a:srgbClr val="FFFFFF">
                <a:alpha val="16000"/>
              </a:srgbClr>
            </a:solidFill>
            <a:prstDash val="solid"/>
          </a:ln>
        </p:spPr>
      </p:sp>
      <p:sp>
        <p:nvSpPr>
          <p:cNvPr id="4" name="!!progress"/>
          <p:cNvSpPr/>
          <p:nvPr/>
        </p:nvSpPr>
        <p:spPr>
          <a:xfrm>
            <a:off x="685800" y="391363"/>
            <a:ext cx="6086304" cy="21946"/>
          </a:xfrm>
          <a:prstGeom prst="rect">
            <a:avLst/>
          </a:prstGeom>
          <a:solidFill>
            <a:srgbClr val="E2B45E"/>
          </a:solidFill>
          <a:ln/>
        </p:spPr>
      </p: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5" name="!!coin">
                <a:extLst>
                  <a:ext uri="{FF2B5EF4-FFF2-40B4-BE49-F238E27FC236}">
                    <a16:creationId xmlns:a16="http://schemas.microsoft.com/office/drawing/2014/main" id="{C3CF7894-BBB3-3850-CE8B-EADC98FC2A78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6516072" y="117043"/>
              <a:ext cx="512064" cy="512064"/>
            </p:xfrm>
            <a:graphic>
              <a:graphicData uri="http://schemas.microsoft.com/office/drawing/2017/model3d">
                <am3d:model3d r:embed="rIdM3d36">
                  <am3d:spPr>
                    <a:xfrm>
                      <a:off x="0" y="0"/>
                      <a:ext cx="512064" cy="512064"/>
                    </a:xfrm>
                    <a:prstGeom prst="rect">
                      <a:avLst/>
                    </a:prstGeom>
                  </am3d:spPr>
                  <am3d:camera>
                    <am3d:pos x="0" y="0" z="66612804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500000" d="1000000"/>
                    <am3d:preTrans dx="0" dy="0" dz="-269999"/>
                    <am3d:scale>
                      <am3d:sx n="1000000" d="1000000"/>
                      <am3d:sy n="1000000" d="1000000"/>
                      <am3d:sz n="1000000" d="1000000"/>
                    </am3d:scale>
                    <am3d:rot ax="0" ay="-960000" az="-81000000"/>
                    <am3d:postTrans dx="0" dy="0" dz="0"/>
                  </am3d:trans>
                  <am3d:raster rName="Office3DRenderer" rVer="16.0.8326">
                    <am3d:blip r:embed="rId2"/>
                  </am3d:raster>
                  <am3d:objViewport viewportSz="512064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5" name="!!coin">
                <a:extLst>
                  <a:ext uri="{FF2B5EF4-FFF2-40B4-BE49-F238E27FC236}">
                    <a16:creationId xmlns:a16="http://schemas.microsoft.com/office/drawing/2014/main" id="{C3CF7894-BBB3-3850-CE8B-EADC98FC2A78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6516072" y="117043"/>
                <a:ext cx="512064" cy="512064"/>
              </a:xfrm>
              <a:prstGeom prst="rect">
                <a:avLst/>
              </a:prstGeom>
            </p:spPr>
          </p:pic>
        </mc:Fallback>
      </mc:AlternateContent>
      <p:sp>
        <p:nvSpPr>
          <p:cNvPr id="6" name="!!kickerbar"/>
          <p:cNvSpPr/>
          <p:nvPr/>
        </p:nvSpPr>
        <p:spPr>
          <a:xfrm>
            <a:off x="685800" y="713232"/>
            <a:ext cx="310896" cy="32004"/>
          </a:xfrm>
          <a:prstGeom prst="rect">
            <a:avLst/>
          </a:prstGeom>
          <a:solidFill>
            <a:srgbClr val="E2B45E"/>
          </a:solidFill>
          <a:ln/>
        </p:spPr>
      </p:sp>
      <p:sp>
        <p:nvSpPr>
          <p:cNvPr id="7" name="!!kicker"/>
          <p:cNvSpPr/>
          <p:nvPr/>
        </p:nvSpPr>
        <p:spPr>
          <a:xfrm>
            <a:off x="1124712" y="5943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spc="300" kern="0" dirty="0">
                <a:solidFill>
                  <a:srgbClr val="E2B4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 — ВКЛАД В ТЕОРИЮ ПРЕДПРИНИМАТЕЛЬСТВА</a:t>
            </a:r>
            <a:endParaRPr lang="en-US" sz="1100" dirty="0"/>
          </a:p>
        </p:txBody>
      </p:sp>
      <p:sp>
        <p:nvSpPr>
          <p:cNvPr id="8" name="!!footline"/>
          <p:cNvSpPr/>
          <p:nvPr/>
        </p:nvSpPr>
        <p:spPr>
          <a:xfrm>
            <a:off x="685800" y="6400800"/>
            <a:ext cx="10820095" cy="91"/>
          </a:xfrm>
          <a:prstGeom prst="line">
            <a:avLst/>
          </a:prstGeom>
          <a:noFill/>
          <a:ln w="9525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9" name="!!footer"/>
          <p:cNvSpPr/>
          <p:nvPr/>
        </p:nvSpPr>
        <p:spPr>
          <a:xfrm>
            <a:off x="685800" y="649224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spc="200" kern="0" dirty="0">
                <a:solidFill>
                  <a:srgbClr val="BBAC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РИЧАРД КАНТИЛЬОН  ·  1680-е – 1734</a:t>
            </a:r>
            <a:endParaRPr lang="en-US" sz="900" dirty="0"/>
          </a:p>
        </p:txBody>
      </p:sp>
      <p:sp>
        <p:nvSpPr>
          <p:cNvPr id="10" name="!!pagenum"/>
          <p:cNvSpPr/>
          <p:nvPr/>
        </p:nvSpPr>
        <p:spPr>
          <a:xfrm>
            <a:off x="10134295" y="649224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900" spc="200" kern="0" dirty="0">
                <a:solidFill>
                  <a:srgbClr val="BBAC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/ 17</a:t>
            </a:r>
            <a:endParaRPr lang="en-US" sz="900" dirty="0"/>
          </a:p>
        </p:txBody>
      </p:sp>
      <p:pic>
        <p:nvPicPr>
          <p:cNvPr id="11" name="!!glow" descr="/home/user/omgGame/presentations/cantillon/assets/glow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97496" y="-82296"/>
            <a:ext cx="4773168" cy="4773168"/>
          </a:xfrm>
          <a:prstGeom prst="rect">
            <a:avLst/>
          </a:prstGeom>
        </p:spPr>
      </p:pic>
      <p:sp>
        <p:nvSpPr>
          <p:cNvPr id="12" name="!!ring1"/>
          <p:cNvSpPr/>
          <p:nvPr/>
        </p:nvSpPr>
        <p:spPr>
          <a:xfrm>
            <a:off x="8236915" y="757123"/>
            <a:ext cx="3094330" cy="3094330"/>
          </a:xfrm>
          <a:prstGeom prst="ellipse">
            <a:avLst/>
          </a:prstGeom>
          <a:ln w="9525">
            <a:solidFill>
              <a:srgbClr val="E2B45E">
                <a:alpha val="18000"/>
              </a:srgbClr>
            </a:solidFill>
            <a:prstDash val="solid"/>
          </a:ln>
        </p:spPr>
      </p:sp>
      <p:sp>
        <p:nvSpPr>
          <p:cNvPr id="13" name="!!ring2"/>
          <p:cNvSpPr/>
          <p:nvPr/>
        </p:nvSpPr>
        <p:spPr>
          <a:xfrm>
            <a:off x="7808976" y="329184"/>
            <a:ext cx="3950208" cy="3950208"/>
          </a:xfrm>
          <a:prstGeom prst="ellipse">
            <a:avLst/>
          </a:prstGeom>
          <a:ln w="9525">
            <a:solidFill>
              <a:srgbClr val="E2B45E">
                <a:alpha val="12000"/>
              </a:srgbClr>
            </a:solidFill>
            <a:prstDash val="dash"/>
          </a:ln>
        </p:spPr>
      </p:sp>
      <p:pic>
        <p:nvPicPr>
          <p:cNvPr id="14" name="!!shadow" descr="/home/user/omgGame/presentations/cantillon/assets/shadow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63610" y="3234233"/>
            <a:ext cx="2040941" cy="510235"/>
          </a:xfrm>
          <a:prstGeom prst="rect">
            <a:avLst/>
          </a:prstGeom>
        </p:spPr>
      </p:pic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15" name="!!m-scales">
                <a:extLst>
                  <a:ext uri="{FF2B5EF4-FFF2-40B4-BE49-F238E27FC236}">
                    <a16:creationId xmlns:a16="http://schemas.microsoft.com/office/drawing/2014/main" id="{907A3B27-B14C-9C4A-1C39-2F71872F9B95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8138160" y="658368"/>
              <a:ext cx="3291840" cy="3291840"/>
            </p:xfrm>
            <a:graphic>
              <a:graphicData uri="http://schemas.microsoft.com/office/drawing/2017/model3d">
                <am3d:model3d r:embed="rIdM3d37">
                  <am3d:spPr>
                    <a:xfrm>
                      <a:off x="0" y="0"/>
                      <a:ext cx="3291840" cy="3291840"/>
                    </a:xfrm>
                    <a:prstGeom prst="rect">
                      <a:avLst/>
                    </a:prstGeom>
                  </am3d:spPr>
                  <am3d:camera>
                    <am3d:pos x="0" y="0" z="61940126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485437" d="1000000"/>
                    <am3d:preTrans dx="0" dy="-1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480000" ay="-960000" az="0"/>
                    <am3d:postTrans dx="0" dy="0" dz="0"/>
                  </am3d:trans>
                  <am3d:raster rName="Office3DRenderer" rVer="16.0.8326">
                    <am3d:blip r:embed="rId5"/>
                  </am3d:raster>
                  <am3d:objViewport viewportSz="3291840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15" name="!!m-scales">
                <a:extLst>
                  <a:ext uri="{FF2B5EF4-FFF2-40B4-BE49-F238E27FC236}">
                    <a16:creationId xmlns:a16="http://schemas.microsoft.com/office/drawing/2014/main" id="{907A3B27-B14C-9C4A-1C39-2F71872F9B95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8138160" y="658368"/>
                <a:ext cx="3291840" cy="3291840"/>
              </a:xfrm>
              <a:prstGeom prst="rect">
                <a:avLst/>
              </a:prstGeom>
            </p:spPr>
          </p:pic>
        </mc:Fallback>
      </mc:AlternateContent>
      <p:sp>
        <p:nvSpPr>
          <p:cNvPr id="16" name="fx10_9_0"/>
          <p:cNvSpPr/>
          <p:nvPr/>
        </p:nvSpPr>
        <p:spPr>
          <a:xfrm>
            <a:off x="8229600" y="566928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0000"/>
              </a:lnSpc>
              <a:buNone/>
            </a:pPr>
            <a:r>
              <a:rPr lang="en-US" sz="900" b="1" spc="250" kern="0" dirty="0">
                <a:solidFill>
                  <a:srgbClr val="E2B4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ЭКСПОНАТ 10</a:t>
            </a:r>
            <a:endParaRPr lang="en-US" sz="900" dirty="0"/>
          </a:p>
          <a:p>
            <a:pPr algn="r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BBAC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Весы: предприниматель уравновешивает рынок</a:t>
            </a:r>
            <a:endParaRPr lang="en-US" sz="900" dirty="0"/>
          </a:p>
        </p:txBody>
      </p:sp>
      <p:sp>
        <p:nvSpPr>
          <p:cNvPr id="17" name="!!title"/>
          <p:cNvSpPr/>
          <p:nvPr/>
        </p:nvSpPr>
        <p:spPr>
          <a:xfrm>
            <a:off x="685800" y="987552"/>
            <a:ext cx="7178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200" dirty="0">
                <a:solidFill>
                  <a:srgbClr val="F6EFE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Зачем рынку предприниматель</a:t>
            </a:r>
            <a:endParaRPr lang="en-US" sz="3200" dirty="0"/>
          </a:p>
        </p:txBody>
      </p:sp>
      <p:sp>
        <p:nvSpPr>
          <p:cNvPr id="18" name="fx10_1_1"/>
          <p:cNvSpPr/>
          <p:nvPr/>
        </p:nvSpPr>
        <p:spPr>
          <a:xfrm>
            <a:off x="685800" y="178308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E2B4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700" dirty="0"/>
          </a:p>
        </p:txBody>
      </p:sp>
      <p:sp>
        <p:nvSpPr>
          <p:cNvPr id="19" name="fx10_1_2"/>
          <p:cNvSpPr/>
          <p:nvPr/>
        </p:nvSpPr>
        <p:spPr>
          <a:xfrm>
            <a:off x="1234440" y="1810512"/>
            <a:ext cx="6035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F6EF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Несёт неопределённость  </a:t>
            </a:r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BBAC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за тех, у кого фиксированный доход</a:t>
            </a:r>
            <a:endParaRPr lang="en-US" sz="1350" dirty="0"/>
          </a:p>
        </p:txBody>
      </p:sp>
      <p:sp>
        <p:nvSpPr>
          <p:cNvPr id="20" name="fx10_2_3"/>
          <p:cNvSpPr/>
          <p:nvPr/>
        </p:nvSpPr>
        <p:spPr>
          <a:xfrm>
            <a:off x="685800" y="233172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E2B4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700" dirty="0"/>
          </a:p>
        </p:txBody>
      </p:sp>
      <p:sp>
        <p:nvSpPr>
          <p:cNvPr id="21" name="fx10_2_4"/>
          <p:cNvSpPr/>
          <p:nvPr/>
        </p:nvSpPr>
        <p:spPr>
          <a:xfrm>
            <a:off x="1234440" y="2359152"/>
            <a:ext cx="6035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F6EF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Связывает деревню и город  </a:t>
            </a:r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BBAC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покупает там, где дёшево, везёт туда, где спрос</a:t>
            </a:r>
            <a:endParaRPr lang="en-US" sz="1350" dirty="0"/>
          </a:p>
        </p:txBody>
      </p:sp>
      <p:sp>
        <p:nvSpPr>
          <p:cNvPr id="22" name="fx10_3_5"/>
          <p:cNvSpPr/>
          <p:nvPr/>
        </p:nvSpPr>
        <p:spPr>
          <a:xfrm>
            <a:off x="685800" y="288036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E2B4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700" dirty="0"/>
          </a:p>
        </p:txBody>
      </p:sp>
      <p:sp>
        <p:nvSpPr>
          <p:cNvPr id="23" name="fx10_3_6"/>
          <p:cNvSpPr/>
          <p:nvPr/>
        </p:nvSpPr>
        <p:spPr>
          <a:xfrm>
            <a:off x="1234440" y="2907792"/>
            <a:ext cx="6035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F6EF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Ведёт рынок к равновесию  </a:t>
            </a:r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BBAC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угадал спрос — прибыль, ошибся — банкротство</a:t>
            </a:r>
            <a:endParaRPr lang="en-US" sz="1350" dirty="0"/>
          </a:p>
        </p:txBody>
      </p:sp>
      <p:sp>
        <p:nvSpPr>
          <p:cNvPr id="24" name="fx10_4_7"/>
          <p:cNvSpPr/>
          <p:nvPr/>
        </p:nvSpPr>
        <p:spPr>
          <a:xfrm>
            <a:off x="685800" y="36118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b="1" spc="200" kern="0" dirty="0">
                <a:solidFill>
                  <a:srgbClr val="E2B4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ЛИНИЯ ТЕОРИИ ПРЕДПРИНИМАТЕЛЬСТВА</a:t>
            </a:r>
            <a:endParaRPr lang="en-US" sz="950" dirty="0"/>
          </a:p>
        </p:txBody>
      </p:sp>
      <p:sp>
        <p:nvSpPr>
          <p:cNvPr id="25" name="fx10_4_8"/>
          <p:cNvSpPr/>
          <p:nvPr/>
        </p:nvSpPr>
        <p:spPr>
          <a:xfrm>
            <a:off x="1767810" y="4041648"/>
            <a:ext cx="8656076" cy="91"/>
          </a:xfrm>
          <a:prstGeom prst="line">
            <a:avLst/>
          </a:prstGeom>
          <a:noFill/>
          <a:ln w="19050">
            <a:solidFill>
              <a:srgbClr val="E2B45E">
                <a:alpha val="60000"/>
              </a:srgbClr>
            </a:solidFill>
            <a:prstDash val="solid"/>
          </a:ln>
        </p:spPr>
      </p:sp>
      <p:sp>
        <p:nvSpPr>
          <p:cNvPr id="26" name="fx10_4_9"/>
          <p:cNvSpPr/>
          <p:nvPr/>
        </p:nvSpPr>
        <p:spPr>
          <a:xfrm>
            <a:off x="1676370" y="3950208"/>
            <a:ext cx="182880" cy="182880"/>
          </a:xfrm>
          <a:prstGeom prst="ellipse">
            <a:avLst/>
          </a:prstGeom>
          <a:solidFill>
            <a:srgbClr val="E9784A"/>
          </a:solidFill>
          <a:ln w="25400">
            <a:solidFill>
              <a:srgbClr val="E9784A"/>
            </a:solidFill>
            <a:prstDash val="solid"/>
          </a:ln>
        </p:spPr>
      </p:sp>
      <p:sp>
        <p:nvSpPr>
          <p:cNvPr id="27" name="fx10_4_10"/>
          <p:cNvSpPr/>
          <p:nvPr/>
        </p:nvSpPr>
        <p:spPr>
          <a:xfrm>
            <a:off x="731520" y="4206240"/>
            <a:ext cx="207257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E978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1730</a:t>
            </a:r>
            <a:endParaRPr lang="en-US" sz="15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F6EF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Кантильон</a:t>
            </a:r>
            <a:endParaRPr lang="en-US" sz="15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BBAC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риск и неопределённость</a:t>
            </a:r>
            <a:endParaRPr lang="en-US" sz="1500" dirty="0"/>
          </a:p>
        </p:txBody>
      </p:sp>
      <p:sp>
        <p:nvSpPr>
          <p:cNvPr id="28" name="fx10_4_11"/>
          <p:cNvSpPr/>
          <p:nvPr/>
        </p:nvSpPr>
        <p:spPr>
          <a:xfrm>
            <a:off x="3840389" y="3950208"/>
            <a:ext cx="182880" cy="182880"/>
          </a:xfrm>
          <a:prstGeom prst="ellipse">
            <a:avLst/>
          </a:prstGeom>
          <a:solidFill>
            <a:srgbClr val="0E0807"/>
          </a:solidFill>
          <a:ln w="25400">
            <a:solidFill>
              <a:srgbClr val="E2B45E"/>
            </a:solidFill>
            <a:prstDash val="solid"/>
          </a:ln>
        </p:spPr>
      </p:sp>
      <p:sp>
        <p:nvSpPr>
          <p:cNvPr id="29" name="fx10_4_12"/>
          <p:cNvSpPr/>
          <p:nvPr/>
        </p:nvSpPr>
        <p:spPr>
          <a:xfrm>
            <a:off x="2895539" y="4206240"/>
            <a:ext cx="207257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E2B4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1803</a:t>
            </a:r>
            <a:endParaRPr lang="en-US" sz="15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F6EF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Сэй</a:t>
            </a:r>
            <a:endParaRPr lang="en-US" sz="15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BBAC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организатор</a:t>
            </a:r>
            <a:endParaRPr lang="en-US" sz="1500" dirty="0"/>
          </a:p>
        </p:txBody>
      </p:sp>
      <p:sp>
        <p:nvSpPr>
          <p:cNvPr id="30" name="fx10_5_13"/>
          <p:cNvSpPr/>
          <p:nvPr/>
        </p:nvSpPr>
        <p:spPr>
          <a:xfrm>
            <a:off x="6004408" y="3950208"/>
            <a:ext cx="182880" cy="182880"/>
          </a:xfrm>
          <a:prstGeom prst="ellipse">
            <a:avLst/>
          </a:prstGeom>
          <a:solidFill>
            <a:srgbClr val="0E0807"/>
          </a:solidFill>
          <a:ln w="25400">
            <a:solidFill>
              <a:srgbClr val="E2B45E"/>
            </a:solidFill>
            <a:prstDash val="solid"/>
          </a:ln>
        </p:spPr>
      </p:sp>
      <p:sp>
        <p:nvSpPr>
          <p:cNvPr id="31" name="fx10_5_14"/>
          <p:cNvSpPr/>
          <p:nvPr/>
        </p:nvSpPr>
        <p:spPr>
          <a:xfrm>
            <a:off x="5059558" y="4206240"/>
            <a:ext cx="207257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E2B4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1911</a:t>
            </a:r>
            <a:endParaRPr lang="en-US" sz="15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F6EF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Шумпетер</a:t>
            </a:r>
            <a:endParaRPr lang="en-US" sz="15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BBAC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новатор</a:t>
            </a:r>
            <a:endParaRPr lang="en-US" sz="1500" dirty="0"/>
          </a:p>
        </p:txBody>
      </p:sp>
      <p:sp>
        <p:nvSpPr>
          <p:cNvPr id="32" name="fx10_5_15"/>
          <p:cNvSpPr/>
          <p:nvPr/>
        </p:nvSpPr>
        <p:spPr>
          <a:xfrm>
            <a:off x="8168427" y="3950208"/>
            <a:ext cx="182880" cy="182880"/>
          </a:xfrm>
          <a:prstGeom prst="ellipse">
            <a:avLst/>
          </a:prstGeom>
          <a:solidFill>
            <a:srgbClr val="0E0807"/>
          </a:solidFill>
          <a:ln w="25400">
            <a:solidFill>
              <a:srgbClr val="E2B45E"/>
            </a:solidFill>
            <a:prstDash val="solid"/>
          </a:ln>
        </p:spPr>
      </p:sp>
      <p:sp>
        <p:nvSpPr>
          <p:cNvPr id="33" name="fx10_5_16"/>
          <p:cNvSpPr/>
          <p:nvPr/>
        </p:nvSpPr>
        <p:spPr>
          <a:xfrm>
            <a:off x="7223577" y="4206240"/>
            <a:ext cx="207257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E2B4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1921</a:t>
            </a:r>
            <a:endParaRPr lang="en-US" sz="15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F6EF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Найт</a:t>
            </a:r>
            <a:endParaRPr lang="en-US" sz="15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BBAC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риск ≠ неопределённость</a:t>
            </a:r>
            <a:endParaRPr lang="en-US" sz="1500" dirty="0"/>
          </a:p>
        </p:txBody>
      </p:sp>
      <p:sp>
        <p:nvSpPr>
          <p:cNvPr id="34" name="fx10_6_17"/>
          <p:cNvSpPr/>
          <p:nvPr/>
        </p:nvSpPr>
        <p:spPr>
          <a:xfrm>
            <a:off x="10332446" y="3950208"/>
            <a:ext cx="182880" cy="182880"/>
          </a:xfrm>
          <a:prstGeom prst="ellipse">
            <a:avLst/>
          </a:prstGeom>
          <a:solidFill>
            <a:srgbClr val="0E0807"/>
          </a:solidFill>
          <a:ln w="25400">
            <a:solidFill>
              <a:srgbClr val="E2B45E"/>
            </a:solidFill>
            <a:prstDash val="solid"/>
          </a:ln>
        </p:spPr>
      </p:sp>
      <p:sp>
        <p:nvSpPr>
          <p:cNvPr id="35" name="fx10_6_18"/>
          <p:cNvSpPr/>
          <p:nvPr/>
        </p:nvSpPr>
        <p:spPr>
          <a:xfrm>
            <a:off x="9387596" y="4206240"/>
            <a:ext cx="207257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E2B4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1973</a:t>
            </a:r>
            <a:endParaRPr lang="en-US" sz="15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F6EF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Кирцнер</a:t>
            </a:r>
            <a:endParaRPr lang="en-US" sz="15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BBAC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бдительность</a:t>
            </a:r>
            <a:endParaRPr lang="en-US" sz="1500" dirty="0"/>
          </a:p>
        </p:txBody>
      </p:sp>
      <p:sp>
        <p:nvSpPr>
          <p:cNvPr id="36" name="fx10_7_19"/>
          <p:cNvSpPr/>
          <p:nvPr/>
        </p:nvSpPr>
        <p:spPr>
          <a:xfrm>
            <a:off x="685800" y="5349240"/>
            <a:ext cx="7589520" cy="841248"/>
          </a:xfrm>
          <a:prstGeom prst="roundRect">
            <a:avLst>
              <a:gd name="adj" fmla="val 8696"/>
            </a:avLst>
          </a:prstGeom>
          <a:solidFill>
            <a:srgbClr val="26180A">
              <a:alpha val="94000"/>
            </a:srgbClr>
          </a:solidFill>
          <a:ln w="12700">
            <a:solidFill>
              <a:srgbClr val="E2B45E">
                <a:alpha val="55000"/>
              </a:srgbClr>
            </a:solidFill>
            <a:prstDash val="solid"/>
          </a:ln>
          <a:effectLst>
            <a:outerShdw sx="100000" sy="100000" kx="0" ky="0" algn="bl" rotWithShape="0" blurRad="228600" dist="76200" dir="5400000">
              <a:srgbClr val="000000">
                <a:alpha val="45000"/>
              </a:srgbClr>
            </a:outerShdw>
          </a:effectLst>
        </p:spPr>
      </p:sp>
      <p:sp>
        <p:nvSpPr>
          <p:cNvPr id="37" name="fx10_7_20"/>
          <p:cNvSpPr/>
          <p:nvPr/>
        </p:nvSpPr>
        <p:spPr>
          <a:xfrm>
            <a:off x="685800" y="5495544"/>
            <a:ext cx="50292" cy="548640"/>
          </a:xfrm>
          <a:prstGeom prst="rect">
            <a:avLst/>
          </a:prstGeom>
          <a:solidFill>
            <a:srgbClr val="E2B45E"/>
          </a:solidFill>
          <a:ln/>
        </p:spPr>
      </p:sp>
      <p:sp>
        <p:nvSpPr>
          <p:cNvPr id="38" name="fx10_7_21"/>
          <p:cNvSpPr/>
          <p:nvPr/>
        </p:nvSpPr>
        <p:spPr>
          <a:xfrm>
            <a:off x="941832" y="5212080"/>
            <a:ext cx="1993392" cy="274320"/>
          </a:xfrm>
          <a:prstGeom prst="roundRect">
            <a:avLst>
              <a:gd name="adj" fmla="val 50000"/>
            </a:avLst>
          </a:prstGeom>
          <a:solidFill>
            <a:srgbClr val="E2B45E"/>
          </a:solidFill>
          <a:ln/>
        </p:spPr>
      </p:sp>
      <p:sp>
        <p:nvSpPr>
          <p:cNvPr id="39" name="fx10_7_22"/>
          <p:cNvSpPr/>
          <p:nvPr/>
        </p:nvSpPr>
        <p:spPr>
          <a:xfrm>
            <a:off x="941832" y="5212080"/>
            <a:ext cx="199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50" b="1" spc="150" kern="0" dirty="0">
                <a:solidFill>
                  <a:srgbClr val="0E08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  САМОЕ ИНТЕРЕСНОЕ</a:t>
            </a:r>
            <a:endParaRPr lang="en-US" sz="850" dirty="0"/>
          </a:p>
        </p:txBody>
      </p:sp>
      <p:sp>
        <p:nvSpPr>
          <p:cNvPr id="40" name="fx10_7_23"/>
          <p:cNvSpPr/>
          <p:nvPr/>
        </p:nvSpPr>
        <p:spPr>
          <a:xfrm>
            <a:off x="960120" y="5532120"/>
            <a:ext cx="7132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i="1" dirty="0">
                <a:solidFill>
                  <a:srgbClr val="F6EFE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Контраст с Шумпетером: у Шумпетера предприниматель </a:t>
            </a:r>
            <a:pPr algn="l" indent="0" marL="0">
              <a:lnSpc>
                <a:spcPct val="105000"/>
              </a:lnSpc>
              <a:buNone/>
            </a:pPr>
            <a:r>
              <a:rPr lang="en-US" sz="1300" b="1" i="1" dirty="0">
                <a:solidFill>
                  <a:srgbClr val="F6EFE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ломает</a:t>
            </a:r>
            <a:pPr algn="l" indent="0" marL="0">
              <a:lnSpc>
                <a:spcPct val="105000"/>
              </a:lnSpc>
              <a:buNone/>
            </a:pPr>
            <a:r>
              <a:rPr lang="en-US" sz="1300" i="1" dirty="0">
                <a:solidFill>
                  <a:srgbClr val="F6EFE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равновесие, а у Кантильона — </a:t>
            </a:r>
            <a:pPr algn="l" indent="0" marL="0">
              <a:lnSpc>
                <a:spcPct val="105000"/>
              </a:lnSpc>
              <a:buNone/>
            </a:pPr>
            <a:r>
              <a:rPr lang="en-US" sz="1300" b="1" i="1" dirty="0">
                <a:solidFill>
                  <a:srgbClr val="F6EFE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восстанавливает</a:t>
            </a:r>
            <a:pPr algn="l" indent="0" marL="0">
              <a:lnSpc>
                <a:spcPct val="105000"/>
              </a:lnSpc>
              <a:buNone/>
            </a:pPr>
            <a:r>
              <a:rPr lang="en-US" sz="1300" i="1" dirty="0">
                <a:solidFill>
                  <a:srgbClr val="F6EFE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его, угадывая спрос.</a:t>
            </a:r>
            <a:endParaRPr lang="en-US" sz="1300" dirty="0"/>
          </a:p>
        </p:txBody>
      </p: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41" name="!!m-wheat">
                <a:extLst>
                  <a:ext uri="{FF2B5EF4-FFF2-40B4-BE49-F238E27FC236}">
                    <a16:creationId xmlns:a16="http://schemas.microsoft.com/office/drawing/2014/main" id="{C8F0DB11-8CAC-605C-3C5F-A215B90555B9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-4754880" y="1234440"/>
              <a:ext cx="4206240" cy="4206240"/>
            </p:xfrm>
            <a:graphic>
              <a:graphicData uri="http://schemas.microsoft.com/office/drawing/2017/model3d">
                <am3d:model3d r:embed="rIdM3d38">
                  <am3d:spPr>
                    <a:xfrm>
                      <a:off x="0" y="0"/>
                      <a:ext cx="4206240" cy="4206240"/>
                    </a:xfrm>
                    <a:prstGeom prst="rect">
                      <a:avLst/>
                    </a:prstGeom>
                  </am3d:spPr>
                  <am3d:camera>
                    <am3d:pos x="0" y="0" z="61781567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505029" d="1000000"/>
                    <am3d:preTrans dx="594907" dy="0" dz="-446824"/>
                    <am3d:scale>
                      <am3d:sx n="1000000" d="1000000"/>
                      <am3d:sy n="1000000" d="1000000"/>
                      <am3d:sz n="1000000" d="1000000"/>
                    </am3d:scale>
                    <am3d:rot ax="360000" ay="-6000000" az="0"/>
                    <am3d:postTrans dx="0" dy="0" dz="0"/>
                  </am3d:trans>
                  <am3d:raster rName="Office3DRenderer" rVer="16.0.8326">
                    <am3d:blip r:embed="rId6"/>
                  </am3d:raster>
                  <am3d:objViewport viewportSz="4206240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41" name="!!m-wheat">
                <a:extLst>
                  <a:ext uri="{FF2B5EF4-FFF2-40B4-BE49-F238E27FC236}">
                    <a16:creationId xmlns:a16="http://schemas.microsoft.com/office/drawing/2014/main" id="{C8F0DB11-8CAC-605C-3C5F-A215B90555B9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-4754880" y="1234440"/>
                <a:ext cx="4206240" cy="4206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42" name="!!m-coins">
                <a:extLst>
                  <a:ext uri="{FF2B5EF4-FFF2-40B4-BE49-F238E27FC236}">
                    <a16:creationId xmlns:a16="http://schemas.microsoft.com/office/drawing/2014/main" id="{F08088E9-A13F-F22E-157C-A6D994915BA5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12740335" y="1325880"/>
              <a:ext cx="3931920" cy="3931920"/>
            </p:xfrm>
            <a:graphic>
              <a:graphicData uri="http://schemas.microsoft.com/office/drawing/2017/model3d">
                <am3d:model3d r:embed="rIdM3d39">
                  <am3d:spPr>
                    <a:xfrm>
                      <a:off x="0" y="0"/>
                      <a:ext cx="3931920" cy="3931920"/>
                    </a:xfrm>
                    <a:prstGeom prst="rect">
                      <a:avLst/>
                    </a:prstGeom>
                  </am3d:spPr>
                  <am3d:camera>
                    <am3d:pos x="0" y="0" z="62749884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622812" d="1000000"/>
                    <am3d:preTrans dx="-1911238" dy="-6950584" dz="-3080098"/>
                    <am3d:scale>
                      <am3d:sx n="1000000" d="1000000"/>
                      <am3d:sy n="1000000" d="1000000"/>
                      <am3d:sz n="1000000" d="1000000"/>
                    </am3d:scale>
                    <am3d:rot ax="1560000" ay="3000000" az="0"/>
                    <am3d:postTrans dx="0" dy="0" dz="0"/>
                  </am3d:trans>
                  <am3d:raster rName="Office3DRenderer" rVer="16.0.8326">
                    <am3d:blip r:embed="rId7"/>
                  </am3d:raster>
                  <am3d:objViewport viewportSz="3931920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42" name="!!m-coins">
                <a:extLst>
                  <a:ext uri="{FF2B5EF4-FFF2-40B4-BE49-F238E27FC236}">
                    <a16:creationId xmlns:a16="http://schemas.microsoft.com/office/drawing/2014/main" id="{F08088E9-A13F-F22E-157C-A6D994915BA5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2740335" y="1325880"/>
                <a:ext cx="3931920" cy="39319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6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42" presetClass="entr" presetSubtype="0" fill="hold" grpId="0" nodeType="after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7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700" decel="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00" decel="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42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7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700" decel="10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700" decel="10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grpId="0" nodeType="withEffect">
                                  <p:stCondLst>
                                    <p:cond delay="41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7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700" decel="10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700" decel="10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41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7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700" decel="100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700" decel="100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grpId="0" nodeType="withEffect">
                                  <p:stCondLst>
                                    <p:cond delay="67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7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700" decel="100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700" decel="100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67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7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700" decel="100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700" decel="100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grpId="0" nodeType="withEffect">
                                  <p:stCondLst>
                                    <p:cond delay="93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7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700" decel="100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700" decel="100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42" presetClass="entr" presetSubtype="0" fill="hold" grpId="0" nodeType="withEffect">
                                  <p:stCondLst>
                                    <p:cond delay="93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7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700" decel="100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700" decel="100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42" presetClass="entr" presetSubtype="0" fill="hold" grpId="0" nodeType="withEffect">
                                  <p:stCondLst>
                                    <p:cond delay="93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7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700" decel="100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700" decel="100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42" presetClass="entr" presetSubtype="0" fill="hold" grpId="0" nodeType="withEffect">
                                  <p:stCondLst>
                                    <p:cond delay="93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7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700" decel="100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700" decel="100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42" presetClass="entr" presetSubtype="0" fill="hold" grpId="0" nodeType="withEffect">
                                  <p:stCondLst>
                                    <p:cond delay="93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7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700" decel="100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700" decel="100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42" presetClass="entr" presetSubtype="0" fill="hold" grpId="0" nodeType="withEffect">
                                  <p:stCondLst>
                                    <p:cond delay="93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7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700" decel="100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700" decel="100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42" presetClass="entr" presetSubtype="0" fill="hold" grpId="0" nodeType="withEffect">
                                  <p:stCondLst>
                                    <p:cond delay="119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7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700" decel="100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700" decel="100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42" presetClass="entr" presetSubtype="0" fill="hold" grpId="0" nodeType="withEffect">
                                  <p:stCondLst>
                                    <p:cond delay="119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7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3" dur="700" decel="100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700" decel="100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42" presetClass="entr" presetSubtype="0" fill="hold" grpId="0" nodeType="withEffect">
                                  <p:stCondLst>
                                    <p:cond delay="119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7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700" decel="100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700" decel="100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2" presetID="42" presetClass="entr" presetSubtype="0" fill="hold" grpId="0" nodeType="withEffect">
                                  <p:stCondLst>
                                    <p:cond delay="119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7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3" dur="700" decel="100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700" decel="100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7" presetID="42" presetClass="entr" presetSubtype="0" fill="hold" grpId="0" nodeType="withEffect">
                                  <p:stCondLst>
                                    <p:cond delay="145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7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8" dur="700" decel="100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700" decel="100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2" presetID="42" presetClass="entr" presetSubtype="0" fill="hold" grpId="0" nodeType="withEffect">
                                  <p:stCondLst>
                                    <p:cond delay="145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7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3" dur="700" decel="100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700" decel="100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7" presetID="42" presetClass="entr" presetSubtype="0" fill="hold" grpId="0" nodeType="withEffect">
                                  <p:stCondLst>
                                    <p:cond delay="171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7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8" dur="700" decel="100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700" decel="100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2" presetID="42" presetClass="entr" presetSubtype="0" fill="hold" grpId="0" nodeType="withEffect">
                                  <p:stCondLst>
                                    <p:cond delay="171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7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3" dur="700" decel="100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4" dur="700" decel="100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7" presetID="42" presetClass="entr" presetSubtype="0" fill="hold" grpId="0" nodeType="withEffect">
                                  <p:stCondLst>
                                    <p:cond delay="171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7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8" dur="700" decel="100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9" dur="700" decel="100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2" presetID="42" presetClass="entr" presetSubtype="0" fill="hold" grpId="0" nodeType="withEffect">
                                  <p:stCondLst>
                                    <p:cond delay="171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7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3" dur="700" decel="100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4" dur="700" decel="100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7" presetID="42" presetClass="entr" presetSubtype="0" fill="hold" grpId="0" nodeType="withEffect">
                                  <p:stCondLst>
                                    <p:cond delay="171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6" dur="7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8" dur="700" decel="100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9" dur="700" decel="100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2" presetID="42" presetClass="entr" presetSubtype="0" fill="hold" grpId="0" nodeType="withEffect">
                                  <p:stCondLst>
                                    <p:cond delay="197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7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3" dur="70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4" dur="70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16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xmlns:am3d="http://schemas.microsoft.com/office/drawing/2017/model3d" mc:Ignorable="am3d">
  <p:cSld name="Slide 11">
    <p:bg>
      <p:bgPr>
        <a:solidFill>
          <a:srgbClr val="08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ackground" descr="/home/user/omgGame/presentations/cantillon/assets/stage-bg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!!track"/>
          <p:cNvSpPr/>
          <p:nvPr/>
        </p:nvSpPr>
        <p:spPr>
          <a:xfrm>
            <a:off x="685800" y="402336"/>
            <a:ext cx="10820095" cy="91"/>
          </a:xfrm>
          <a:prstGeom prst="line">
            <a:avLst/>
          </a:prstGeom>
          <a:noFill/>
          <a:ln w="9525">
            <a:solidFill>
              <a:srgbClr val="FFFFFF">
                <a:alpha val="16000"/>
              </a:srgbClr>
            </a:solidFill>
            <a:prstDash val="solid"/>
          </a:ln>
        </p:spPr>
      </p:sp>
      <p:sp>
        <p:nvSpPr>
          <p:cNvPr id="4" name="!!progress"/>
          <p:cNvSpPr/>
          <p:nvPr/>
        </p:nvSpPr>
        <p:spPr>
          <a:xfrm>
            <a:off x="685800" y="391363"/>
            <a:ext cx="6762559" cy="21946"/>
          </a:xfrm>
          <a:prstGeom prst="rect">
            <a:avLst/>
          </a:prstGeom>
          <a:solidFill>
            <a:srgbClr val="E2B45E"/>
          </a:solidFill>
          <a:ln/>
        </p:spPr>
      </p: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5" name="!!coin">
                <a:extLst>
                  <a:ext uri="{FF2B5EF4-FFF2-40B4-BE49-F238E27FC236}">
                    <a16:creationId xmlns:a16="http://schemas.microsoft.com/office/drawing/2014/main" id="{125583AA-71F4-D095-59C0-5E18035892A2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7192327" y="117043"/>
              <a:ext cx="512064" cy="512064"/>
            </p:xfrm>
            <a:graphic>
              <a:graphicData uri="http://schemas.microsoft.com/office/drawing/2017/model3d">
                <am3d:model3d r:embed="rIdM3d40">
                  <am3d:spPr>
                    <a:xfrm>
                      <a:off x="0" y="0"/>
                      <a:ext cx="512064" cy="512064"/>
                    </a:xfrm>
                    <a:prstGeom prst="rect">
                      <a:avLst/>
                    </a:prstGeom>
                  </am3d:spPr>
                  <am3d:camera>
                    <am3d:pos x="0" y="0" z="66612804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500000" d="1000000"/>
                    <am3d:preTrans dx="0" dy="0" dz="-269999"/>
                    <am3d:scale>
                      <am3d:sx n="1000000" d="1000000"/>
                      <am3d:sy n="1000000" d="1000000"/>
                      <am3d:sz n="1000000" d="1000000"/>
                    </am3d:scale>
                    <am3d:rot ax="0" ay="-960000" az="-90000000"/>
                    <am3d:postTrans dx="0" dy="0" dz="0"/>
                  </am3d:trans>
                  <am3d:raster rName="Office3DRenderer" rVer="16.0.8326">
                    <am3d:blip r:embed="rId2"/>
                  </am3d:raster>
                  <am3d:objViewport viewportSz="512064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5" name="!!coin">
                <a:extLst>
                  <a:ext uri="{FF2B5EF4-FFF2-40B4-BE49-F238E27FC236}">
                    <a16:creationId xmlns:a16="http://schemas.microsoft.com/office/drawing/2014/main" id="{125583AA-71F4-D095-59C0-5E18035892A2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7192327" y="117043"/>
                <a:ext cx="512064" cy="512064"/>
              </a:xfrm>
              <a:prstGeom prst="rect">
                <a:avLst/>
              </a:prstGeom>
            </p:spPr>
          </p:pic>
        </mc:Fallback>
      </mc:AlternateContent>
      <p:sp>
        <p:nvSpPr>
          <p:cNvPr id="6" name="!!kickerbar"/>
          <p:cNvSpPr/>
          <p:nvPr/>
        </p:nvSpPr>
        <p:spPr>
          <a:xfrm>
            <a:off x="685800" y="713232"/>
            <a:ext cx="310896" cy="32004"/>
          </a:xfrm>
          <a:prstGeom prst="rect">
            <a:avLst/>
          </a:prstGeom>
          <a:solidFill>
            <a:srgbClr val="E2B45E"/>
          </a:solidFill>
          <a:ln/>
        </p:spPr>
      </p:sp>
      <p:sp>
        <p:nvSpPr>
          <p:cNvPr id="7" name="!!kicker"/>
          <p:cNvSpPr/>
          <p:nvPr/>
        </p:nvSpPr>
        <p:spPr>
          <a:xfrm>
            <a:off x="1124712" y="5943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spc="300" kern="0" dirty="0">
                <a:solidFill>
                  <a:srgbClr val="E2B4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— ЭФФЕКТ КАНТИЛЬОНА</a:t>
            </a:r>
            <a:endParaRPr lang="en-US" sz="1100" dirty="0"/>
          </a:p>
        </p:txBody>
      </p:sp>
      <p:sp>
        <p:nvSpPr>
          <p:cNvPr id="8" name="!!footline"/>
          <p:cNvSpPr/>
          <p:nvPr/>
        </p:nvSpPr>
        <p:spPr>
          <a:xfrm>
            <a:off x="685800" y="6400800"/>
            <a:ext cx="10820095" cy="91"/>
          </a:xfrm>
          <a:prstGeom prst="line">
            <a:avLst/>
          </a:prstGeom>
          <a:noFill/>
          <a:ln w="9525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9" name="!!footer"/>
          <p:cNvSpPr/>
          <p:nvPr/>
        </p:nvSpPr>
        <p:spPr>
          <a:xfrm>
            <a:off x="685800" y="649224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spc="200" kern="0" dirty="0">
                <a:solidFill>
                  <a:srgbClr val="BBAC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РИЧАРД КАНТИЛЬОН  ·  1680-е – 1734</a:t>
            </a:r>
            <a:endParaRPr lang="en-US" sz="900" dirty="0"/>
          </a:p>
        </p:txBody>
      </p:sp>
      <p:sp>
        <p:nvSpPr>
          <p:cNvPr id="10" name="!!pagenum"/>
          <p:cNvSpPr/>
          <p:nvPr/>
        </p:nvSpPr>
        <p:spPr>
          <a:xfrm>
            <a:off x="10134295" y="649224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900" spc="200" kern="0" dirty="0">
                <a:solidFill>
                  <a:srgbClr val="BBAC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/ 17</a:t>
            </a:r>
            <a:endParaRPr lang="en-US" sz="900" dirty="0"/>
          </a:p>
        </p:txBody>
      </p:sp>
      <p:pic>
        <p:nvPicPr>
          <p:cNvPr id="11" name="!!glow" descr="/home/user/omgGame/presentations/cantillon/assets/glow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87718" y="75438"/>
            <a:ext cx="5701284" cy="5701284"/>
          </a:xfrm>
          <a:prstGeom prst="rect">
            <a:avLst/>
          </a:prstGeom>
        </p:spPr>
      </p:pic>
      <p:sp>
        <p:nvSpPr>
          <p:cNvPr id="12" name="!!ring1"/>
          <p:cNvSpPr/>
          <p:nvPr/>
        </p:nvSpPr>
        <p:spPr>
          <a:xfrm>
            <a:off x="7890358" y="1078078"/>
            <a:ext cx="3696005" cy="3696005"/>
          </a:xfrm>
          <a:prstGeom prst="ellipse">
            <a:avLst/>
          </a:prstGeom>
          <a:ln w="9525">
            <a:solidFill>
              <a:srgbClr val="E2B45E">
                <a:alpha val="18000"/>
              </a:srgbClr>
            </a:solidFill>
            <a:prstDash val="solid"/>
          </a:ln>
        </p:spPr>
      </p:sp>
      <p:sp>
        <p:nvSpPr>
          <p:cNvPr id="13" name="!!ring2"/>
          <p:cNvSpPr/>
          <p:nvPr/>
        </p:nvSpPr>
        <p:spPr>
          <a:xfrm>
            <a:off x="7379208" y="566928"/>
            <a:ext cx="4718304" cy="4718304"/>
          </a:xfrm>
          <a:prstGeom prst="ellipse">
            <a:avLst/>
          </a:prstGeom>
          <a:ln w="9525">
            <a:solidFill>
              <a:srgbClr val="E2B45E">
                <a:alpha val="12000"/>
              </a:srgbClr>
            </a:solidFill>
            <a:prstDash val="dash"/>
          </a:ln>
        </p:spPr>
      </p:sp>
      <p:pic>
        <p:nvPicPr>
          <p:cNvPr id="14" name="!!shadow" descr="/home/user/omgGame/presentations/cantillon/assets/shadow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04911" y="3565017"/>
            <a:ext cx="3066898" cy="766724"/>
          </a:xfrm>
          <a:prstGeom prst="rect">
            <a:avLst/>
          </a:prstGeom>
        </p:spPr>
      </p:pic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15" name="!!m-coins">
                <a:extLst>
                  <a:ext uri="{FF2B5EF4-FFF2-40B4-BE49-F238E27FC236}">
                    <a16:creationId xmlns:a16="http://schemas.microsoft.com/office/drawing/2014/main" id="{F316DA47-AE14-BC6A-0FE6-6DFD12E5CA4E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7772400" y="960120"/>
              <a:ext cx="3931920" cy="3931920"/>
            </p:xfrm>
            <a:graphic>
              <a:graphicData uri="http://schemas.microsoft.com/office/drawing/2017/model3d">
                <am3d:model3d r:embed="rIdM3d41">
                  <am3d:spPr>
                    <a:xfrm>
                      <a:off x="0" y="0"/>
                      <a:ext cx="3931920" cy="3931920"/>
                    </a:xfrm>
                    <a:prstGeom prst="rect">
                      <a:avLst/>
                    </a:prstGeom>
                  </am3d:spPr>
                  <am3d:camera>
                    <am3d:pos x="0" y="0" z="62749884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622812" d="1000000"/>
                    <am3d:preTrans dx="-1911238" dy="-6950584" dz="-3080098"/>
                    <am3d:scale>
                      <am3d:sx n="1000000" d="1000000"/>
                      <am3d:sy n="1000000" d="1000000"/>
                      <am3d:sz n="1000000" d="1000000"/>
                    </am3d:scale>
                    <am3d:rot ax="1560000" ay="-1800000" az="0"/>
                    <am3d:postTrans dx="0" dy="0" dz="0"/>
                  </am3d:trans>
                  <am3d:raster rName="Office3DRenderer" rVer="16.0.8326">
                    <am3d:blip r:embed="rId5"/>
                  </am3d:raster>
                  <am3d:objViewport viewportSz="3931920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15" name="!!m-coins">
                <a:extLst>
                  <a:ext uri="{FF2B5EF4-FFF2-40B4-BE49-F238E27FC236}">
                    <a16:creationId xmlns:a16="http://schemas.microsoft.com/office/drawing/2014/main" id="{F316DA47-AE14-BC6A-0FE6-6DFD12E5CA4E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772400" y="960120"/>
                <a:ext cx="3931920" cy="3931920"/>
              </a:xfrm>
              <a:prstGeom prst="rect">
                <a:avLst/>
              </a:prstGeom>
            </p:spPr>
          </p:pic>
        </mc:Fallback>
      </mc:AlternateContent>
      <p:sp>
        <p:nvSpPr>
          <p:cNvPr id="16" name="fx11_9_0"/>
          <p:cNvSpPr/>
          <p:nvPr/>
        </p:nvSpPr>
        <p:spPr>
          <a:xfrm>
            <a:off x="7955280" y="4616806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00" b="1" spc="250" kern="0" dirty="0">
                <a:solidFill>
                  <a:srgbClr val="E2B4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ЭКСПОНАТ 11</a:t>
            </a:r>
            <a:endParaRPr lang="en-US" sz="9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BBAC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Кто получил деньги первым — тот и выиграл</a:t>
            </a:r>
            <a:endParaRPr lang="en-US" sz="900" dirty="0"/>
          </a:p>
        </p:txBody>
      </p:sp>
      <p:sp>
        <p:nvSpPr>
          <p:cNvPr id="17" name="!!title"/>
          <p:cNvSpPr/>
          <p:nvPr/>
        </p:nvSpPr>
        <p:spPr>
          <a:xfrm>
            <a:off x="685800" y="987552"/>
            <a:ext cx="6766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600" dirty="0">
                <a:solidFill>
                  <a:srgbClr val="F6EFE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Эффект Кантильона: кто получит деньги первым</a:t>
            </a:r>
            <a:endParaRPr lang="en-US" sz="3600" dirty="0"/>
          </a:p>
        </p:txBody>
      </p:sp>
      <p:sp>
        <p:nvSpPr>
          <p:cNvPr id="18" name="fx11_1_1"/>
          <p:cNvSpPr/>
          <p:nvPr/>
        </p:nvSpPr>
        <p:spPr>
          <a:xfrm>
            <a:off x="685800" y="2212848"/>
            <a:ext cx="5669280" cy="512064"/>
          </a:xfrm>
          <a:prstGeom prst="roundRect">
            <a:avLst>
              <a:gd name="adj" fmla="val 50000"/>
            </a:avLst>
          </a:prstGeom>
          <a:solidFill>
            <a:srgbClr val="21130F">
              <a:alpha val="90000"/>
            </a:srgbClr>
          </a:solidFill>
          <a:ln w="9525">
            <a:solidFill>
              <a:srgbClr val="E2B45E">
                <a:alpha val="45000"/>
              </a:srgbClr>
            </a:solidFill>
            <a:prstDash val="solid"/>
          </a:ln>
        </p:spPr>
      </p:sp>
      <p:sp>
        <p:nvSpPr>
          <p:cNvPr id="19" name="fx11_1_2"/>
          <p:cNvSpPr/>
          <p:nvPr/>
        </p:nvSpPr>
        <p:spPr>
          <a:xfrm>
            <a:off x="795528" y="2322576"/>
            <a:ext cx="292608" cy="292608"/>
          </a:xfrm>
          <a:prstGeom prst="ellipse">
            <a:avLst/>
          </a:prstGeom>
          <a:solidFill>
            <a:srgbClr val="E2B45E"/>
          </a:solidFill>
          <a:ln/>
        </p:spPr>
      </p:sp>
      <p:sp>
        <p:nvSpPr>
          <p:cNvPr id="20" name="fx11_1_3"/>
          <p:cNvSpPr/>
          <p:nvPr/>
        </p:nvSpPr>
        <p:spPr>
          <a:xfrm>
            <a:off x="795528" y="232257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0E08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21" name="fx11_1_4"/>
          <p:cNvSpPr/>
          <p:nvPr/>
        </p:nvSpPr>
        <p:spPr>
          <a:xfrm>
            <a:off x="1234440" y="2212848"/>
            <a:ext cx="5029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F6EF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Новые деньги  </a:t>
            </a:r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BBAC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печатает банк или приносит приток золота</a:t>
            </a:r>
            <a:endParaRPr lang="en-US" sz="1350" dirty="0"/>
          </a:p>
        </p:txBody>
      </p:sp>
      <p:sp>
        <p:nvSpPr>
          <p:cNvPr id="22" name="fx11_2_5"/>
          <p:cNvSpPr/>
          <p:nvPr/>
        </p:nvSpPr>
        <p:spPr>
          <a:xfrm>
            <a:off x="978408" y="2816352"/>
            <a:ext cx="5669280" cy="512064"/>
          </a:xfrm>
          <a:prstGeom prst="roundRect">
            <a:avLst>
              <a:gd name="adj" fmla="val 50000"/>
            </a:avLst>
          </a:prstGeom>
          <a:solidFill>
            <a:srgbClr val="21130F">
              <a:alpha val="90000"/>
            </a:srgbClr>
          </a:solidFill>
          <a:ln w="9525">
            <a:solidFill>
              <a:srgbClr val="E2B45E">
                <a:alpha val="45000"/>
              </a:srgbClr>
            </a:solidFill>
            <a:prstDash val="solid"/>
          </a:ln>
        </p:spPr>
      </p:sp>
      <p:sp>
        <p:nvSpPr>
          <p:cNvPr id="23" name="fx11_2_6"/>
          <p:cNvSpPr/>
          <p:nvPr/>
        </p:nvSpPr>
        <p:spPr>
          <a:xfrm>
            <a:off x="1088136" y="2926080"/>
            <a:ext cx="292608" cy="292608"/>
          </a:xfrm>
          <a:prstGeom prst="ellipse">
            <a:avLst/>
          </a:prstGeom>
          <a:solidFill>
            <a:srgbClr val="E2B45E"/>
          </a:solidFill>
          <a:ln/>
        </p:spPr>
      </p:sp>
      <p:sp>
        <p:nvSpPr>
          <p:cNvPr id="24" name="fx11_2_7"/>
          <p:cNvSpPr/>
          <p:nvPr/>
        </p:nvSpPr>
        <p:spPr>
          <a:xfrm>
            <a:off x="1088136" y="29260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0E08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25" name="fx11_2_8"/>
          <p:cNvSpPr/>
          <p:nvPr/>
        </p:nvSpPr>
        <p:spPr>
          <a:xfrm>
            <a:off x="1527048" y="2816352"/>
            <a:ext cx="5029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F6EF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Первые получатели  </a:t>
            </a:r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BBAC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тратят их по старым ценам — выигрывают</a:t>
            </a:r>
            <a:endParaRPr lang="en-US" sz="1350" dirty="0"/>
          </a:p>
        </p:txBody>
      </p:sp>
      <p:sp>
        <p:nvSpPr>
          <p:cNvPr id="26" name="fx11_3_9"/>
          <p:cNvSpPr/>
          <p:nvPr/>
        </p:nvSpPr>
        <p:spPr>
          <a:xfrm>
            <a:off x="1271016" y="3419856"/>
            <a:ext cx="5669280" cy="512064"/>
          </a:xfrm>
          <a:prstGeom prst="roundRect">
            <a:avLst>
              <a:gd name="adj" fmla="val 50000"/>
            </a:avLst>
          </a:prstGeom>
          <a:solidFill>
            <a:srgbClr val="21130F">
              <a:alpha val="90000"/>
            </a:srgbClr>
          </a:solidFill>
          <a:ln w="9525">
            <a:solidFill>
              <a:srgbClr val="E9784A">
                <a:alpha val="45000"/>
              </a:srgbClr>
            </a:solidFill>
            <a:prstDash val="solid"/>
          </a:ln>
        </p:spPr>
      </p:sp>
      <p:sp>
        <p:nvSpPr>
          <p:cNvPr id="27" name="fx11_3_10"/>
          <p:cNvSpPr/>
          <p:nvPr/>
        </p:nvSpPr>
        <p:spPr>
          <a:xfrm>
            <a:off x="1380744" y="3529584"/>
            <a:ext cx="292608" cy="292608"/>
          </a:xfrm>
          <a:prstGeom prst="ellipse">
            <a:avLst/>
          </a:prstGeom>
          <a:solidFill>
            <a:srgbClr val="E9784A"/>
          </a:solidFill>
          <a:ln/>
        </p:spPr>
      </p:sp>
      <p:sp>
        <p:nvSpPr>
          <p:cNvPr id="28" name="fx11_3_11"/>
          <p:cNvSpPr/>
          <p:nvPr/>
        </p:nvSpPr>
        <p:spPr>
          <a:xfrm>
            <a:off x="1380744" y="352958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0E08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29" name="fx11_3_12"/>
          <p:cNvSpPr/>
          <p:nvPr/>
        </p:nvSpPr>
        <p:spPr>
          <a:xfrm>
            <a:off x="1819656" y="3419856"/>
            <a:ext cx="5029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F6EF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Цены растут  </a:t>
            </a:r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BBAC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постепенно, от рынка к рынку</a:t>
            </a:r>
            <a:endParaRPr lang="en-US" sz="1350" dirty="0"/>
          </a:p>
        </p:txBody>
      </p:sp>
      <p:sp>
        <p:nvSpPr>
          <p:cNvPr id="30" name="fx11_4_13"/>
          <p:cNvSpPr/>
          <p:nvPr/>
        </p:nvSpPr>
        <p:spPr>
          <a:xfrm>
            <a:off x="1563624" y="4023360"/>
            <a:ext cx="5669280" cy="512064"/>
          </a:xfrm>
          <a:prstGeom prst="roundRect">
            <a:avLst>
              <a:gd name="adj" fmla="val 50000"/>
            </a:avLst>
          </a:prstGeom>
          <a:solidFill>
            <a:srgbClr val="21130F">
              <a:alpha val="90000"/>
            </a:srgbClr>
          </a:solidFill>
          <a:ln w="9525">
            <a:solidFill>
              <a:srgbClr val="E9784A">
                <a:alpha val="45000"/>
              </a:srgbClr>
            </a:solidFill>
            <a:prstDash val="solid"/>
          </a:ln>
        </p:spPr>
      </p:sp>
      <p:sp>
        <p:nvSpPr>
          <p:cNvPr id="31" name="fx11_4_14"/>
          <p:cNvSpPr/>
          <p:nvPr/>
        </p:nvSpPr>
        <p:spPr>
          <a:xfrm>
            <a:off x="1673352" y="4133088"/>
            <a:ext cx="292608" cy="292608"/>
          </a:xfrm>
          <a:prstGeom prst="ellipse">
            <a:avLst/>
          </a:prstGeom>
          <a:solidFill>
            <a:srgbClr val="E9784A"/>
          </a:solidFill>
          <a:ln/>
        </p:spPr>
      </p:sp>
      <p:sp>
        <p:nvSpPr>
          <p:cNvPr id="32" name="fx11_4_15"/>
          <p:cNvSpPr/>
          <p:nvPr/>
        </p:nvSpPr>
        <p:spPr>
          <a:xfrm>
            <a:off x="1673352" y="413308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0E08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33" name="fx11_4_16"/>
          <p:cNvSpPr/>
          <p:nvPr/>
        </p:nvSpPr>
        <p:spPr>
          <a:xfrm>
            <a:off x="2112264" y="4023360"/>
            <a:ext cx="5029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F6EF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Последние получатели  </a:t>
            </a:r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BBAC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платят уже по новым ценам — проигрывают</a:t>
            </a:r>
            <a:endParaRPr lang="en-US" sz="1350" dirty="0"/>
          </a:p>
        </p:txBody>
      </p:sp>
      <p:sp>
        <p:nvSpPr>
          <p:cNvPr id="34" name="fx11_5_17"/>
          <p:cNvSpPr/>
          <p:nvPr/>
        </p:nvSpPr>
        <p:spPr>
          <a:xfrm>
            <a:off x="685800" y="4681728"/>
            <a:ext cx="6766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E2B4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Вывод: </a:t>
            </a:r>
            <a:pPr algn="l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F6EF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деньги не «нейтральны» — важно не только сколько их, но и через чьи руки они идут.</a:t>
            </a:r>
            <a:endParaRPr lang="en-US" sz="1300" dirty="0"/>
          </a:p>
        </p:txBody>
      </p:sp>
      <p:sp>
        <p:nvSpPr>
          <p:cNvPr id="35" name="fx11_8_18"/>
          <p:cNvSpPr/>
          <p:nvPr/>
        </p:nvSpPr>
        <p:spPr>
          <a:xfrm>
            <a:off x="685800" y="5349240"/>
            <a:ext cx="6766560" cy="841248"/>
          </a:xfrm>
          <a:prstGeom prst="roundRect">
            <a:avLst>
              <a:gd name="adj" fmla="val 8696"/>
            </a:avLst>
          </a:prstGeom>
          <a:solidFill>
            <a:srgbClr val="26180A">
              <a:alpha val="94000"/>
            </a:srgbClr>
          </a:solidFill>
          <a:ln w="12700">
            <a:solidFill>
              <a:srgbClr val="E2B45E">
                <a:alpha val="55000"/>
              </a:srgbClr>
            </a:solidFill>
            <a:prstDash val="solid"/>
          </a:ln>
          <a:effectLst>
            <a:outerShdw sx="100000" sy="100000" kx="0" ky="0" algn="bl" rotWithShape="0" blurRad="228600" dist="76200" dir="5400000">
              <a:srgbClr val="000000">
                <a:alpha val="45000"/>
              </a:srgbClr>
            </a:outerShdw>
          </a:effectLst>
        </p:spPr>
      </p:sp>
      <p:sp>
        <p:nvSpPr>
          <p:cNvPr id="36" name="fx11_8_19"/>
          <p:cNvSpPr/>
          <p:nvPr/>
        </p:nvSpPr>
        <p:spPr>
          <a:xfrm>
            <a:off x="685800" y="5495544"/>
            <a:ext cx="50292" cy="548640"/>
          </a:xfrm>
          <a:prstGeom prst="rect">
            <a:avLst/>
          </a:prstGeom>
          <a:solidFill>
            <a:srgbClr val="E2B45E"/>
          </a:solidFill>
          <a:ln/>
        </p:spPr>
      </p:sp>
      <p:sp>
        <p:nvSpPr>
          <p:cNvPr id="37" name="fx11_8_20"/>
          <p:cNvSpPr/>
          <p:nvPr/>
        </p:nvSpPr>
        <p:spPr>
          <a:xfrm>
            <a:off x="941832" y="5212080"/>
            <a:ext cx="1993392" cy="274320"/>
          </a:xfrm>
          <a:prstGeom prst="roundRect">
            <a:avLst>
              <a:gd name="adj" fmla="val 50000"/>
            </a:avLst>
          </a:prstGeom>
          <a:solidFill>
            <a:srgbClr val="E2B45E"/>
          </a:solidFill>
          <a:ln/>
        </p:spPr>
      </p:sp>
      <p:sp>
        <p:nvSpPr>
          <p:cNvPr id="38" name="fx11_8_21"/>
          <p:cNvSpPr/>
          <p:nvPr/>
        </p:nvSpPr>
        <p:spPr>
          <a:xfrm>
            <a:off x="941832" y="5212080"/>
            <a:ext cx="199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50" b="1" spc="150" kern="0" dirty="0">
                <a:solidFill>
                  <a:srgbClr val="0E08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  САМОЕ ИНТЕРЕСНОЕ</a:t>
            </a:r>
            <a:endParaRPr lang="en-US" sz="850" dirty="0"/>
          </a:p>
        </p:txBody>
      </p:sp>
      <p:sp>
        <p:nvSpPr>
          <p:cNvPr id="39" name="fx11_8_22"/>
          <p:cNvSpPr/>
          <p:nvPr/>
        </p:nvSpPr>
        <p:spPr>
          <a:xfrm>
            <a:off x="960120" y="5532120"/>
            <a:ext cx="6309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250" i="1" dirty="0">
                <a:solidFill>
                  <a:srgbClr val="F6EFE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Он увидел это изнутри пузыря Ло. Термин «эффект Кантильона» </a:t>
            </a:r>
            <a:pPr algn="l" indent="0" marL="0">
              <a:lnSpc>
                <a:spcPct val="105000"/>
              </a:lnSpc>
              <a:buNone/>
            </a:pPr>
            <a:r>
              <a:rPr lang="en-US" sz="1250" b="1" i="1" dirty="0">
                <a:solidFill>
                  <a:srgbClr val="F6EFE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до сих пор звучит в спорах о печатании денег центробанками.</a:t>
            </a:r>
            <a:endParaRPr lang="en-US" sz="1250" dirty="0"/>
          </a:p>
        </p:txBody>
      </p: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40" name="!!m-scales">
                <a:extLst>
                  <a:ext uri="{FF2B5EF4-FFF2-40B4-BE49-F238E27FC236}">
                    <a16:creationId xmlns:a16="http://schemas.microsoft.com/office/drawing/2014/main" id="{CC8DBD10-D8F7-DC6C-AF0A-7A01323966EC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-3840480" y="1024128"/>
              <a:ext cx="3291840" cy="3291840"/>
            </p:xfrm>
            <a:graphic>
              <a:graphicData uri="http://schemas.microsoft.com/office/drawing/2017/model3d">
                <am3d:model3d r:embed="rIdM3d42">
                  <am3d:spPr>
                    <a:xfrm>
                      <a:off x="0" y="0"/>
                      <a:ext cx="3291840" cy="3291840"/>
                    </a:xfrm>
                    <a:prstGeom prst="rect">
                      <a:avLst/>
                    </a:prstGeom>
                  </am3d:spPr>
                  <am3d:camera>
                    <am3d:pos x="0" y="0" z="61940126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485437" d="1000000"/>
                    <am3d:preTrans dx="0" dy="-1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480000" ay="-5760000" az="0"/>
                    <am3d:postTrans dx="0" dy="0" dz="0"/>
                  </am3d:trans>
                  <am3d:raster rName="Office3DRenderer" rVer="16.0.8326">
                    <am3d:blip r:embed="rId6"/>
                  </am3d:raster>
                  <am3d:objViewport viewportSz="3291840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40" name="!!m-scales">
                <a:extLst>
                  <a:ext uri="{FF2B5EF4-FFF2-40B4-BE49-F238E27FC236}">
                    <a16:creationId xmlns:a16="http://schemas.microsoft.com/office/drawing/2014/main" id="{CC8DBD10-D8F7-DC6C-AF0A-7A01323966EC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-3840480" y="1024128"/>
                <a:ext cx="3291840" cy="3291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41" name="!!m-mouse">
                <a:extLst>
                  <a:ext uri="{FF2B5EF4-FFF2-40B4-BE49-F238E27FC236}">
                    <a16:creationId xmlns:a16="http://schemas.microsoft.com/office/drawing/2014/main" id="{884DDA29-AFD4-F637-854F-A565CEA0A944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12740335" y="1554480"/>
              <a:ext cx="4023360" cy="4023360"/>
            </p:xfrm>
            <a:graphic>
              <a:graphicData uri="http://schemas.microsoft.com/office/drawing/2017/model3d">
                <am3d:model3d r:embed="rIdM3d43">
                  <am3d:spPr>
                    <a:xfrm>
                      <a:off x="0" y="0"/>
                      <a:ext cx="4023360" cy="4023360"/>
                    </a:xfrm>
                    <a:prstGeom prst="rect">
                      <a:avLst/>
                    </a:prstGeom>
                  </am3d:spPr>
                  <am3d:camera>
                    <am3d:pos x="0" y="0" z="69378641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562403" d="1000000"/>
                    <am3d:preTrans dx="-507729" dy="83675" dz="-2378639"/>
                    <am3d:scale>
                      <am3d:sx n="1000000" d="1000000"/>
                      <am3d:sy n="1000000" d="1000000"/>
                      <am3d:sz n="1000000" d="1000000"/>
                    </am3d:scale>
                    <am3d:rot ax="1080000" ay="3720000" az="0"/>
                    <am3d:postTrans dx="0" dy="0" dz="0"/>
                  </am3d:trans>
                  <am3d:raster rName="Office3DRenderer" rVer="16.0.8326">
                    <am3d:blip r:embed="rId7"/>
                  </am3d:raster>
                  <am3d:objViewport viewportSz="4023360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41" name="!!m-mouse">
                <a:extLst>
                  <a:ext uri="{FF2B5EF4-FFF2-40B4-BE49-F238E27FC236}">
                    <a16:creationId xmlns:a16="http://schemas.microsoft.com/office/drawing/2014/main" id="{884DDA29-AFD4-F637-854F-A565CEA0A944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2740335" y="1554480"/>
                <a:ext cx="4023360" cy="40233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6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42" presetClass="entr" presetSubtype="0" fill="hold" grpId="0" nodeType="after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7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700" decel="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00" decel="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42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7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700" decel="10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700" decel="10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7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700" decel="10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700" decel="10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7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700" decel="100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700" decel="100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grpId="0" nodeType="withEffect">
                                  <p:stCondLst>
                                    <p:cond delay="41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7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700" decel="100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700" decel="100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41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7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700" decel="100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700" decel="100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grpId="0" nodeType="withEffect">
                                  <p:stCondLst>
                                    <p:cond delay="41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7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700" decel="100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700" decel="100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42" presetClass="entr" presetSubtype="0" fill="hold" grpId="0" nodeType="withEffect">
                                  <p:stCondLst>
                                    <p:cond delay="41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7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700" decel="100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700" decel="100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42" presetClass="entr" presetSubtype="0" fill="hold" grpId="0" nodeType="withEffect">
                                  <p:stCondLst>
                                    <p:cond delay="67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7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700" decel="100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700" decel="100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42" presetClass="entr" presetSubtype="0" fill="hold" grpId="0" nodeType="withEffect">
                                  <p:stCondLst>
                                    <p:cond delay="67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7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700" decel="100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700" decel="100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42" presetClass="entr" presetSubtype="0" fill="hold" grpId="0" nodeType="withEffect">
                                  <p:stCondLst>
                                    <p:cond delay="67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7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700" decel="100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700" decel="100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42" presetClass="entr" presetSubtype="0" fill="hold" grpId="0" nodeType="withEffect">
                                  <p:stCondLst>
                                    <p:cond delay="67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7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700" decel="100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700" decel="100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42" presetClass="entr" presetSubtype="0" fill="hold" grpId="0" nodeType="withEffect">
                                  <p:stCondLst>
                                    <p:cond delay="93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7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700" decel="100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700" decel="100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42" presetClass="entr" presetSubtype="0" fill="hold" grpId="0" nodeType="withEffect">
                                  <p:stCondLst>
                                    <p:cond delay="93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7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3" dur="700" decel="100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700" decel="100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42" presetClass="entr" presetSubtype="0" fill="hold" grpId="0" nodeType="withEffect">
                                  <p:stCondLst>
                                    <p:cond delay="93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7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700" decel="100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700" decel="100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2" presetID="42" presetClass="entr" presetSubtype="0" fill="hold" grpId="0" nodeType="withEffect">
                                  <p:stCondLst>
                                    <p:cond delay="93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7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3" dur="700" decel="100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700" decel="100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7" presetID="42" presetClass="entr" presetSubtype="0" fill="hold" grpId="0" nodeType="withEffect">
                                  <p:stCondLst>
                                    <p:cond delay="119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7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8" dur="700" decel="100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700" decel="100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2" presetID="42" presetClass="entr" presetSubtype="0" fill="hold" grpId="0" nodeType="withEffect">
                                  <p:stCondLst>
                                    <p:cond delay="145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7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3" dur="700" decel="100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700" decel="100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7" presetID="42" presetClass="entr" presetSubtype="0" fill="hold" grpId="0" nodeType="withEffect">
                                  <p:stCondLst>
                                    <p:cond delay="145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7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8" dur="700" decel="100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700" decel="100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2" presetID="42" presetClass="entr" presetSubtype="0" fill="hold" grpId="0" nodeType="withEffect">
                                  <p:stCondLst>
                                    <p:cond delay="145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7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3" dur="700" decel="100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4" dur="700" decel="100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7" presetID="42" presetClass="entr" presetSubtype="0" fill="hold" grpId="0" nodeType="withEffect">
                                  <p:stCondLst>
                                    <p:cond delay="145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7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8" dur="700" decel="100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9" dur="700" decel="100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2" presetID="42" presetClass="entr" presetSubtype="0" fill="hold" grpId="0" nodeType="withEffect">
                                  <p:stCondLst>
                                    <p:cond delay="145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7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3" dur="700" decel="100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4" dur="700" decel="100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7" presetID="42" presetClass="entr" presetSubtype="0" fill="hold" grpId="0" nodeType="withEffect">
                                  <p:stCondLst>
                                    <p:cond delay="171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6" dur="7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8" dur="70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9" dur="70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16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xmlns:am3d="http://schemas.microsoft.com/office/drawing/2017/model3d" mc:Ignorable="am3d">
  <p:cSld name="Slide 12">
    <p:bg>
      <p:bgPr>
        <a:solidFill>
          <a:srgbClr val="08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ackground" descr="/home/user/omgGame/presentations/cantillon/assets/stage-bg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!!track"/>
          <p:cNvSpPr/>
          <p:nvPr/>
        </p:nvSpPr>
        <p:spPr>
          <a:xfrm>
            <a:off x="685800" y="402336"/>
            <a:ext cx="10820095" cy="91"/>
          </a:xfrm>
          <a:prstGeom prst="line">
            <a:avLst/>
          </a:prstGeom>
          <a:noFill/>
          <a:ln w="9525">
            <a:solidFill>
              <a:srgbClr val="FFFFFF">
                <a:alpha val="16000"/>
              </a:srgbClr>
            </a:solidFill>
            <a:prstDash val="solid"/>
          </a:ln>
        </p:spPr>
      </p:sp>
      <p:sp>
        <p:nvSpPr>
          <p:cNvPr id="4" name="!!progress"/>
          <p:cNvSpPr/>
          <p:nvPr/>
        </p:nvSpPr>
        <p:spPr>
          <a:xfrm>
            <a:off x="685800" y="391363"/>
            <a:ext cx="7438815" cy="21946"/>
          </a:xfrm>
          <a:prstGeom prst="rect">
            <a:avLst/>
          </a:prstGeom>
          <a:solidFill>
            <a:srgbClr val="E2B45E"/>
          </a:solidFill>
          <a:ln/>
        </p:spPr>
      </p: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5" name="!!coin">
                <a:extLst>
                  <a:ext uri="{FF2B5EF4-FFF2-40B4-BE49-F238E27FC236}">
                    <a16:creationId xmlns:a16="http://schemas.microsoft.com/office/drawing/2014/main" id="{F1FFD5E0-2589-B9B2-D25D-C250CE14C2CC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7868583" y="117043"/>
              <a:ext cx="512064" cy="512064"/>
            </p:xfrm>
            <a:graphic>
              <a:graphicData uri="http://schemas.microsoft.com/office/drawing/2017/model3d">
                <am3d:model3d r:embed="rIdM3d44">
                  <am3d:spPr>
                    <a:xfrm>
                      <a:off x="0" y="0"/>
                      <a:ext cx="512064" cy="512064"/>
                    </a:xfrm>
                    <a:prstGeom prst="rect">
                      <a:avLst/>
                    </a:prstGeom>
                  </am3d:spPr>
                  <am3d:camera>
                    <am3d:pos x="0" y="0" z="66612804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500000" d="1000000"/>
                    <am3d:preTrans dx="0" dy="0" dz="-269999"/>
                    <am3d:scale>
                      <am3d:sx n="1000000" d="1000000"/>
                      <am3d:sy n="1000000" d="1000000"/>
                      <am3d:sz n="1000000" d="1000000"/>
                    </am3d:scale>
                    <am3d:rot ax="0" ay="-960000" az="-99000000"/>
                    <am3d:postTrans dx="0" dy="0" dz="0"/>
                  </am3d:trans>
                  <am3d:raster rName="Office3DRenderer" rVer="16.0.8326">
                    <am3d:blip r:embed="rId2"/>
                  </am3d:raster>
                  <am3d:objViewport viewportSz="512064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5" name="!!coin">
                <a:extLst>
                  <a:ext uri="{FF2B5EF4-FFF2-40B4-BE49-F238E27FC236}">
                    <a16:creationId xmlns:a16="http://schemas.microsoft.com/office/drawing/2014/main" id="{F1FFD5E0-2589-B9B2-D25D-C250CE14C2CC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7868583" y="117043"/>
                <a:ext cx="512064" cy="512064"/>
              </a:xfrm>
              <a:prstGeom prst="rect">
                <a:avLst/>
              </a:prstGeom>
            </p:spPr>
          </p:pic>
        </mc:Fallback>
      </mc:AlternateContent>
      <p:sp>
        <p:nvSpPr>
          <p:cNvPr id="6" name="!!kickerbar"/>
          <p:cNvSpPr/>
          <p:nvPr/>
        </p:nvSpPr>
        <p:spPr>
          <a:xfrm>
            <a:off x="685800" y="713232"/>
            <a:ext cx="310896" cy="32004"/>
          </a:xfrm>
          <a:prstGeom prst="rect">
            <a:avLst/>
          </a:prstGeom>
          <a:solidFill>
            <a:srgbClr val="E2B45E"/>
          </a:solidFill>
          <a:ln/>
        </p:spPr>
      </p:sp>
      <p:sp>
        <p:nvSpPr>
          <p:cNvPr id="7" name="!!kicker"/>
          <p:cNvSpPr/>
          <p:nvPr/>
        </p:nvSpPr>
        <p:spPr>
          <a:xfrm>
            <a:off x="1124712" y="5943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spc="300" kern="0" dirty="0">
                <a:solidFill>
                  <a:srgbClr val="E2B4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— ОПЕРЕДИЛ СВОЁ ВРЕМЯ</a:t>
            </a:r>
            <a:endParaRPr lang="en-US" sz="1100" dirty="0"/>
          </a:p>
        </p:txBody>
      </p:sp>
      <p:sp>
        <p:nvSpPr>
          <p:cNvPr id="8" name="!!footline"/>
          <p:cNvSpPr/>
          <p:nvPr/>
        </p:nvSpPr>
        <p:spPr>
          <a:xfrm>
            <a:off x="685800" y="6400800"/>
            <a:ext cx="10820095" cy="91"/>
          </a:xfrm>
          <a:prstGeom prst="line">
            <a:avLst/>
          </a:prstGeom>
          <a:noFill/>
          <a:ln w="9525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9" name="!!footer"/>
          <p:cNvSpPr/>
          <p:nvPr/>
        </p:nvSpPr>
        <p:spPr>
          <a:xfrm>
            <a:off x="685800" y="649224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spc="200" kern="0" dirty="0">
                <a:solidFill>
                  <a:srgbClr val="BBAC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РИЧАРД КАНТИЛЬОН  ·  1680-е – 1734</a:t>
            </a:r>
            <a:endParaRPr lang="en-US" sz="900" dirty="0"/>
          </a:p>
        </p:txBody>
      </p:sp>
      <p:sp>
        <p:nvSpPr>
          <p:cNvPr id="10" name="!!pagenum"/>
          <p:cNvSpPr/>
          <p:nvPr/>
        </p:nvSpPr>
        <p:spPr>
          <a:xfrm>
            <a:off x="10134295" y="649224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900" spc="200" kern="0" dirty="0">
                <a:solidFill>
                  <a:srgbClr val="BBAC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/ 17</a:t>
            </a:r>
            <a:endParaRPr lang="en-US" sz="900" dirty="0"/>
          </a:p>
        </p:txBody>
      </p:sp>
      <p:pic>
        <p:nvPicPr>
          <p:cNvPr id="11" name="!!glow" descr="/home/user/omgGame/presentations/cantillon/assets/glow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21424" y="283464"/>
            <a:ext cx="5833872" cy="5833872"/>
          </a:xfrm>
          <a:prstGeom prst="rect">
            <a:avLst/>
          </a:prstGeom>
        </p:spPr>
      </p:pic>
      <p:sp>
        <p:nvSpPr>
          <p:cNvPr id="12" name="!!ring1"/>
          <p:cNvSpPr/>
          <p:nvPr/>
        </p:nvSpPr>
        <p:spPr>
          <a:xfrm>
            <a:off x="7847381" y="1309421"/>
            <a:ext cx="3781958" cy="3781958"/>
          </a:xfrm>
          <a:prstGeom prst="ellipse">
            <a:avLst/>
          </a:prstGeom>
          <a:ln w="9525">
            <a:solidFill>
              <a:srgbClr val="E2B45E">
                <a:alpha val="18000"/>
              </a:srgbClr>
            </a:solidFill>
            <a:prstDash val="solid"/>
          </a:ln>
        </p:spPr>
      </p:sp>
      <p:sp>
        <p:nvSpPr>
          <p:cNvPr id="13" name="!!ring2"/>
          <p:cNvSpPr/>
          <p:nvPr/>
        </p:nvSpPr>
        <p:spPr>
          <a:xfrm>
            <a:off x="7324344" y="786384"/>
            <a:ext cx="4828032" cy="4828032"/>
          </a:xfrm>
          <a:prstGeom prst="ellipse">
            <a:avLst/>
          </a:prstGeom>
          <a:ln w="9525">
            <a:solidFill>
              <a:srgbClr val="E2B45E">
                <a:alpha val="12000"/>
              </a:srgbClr>
            </a:solidFill>
            <a:prstDash val="dash"/>
          </a:ln>
        </p:spPr>
      </p:sp>
      <p:pic>
        <p:nvPicPr>
          <p:cNvPr id="14" name="!!shadow" descr="/home/user/omgGame/presentations/cantillon/assets/shadow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69250" y="3934663"/>
            <a:ext cx="3138221" cy="784555"/>
          </a:xfrm>
          <a:prstGeom prst="rect">
            <a:avLst/>
          </a:prstGeom>
        </p:spPr>
      </p:pic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15" name="!!m-mouse">
                <a:extLst>
                  <a:ext uri="{FF2B5EF4-FFF2-40B4-BE49-F238E27FC236}">
                    <a16:creationId xmlns:a16="http://schemas.microsoft.com/office/drawing/2014/main" id="{9E78CCA9-E1C0-062C-2D0B-7B71686FBE40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7726680" y="1188720"/>
              <a:ext cx="4023360" cy="4023360"/>
            </p:xfrm>
            <a:graphic>
              <a:graphicData uri="http://schemas.microsoft.com/office/drawing/2017/model3d">
                <am3d:model3d r:embed="rIdM3d45">
                  <am3d:spPr>
                    <a:xfrm>
                      <a:off x="0" y="0"/>
                      <a:ext cx="4023360" cy="4023360"/>
                    </a:xfrm>
                    <a:prstGeom prst="rect">
                      <a:avLst/>
                    </a:prstGeom>
                  </am3d:spPr>
                  <am3d:camera>
                    <am3d:pos x="0" y="0" z="69378641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562403" d="1000000"/>
                    <am3d:preTrans dx="-507729" dy="83675" dz="-2378639"/>
                    <am3d:scale>
                      <am3d:sx n="1000000" d="1000000"/>
                      <am3d:sy n="1000000" d="1000000"/>
                      <am3d:sz n="1000000" d="1000000"/>
                    </am3d:scale>
                    <am3d:rot ax="1080000" ay="-1080000" az="0"/>
                    <am3d:postTrans dx="0" dy="0" dz="0"/>
                  </am3d:trans>
                  <am3d:raster rName="Office3DRenderer" rVer="16.0.8326">
                    <am3d:blip r:embed="rId5"/>
                  </am3d:raster>
                  <am3d:objViewport viewportSz="4023360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15" name="!!m-mouse">
                <a:extLst>
                  <a:ext uri="{FF2B5EF4-FFF2-40B4-BE49-F238E27FC236}">
                    <a16:creationId xmlns:a16="http://schemas.microsoft.com/office/drawing/2014/main" id="{9E78CCA9-E1C0-062C-2D0B-7B71686FBE40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726680" y="1188720"/>
                <a:ext cx="4023360" cy="4023360"/>
              </a:xfrm>
              <a:prstGeom prst="rect">
                <a:avLst/>
              </a:prstGeom>
            </p:spPr>
          </p:pic>
        </mc:Fallback>
      </mc:AlternateContent>
      <p:sp>
        <p:nvSpPr>
          <p:cNvPr id="16" name="fx12_9_0"/>
          <p:cNvSpPr/>
          <p:nvPr/>
        </p:nvSpPr>
        <p:spPr>
          <a:xfrm>
            <a:off x="8092440" y="4930445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00" b="1" spc="250" kern="0" dirty="0">
                <a:solidFill>
                  <a:srgbClr val="E2B4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ЭКСПОНАТ 12</a:t>
            </a:r>
            <a:endParaRPr lang="en-US" sz="9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BBAC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«Как мыши в амбаре»</a:t>
            </a:r>
            <a:endParaRPr lang="en-US" sz="900" dirty="0"/>
          </a:p>
        </p:txBody>
      </p:sp>
      <p:sp>
        <p:nvSpPr>
          <p:cNvPr id="17" name="!!title"/>
          <p:cNvSpPr/>
          <p:nvPr/>
        </p:nvSpPr>
        <p:spPr>
          <a:xfrm>
            <a:off x="685800" y="987552"/>
            <a:ext cx="6995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200" dirty="0">
                <a:solidFill>
                  <a:srgbClr val="F6EFE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Идеи, которые «изобрели» позже</a:t>
            </a:r>
            <a:endParaRPr lang="en-US" sz="3200" dirty="0"/>
          </a:p>
        </p:txBody>
      </p:sp>
      <p:sp>
        <p:nvSpPr>
          <p:cNvPr id="18" name="fx12_1_1"/>
          <p:cNvSpPr/>
          <p:nvPr/>
        </p:nvSpPr>
        <p:spPr>
          <a:xfrm>
            <a:off x="685800" y="1920240"/>
            <a:ext cx="3227832" cy="1097280"/>
          </a:xfrm>
          <a:prstGeom prst="roundRect">
            <a:avLst>
              <a:gd name="adj" fmla="val 6667"/>
            </a:avLst>
          </a:prstGeom>
          <a:solidFill>
            <a:srgbClr val="21130F">
              <a:alpha val="86000"/>
            </a:srgbClr>
          </a:solidFill>
          <a:ln w="9525">
            <a:solidFill>
              <a:srgbClr val="E2B45E">
                <a:alpha val="28000"/>
              </a:srgbClr>
            </a:solidFill>
            <a:prstDash val="solid"/>
          </a:ln>
        </p:spPr>
      </p:sp>
      <p:sp>
        <p:nvSpPr>
          <p:cNvPr id="19" name="fx12_1_2"/>
          <p:cNvSpPr/>
          <p:nvPr/>
        </p:nvSpPr>
        <p:spPr>
          <a:xfrm>
            <a:off x="886968" y="2039112"/>
            <a:ext cx="2907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F6EF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Пространственная экономика</a:t>
            </a:r>
            <a:endParaRPr lang="en-US" sz="1350" dirty="0"/>
          </a:p>
        </p:txBody>
      </p:sp>
      <p:sp>
        <p:nvSpPr>
          <p:cNvPr id="20" name="fx12_1_3"/>
          <p:cNvSpPr/>
          <p:nvPr/>
        </p:nvSpPr>
        <p:spPr>
          <a:xfrm>
            <a:off x="886968" y="2350008"/>
            <a:ext cx="2907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BBAC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Транспорт определяет, где рынки и города</a:t>
            </a:r>
            <a:endParaRPr lang="en-US" sz="1100" dirty="0"/>
          </a:p>
        </p:txBody>
      </p:sp>
      <p:sp>
        <p:nvSpPr>
          <p:cNvPr id="21" name="fx12_1_4"/>
          <p:cNvSpPr/>
          <p:nvPr/>
        </p:nvSpPr>
        <p:spPr>
          <a:xfrm>
            <a:off x="886968" y="2651760"/>
            <a:ext cx="2907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E978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на век раньше фон Тюнена</a:t>
            </a:r>
            <a:endParaRPr lang="en-US" sz="1050" dirty="0"/>
          </a:p>
        </p:txBody>
      </p:sp>
      <p:sp>
        <p:nvSpPr>
          <p:cNvPr id="22" name="fx12_2_5"/>
          <p:cNvSpPr/>
          <p:nvPr/>
        </p:nvSpPr>
        <p:spPr>
          <a:xfrm>
            <a:off x="4050792" y="1920240"/>
            <a:ext cx="3227832" cy="1097280"/>
          </a:xfrm>
          <a:prstGeom prst="roundRect">
            <a:avLst>
              <a:gd name="adj" fmla="val 6667"/>
            </a:avLst>
          </a:prstGeom>
          <a:solidFill>
            <a:srgbClr val="21130F">
              <a:alpha val="86000"/>
            </a:srgbClr>
          </a:solidFill>
          <a:ln w="9525">
            <a:solidFill>
              <a:srgbClr val="E2B45E">
                <a:alpha val="28000"/>
              </a:srgbClr>
            </a:solidFill>
            <a:prstDash val="solid"/>
          </a:ln>
        </p:spPr>
      </p:sp>
      <p:sp>
        <p:nvSpPr>
          <p:cNvPr id="23" name="fx12_2_6"/>
          <p:cNvSpPr/>
          <p:nvPr/>
        </p:nvSpPr>
        <p:spPr>
          <a:xfrm>
            <a:off x="4251960" y="2039112"/>
            <a:ext cx="2907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F6EF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Теория процента</a:t>
            </a:r>
            <a:endParaRPr lang="en-US" sz="1350" dirty="0"/>
          </a:p>
        </p:txBody>
      </p:sp>
      <p:sp>
        <p:nvSpPr>
          <p:cNvPr id="24" name="fx12_2_7"/>
          <p:cNvSpPr/>
          <p:nvPr/>
        </p:nvSpPr>
        <p:spPr>
          <a:xfrm>
            <a:off x="4251960" y="2350008"/>
            <a:ext cx="2907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BBAC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Ставка = спрос и предложение заёмных денег</a:t>
            </a:r>
            <a:endParaRPr lang="en-US" sz="1100" dirty="0"/>
          </a:p>
        </p:txBody>
      </p:sp>
      <p:sp>
        <p:nvSpPr>
          <p:cNvPr id="25" name="fx12_2_8"/>
          <p:cNvSpPr/>
          <p:nvPr/>
        </p:nvSpPr>
        <p:spPr>
          <a:xfrm>
            <a:off x="4251960" y="2651760"/>
            <a:ext cx="2907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E978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раньше Юма</a:t>
            </a:r>
            <a:endParaRPr lang="en-US" sz="1050" dirty="0"/>
          </a:p>
        </p:txBody>
      </p:sp>
      <p:sp>
        <p:nvSpPr>
          <p:cNvPr id="26" name="fx12_3_9"/>
          <p:cNvSpPr/>
          <p:nvPr/>
        </p:nvSpPr>
        <p:spPr>
          <a:xfrm>
            <a:off x="685800" y="3136392"/>
            <a:ext cx="3227832" cy="1097280"/>
          </a:xfrm>
          <a:prstGeom prst="roundRect">
            <a:avLst>
              <a:gd name="adj" fmla="val 6667"/>
            </a:avLst>
          </a:prstGeom>
          <a:solidFill>
            <a:srgbClr val="21130F">
              <a:alpha val="86000"/>
            </a:srgbClr>
          </a:solidFill>
          <a:ln w="9525">
            <a:solidFill>
              <a:srgbClr val="E2B45E">
                <a:alpha val="28000"/>
              </a:srgbClr>
            </a:solidFill>
            <a:prstDash val="solid"/>
          </a:ln>
        </p:spPr>
      </p:sp>
      <p:sp>
        <p:nvSpPr>
          <p:cNvPr id="27" name="fx12_3_10"/>
          <p:cNvSpPr/>
          <p:nvPr/>
        </p:nvSpPr>
        <p:spPr>
          <a:xfrm>
            <a:off x="886968" y="3255264"/>
            <a:ext cx="2907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F6EF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Теория населения</a:t>
            </a:r>
            <a:endParaRPr lang="en-US" sz="1350" dirty="0"/>
          </a:p>
        </p:txBody>
      </p:sp>
      <p:sp>
        <p:nvSpPr>
          <p:cNvPr id="28" name="fx12_3_11"/>
          <p:cNvSpPr/>
          <p:nvPr/>
        </p:nvSpPr>
        <p:spPr>
          <a:xfrm>
            <a:off x="886968" y="3566160"/>
            <a:ext cx="2907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BBAC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Ресурсы, технологии и культура</a:t>
            </a:r>
            <a:endParaRPr lang="en-US" sz="1100" dirty="0"/>
          </a:p>
        </p:txBody>
      </p:sp>
      <p:sp>
        <p:nvSpPr>
          <p:cNvPr id="29" name="fx12_3_12"/>
          <p:cNvSpPr/>
          <p:nvPr/>
        </p:nvSpPr>
        <p:spPr>
          <a:xfrm>
            <a:off x="886968" y="3867912"/>
            <a:ext cx="2907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E978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шире, чем у Мальтуса</a:t>
            </a:r>
            <a:endParaRPr lang="en-US" sz="1050" dirty="0"/>
          </a:p>
        </p:txBody>
      </p:sp>
      <p:sp>
        <p:nvSpPr>
          <p:cNvPr id="30" name="fx12_4_13"/>
          <p:cNvSpPr/>
          <p:nvPr/>
        </p:nvSpPr>
        <p:spPr>
          <a:xfrm>
            <a:off x="4050792" y="3136392"/>
            <a:ext cx="3227832" cy="1097280"/>
          </a:xfrm>
          <a:prstGeom prst="roundRect">
            <a:avLst>
              <a:gd name="adj" fmla="val 6667"/>
            </a:avLst>
          </a:prstGeom>
          <a:solidFill>
            <a:srgbClr val="21130F">
              <a:alpha val="86000"/>
            </a:srgbClr>
          </a:solidFill>
          <a:ln w="9525">
            <a:solidFill>
              <a:srgbClr val="E2B45E">
                <a:alpha val="28000"/>
              </a:srgbClr>
            </a:solidFill>
            <a:prstDash val="solid"/>
          </a:ln>
        </p:spPr>
      </p:sp>
      <p:sp>
        <p:nvSpPr>
          <p:cNvPr id="31" name="fx12_4_14"/>
          <p:cNvSpPr/>
          <p:nvPr/>
        </p:nvSpPr>
        <p:spPr>
          <a:xfrm>
            <a:off x="4251960" y="3255264"/>
            <a:ext cx="2907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F6EF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Кругооборот денег</a:t>
            </a:r>
            <a:endParaRPr lang="en-US" sz="1350" dirty="0"/>
          </a:p>
        </p:txBody>
      </p:sp>
      <p:sp>
        <p:nvSpPr>
          <p:cNvPr id="32" name="fx12_4_15"/>
          <p:cNvSpPr/>
          <p:nvPr/>
        </p:nvSpPr>
        <p:spPr>
          <a:xfrm>
            <a:off x="4251960" y="3566160"/>
            <a:ext cx="2907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BBAC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Метод «при прочих равных»</a:t>
            </a:r>
            <a:endParaRPr lang="en-US" sz="1100" dirty="0"/>
          </a:p>
        </p:txBody>
      </p:sp>
      <p:sp>
        <p:nvSpPr>
          <p:cNvPr id="33" name="fx12_4_16"/>
          <p:cNvSpPr/>
          <p:nvPr/>
        </p:nvSpPr>
        <p:spPr>
          <a:xfrm>
            <a:off x="4251960" y="3867912"/>
            <a:ext cx="2907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E978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предтеча таблицы Кенэ</a:t>
            </a:r>
            <a:endParaRPr lang="en-US" sz="1050" dirty="0"/>
          </a:p>
        </p:txBody>
      </p:sp>
      <p:sp>
        <p:nvSpPr>
          <p:cNvPr id="34" name="fx12_8_17"/>
          <p:cNvSpPr/>
          <p:nvPr/>
        </p:nvSpPr>
        <p:spPr>
          <a:xfrm>
            <a:off x="685800" y="4526280"/>
            <a:ext cx="6592824" cy="1664208"/>
          </a:xfrm>
          <a:prstGeom prst="roundRect">
            <a:avLst>
              <a:gd name="adj" fmla="val 4396"/>
            </a:avLst>
          </a:prstGeom>
          <a:solidFill>
            <a:srgbClr val="26180A">
              <a:alpha val="94000"/>
            </a:srgbClr>
          </a:solidFill>
          <a:ln w="12700">
            <a:solidFill>
              <a:srgbClr val="E2B45E">
                <a:alpha val="55000"/>
              </a:srgbClr>
            </a:solidFill>
            <a:prstDash val="solid"/>
          </a:ln>
          <a:effectLst>
            <a:outerShdw sx="100000" sy="100000" kx="0" ky="0" algn="bl" rotWithShape="0" blurRad="228600" dist="76200" dir="5400000">
              <a:srgbClr val="000000">
                <a:alpha val="45000"/>
              </a:srgbClr>
            </a:outerShdw>
          </a:effectLst>
        </p:spPr>
      </p:sp>
      <p:sp>
        <p:nvSpPr>
          <p:cNvPr id="35" name="fx12_8_18"/>
          <p:cNvSpPr/>
          <p:nvPr/>
        </p:nvSpPr>
        <p:spPr>
          <a:xfrm>
            <a:off x="685800" y="4672584"/>
            <a:ext cx="50292" cy="1371600"/>
          </a:xfrm>
          <a:prstGeom prst="rect">
            <a:avLst/>
          </a:prstGeom>
          <a:solidFill>
            <a:srgbClr val="E2B45E"/>
          </a:solidFill>
          <a:ln/>
        </p:spPr>
      </p:sp>
      <p:sp>
        <p:nvSpPr>
          <p:cNvPr id="36" name="fx12_8_19"/>
          <p:cNvSpPr/>
          <p:nvPr/>
        </p:nvSpPr>
        <p:spPr>
          <a:xfrm>
            <a:off x="941832" y="4389120"/>
            <a:ext cx="2569464" cy="274320"/>
          </a:xfrm>
          <a:prstGeom prst="roundRect">
            <a:avLst>
              <a:gd name="adj" fmla="val 50000"/>
            </a:avLst>
          </a:prstGeom>
          <a:solidFill>
            <a:srgbClr val="E2B45E"/>
          </a:solidFill>
          <a:ln/>
        </p:spPr>
      </p:sp>
      <p:sp>
        <p:nvSpPr>
          <p:cNvPr id="37" name="fx12_8_20"/>
          <p:cNvSpPr/>
          <p:nvPr/>
        </p:nvSpPr>
        <p:spPr>
          <a:xfrm>
            <a:off x="941832" y="4389120"/>
            <a:ext cx="2569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50" b="1" spc="150" kern="0" dirty="0">
                <a:solidFill>
                  <a:srgbClr val="0E08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  САМАЯ ЗНАМЕНИТАЯ ФРАЗА</a:t>
            </a:r>
            <a:endParaRPr lang="en-US" sz="850" dirty="0"/>
          </a:p>
        </p:txBody>
      </p:sp>
      <p:sp>
        <p:nvSpPr>
          <p:cNvPr id="38" name="fx12_8_21"/>
          <p:cNvSpPr/>
          <p:nvPr/>
        </p:nvSpPr>
        <p:spPr>
          <a:xfrm>
            <a:off x="960120" y="4709160"/>
            <a:ext cx="6135624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600" i="1" dirty="0">
                <a:solidFill>
                  <a:srgbClr val="F6EFE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«Люди размножаются, как мыши в амбаре, если у них неограниченные средства к существованию».</a:t>
            </a:r>
            <a:endParaRPr lang="en-US" sz="16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BBAC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Прогноз: в американских колониях население за 3 поколения вырастет сильнее, чем в Англии за 30.</a:t>
            </a:r>
            <a:endParaRPr lang="en-US" sz="1600" dirty="0"/>
          </a:p>
        </p:txBody>
      </p: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39" name="!!m-coins">
                <a:extLst>
                  <a:ext uri="{FF2B5EF4-FFF2-40B4-BE49-F238E27FC236}">
                    <a16:creationId xmlns:a16="http://schemas.microsoft.com/office/drawing/2014/main" id="{4EF7E44B-1E30-037F-91D2-8D52CDFAE702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-4480560" y="1325880"/>
              <a:ext cx="3931920" cy="3931920"/>
            </p:xfrm>
            <a:graphic>
              <a:graphicData uri="http://schemas.microsoft.com/office/drawing/2017/model3d">
                <am3d:model3d r:embed="rIdM3d46">
                  <am3d:spPr>
                    <a:xfrm>
                      <a:off x="0" y="0"/>
                      <a:ext cx="3931920" cy="3931920"/>
                    </a:xfrm>
                    <a:prstGeom prst="rect">
                      <a:avLst/>
                    </a:prstGeom>
                  </am3d:spPr>
                  <am3d:camera>
                    <am3d:pos x="0" y="0" z="62749884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622812" d="1000000"/>
                    <am3d:preTrans dx="-1911238" dy="-6950584" dz="-3080098"/>
                    <am3d:scale>
                      <am3d:sx n="1000000" d="1000000"/>
                      <am3d:sy n="1000000" d="1000000"/>
                      <am3d:sz n="1000000" d="1000000"/>
                    </am3d:scale>
                    <am3d:rot ax="1560000" ay="-6600000" az="0"/>
                    <am3d:postTrans dx="0" dy="0" dz="0"/>
                  </am3d:trans>
                  <am3d:raster rName="Office3DRenderer" rVer="16.0.8326">
                    <am3d:blip r:embed="rId6"/>
                  </am3d:raster>
                  <am3d:objViewport viewportSz="3931920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39" name="!!m-coins">
                <a:extLst>
                  <a:ext uri="{FF2B5EF4-FFF2-40B4-BE49-F238E27FC236}">
                    <a16:creationId xmlns:a16="http://schemas.microsoft.com/office/drawing/2014/main" id="{4EF7E44B-1E30-037F-91D2-8D52CDFAE702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-4480560" y="1325880"/>
                <a:ext cx="3931920" cy="3931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40" name="!!m-candle_out">
                <a:extLst>
                  <a:ext uri="{FF2B5EF4-FFF2-40B4-BE49-F238E27FC236}">
                    <a16:creationId xmlns:a16="http://schemas.microsoft.com/office/drawing/2014/main" id="{9F65B514-18D2-DD80-C16E-3A4A8D2E7154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12740335" y="1645920"/>
              <a:ext cx="3931920" cy="3931920"/>
            </p:xfrm>
            <a:graphic>
              <a:graphicData uri="http://schemas.microsoft.com/office/drawing/2017/model3d">
                <am3d:model3d r:embed="rIdM3d47">
                  <am3d:spPr>
                    <a:xfrm>
                      <a:off x="0" y="0"/>
                      <a:ext cx="3931920" cy="3931920"/>
                    </a:xfrm>
                    <a:prstGeom prst="rect">
                      <a:avLst/>
                    </a:prstGeom>
                  </am3d:spPr>
                  <am3d:camera>
                    <am3d:pos x="0" y="0" z="72156128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738007" d="1000000"/>
                    <am3d:preTrans dx="-2590406" dy="0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480000" ay="3720000" az="0"/>
                    <am3d:postTrans dx="0" dy="0" dz="0"/>
                  </am3d:trans>
                  <am3d:raster rName="Office3DRenderer" rVer="16.0.8326">
                    <am3d:blip r:embed="rId7"/>
                  </am3d:raster>
                  <am3d:objViewport viewportSz="3931920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40" name="!!m-candle_out">
                <a:extLst>
                  <a:ext uri="{FF2B5EF4-FFF2-40B4-BE49-F238E27FC236}">
                    <a16:creationId xmlns:a16="http://schemas.microsoft.com/office/drawing/2014/main" id="{9F65B514-18D2-DD80-C16E-3A4A8D2E7154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2740335" y="1645920"/>
                <a:ext cx="3931920" cy="39319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6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42" presetClass="entr" presetSubtype="0" fill="hold" grpId="0" nodeType="after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7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700" decel="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00" decel="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42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7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700" decel="10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700" decel="10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7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700" decel="10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700" decel="10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7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700" decel="100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700" decel="100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grpId="0" nodeType="withEffect">
                                  <p:stCondLst>
                                    <p:cond delay="41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7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700" decel="100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700" decel="100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41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7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700" decel="100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700" decel="100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grpId="0" nodeType="withEffect">
                                  <p:stCondLst>
                                    <p:cond delay="41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7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700" decel="100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700" decel="100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42" presetClass="entr" presetSubtype="0" fill="hold" grpId="0" nodeType="withEffect">
                                  <p:stCondLst>
                                    <p:cond delay="41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7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700" decel="100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700" decel="100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42" presetClass="entr" presetSubtype="0" fill="hold" grpId="0" nodeType="withEffect">
                                  <p:stCondLst>
                                    <p:cond delay="67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7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700" decel="100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700" decel="100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42" presetClass="entr" presetSubtype="0" fill="hold" grpId="0" nodeType="withEffect">
                                  <p:stCondLst>
                                    <p:cond delay="67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7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700" decel="100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700" decel="100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42" presetClass="entr" presetSubtype="0" fill="hold" grpId="0" nodeType="withEffect">
                                  <p:stCondLst>
                                    <p:cond delay="67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7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700" decel="100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700" decel="100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42" presetClass="entr" presetSubtype="0" fill="hold" grpId="0" nodeType="withEffect">
                                  <p:stCondLst>
                                    <p:cond delay="67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7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700" decel="100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700" decel="100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42" presetClass="entr" presetSubtype="0" fill="hold" grpId="0" nodeType="withEffect">
                                  <p:stCondLst>
                                    <p:cond delay="93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7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700" decel="100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700" decel="100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42" presetClass="entr" presetSubtype="0" fill="hold" grpId="0" nodeType="withEffect">
                                  <p:stCondLst>
                                    <p:cond delay="93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7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3" dur="700" decel="100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700" decel="100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42" presetClass="entr" presetSubtype="0" fill="hold" grpId="0" nodeType="withEffect">
                                  <p:stCondLst>
                                    <p:cond delay="93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7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700" decel="100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700" decel="100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2" presetID="42" presetClass="entr" presetSubtype="0" fill="hold" grpId="0" nodeType="withEffect">
                                  <p:stCondLst>
                                    <p:cond delay="93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7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3" dur="700" decel="100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700" decel="100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7" presetID="42" presetClass="entr" presetSubtype="0" fill="hold" grpId="0" nodeType="withEffect">
                                  <p:stCondLst>
                                    <p:cond delay="119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7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8" dur="700" decel="100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700" decel="100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2" presetID="42" presetClass="entr" presetSubtype="0" fill="hold" grpId="0" nodeType="withEffect">
                                  <p:stCondLst>
                                    <p:cond delay="119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7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3" dur="700" decel="100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700" decel="100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7" presetID="42" presetClass="entr" presetSubtype="0" fill="hold" grpId="0" nodeType="withEffect">
                                  <p:stCondLst>
                                    <p:cond delay="119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7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8" dur="700" decel="100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700" decel="100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2" presetID="42" presetClass="entr" presetSubtype="0" fill="hold" grpId="0" nodeType="withEffect">
                                  <p:stCondLst>
                                    <p:cond delay="119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7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3" dur="700" decel="100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4" dur="700" decel="100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7" presetID="42" presetClass="entr" presetSubtype="0" fill="hold" grpId="0" nodeType="withEffect">
                                  <p:stCondLst>
                                    <p:cond delay="119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7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8" dur="700" decel="100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9" dur="700" decel="100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2" presetID="42" presetClass="entr" presetSubtype="0" fill="hold" grpId="0" nodeType="withEffect">
                                  <p:stCondLst>
                                    <p:cond delay="145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7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3" dur="70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4" dur="70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16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xmlns:am3d="http://schemas.microsoft.com/office/drawing/2017/model3d" mc:Ignorable="am3d">
  <p:cSld name="Slide 13">
    <p:bg>
      <p:bgPr>
        <a:solidFill>
          <a:srgbClr val="08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ackground" descr="/home/user/omgGame/presentations/cantillon/assets/stage-bg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!!track"/>
          <p:cNvSpPr/>
          <p:nvPr/>
        </p:nvSpPr>
        <p:spPr>
          <a:xfrm>
            <a:off x="685800" y="402336"/>
            <a:ext cx="10820095" cy="91"/>
          </a:xfrm>
          <a:prstGeom prst="line">
            <a:avLst/>
          </a:prstGeom>
          <a:noFill/>
          <a:ln w="9525">
            <a:solidFill>
              <a:srgbClr val="FFFFFF">
                <a:alpha val="16000"/>
              </a:srgbClr>
            </a:solidFill>
            <a:prstDash val="solid"/>
          </a:ln>
        </p:spPr>
      </p:sp>
      <p:sp>
        <p:nvSpPr>
          <p:cNvPr id="4" name="!!progress"/>
          <p:cNvSpPr/>
          <p:nvPr/>
        </p:nvSpPr>
        <p:spPr>
          <a:xfrm>
            <a:off x="685800" y="391363"/>
            <a:ext cx="8115071" cy="21946"/>
          </a:xfrm>
          <a:prstGeom prst="rect">
            <a:avLst/>
          </a:prstGeom>
          <a:solidFill>
            <a:srgbClr val="E2B45E"/>
          </a:solidFill>
          <a:ln/>
        </p:spPr>
      </p: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5" name="!!coin">
                <a:extLst>
                  <a:ext uri="{FF2B5EF4-FFF2-40B4-BE49-F238E27FC236}">
                    <a16:creationId xmlns:a16="http://schemas.microsoft.com/office/drawing/2014/main" id="{F9FDCE8E-B503-134F-8B5E-39055B303903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8544839" y="117043"/>
              <a:ext cx="512064" cy="512064"/>
            </p:xfrm>
            <a:graphic>
              <a:graphicData uri="http://schemas.microsoft.com/office/drawing/2017/model3d">
                <am3d:model3d r:embed="rIdM3d48">
                  <am3d:spPr>
                    <a:xfrm>
                      <a:off x="0" y="0"/>
                      <a:ext cx="512064" cy="512064"/>
                    </a:xfrm>
                    <a:prstGeom prst="rect">
                      <a:avLst/>
                    </a:prstGeom>
                  </am3d:spPr>
                  <am3d:camera>
                    <am3d:pos x="0" y="0" z="66612804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500000" d="1000000"/>
                    <am3d:preTrans dx="0" dy="0" dz="-269999"/>
                    <am3d:scale>
                      <am3d:sx n="1000000" d="1000000"/>
                      <am3d:sy n="1000000" d="1000000"/>
                      <am3d:sz n="1000000" d="1000000"/>
                    </am3d:scale>
                    <am3d:rot ax="0" ay="-960000" az="-108000000"/>
                    <am3d:postTrans dx="0" dy="0" dz="0"/>
                  </am3d:trans>
                  <am3d:raster rName="Office3DRenderer" rVer="16.0.8326">
                    <am3d:blip r:embed="rId2"/>
                  </am3d:raster>
                  <am3d:objViewport viewportSz="512064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5" name="!!coin">
                <a:extLst>
                  <a:ext uri="{FF2B5EF4-FFF2-40B4-BE49-F238E27FC236}">
                    <a16:creationId xmlns:a16="http://schemas.microsoft.com/office/drawing/2014/main" id="{F9FDCE8E-B503-134F-8B5E-39055B303903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8544839" y="117043"/>
                <a:ext cx="512064" cy="512064"/>
              </a:xfrm>
              <a:prstGeom prst="rect">
                <a:avLst/>
              </a:prstGeom>
            </p:spPr>
          </p:pic>
        </mc:Fallback>
      </mc:AlternateContent>
      <p:sp>
        <p:nvSpPr>
          <p:cNvPr id="6" name="!!kickerbar"/>
          <p:cNvSpPr/>
          <p:nvPr/>
        </p:nvSpPr>
        <p:spPr>
          <a:xfrm>
            <a:off x="685800" y="713232"/>
            <a:ext cx="310896" cy="32004"/>
          </a:xfrm>
          <a:prstGeom prst="rect">
            <a:avLst/>
          </a:prstGeom>
          <a:solidFill>
            <a:srgbClr val="E2B45E"/>
          </a:solidFill>
          <a:ln/>
        </p:spPr>
      </p:sp>
      <p:sp>
        <p:nvSpPr>
          <p:cNvPr id="7" name="!!kicker"/>
          <p:cNvSpPr/>
          <p:nvPr/>
        </p:nvSpPr>
        <p:spPr>
          <a:xfrm>
            <a:off x="1124712" y="5943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spc="300" kern="0" dirty="0">
                <a:solidFill>
                  <a:srgbClr val="E2B4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— ТАЙНА 1734 ГОДА</a:t>
            </a:r>
            <a:endParaRPr lang="en-US" sz="1100" dirty="0"/>
          </a:p>
        </p:txBody>
      </p:sp>
      <p:sp>
        <p:nvSpPr>
          <p:cNvPr id="8" name="!!footline"/>
          <p:cNvSpPr/>
          <p:nvPr/>
        </p:nvSpPr>
        <p:spPr>
          <a:xfrm>
            <a:off x="685800" y="6400800"/>
            <a:ext cx="10820095" cy="91"/>
          </a:xfrm>
          <a:prstGeom prst="line">
            <a:avLst/>
          </a:prstGeom>
          <a:noFill/>
          <a:ln w="9525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9" name="!!footer"/>
          <p:cNvSpPr/>
          <p:nvPr/>
        </p:nvSpPr>
        <p:spPr>
          <a:xfrm>
            <a:off x="685800" y="649224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spc="200" kern="0" dirty="0">
                <a:solidFill>
                  <a:srgbClr val="BBAC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РИЧАРД КАНТИЛЬОН  ·  1680-е – 1734</a:t>
            </a:r>
            <a:endParaRPr lang="en-US" sz="900" dirty="0"/>
          </a:p>
        </p:txBody>
      </p:sp>
      <p:sp>
        <p:nvSpPr>
          <p:cNvPr id="10" name="!!pagenum"/>
          <p:cNvSpPr/>
          <p:nvPr/>
        </p:nvSpPr>
        <p:spPr>
          <a:xfrm>
            <a:off x="10134295" y="649224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900" spc="200" kern="0" dirty="0">
                <a:solidFill>
                  <a:srgbClr val="BBAC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/ 17</a:t>
            </a:r>
            <a:endParaRPr lang="en-US" sz="900" dirty="0"/>
          </a:p>
        </p:txBody>
      </p:sp>
      <p:pic>
        <p:nvPicPr>
          <p:cNvPr id="11" name="!!glow" descr="/home/user/omgGame/presentations/cantillon/assets/glow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79208" y="886968"/>
            <a:ext cx="4718304" cy="4718304"/>
          </a:xfrm>
          <a:prstGeom prst="rect">
            <a:avLst/>
          </a:prstGeom>
        </p:spPr>
      </p:pic>
      <p:sp>
        <p:nvSpPr>
          <p:cNvPr id="12" name="!!ring1"/>
          <p:cNvSpPr/>
          <p:nvPr/>
        </p:nvSpPr>
        <p:spPr>
          <a:xfrm>
            <a:off x="7890358" y="1398118"/>
            <a:ext cx="3696005" cy="3696005"/>
          </a:xfrm>
          <a:prstGeom prst="ellipse">
            <a:avLst/>
          </a:prstGeom>
          <a:ln w="9525">
            <a:solidFill>
              <a:srgbClr val="E2B45E">
                <a:alpha val="18000"/>
              </a:srgbClr>
            </a:solidFill>
            <a:prstDash val="solid"/>
          </a:ln>
        </p:spPr>
      </p:sp>
      <p:sp>
        <p:nvSpPr>
          <p:cNvPr id="13" name="!!ring2"/>
          <p:cNvSpPr/>
          <p:nvPr/>
        </p:nvSpPr>
        <p:spPr>
          <a:xfrm>
            <a:off x="7379208" y="886968"/>
            <a:ext cx="4718304" cy="4718304"/>
          </a:xfrm>
          <a:prstGeom prst="ellipse">
            <a:avLst/>
          </a:prstGeom>
          <a:ln w="9525">
            <a:solidFill>
              <a:srgbClr val="E2B45E">
                <a:alpha val="12000"/>
              </a:srgbClr>
            </a:solidFill>
            <a:prstDash val="dash"/>
          </a:ln>
        </p:spPr>
      </p:sp>
      <p:pic>
        <p:nvPicPr>
          <p:cNvPr id="14" name="!!shadow" descr="/home/user/omgGame/presentations/cantillon/assets/shadow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58784" y="4288079"/>
            <a:ext cx="2359152" cy="589788"/>
          </a:xfrm>
          <a:prstGeom prst="rect">
            <a:avLst/>
          </a:prstGeom>
        </p:spPr>
      </p:pic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15" name="!!m-candle_out">
                <a:extLst>
                  <a:ext uri="{FF2B5EF4-FFF2-40B4-BE49-F238E27FC236}">
                    <a16:creationId xmlns:a16="http://schemas.microsoft.com/office/drawing/2014/main" id="{ADE608E6-4BFB-4EC4-3FA7-B7A7FAEA83C3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7772400" y="1280160"/>
              <a:ext cx="3931920" cy="3931920"/>
            </p:xfrm>
            <a:graphic>
              <a:graphicData uri="http://schemas.microsoft.com/office/drawing/2017/model3d">
                <am3d:model3d r:embed="rIdM3d49">
                  <am3d:spPr>
                    <a:xfrm>
                      <a:off x="0" y="0"/>
                      <a:ext cx="3931920" cy="3931920"/>
                    </a:xfrm>
                    <a:prstGeom prst="rect">
                      <a:avLst/>
                    </a:prstGeom>
                  </am3d:spPr>
                  <am3d:camera>
                    <am3d:pos x="0" y="0" z="72156128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738007" d="1000000"/>
                    <am3d:preTrans dx="-2590406" dy="0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480000" ay="-1080000" az="0"/>
                    <am3d:postTrans dx="0" dy="0" dz="0"/>
                  </am3d:trans>
                  <am3d:raster rName="Office3DRenderer" rVer="16.0.8326">
                    <am3d:blip r:embed="rId5"/>
                  </am3d:raster>
                  <am3d:objViewport viewportSz="3931920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15" name="!!m-candle_out">
                <a:extLst>
                  <a:ext uri="{FF2B5EF4-FFF2-40B4-BE49-F238E27FC236}">
                    <a16:creationId xmlns:a16="http://schemas.microsoft.com/office/drawing/2014/main" id="{ADE608E6-4BFB-4EC4-3FA7-B7A7FAEA83C3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772400" y="1280160"/>
                <a:ext cx="3931920" cy="3931920"/>
              </a:xfrm>
              <a:prstGeom prst="rect">
                <a:avLst/>
              </a:prstGeom>
            </p:spPr>
          </p:pic>
        </mc:Fallback>
      </mc:AlternateContent>
      <p:sp>
        <p:nvSpPr>
          <p:cNvPr id="16" name="fx13_9_0"/>
          <p:cNvSpPr/>
          <p:nvPr/>
        </p:nvSpPr>
        <p:spPr>
          <a:xfrm>
            <a:off x="8092440" y="4936846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00" b="1" spc="250" kern="0" dirty="0">
                <a:solidFill>
                  <a:srgbClr val="E2B4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ЭКСПОНАТ 13</a:t>
            </a:r>
            <a:endParaRPr lang="en-US" sz="9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BBAC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 же свеча — догоревшая</a:t>
            </a:r>
            <a:endParaRPr lang="en-US" sz="900" dirty="0"/>
          </a:p>
        </p:txBody>
      </p:sp>
      <p:sp>
        <p:nvSpPr>
          <p:cNvPr id="17" name="!!title"/>
          <p:cNvSpPr/>
          <p:nvPr/>
        </p:nvSpPr>
        <p:spPr>
          <a:xfrm>
            <a:off x="685800" y="987552"/>
            <a:ext cx="685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600" dirty="0">
                <a:solidFill>
                  <a:srgbClr val="F6EFE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Ночь на Олбемарл-стрит</a:t>
            </a:r>
            <a:endParaRPr lang="en-US" sz="3600" dirty="0"/>
          </a:p>
        </p:txBody>
      </p:sp>
      <p:sp>
        <p:nvSpPr>
          <p:cNvPr id="18" name="fx13_1_1"/>
          <p:cNvSpPr/>
          <p:nvPr/>
        </p:nvSpPr>
        <p:spPr>
          <a:xfrm>
            <a:off x="685800" y="1920240"/>
            <a:ext cx="73152" cy="530352"/>
          </a:xfrm>
          <a:prstGeom prst="rect">
            <a:avLst/>
          </a:prstGeom>
          <a:solidFill>
            <a:srgbClr val="E2B45E"/>
          </a:solidFill>
          <a:ln/>
        </p:spPr>
      </p:sp>
      <p:sp>
        <p:nvSpPr>
          <p:cNvPr id="19" name="fx13_1_2"/>
          <p:cNvSpPr/>
          <p:nvPr/>
        </p:nvSpPr>
        <p:spPr>
          <a:xfrm>
            <a:off x="960120" y="1874520"/>
            <a:ext cx="5943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E2B4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 мая 1734   </a:t>
            </a:r>
            <a:pPr algn="l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6EF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Вечер</a:t>
            </a:r>
            <a:endParaRPr lang="en-US" sz="1250" dirty="0"/>
          </a:p>
        </p:txBody>
      </p:sp>
      <p:sp>
        <p:nvSpPr>
          <p:cNvPr id="20" name="fx13_1_3"/>
          <p:cNvSpPr/>
          <p:nvPr/>
        </p:nvSpPr>
        <p:spPr>
          <a:xfrm>
            <a:off x="960120" y="2176272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BBAC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Кантильон уходит к себе с книгой и свечой</a:t>
            </a:r>
            <a:endParaRPr lang="en-US" sz="1150" dirty="0"/>
          </a:p>
        </p:txBody>
      </p:sp>
      <p:sp>
        <p:nvSpPr>
          <p:cNvPr id="21" name="fx13_2_4"/>
          <p:cNvSpPr/>
          <p:nvPr/>
        </p:nvSpPr>
        <p:spPr>
          <a:xfrm>
            <a:off x="685800" y="2633472"/>
            <a:ext cx="73152" cy="530352"/>
          </a:xfrm>
          <a:prstGeom prst="rect">
            <a:avLst/>
          </a:prstGeom>
          <a:solidFill>
            <a:srgbClr val="E9784A"/>
          </a:solidFill>
          <a:ln/>
        </p:spPr>
      </p:sp>
      <p:sp>
        <p:nvSpPr>
          <p:cNvPr id="22" name="fx13_2_5"/>
          <p:cNvSpPr/>
          <p:nvPr/>
        </p:nvSpPr>
        <p:spPr>
          <a:xfrm>
            <a:off x="960120" y="2587752"/>
            <a:ext cx="5943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E978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Ночь   </a:t>
            </a:r>
            <a:pPr algn="l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6EF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Пожар</a:t>
            </a:r>
            <a:endParaRPr lang="en-US" sz="1250" dirty="0"/>
          </a:p>
        </p:txBody>
      </p:sp>
      <p:sp>
        <p:nvSpPr>
          <p:cNvPr id="23" name="fx13_2_6"/>
          <p:cNvSpPr/>
          <p:nvPr/>
        </p:nvSpPr>
        <p:spPr>
          <a:xfrm>
            <a:off x="960120" y="2889504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BBAC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Лондонский дом сгорает дотла</a:t>
            </a:r>
            <a:endParaRPr lang="en-US" sz="1150" dirty="0"/>
          </a:p>
        </p:txBody>
      </p:sp>
      <p:sp>
        <p:nvSpPr>
          <p:cNvPr id="24" name="fx13_3_7"/>
          <p:cNvSpPr/>
          <p:nvPr/>
        </p:nvSpPr>
        <p:spPr>
          <a:xfrm>
            <a:off x="685800" y="3346704"/>
            <a:ext cx="73152" cy="530352"/>
          </a:xfrm>
          <a:prstGeom prst="rect">
            <a:avLst/>
          </a:prstGeom>
          <a:solidFill>
            <a:srgbClr val="E2B45E"/>
          </a:solidFill>
          <a:ln/>
        </p:spPr>
      </p:sp>
      <p:sp>
        <p:nvSpPr>
          <p:cNvPr id="25" name="fx13_3_8"/>
          <p:cNvSpPr/>
          <p:nvPr/>
        </p:nvSpPr>
        <p:spPr>
          <a:xfrm>
            <a:off x="960120" y="3300984"/>
            <a:ext cx="5943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E2B4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Утро   </a:t>
            </a:r>
            <a:pPr algn="l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6EF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Находка</a:t>
            </a:r>
            <a:endParaRPr lang="en-US" sz="1250" dirty="0"/>
          </a:p>
        </p:txBody>
      </p:sp>
      <p:sp>
        <p:nvSpPr>
          <p:cNvPr id="26" name="fx13_3_9"/>
          <p:cNvSpPr/>
          <p:nvPr/>
        </p:nvSpPr>
        <p:spPr>
          <a:xfrm>
            <a:off x="960120" y="3602736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BBAC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постели — обгоревшее тело</a:t>
            </a:r>
            <a:endParaRPr lang="en-US" sz="1150" dirty="0"/>
          </a:p>
        </p:txBody>
      </p:sp>
      <p:sp>
        <p:nvSpPr>
          <p:cNvPr id="27" name="fx13_4_10"/>
          <p:cNvSpPr/>
          <p:nvPr/>
        </p:nvSpPr>
        <p:spPr>
          <a:xfrm>
            <a:off x="685800" y="4059936"/>
            <a:ext cx="73152" cy="530352"/>
          </a:xfrm>
          <a:prstGeom prst="rect">
            <a:avLst/>
          </a:prstGeom>
          <a:solidFill>
            <a:srgbClr val="E2B45E"/>
          </a:solidFill>
          <a:ln/>
        </p:spPr>
      </p:sp>
      <p:sp>
        <p:nvSpPr>
          <p:cNvPr id="28" name="fx13_4_11"/>
          <p:cNvSpPr/>
          <p:nvPr/>
        </p:nvSpPr>
        <p:spPr>
          <a:xfrm>
            <a:off x="960120" y="4014216"/>
            <a:ext cx="5943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E2B4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Следствие   </a:t>
            </a:r>
            <a:pPr algn="l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6EF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Суд</a:t>
            </a:r>
            <a:endParaRPr lang="en-US" sz="1250" dirty="0"/>
          </a:p>
        </p:txBody>
      </p:sp>
      <p:sp>
        <p:nvSpPr>
          <p:cNvPr id="29" name="fx13_4_12"/>
          <p:cNvSpPr/>
          <p:nvPr/>
        </p:nvSpPr>
        <p:spPr>
          <a:xfrm>
            <a:off x="960120" y="4315968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BBAC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Троих слуг судят в Олд-Бейли; повар скрылся</a:t>
            </a:r>
            <a:endParaRPr lang="en-US" sz="1150" dirty="0"/>
          </a:p>
        </p:txBody>
      </p:sp>
      <p:sp>
        <p:nvSpPr>
          <p:cNvPr id="30" name="fx13_8_13"/>
          <p:cNvSpPr/>
          <p:nvPr/>
        </p:nvSpPr>
        <p:spPr>
          <a:xfrm>
            <a:off x="685800" y="4937760"/>
            <a:ext cx="6629400" cy="1252728"/>
          </a:xfrm>
          <a:prstGeom prst="roundRect">
            <a:avLst>
              <a:gd name="adj" fmla="val 5839"/>
            </a:avLst>
          </a:prstGeom>
          <a:solidFill>
            <a:srgbClr val="26180A">
              <a:alpha val="94000"/>
            </a:srgbClr>
          </a:solidFill>
          <a:ln w="12700">
            <a:solidFill>
              <a:srgbClr val="E2B45E">
                <a:alpha val="55000"/>
              </a:srgbClr>
            </a:solidFill>
            <a:prstDash val="solid"/>
          </a:ln>
          <a:effectLst>
            <a:outerShdw sx="100000" sy="100000" kx="0" ky="0" algn="bl" rotWithShape="0" blurRad="228600" dist="76200" dir="5400000">
              <a:srgbClr val="000000">
                <a:alpha val="45000"/>
              </a:srgbClr>
            </a:outerShdw>
          </a:effectLst>
        </p:spPr>
      </p:sp>
      <p:sp>
        <p:nvSpPr>
          <p:cNvPr id="31" name="fx13_8_14"/>
          <p:cNvSpPr/>
          <p:nvPr/>
        </p:nvSpPr>
        <p:spPr>
          <a:xfrm>
            <a:off x="685800" y="5084064"/>
            <a:ext cx="50292" cy="960120"/>
          </a:xfrm>
          <a:prstGeom prst="rect">
            <a:avLst/>
          </a:prstGeom>
          <a:solidFill>
            <a:srgbClr val="E2B45E"/>
          </a:solidFill>
          <a:ln/>
        </p:spPr>
      </p:sp>
      <p:sp>
        <p:nvSpPr>
          <p:cNvPr id="32" name="fx13_8_15"/>
          <p:cNvSpPr/>
          <p:nvPr/>
        </p:nvSpPr>
        <p:spPr>
          <a:xfrm>
            <a:off x="941832" y="4800600"/>
            <a:ext cx="1801368" cy="274320"/>
          </a:xfrm>
          <a:prstGeom prst="roundRect">
            <a:avLst>
              <a:gd name="adj" fmla="val 50000"/>
            </a:avLst>
          </a:prstGeom>
          <a:solidFill>
            <a:srgbClr val="E2B45E"/>
          </a:solidFill>
          <a:ln/>
        </p:spPr>
      </p:sp>
      <p:sp>
        <p:nvSpPr>
          <p:cNvPr id="33" name="fx13_8_16"/>
          <p:cNvSpPr/>
          <p:nvPr/>
        </p:nvSpPr>
        <p:spPr>
          <a:xfrm>
            <a:off x="941832" y="4800600"/>
            <a:ext cx="1801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50" b="1" spc="150" kern="0" dirty="0">
                <a:solidFill>
                  <a:srgbClr val="0E08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  ГЛАВНАЯ ВЕРСИЯ</a:t>
            </a:r>
            <a:endParaRPr lang="en-US" sz="850" dirty="0"/>
          </a:p>
        </p:txBody>
      </p:sp>
      <p:sp>
        <p:nvSpPr>
          <p:cNvPr id="34" name="fx13_8_17"/>
          <p:cNvSpPr/>
          <p:nvPr/>
        </p:nvSpPr>
        <p:spPr>
          <a:xfrm>
            <a:off x="960120" y="5120640"/>
            <a:ext cx="6172200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400" i="1" dirty="0">
                <a:solidFill>
                  <a:srgbClr val="F6EFE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Главная версия — убийство: повар </a:t>
            </a:r>
            <a:pPr algn="l" indent="0" marL="0">
              <a:lnSpc>
                <a:spcPct val="105000"/>
              </a:lnSpc>
              <a:buNone/>
            </a:pPr>
            <a:r>
              <a:rPr lang="en-US" sz="1400" b="1" i="1" dirty="0">
                <a:solidFill>
                  <a:srgbClr val="F6EFE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Жозеф Денье</a:t>
            </a:r>
            <a:pPr algn="l" indent="0" marL="0">
              <a:lnSpc>
                <a:spcPct val="105000"/>
              </a:lnSpc>
              <a:buNone/>
            </a:pPr>
            <a:r>
              <a:rPr lang="en-US" sz="1400" i="1" dirty="0">
                <a:solidFill>
                  <a:srgbClr val="F6EFE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, уволенный за несколько дней до пожара, мог убить хозяина и </a:t>
            </a:r>
            <a:pPr algn="l" indent="0" marL="0">
              <a:lnSpc>
                <a:spcPct val="105000"/>
              </a:lnSpc>
              <a:buNone/>
            </a:pPr>
            <a:r>
              <a:rPr lang="en-US" sz="1400" b="1" i="1" dirty="0">
                <a:solidFill>
                  <a:srgbClr val="F6EFE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поджечь дом, чтобы скрыть следы.</a:t>
            </a:r>
            <a:endParaRPr lang="en-US" sz="1400" dirty="0"/>
          </a:p>
        </p:txBody>
      </p: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35" name="!!m-mouse">
                <a:extLst>
                  <a:ext uri="{FF2B5EF4-FFF2-40B4-BE49-F238E27FC236}">
                    <a16:creationId xmlns:a16="http://schemas.microsoft.com/office/drawing/2014/main" id="{45FE9C1D-2AE1-4BF9-4159-258BF1A05AA3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-4572000" y="1554480"/>
              <a:ext cx="4023360" cy="4023360"/>
            </p:xfrm>
            <a:graphic>
              <a:graphicData uri="http://schemas.microsoft.com/office/drawing/2017/model3d">
                <am3d:model3d r:embed="rIdM3d50">
                  <am3d:spPr>
                    <a:xfrm>
                      <a:off x="0" y="0"/>
                      <a:ext cx="4023360" cy="4023360"/>
                    </a:xfrm>
                    <a:prstGeom prst="rect">
                      <a:avLst/>
                    </a:prstGeom>
                  </am3d:spPr>
                  <am3d:camera>
                    <am3d:pos x="0" y="0" z="69378641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562403" d="1000000"/>
                    <am3d:preTrans dx="-507729" dy="83675" dz="-2378639"/>
                    <am3d:scale>
                      <am3d:sx n="1000000" d="1000000"/>
                      <am3d:sy n="1000000" d="1000000"/>
                      <am3d:sz n="1000000" d="1000000"/>
                    </am3d:scale>
                    <am3d:rot ax="1080000" ay="-5880000" az="0"/>
                    <am3d:postTrans dx="0" dy="0" dz="0"/>
                  </am3d:trans>
                  <am3d:raster rName="Office3DRenderer" rVer="16.0.8326">
                    <am3d:blip r:embed="rId6"/>
                  </am3d:raster>
                  <am3d:objViewport viewportSz="4023360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35" name="!!m-mouse">
                <a:extLst>
                  <a:ext uri="{FF2B5EF4-FFF2-40B4-BE49-F238E27FC236}">
                    <a16:creationId xmlns:a16="http://schemas.microsoft.com/office/drawing/2014/main" id="{45FE9C1D-2AE1-4BF9-4159-258BF1A05AA3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-4572000" y="1554480"/>
                <a:ext cx="4023360" cy="4023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36" name="!!m-ship">
                <a:extLst>
                  <a:ext uri="{FF2B5EF4-FFF2-40B4-BE49-F238E27FC236}">
                    <a16:creationId xmlns:a16="http://schemas.microsoft.com/office/drawing/2014/main" id="{4761AE8D-6418-4B7D-0DB5-A581A331FBAE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12740335" y="1143000"/>
              <a:ext cx="4389120" cy="4389120"/>
            </p:xfrm>
            <a:graphic>
              <a:graphicData uri="http://schemas.microsoft.com/office/drawing/2017/model3d">
                <am3d:model3d r:embed="rIdM3d51">
                  <am3d:spPr>
                    <a:xfrm>
                      <a:off x="0" y="0"/>
                      <a:ext cx="4389120" cy="4389120"/>
                    </a:xfrm>
                    <a:prstGeom prst="rect">
                      <a:avLst/>
                    </a:prstGeom>
                  </am3d:spPr>
                  <am3d:camera>
                    <am3d:pos x="0" y="0" z="67855099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420019" d="1000000"/>
                    <am3d:preTrans dx="-2637500" dy="0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360000" ay="3120000" az="0"/>
                    <am3d:postTrans dx="0" dy="0" dz="0"/>
                  </am3d:trans>
                  <am3d:raster rName="Office3DRenderer" rVer="16.0.8326">
                    <am3d:blip r:embed="rId7"/>
                  </am3d:raster>
                  <am3d:objViewport viewportSz="4389120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36" name="!!m-ship">
                <a:extLst>
                  <a:ext uri="{FF2B5EF4-FFF2-40B4-BE49-F238E27FC236}">
                    <a16:creationId xmlns:a16="http://schemas.microsoft.com/office/drawing/2014/main" id="{4761AE8D-6418-4B7D-0DB5-A581A331FBAE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2740335" y="1143000"/>
                <a:ext cx="4389120" cy="43891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6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42" presetClass="entr" presetSubtype="0" fill="hold" grpId="0" nodeType="after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7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700" decel="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00" decel="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42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7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700" decel="10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700" decel="10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7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700" decel="10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700" decel="10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41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7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700" decel="100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700" decel="100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grpId="0" nodeType="withEffect">
                                  <p:stCondLst>
                                    <p:cond delay="41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7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700" decel="100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700" decel="100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41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7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700" decel="100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700" decel="100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grpId="0" nodeType="withEffect">
                                  <p:stCondLst>
                                    <p:cond delay="67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7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700" decel="100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700" decel="100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42" presetClass="entr" presetSubtype="0" fill="hold" grpId="0" nodeType="withEffect">
                                  <p:stCondLst>
                                    <p:cond delay="67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7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700" decel="100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700" decel="100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42" presetClass="entr" presetSubtype="0" fill="hold" grpId="0" nodeType="withEffect">
                                  <p:stCondLst>
                                    <p:cond delay="67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7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700" decel="100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700" decel="100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42" presetClass="entr" presetSubtype="0" fill="hold" grpId="0" nodeType="withEffect">
                                  <p:stCondLst>
                                    <p:cond delay="93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7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700" decel="100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700" decel="100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42" presetClass="entr" presetSubtype="0" fill="hold" grpId="0" nodeType="withEffect">
                                  <p:stCondLst>
                                    <p:cond delay="93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7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700" decel="100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700" decel="100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42" presetClass="entr" presetSubtype="0" fill="hold" grpId="0" nodeType="withEffect">
                                  <p:stCondLst>
                                    <p:cond delay="93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7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700" decel="100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700" decel="100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42" presetClass="entr" presetSubtype="0" fill="hold" grpId="0" nodeType="withEffect">
                                  <p:stCondLst>
                                    <p:cond delay="119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7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700" decel="100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700" decel="100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42" presetClass="entr" presetSubtype="0" fill="hold" grpId="0" nodeType="withEffect">
                                  <p:stCondLst>
                                    <p:cond delay="119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7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3" dur="700" decel="100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700" decel="100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42" presetClass="entr" presetSubtype="0" fill="hold" grpId="0" nodeType="withEffect">
                                  <p:stCondLst>
                                    <p:cond delay="119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7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700" decel="100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700" decel="100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2" presetID="42" presetClass="entr" presetSubtype="0" fill="hold" grpId="0" nodeType="withEffect">
                                  <p:stCondLst>
                                    <p:cond delay="119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7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3" dur="700" decel="100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700" decel="100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7" presetID="42" presetClass="entr" presetSubtype="0" fill="hold" grpId="0" nodeType="withEffect">
                                  <p:stCondLst>
                                    <p:cond delay="119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7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8" dur="700" decel="100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700" decel="100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2" presetID="42" presetClass="entr" presetSubtype="0" fill="hold" grpId="0" nodeType="withEffect">
                                  <p:stCondLst>
                                    <p:cond delay="145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7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3" dur="70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70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16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xmlns:am3d="http://schemas.microsoft.com/office/drawing/2017/model3d" mc:Ignorable="am3d">
  <p:cSld name="Slide 14">
    <p:bg>
      <p:bgPr>
        <a:solidFill>
          <a:srgbClr val="08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ackground" descr="/home/user/omgGame/presentations/cantillon/assets/stage-bg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!!track"/>
          <p:cNvSpPr/>
          <p:nvPr/>
        </p:nvSpPr>
        <p:spPr>
          <a:xfrm>
            <a:off x="685800" y="402336"/>
            <a:ext cx="10820095" cy="91"/>
          </a:xfrm>
          <a:prstGeom prst="line">
            <a:avLst/>
          </a:prstGeom>
          <a:noFill/>
          <a:ln w="9525">
            <a:solidFill>
              <a:srgbClr val="FFFFFF">
                <a:alpha val="16000"/>
              </a:srgbClr>
            </a:solidFill>
            <a:prstDash val="solid"/>
          </a:ln>
        </p:spPr>
      </p:sp>
      <p:sp>
        <p:nvSpPr>
          <p:cNvPr id="4" name="!!progress"/>
          <p:cNvSpPr/>
          <p:nvPr/>
        </p:nvSpPr>
        <p:spPr>
          <a:xfrm>
            <a:off x="685800" y="391363"/>
            <a:ext cx="8791327" cy="21946"/>
          </a:xfrm>
          <a:prstGeom prst="rect">
            <a:avLst/>
          </a:prstGeom>
          <a:solidFill>
            <a:srgbClr val="E2B45E"/>
          </a:solidFill>
          <a:ln/>
        </p:spPr>
      </p: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5" name="!!coin">
                <a:extLst>
                  <a:ext uri="{FF2B5EF4-FFF2-40B4-BE49-F238E27FC236}">
                    <a16:creationId xmlns:a16="http://schemas.microsoft.com/office/drawing/2014/main" id="{E489371D-3E06-9DF7-FE71-7DD4746760F4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9221095" y="117043"/>
              <a:ext cx="512064" cy="512064"/>
            </p:xfrm>
            <a:graphic>
              <a:graphicData uri="http://schemas.microsoft.com/office/drawing/2017/model3d">
                <am3d:model3d r:embed="rIdM3d52">
                  <am3d:spPr>
                    <a:xfrm>
                      <a:off x="0" y="0"/>
                      <a:ext cx="512064" cy="512064"/>
                    </a:xfrm>
                    <a:prstGeom prst="rect">
                      <a:avLst/>
                    </a:prstGeom>
                  </am3d:spPr>
                  <am3d:camera>
                    <am3d:pos x="0" y="0" z="66612804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500000" d="1000000"/>
                    <am3d:preTrans dx="0" dy="0" dz="-269999"/>
                    <am3d:scale>
                      <am3d:sx n="1000000" d="1000000"/>
                      <am3d:sy n="1000000" d="1000000"/>
                      <am3d:sz n="1000000" d="1000000"/>
                    </am3d:scale>
                    <am3d:rot ax="0" ay="-960000" az="-117000000"/>
                    <am3d:postTrans dx="0" dy="0" dz="0"/>
                  </am3d:trans>
                  <am3d:raster rName="Office3DRenderer" rVer="16.0.8326">
                    <am3d:blip r:embed="rId2"/>
                  </am3d:raster>
                  <am3d:objViewport viewportSz="512064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5" name="!!coin">
                <a:extLst>
                  <a:ext uri="{FF2B5EF4-FFF2-40B4-BE49-F238E27FC236}">
                    <a16:creationId xmlns:a16="http://schemas.microsoft.com/office/drawing/2014/main" id="{E489371D-3E06-9DF7-FE71-7DD4746760F4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9221095" y="117043"/>
                <a:ext cx="512064" cy="512064"/>
              </a:xfrm>
              <a:prstGeom prst="rect">
                <a:avLst/>
              </a:prstGeom>
            </p:spPr>
          </p:pic>
        </mc:Fallback>
      </mc:AlternateContent>
      <p:sp>
        <p:nvSpPr>
          <p:cNvPr id="6" name="!!kickerbar"/>
          <p:cNvSpPr/>
          <p:nvPr/>
        </p:nvSpPr>
        <p:spPr>
          <a:xfrm>
            <a:off x="685800" y="713232"/>
            <a:ext cx="310896" cy="32004"/>
          </a:xfrm>
          <a:prstGeom prst="rect">
            <a:avLst/>
          </a:prstGeom>
          <a:solidFill>
            <a:srgbClr val="E2B45E"/>
          </a:solidFill>
          <a:ln/>
        </p:spPr>
      </p:sp>
      <p:sp>
        <p:nvSpPr>
          <p:cNvPr id="7" name="!!kicker"/>
          <p:cNvSpPr/>
          <p:nvPr/>
        </p:nvSpPr>
        <p:spPr>
          <a:xfrm>
            <a:off x="1124712" y="5943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spc="300" kern="0" dirty="0">
                <a:solidFill>
                  <a:srgbClr val="E2B4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— СУРИНАМ: ВТОРАЯ ВЕРСИЯ</a:t>
            </a:r>
            <a:endParaRPr lang="en-US" sz="1100" dirty="0"/>
          </a:p>
        </p:txBody>
      </p:sp>
      <p:sp>
        <p:nvSpPr>
          <p:cNvPr id="8" name="!!footline"/>
          <p:cNvSpPr/>
          <p:nvPr/>
        </p:nvSpPr>
        <p:spPr>
          <a:xfrm>
            <a:off x="685800" y="6400800"/>
            <a:ext cx="10820095" cy="91"/>
          </a:xfrm>
          <a:prstGeom prst="line">
            <a:avLst/>
          </a:prstGeom>
          <a:noFill/>
          <a:ln w="9525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9" name="!!footer"/>
          <p:cNvSpPr/>
          <p:nvPr/>
        </p:nvSpPr>
        <p:spPr>
          <a:xfrm>
            <a:off x="685800" y="649224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spc="200" kern="0" dirty="0">
                <a:solidFill>
                  <a:srgbClr val="BBAC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РИЧАРД КАНТИЛЬОН  ·  1680-е – 1734</a:t>
            </a:r>
            <a:endParaRPr lang="en-US" sz="900" dirty="0"/>
          </a:p>
        </p:txBody>
      </p:sp>
      <p:sp>
        <p:nvSpPr>
          <p:cNvPr id="10" name="!!pagenum"/>
          <p:cNvSpPr/>
          <p:nvPr/>
        </p:nvSpPr>
        <p:spPr>
          <a:xfrm>
            <a:off x="10134295" y="649224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900" spc="200" kern="0" dirty="0">
                <a:solidFill>
                  <a:srgbClr val="BBAC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 / 17</a:t>
            </a:r>
            <a:endParaRPr lang="en-US" sz="900" dirty="0"/>
          </a:p>
        </p:txBody>
      </p:sp>
      <p:pic>
        <p:nvPicPr>
          <p:cNvPr id="11" name="!!glow" descr="/home/user/omgGame/presentations/cantillon/assets/glow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0528" y="-210312"/>
            <a:ext cx="6364224" cy="6364224"/>
          </a:xfrm>
          <a:prstGeom prst="rect">
            <a:avLst/>
          </a:prstGeom>
        </p:spPr>
      </p:pic>
      <p:sp>
        <p:nvSpPr>
          <p:cNvPr id="12" name="!!ring1"/>
          <p:cNvSpPr/>
          <p:nvPr/>
        </p:nvSpPr>
        <p:spPr>
          <a:xfrm>
            <a:off x="7629754" y="908914"/>
            <a:ext cx="4125773" cy="4125773"/>
          </a:xfrm>
          <a:prstGeom prst="ellipse">
            <a:avLst/>
          </a:prstGeom>
          <a:ln w="9525">
            <a:solidFill>
              <a:srgbClr val="E2B45E">
                <a:alpha val="18000"/>
              </a:srgbClr>
            </a:solidFill>
            <a:prstDash val="solid"/>
          </a:ln>
        </p:spPr>
      </p:sp>
      <p:sp>
        <p:nvSpPr>
          <p:cNvPr id="13" name="!!ring2"/>
          <p:cNvSpPr/>
          <p:nvPr/>
        </p:nvSpPr>
        <p:spPr>
          <a:xfrm>
            <a:off x="7059168" y="338328"/>
            <a:ext cx="5266944" cy="5266944"/>
          </a:xfrm>
          <a:prstGeom prst="ellipse">
            <a:avLst/>
          </a:prstGeom>
          <a:ln w="9525">
            <a:solidFill>
              <a:srgbClr val="E2B45E">
                <a:alpha val="12000"/>
              </a:srgbClr>
            </a:solidFill>
            <a:prstDash val="dash"/>
          </a:ln>
        </p:spPr>
      </p:sp>
      <p:pic>
        <p:nvPicPr>
          <p:cNvPr id="14" name="!!shadow" descr="/home/user/omgGame/presentations/cantillon/assets/shadow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6448" y="4080053"/>
            <a:ext cx="3072384" cy="768096"/>
          </a:xfrm>
          <a:prstGeom prst="rect">
            <a:avLst/>
          </a:prstGeom>
        </p:spPr>
      </p:pic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15" name="!!m-ship">
                <a:extLst>
                  <a:ext uri="{FF2B5EF4-FFF2-40B4-BE49-F238E27FC236}">
                    <a16:creationId xmlns:a16="http://schemas.microsoft.com/office/drawing/2014/main" id="{52F8D9AA-FBAC-3232-54E8-ABD3DC543F4F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7498080" y="777240"/>
              <a:ext cx="4389120" cy="4389120"/>
            </p:xfrm>
            <a:graphic>
              <a:graphicData uri="http://schemas.microsoft.com/office/drawing/2017/model3d">
                <am3d:model3d r:embed="rIdM3d53">
                  <am3d:spPr>
                    <a:xfrm>
                      <a:off x="0" y="0"/>
                      <a:ext cx="4389120" cy="4389120"/>
                    </a:xfrm>
                    <a:prstGeom prst="rect">
                      <a:avLst/>
                    </a:prstGeom>
                  </am3d:spPr>
                  <am3d:camera>
                    <am3d:pos x="0" y="0" z="67855099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420019" d="1000000"/>
                    <am3d:preTrans dx="-2637500" dy="0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360000" ay="-1680000" az="0"/>
                    <am3d:postTrans dx="0" dy="0" dz="0"/>
                  </am3d:trans>
                  <am3d:raster rName="Office3DRenderer" rVer="16.0.8326">
                    <am3d:blip r:embed="rId5"/>
                  </am3d:raster>
                  <am3d:objViewport viewportSz="4389120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15" name="!!m-ship">
                <a:extLst>
                  <a:ext uri="{FF2B5EF4-FFF2-40B4-BE49-F238E27FC236}">
                    <a16:creationId xmlns:a16="http://schemas.microsoft.com/office/drawing/2014/main" id="{52F8D9AA-FBAC-3232-54E8-ABD3DC543F4F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498080" y="777240"/>
                <a:ext cx="4389120" cy="4389120"/>
              </a:xfrm>
              <a:prstGeom prst="rect">
                <a:avLst/>
              </a:prstGeom>
            </p:spPr>
          </p:pic>
        </mc:Fallback>
      </mc:AlternateContent>
      <p:sp>
        <p:nvSpPr>
          <p:cNvPr id="16" name="fx14_9_0"/>
          <p:cNvSpPr/>
          <p:nvPr/>
        </p:nvSpPr>
        <p:spPr>
          <a:xfrm>
            <a:off x="8046720" y="4859122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00" b="1" spc="250" kern="0" dirty="0">
                <a:solidFill>
                  <a:srgbClr val="E2B4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ЭКСПОНАТ 14</a:t>
            </a:r>
            <a:endParaRPr lang="en-US" sz="9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BBAC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Парусник в Суринам</a:t>
            </a:r>
            <a:endParaRPr lang="en-US" sz="900" dirty="0"/>
          </a:p>
        </p:txBody>
      </p:sp>
      <p:sp>
        <p:nvSpPr>
          <p:cNvPr id="17" name="!!title"/>
          <p:cNvSpPr/>
          <p:nvPr/>
        </p:nvSpPr>
        <p:spPr>
          <a:xfrm>
            <a:off x="685800" y="987552"/>
            <a:ext cx="685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600" dirty="0">
                <a:solidFill>
                  <a:srgbClr val="F6EFE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А был ли он в той постели?</a:t>
            </a:r>
            <a:endParaRPr lang="en-US" sz="3600" dirty="0"/>
          </a:p>
        </p:txBody>
      </p:sp>
      <p:sp>
        <p:nvSpPr>
          <p:cNvPr id="18" name="fx14_1_1"/>
          <p:cNvSpPr/>
          <p:nvPr/>
        </p:nvSpPr>
        <p:spPr>
          <a:xfrm>
            <a:off x="685800" y="1737360"/>
            <a:ext cx="6583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i="1" dirty="0">
                <a:solidFill>
                  <a:srgbClr val="F4DFB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Через год в голландском Суринаме объявился человек с бумагами Кантильона.</a:t>
            </a:r>
            <a:endParaRPr lang="en-US" sz="1600" dirty="0"/>
          </a:p>
        </p:txBody>
      </p:sp>
      <p:sp>
        <p:nvSpPr>
          <p:cNvPr id="19" name="fx14_2_2"/>
          <p:cNvSpPr/>
          <p:nvPr/>
        </p:nvSpPr>
        <p:spPr>
          <a:xfrm>
            <a:off x="685800" y="2468880"/>
            <a:ext cx="3227832" cy="1691640"/>
          </a:xfrm>
          <a:prstGeom prst="roundRect">
            <a:avLst>
              <a:gd name="adj" fmla="val 4324"/>
            </a:avLst>
          </a:prstGeom>
          <a:solidFill>
            <a:srgbClr val="21130F">
              <a:alpha val="90000"/>
            </a:srgbClr>
          </a:solidFill>
          <a:ln w="9525">
            <a:solidFill>
              <a:srgbClr val="E2B45E">
                <a:alpha val="55000"/>
              </a:srgbClr>
            </a:solidFill>
            <a:prstDash val="solid"/>
          </a:ln>
        </p:spPr>
      </p:sp>
      <p:sp>
        <p:nvSpPr>
          <p:cNvPr id="20" name="fx14_2_3"/>
          <p:cNvSpPr/>
          <p:nvPr/>
        </p:nvSpPr>
        <p:spPr>
          <a:xfrm>
            <a:off x="886968" y="2615184"/>
            <a:ext cx="29535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b="1" spc="200" kern="0" dirty="0">
                <a:solidFill>
                  <a:srgbClr val="E2B4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ВЕРСИЯ 1</a:t>
            </a:r>
            <a:endParaRPr lang="en-US" sz="950" dirty="0"/>
          </a:p>
        </p:txBody>
      </p:sp>
      <p:sp>
        <p:nvSpPr>
          <p:cNvPr id="21" name="fx14_2_4"/>
          <p:cNvSpPr/>
          <p:nvPr/>
        </p:nvSpPr>
        <p:spPr>
          <a:xfrm>
            <a:off x="886968" y="2880360"/>
            <a:ext cx="29077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900" dirty="0">
                <a:solidFill>
                  <a:srgbClr val="F6EFE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Беглый повар</a:t>
            </a:r>
            <a:endParaRPr lang="en-US" sz="1900" dirty="0"/>
          </a:p>
        </p:txBody>
      </p:sp>
      <p:sp>
        <p:nvSpPr>
          <p:cNvPr id="22" name="fx14_2_5"/>
          <p:cNvSpPr/>
          <p:nvPr/>
        </p:nvSpPr>
        <p:spPr>
          <a:xfrm>
            <a:off x="886968" y="3310128"/>
            <a:ext cx="29077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BBAC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Денье бежал за океан, прихватив документы хозяина.</a:t>
            </a:r>
            <a:endParaRPr lang="en-US" sz="1150" dirty="0"/>
          </a:p>
        </p:txBody>
      </p:sp>
      <p:sp>
        <p:nvSpPr>
          <p:cNvPr id="23" name="fx14_3_6"/>
          <p:cNvSpPr/>
          <p:nvPr/>
        </p:nvSpPr>
        <p:spPr>
          <a:xfrm>
            <a:off x="4050792" y="2468880"/>
            <a:ext cx="3227832" cy="1691640"/>
          </a:xfrm>
          <a:prstGeom prst="roundRect">
            <a:avLst>
              <a:gd name="adj" fmla="val 4324"/>
            </a:avLst>
          </a:prstGeom>
          <a:solidFill>
            <a:srgbClr val="21130F">
              <a:alpha val="90000"/>
            </a:srgbClr>
          </a:solidFill>
          <a:ln w="9525">
            <a:solidFill>
              <a:srgbClr val="E9784A">
                <a:alpha val="55000"/>
              </a:srgbClr>
            </a:solidFill>
            <a:prstDash val="solid"/>
          </a:ln>
        </p:spPr>
      </p:sp>
      <p:sp>
        <p:nvSpPr>
          <p:cNvPr id="24" name="fx14_3_7"/>
          <p:cNvSpPr/>
          <p:nvPr/>
        </p:nvSpPr>
        <p:spPr>
          <a:xfrm>
            <a:off x="4251960" y="2615184"/>
            <a:ext cx="29535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b="1" spc="200" kern="0" dirty="0">
                <a:solidFill>
                  <a:srgbClr val="E978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ВЕРСИЯ 2 · А. МЁРФИ</a:t>
            </a:r>
            <a:endParaRPr lang="en-US" sz="950" dirty="0"/>
          </a:p>
        </p:txBody>
      </p:sp>
      <p:sp>
        <p:nvSpPr>
          <p:cNvPr id="25" name="fx14_3_8"/>
          <p:cNvSpPr/>
          <p:nvPr/>
        </p:nvSpPr>
        <p:spPr>
          <a:xfrm>
            <a:off x="4251960" y="2880360"/>
            <a:ext cx="29077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900" dirty="0">
                <a:solidFill>
                  <a:srgbClr val="F6EFE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Инсценировка</a:t>
            </a:r>
            <a:endParaRPr lang="en-US" sz="1900" dirty="0"/>
          </a:p>
        </p:txBody>
      </p:sp>
      <p:sp>
        <p:nvSpPr>
          <p:cNvPr id="26" name="fx14_3_9"/>
          <p:cNvSpPr/>
          <p:nvPr/>
        </p:nvSpPr>
        <p:spPr>
          <a:xfrm>
            <a:off x="4251960" y="3310128"/>
            <a:ext cx="29077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BBAC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Кантильон сам «умер», чтобы уйти от судов, и жил как шевалье де Лувиньи.</a:t>
            </a:r>
            <a:endParaRPr lang="en-US" sz="1150" dirty="0"/>
          </a:p>
        </p:txBody>
      </p:sp>
      <p:sp>
        <p:nvSpPr>
          <p:cNvPr id="27" name="fx14_4_10"/>
          <p:cNvSpPr/>
          <p:nvPr/>
        </p:nvSpPr>
        <p:spPr>
          <a:xfrm>
            <a:off x="685800" y="4315968"/>
            <a:ext cx="6675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BBAC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Странные детали: споры об опознании тела и крупная сумма, которую забрали накануне пожара.</a:t>
            </a:r>
            <a:endParaRPr lang="en-US" sz="1150" dirty="0"/>
          </a:p>
        </p:txBody>
      </p:sp>
      <p:sp>
        <p:nvSpPr>
          <p:cNvPr id="28" name="fx14_8_11"/>
          <p:cNvSpPr/>
          <p:nvPr/>
        </p:nvSpPr>
        <p:spPr>
          <a:xfrm>
            <a:off x="685800" y="5120640"/>
            <a:ext cx="6592824" cy="1069848"/>
          </a:xfrm>
          <a:prstGeom prst="roundRect">
            <a:avLst>
              <a:gd name="adj" fmla="val 6838"/>
            </a:avLst>
          </a:prstGeom>
          <a:solidFill>
            <a:srgbClr val="26180A">
              <a:alpha val="94000"/>
            </a:srgbClr>
          </a:solidFill>
          <a:ln w="12700">
            <a:solidFill>
              <a:srgbClr val="E2B45E">
                <a:alpha val="55000"/>
              </a:srgbClr>
            </a:solidFill>
            <a:prstDash val="solid"/>
          </a:ln>
          <a:effectLst>
            <a:outerShdw sx="100000" sy="100000" kx="0" ky="0" algn="bl" rotWithShape="0" blurRad="228600" dist="76200" dir="5400000">
              <a:srgbClr val="000000">
                <a:alpha val="45000"/>
              </a:srgbClr>
            </a:outerShdw>
          </a:effectLst>
        </p:spPr>
      </p:sp>
      <p:sp>
        <p:nvSpPr>
          <p:cNvPr id="29" name="fx14_8_12"/>
          <p:cNvSpPr/>
          <p:nvPr/>
        </p:nvSpPr>
        <p:spPr>
          <a:xfrm>
            <a:off x="685800" y="5266944"/>
            <a:ext cx="50292" cy="777240"/>
          </a:xfrm>
          <a:prstGeom prst="rect">
            <a:avLst/>
          </a:prstGeom>
          <a:solidFill>
            <a:srgbClr val="E2B45E"/>
          </a:solidFill>
          <a:ln/>
        </p:spPr>
      </p:sp>
      <p:sp>
        <p:nvSpPr>
          <p:cNvPr id="30" name="fx14_8_13"/>
          <p:cNvSpPr/>
          <p:nvPr/>
        </p:nvSpPr>
        <p:spPr>
          <a:xfrm>
            <a:off x="941832" y="4983480"/>
            <a:ext cx="1897380" cy="274320"/>
          </a:xfrm>
          <a:prstGeom prst="roundRect">
            <a:avLst>
              <a:gd name="adj" fmla="val 50000"/>
            </a:avLst>
          </a:prstGeom>
          <a:solidFill>
            <a:srgbClr val="E2B45E"/>
          </a:solidFill>
          <a:ln/>
        </p:spPr>
      </p:sp>
      <p:sp>
        <p:nvSpPr>
          <p:cNvPr id="31" name="fx14_8_14"/>
          <p:cNvSpPr/>
          <p:nvPr/>
        </p:nvSpPr>
        <p:spPr>
          <a:xfrm>
            <a:off x="941832" y="4983480"/>
            <a:ext cx="18973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50" b="1" spc="150" kern="0" dirty="0">
                <a:solidFill>
                  <a:srgbClr val="0E08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  ГЛАВНАЯ ЗАГАДКА</a:t>
            </a:r>
            <a:endParaRPr lang="en-US" sz="850" dirty="0"/>
          </a:p>
        </p:txBody>
      </p:sp>
      <p:sp>
        <p:nvSpPr>
          <p:cNvPr id="32" name="fx14_8_15"/>
          <p:cNvSpPr/>
          <p:nvPr/>
        </p:nvSpPr>
        <p:spPr>
          <a:xfrm>
            <a:off x="960120" y="5303520"/>
            <a:ext cx="6135624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50" i="1" dirty="0">
                <a:solidFill>
                  <a:srgbClr val="F6EFE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Если Мёрфи прав, первый теоретик предпринимателя провернул </a:t>
            </a:r>
            <a:pPr algn="l" indent="0" marL="0">
              <a:lnSpc>
                <a:spcPct val="105000"/>
              </a:lnSpc>
              <a:buNone/>
            </a:pPr>
            <a:r>
              <a:rPr lang="en-US" sz="1350" b="1" i="1" dirty="0">
                <a:solidFill>
                  <a:srgbClr val="F6EFE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свою последнюю и самую рискованную сделку</a:t>
            </a:r>
            <a:pPr algn="l" indent="0" marL="0">
              <a:lnSpc>
                <a:spcPct val="105000"/>
              </a:lnSpc>
              <a:buNone/>
            </a:pPr>
            <a:r>
              <a:rPr lang="en-US" sz="1350" i="1" dirty="0">
                <a:solidFill>
                  <a:srgbClr val="F6EFE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— инсценировал собственную смерть.</a:t>
            </a:r>
            <a:endParaRPr lang="en-US" sz="1350" dirty="0"/>
          </a:p>
        </p:txBody>
      </p: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33" name="!!m-candle_out">
                <a:extLst>
                  <a:ext uri="{FF2B5EF4-FFF2-40B4-BE49-F238E27FC236}">
                    <a16:creationId xmlns:a16="http://schemas.microsoft.com/office/drawing/2014/main" id="{769B86B9-8B35-DC2D-C53E-A62E85BA7BDE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-4480560" y="1645920"/>
              <a:ext cx="3931920" cy="3931920"/>
            </p:xfrm>
            <a:graphic>
              <a:graphicData uri="http://schemas.microsoft.com/office/drawing/2017/model3d">
                <am3d:model3d r:embed="rIdM3d54">
                  <am3d:spPr>
                    <a:xfrm>
                      <a:off x="0" y="0"/>
                      <a:ext cx="3931920" cy="3931920"/>
                    </a:xfrm>
                    <a:prstGeom prst="rect">
                      <a:avLst/>
                    </a:prstGeom>
                  </am3d:spPr>
                  <am3d:camera>
                    <am3d:pos x="0" y="0" z="72156128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738007" d="1000000"/>
                    <am3d:preTrans dx="-2590406" dy="0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480000" ay="-5880000" az="0"/>
                    <am3d:postTrans dx="0" dy="0" dz="0"/>
                  </am3d:trans>
                  <am3d:raster rName="Office3DRenderer" rVer="16.0.8326">
                    <am3d:blip r:embed="rId6"/>
                  </am3d:raster>
                  <am3d:objViewport viewportSz="3931920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33" name="!!m-candle_out">
                <a:extLst>
                  <a:ext uri="{FF2B5EF4-FFF2-40B4-BE49-F238E27FC236}">
                    <a16:creationId xmlns:a16="http://schemas.microsoft.com/office/drawing/2014/main" id="{769B86B9-8B35-DC2D-C53E-A62E85BA7BDE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-4480560" y="1645920"/>
                <a:ext cx="3931920" cy="3931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34" name="!!m-cradle_wood">
                <a:extLst>
                  <a:ext uri="{FF2B5EF4-FFF2-40B4-BE49-F238E27FC236}">
                    <a16:creationId xmlns:a16="http://schemas.microsoft.com/office/drawing/2014/main" id="{B7954E7E-B61B-5599-3E1E-D9E6C9DBA7B0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12740335" y="1371600"/>
              <a:ext cx="4389120" cy="4389120"/>
            </p:xfrm>
            <a:graphic>
              <a:graphicData uri="http://schemas.microsoft.com/office/drawing/2017/model3d">
                <am3d:model3d r:embed="rIdM3d55">
                  <am3d:spPr>
                    <a:xfrm>
                      <a:off x="0" y="0"/>
                      <a:ext cx="4389120" cy="4389120"/>
                    </a:xfrm>
                    <a:prstGeom prst="rect">
                      <a:avLst/>
                    </a:prstGeom>
                  </am3d:spPr>
                  <am3d:camera>
                    <am3d:pos x="0" y="0" z="60727546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581395" d="1000000"/>
                    <am3d:preTrans dx="0" dy="0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1080000" ay="3240000" az="0"/>
                    <am3d:postTrans dx="0" dy="0" dz="0"/>
                  </am3d:trans>
                  <am3d:raster rName="Office3DRenderer" rVer="16.0.8326">
                    <am3d:blip r:embed="rId7"/>
                  </am3d:raster>
                  <am3d:objViewport viewportSz="4389120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34" name="!!m-cradle_wood">
                <a:extLst>
                  <a:ext uri="{FF2B5EF4-FFF2-40B4-BE49-F238E27FC236}">
                    <a16:creationId xmlns:a16="http://schemas.microsoft.com/office/drawing/2014/main" id="{B7954E7E-B61B-5599-3E1E-D9E6C9DBA7B0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2740335" y="1371600"/>
                <a:ext cx="4389120" cy="43891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6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42" presetClass="entr" presetSubtype="0" fill="hold" grpId="0" nodeType="after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7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700" decel="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00" decel="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42" presetClass="entr" presetSubtype="0" fill="hold" grpId="0" nodeType="withEffect">
                                  <p:stCondLst>
                                    <p:cond delay="41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7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700" decel="10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700" decel="10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grpId="0" nodeType="withEffect">
                                  <p:stCondLst>
                                    <p:cond delay="41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7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700" decel="10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700" decel="10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41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7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700" decel="100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700" decel="100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grpId="0" nodeType="withEffect">
                                  <p:stCondLst>
                                    <p:cond delay="41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7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700" decel="100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700" decel="100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67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7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700" decel="100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700" decel="100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grpId="0" nodeType="withEffect">
                                  <p:stCondLst>
                                    <p:cond delay="67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7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700" decel="100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700" decel="100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42" presetClass="entr" presetSubtype="0" fill="hold" grpId="0" nodeType="withEffect">
                                  <p:stCondLst>
                                    <p:cond delay="67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7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700" decel="100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700" decel="100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42" presetClass="entr" presetSubtype="0" fill="hold" grpId="0" nodeType="withEffect">
                                  <p:stCondLst>
                                    <p:cond delay="67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7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700" decel="100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700" decel="100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42" presetClass="entr" presetSubtype="0" fill="hold" grpId="0" nodeType="withEffect">
                                  <p:stCondLst>
                                    <p:cond delay="93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7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700" decel="100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700" decel="100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42" presetClass="entr" presetSubtype="0" fill="hold" grpId="0" nodeType="withEffect">
                                  <p:stCondLst>
                                    <p:cond delay="119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7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700" decel="100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700" decel="100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42" presetClass="entr" presetSubtype="0" fill="hold" grpId="0" nodeType="withEffect">
                                  <p:stCondLst>
                                    <p:cond delay="119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7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700" decel="100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700" decel="100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42" presetClass="entr" presetSubtype="0" fill="hold" grpId="0" nodeType="withEffect">
                                  <p:stCondLst>
                                    <p:cond delay="119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7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700" decel="100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700" decel="100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42" presetClass="entr" presetSubtype="0" fill="hold" grpId="0" nodeType="withEffect">
                                  <p:stCondLst>
                                    <p:cond delay="119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7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3" dur="700" decel="100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700" decel="100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42" presetClass="entr" presetSubtype="0" fill="hold" grpId="0" nodeType="withEffect">
                                  <p:stCondLst>
                                    <p:cond delay="119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7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700" decel="100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700" decel="100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2" presetID="42" presetClass="entr" presetSubtype="0" fill="hold" grpId="0" nodeType="withEffect">
                                  <p:stCondLst>
                                    <p:cond delay="145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7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3" dur="70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70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16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xmlns:am3d="http://schemas.microsoft.com/office/drawing/2017/model3d" mc:Ignorable="am3d">
  <p:cSld name="Slide 15">
    <p:bg>
      <p:bgPr>
        <a:solidFill>
          <a:srgbClr val="08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ackground" descr="/home/user/omgGame/presentations/cantillon/assets/stage-bg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!!track"/>
          <p:cNvSpPr/>
          <p:nvPr/>
        </p:nvSpPr>
        <p:spPr>
          <a:xfrm>
            <a:off x="685800" y="402336"/>
            <a:ext cx="10820095" cy="91"/>
          </a:xfrm>
          <a:prstGeom prst="line">
            <a:avLst/>
          </a:prstGeom>
          <a:noFill/>
          <a:ln w="9525">
            <a:solidFill>
              <a:srgbClr val="FFFFFF">
                <a:alpha val="16000"/>
              </a:srgbClr>
            </a:solidFill>
            <a:prstDash val="solid"/>
          </a:ln>
        </p:spPr>
      </p:sp>
      <p:sp>
        <p:nvSpPr>
          <p:cNvPr id="4" name="!!progress"/>
          <p:cNvSpPr/>
          <p:nvPr/>
        </p:nvSpPr>
        <p:spPr>
          <a:xfrm>
            <a:off x="685800" y="391363"/>
            <a:ext cx="9467583" cy="21946"/>
          </a:xfrm>
          <a:prstGeom prst="rect">
            <a:avLst/>
          </a:prstGeom>
          <a:solidFill>
            <a:srgbClr val="E2B45E"/>
          </a:solidFill>
          <a:ln/>
        </p:spPr>
      </p: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5" name="!!coin">
                <a:extLst>
                  <a:ext uri="{FF2B5EF4-FFF2-40B4-BE49-F238E27FC236}">
                    <a16:creationId xmlns:a16="http://schemas.microsoft.com/office/drawing/2014/main" id="{CB74C61A-BA55-D308-355C-987FAB4E1A3A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9897351" y="117043"/>
              <a:ext cx="512064" cy="512064"/>
            </p:xfrm>
            <a:graphic>
              <a:graphicData uri="http://schemas.microsoft.com/office/drawing/2017/model3d">
                <am3d:model3d r:embed="rIdM3d56">
                  <am3d:spPr>
                    <a:xfrm>
                      <a:off x="0" y="0"/>
                      <a:ext cx="512064" cy="512064"/>
                    </a:xfrm>
                    <a:prstGeom prst="rect">
                      <a:avLst/>
                    </a:prstGeom>
                  </am3d:spPr>
                  <am3d:camera>
                    <am3d:pos x="0" y="0" z="66612804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500000" d="1000000"/>
                    <am3d:preTrans dx="0" dy="0" dz="-269999"/>
                    <am3d:scale>
                      <am3d:sx n="1000000" d="1000000"/>
                      <am3d:sy n="1000000" d="1000000"/>
                      <am3d:sz n="1000000" d="1000000"/>
                    </am3d:scale>
                    <am3d:rot ax="0" ay="-960000" az="-126000000"/>
                    <am3d:postTrans dx="0" dy="0" dz="0"/>
                  </am3d:trans>
                  <am3d:raster rName="Office3DRenderer" rVer="16.0.8326">
                    <am3d:blip r:embed="rId2"/>
                  </am3d:raster>
                  <am3d:objViewport viewportSz="512064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5" name="!!coin">
                <a:extLst>
                  <a:ext uri="{FF2B5EF4-FFF2-40B4-BE49-F238E27FC236}">
                    <a16:creationId xmlns:a16="http://schemas.microsoft.com/office/drawing/2014/main" id="{CB74C61A-BA55-D308-355C-987FAB4E1A3A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9897351" y="117043"/>
                <a:ext cx="512064" cy="512064"/>
              </a:xfrm>
              <a:prstGeom prst="rect">
                <a:avLst/>
              </a:prstGeom>
            </p:spPr>
          </p:pic>
        </mc:Fallback>
      </mc:AlternateContent>
      <p:sp>
        <p:nvSpPr>
          <p:cNvPr id="6" name="!!kickerbar"/>
          <p:cNvSpPr/>
          <p:nvPr/>
        </p:nvSpPr>
        <p:spPr>
          <a:xfrm>
            <a:off x="685800" y="713232"/>
            <a:ext cx="310896" cy="32004"/>
          </a:xfrm>
          <a:prstGeom prst="rect">
            <a:avLst/>
          </a:prstGeom>
          <a:solidFill>
            <a:srgbClr val="E2B45E"/>
          </a:solidFill>
          <a:ln/>
        </p:spPr>
      </p:sp>
      <p:sp>
        <p:nvSpPr>
          <p:cNvPr id="7" name="!!kicker"/>
          <p:cNvSpPr/>
          <p:nvPr/>
        </p:nvSpPr>
        <p:spPr>
          <a:xfrm>
            <a:off x="1124712" y="5943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spc="300" kern="0" dirty="0">
                <a:solidFill>
                  <a:srgbClr val="E2B4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 — ЧТО ОН ДАЛ ПРЕДПРИНИМАТЕЛЬСТВУ</a:t>
            </a:r>
            <a:endParaRPr lang="en-US" sz="1100" dirty="0"/>
          </a:p>
        </p:txBody>
      </p:sp>
      <p:sp>
        <p:nvSpPr>
          <p:cNvPr id="8" name="!!footline"/>
          <p:cNvSpPr/>
          <p:nvPr/>
        </p:nvSpPr>
        <p:spPr>
          <a:xfrm>
            <a:off x="685800" y="6400800"/>
            <a:ext cx="10820095" cy="91"/>
          </a:xfrm>
          <a:prstGeom prst="line">
            <a:avLst/>
          </a:prstGeom>
          <a:noFill/>
          <a:ln w="9525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9" name="!!footer"/>
          <p:cNvSpPr/>
          <p:nvPr/>
        </p:nvSpPr>
        <p:spPr>
          <a:xfrm>
            <a:off x="685800" y="649224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spc="200" kern="0" dirty="0">
                <a:solidFill>
                  <a:srgbClr val="BBAC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РИЧАРД КАНТИЛЬОН  ·  1680-е – 1734</a:t>
            </a:r>
            <a:endParaRPr lang="en-US" sz="900" dirty="0"/>
          </a:p>
        </p:txBody>
      </p:sp>
      <p:sp>
        <p:nvSpPr>
          <p:cNvPr id="10" name="!!pagenum"/>
          <p:cNvSpPr/>
          <p:nvPr/>
        </p:nvSpPr>
        <p:spPr>
          <a:xfrm>
            <a:off x="10134295" y="649224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900" spc="200" kern="0" dirty="0">
                <a:solidFill>
                  <a:srgbClr val="BBAC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/ 17</a:t>
            </a:r>
            <a:endParaRPr lang="en-US" sz="900" dirty="0"/>
          </a:p>
        </p:txBody>
      </p:sp>
      <p:pic>
        <p:nvPicPr>
          <p:cNvPr id="11" name="!!glow" descr="/home/user/omgGame/presentations/cantillon/assets/glow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64808" y="18288"/>
            <a:ext cx="6364224" cy="6364224"/>
          </a:xfrm>
          <a:prstGeom prst="rect">
            <a:avLst/>
          </a:prstGeom>
        </p:spPr>
      </p:pic>
      <p:sp>
        <p:nvSpPr>
          <p:cNvPr id="12" name="!!ring1"/>
          <p:cNvSpPr/>
          <p:nvPr/>
        </p:nvSpPr>
        <p:spPr>
          <a:xfrm>
            <a:off x="7584034" y="1137514"/>
            <a:ext cx="4125773" cy="4125773"/>
          </a:xfrm>
          <a:prstGeom prst="ellipse">
            <a:avLst/>
          </a:prstGeom>
          <a:ln w="9525">
            <a:solidFill>
              <a:srgbClr val="E2B45E">
                <a:alpha val="18000"/>
              </a:srgbClr>
            </a:solidFill>
            <a:prstDash val="solid"/>
          </a:ln>
        </p:spPr>
      </p:sp>
      <p:sp>
        <p:nvSpPr>
          <p:cNvPr id="13" name="!!ring2"/>
          <p:cNvSpPr/>
          <p:nvPr/>
        </p:nvSpPr>
        <p:spPr>
          <a:xfrm>
            <a:off x="7013448" y="566928"/>
            <a:ext cx="5266944" cy="5266944"/>
          </a:xfrm>
          <a:prstGeom prst="ellipse">
            <a:avLst/>
          </a:prstGeom>
          <a:ln w="9525">
            <a:solidFill>
              <a:srgbClr val="E2B45E">
                <a:alpha val="12000"/>
              </a:srgbClr>
            </a:solidFill>
            <a:prstDash val="dash"/>
          </a:ln>
        </p:spPr>
      </p:sp>
      <p:pic>
        <p:nvPicPr>
          <p:cNvPr id="14" name="!!shadow" descr="/home/user/omgGame/presentations/cantillon/assets/shadow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35163" y="4089197"/>
            <a:ext cx="3423514" cy="855878"/>
          </a:xfrm>
          <a:prstGeom prst="rect">
            <a:avLst/>
          </a:prstGeom>
        </p:spPr>
      </p:pic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15" name="!!m-cradle_wood">
                <a:extLst>
                  <a:ext uri="{FF2B5EF4-FFF2-40B4-BE49-F238E27FC236}">
                    <a16:creationId xmlns:a16="http://schemas.microsoft.com/office/drawing/2014/main" id="{E6823189-F228-ED1A-6782-172028D945B2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7452360" y="1005840"/>
              <a:ext cx="4389120" cy="4389120"/>
            </p:xfrm>
            <a:graphic>
              <a:graphicData uri="http://schemas.microsoft.com/office/drawing/2017/model3d">
                <am3d:model3d r:embed="rIdM3d57">
                  <am3d:spPr>
                    <a:xfrm>
                      <a:off x="0" y="0"/>
                      <a:ext cx="4389120" cy="4389120"/>
                    </a:xfrm>
                    <a:prstGeom prst="rect">
                      <a:avLst/>
                    </a:prstGeom>
                  </am3d:spPr>
                  <am3d:camera>
                    <am3d:pos x="0" y="0" z="60727546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581395" d="1000000"/>
                    <am3d:preTrans dx="0" dy="0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1080000" ay="-1560000" az="0"/>
                    <am3d:postTrans dx="0" dy="0" dz="0"/>
                  </am3d:trans>
                  <am3d:raster rName="Office3DRenderer" rVer="16.0.8326">
                    <am3d:blip r:embed="rId5"/>
                  </am3d:raster>
                  <am3d:objViewport viewportSz="4389120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15" name="!!m-cradle_wood">
                <a:extLst>
                  <a:ext uri="{FF2B5EF4-FFF2-40B4-BE49-F238E27FC236}">
                    <a16:creationId xmlns:a16="http://schemas.microsoft.com/office/drawing/2014/main" id="{E6823189-F228-ED1A-6782-172028D945B2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452360" y="1005840"/>
                <a:ext cx="4389120" cy="4389120"/>
              </a:xfrm>
              <a:prstGeom prst="rect">
                <a:avLst/>
              </a:prstGeom>
            </p:spPr>
          </p:pic>
        </mc:Fallback>
      </mc:AlternateContent>
      <p:sp>
        <p:nvSpPr>
          <p:cNvPr id="16" name="fx15_9_0"/>
          <p:cNvSpPr/>
          <p:nvPr/>
        </p:nvSpPr>
        <p:spPr>
          <a:xfrm>
            <a:off x="8001000" y="5087722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00" b="1" spc="250" kern="0" dirty="0">
                <a:solidFill>
                  <a:srgbClr val="E2B4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ЭКСПОНАТ 15</a:t>
            </a:r>
            <a:endParaRPr lang="en-US" sz="9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BBAC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«Колыбель политической экономии»</a:t>
            </a:r>
            <a:endParaRPr lang="en-US" sz="900" dirty="0"/>
          </a:p>
        </p:txBody>
      </p:sp>
      <p:sp>
        <p:nvSpPr>
          <p:cNvPr id="17" name="!!title"/>
          <p:cNvSpPr/>
          <p:nvPr/>
        </p:nvSpPr>
        <p:spPr>
          <a:xfrm>
            <a:off x="685800" y="987552"/>
            <a:ext cx="6309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600" dirty="0">
                <a:solidFill>
                  <a:srgbClr val="F6EFE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Что Кантильон дал предпринимательству</a:t>
            </a:r>
            <a:endParaRPr lang="en-US" sz="3600" dirty="0"/>
          </a:p>
        </p:txBody>
      </p:sp>
      <p:sp>
        <p:nvSpPr>
          <p:cNvPr id="18" name="fx15_1_1"/>
          <p:cNvSpPr/>
          <p:nvPr/>
        </p:nvSpPr>
        <p:spPr>
          <a:xfrm>
            <a:off x="685800" y="2176272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E2B4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800" dirty="0"/>
          </a:p>
        </p:txBody>
      </p:sp>
      <p:sp>
        <p:nvSpPr>
          <p:cNvPr id="19" name="fx15_1_2"/>
          <p:cNvSpPr/>
          <p:nvPr/>
        </p:nvSpPr>
        <p:spPr>
          <a:xfrm>
            <a:off x="1280160" y="2212848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6EF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Само понятие</a:t>
            </a:r>
            <a:endParaRPr lang="en-US" sz="1400" dirty="0"/>
          </a:p>
        </p:txBody>
      </p:sp>
      <p:sp>
        <p:nvSpPr>
          <p:cNvPr id="20" name="fx15_1_3"/>
          <p:cNvSpPr/>
          <p:nvPr/>
        </p:nvSpPr>
        <p:spPr>
          <a:xfrm>
            <a:off x="1280160" y="2487168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BBAC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Первым ввёл «предпринимателя» в экономику (≈ 1730).</a:t>
            </a:r>
            <a:endParaRPr lang="en-US" sz="1150" dirty="0"/>
          </a:p>
        </p:txBody>
      </p:sp>
      <p:sp>
        <p:nvSpPr>
          <p:cNvPr id="21" name="fx15_2_4"/>
          <p:cNvSpPr/>
          <p:nvPr/>
        </p:nvSpPr>
        <p:spPr>
          <a:xfrm>
            <a:off x="685800" y="2798064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E2B4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800" dirty="0"/>
          </a:p>
        </p:txBody>
      </p:sp>
      <p:sp>
        <p:nvSpPr>
          <p:cNvPr id="22" name="fx15_2_5"/>
          <p:cNvSpPr/>
          <p:nvPr/>
        </p:nvSpPr>
        <p:spPr>
          <a:xfrm>
            <a:off x="1280160" y="2834640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6EF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Определение через неопределённость</a:t>
            </a:r>
            <a:endParaRPr lang="en-US" sz="1400" dirty="0"/>
          </a:p>
        </p:txBody>
      </p:sp>
      <p:sp>
        <p:nvSpPr>
          <p:cNvPr id="23" name="fx15_2_6"/>
          <p:cNvSpPr/>
          <p:nvPr/>
        </p:nvSpPr>
        <p:spPr>
          <a:xfrm>
            <a:off x="1280160" y="3108960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BBAC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Купить по известной цене, продать по неизвестной.</a:t>
            </a:r>
            <a:endParaRPr lang="en-US" sz="1150" dirty="0"/>
          </a:p>
        </p:txBody>
      </p:sp>
      <p:sp>
        <p:nvSpPr>
          <p:cNvPr id="24" name="fx15_3_7"/>
          <p:cNvSpPr/>
          <p:nvPr/>
        </p:nvSpPr>
        <p:spPr>
          <a:xfrm>
            <a:off x="685800" y="3419856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E2B4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800" dirty="0"/>
          </a:p>
        </p:txBody>
      </p:sp>
      <p:sp>
        <p:nvSpPr>
          <p:cNvPr id="25" name="fx15_3_8"/>
          <p:cNvSpPr/>
          <p:nvPr/>
        </p:nvSpPr>
        <p:spPr>
          <a:xfrm>
            <a:off x="1280160" y="3456432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6EF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Функция, а не сословие</a:t>
            </a:r>
            <a:endParaRPr lang="en-US" sz="1400" dirty="0"/>
          </a:p>
        </p:txBody>
      </p:sp>
      <p:sp>
        <p:nvSpPr>
          <p:cNvPr id="26" name="fx15_3_9"/>
          <p:cNvSpPr/>
          <p:nvPr/>
        </p:nvSpPr>
        <p:spPr>
          <a:xfrm>
            <a:off x="1280160" y="3730752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BBAC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 фермера до трубочиста: важен риск, а не богатство.</a:t>
            </a:r>
            <a:endParaRPr lang="en-US" sz="1150" dirty="0"/>
          </a:p>
        </p:txBody>
      </p:sp>
      <p:sp>
        <p:nvSpPr>
          <p:cNvPr id="27" name="fx15_4_10"/>
          <p:cNvSpPr/>
          <p:nvPr/>
        </p:nvSpPr>
        <p:spPr>
          <a:xfrm>
            <a:off x="685800" y="404164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E2B4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800" dirty="0"/>
          </a:p>
        </p:txBody>
      </p:sp>
      <p:sp>
        <p:nvSpPr>
          <p:cNvPr id="28" name="fx15_4_11"/>
          <p:cNvSpPr/>
          <p:nvPr/>
        </p:nvSpPr>
        <p:spPr>
          <a:xfrm>
            <a:off x="1280160" y="4078224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6EF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Роль на рынке</a:t>
            </a:r>
            <a:endParaRPr lang="en-US" sz="1400" dirty="0"/>
          </a:p>
        </p:txBody>
      </p:sp>
      <p:sp>
        <p:nvSpPr>
          <p:cNvPr id="29" name="fx15_4_12"/>
          <p:cNvSpPr/>
          <p:nvPr/>
        </p:nvSpPr>
        <p:spPr>
          <a:xfrm>
            <a:off x="1280160" y="4352544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BBAC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Связывает рынки и ведёт их к равновесию.</a:t>
            </a:r>
            <a:endParaRPr lang="en-US" sz="1150" dirty="0"/>
          </a:p>
        </p:txBody>
      </p:sp>
      <p:sp>
        <p:nvSpPr>
          <p:cNvPr id="30" name="fx15_5_13"/>
          <p:cNvSpPr/>
          <p:nvPr/>
        </p:nvSpPr>
        <p:spPr>
          <a:xfrm>
            <a:off x="685800" y="466344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E2B4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1800" dirty="0"/>
          </a:p>
        </p:txBody>
      </p:sp>
      <p:sp>
        <p:nvSpPr>
          <p:cNvPr id="31" name="fx15_5_14"/>
          <p:cNvSpPr/>
          <p:nvPr/>
        </p:nvSpPr>
        <p:spPr>
          <a:xfrm>
            <a:off x="1280160" y="4700016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6EF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Начало традиции</a:t>
            </a:r>
            <a:endParaRPr lang="en-US" sz="1400" dirty="0"/>
          </a:p>
        </p:txBody>
      </p:sp>
      <p:sp>
        <p:nvSpPr>
          <p:cNvPr id="32" name="fx15_5_15"/>
          <p:cNvSpPr/>
          <p:nvPr/>
        </p:nvSpPr>
        <p:spPr>
          <a:xfrm>
            <a:off x="1280160" y="4974336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BBAC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Сэй → Найт → Мизес → Кирцнер; предтеча австрийской школы.</a:t>
            </a:r>
            <a:endParaRPr lang="en-US" sz="1150" dirty="0"/>
          </a:p>
        </p:txBody>
      </p:sp>
      <p:sp>
        <p:nvSpPr>
          <p:cNvPr id="33" name="fx15_8_16"/>
          <p:cNvSpPr/>
          <p:nvPr/>
        </p:nvSpPr>
        <p:spPr>
          <a:xfrm>
            <a:off x="685800" y="5440680"/>
            <a:ext cx="6217920" cy="749808"/>
          </a:xfrm>
          <a:prstGeom prst="roundRect">
            <a:avLst>
              <a:gd name="adj" fmla="val 9756"/>
            </a:avLst>
          </a:prstGeom>
          <a:solidFill>
            <a:srgbClr val="26180A">
              <a:alpha val="94000"/>
            </a:srgbClr>
          </a:solidFill>
          <a:ln w="12700">
            <a:solidFill>
              <a:srgbClr val="E2B45E">
                <a:alpha val="55000"/>
              </a:srgbClr>
            </a:solidFill>
            <a:prstDash val="solid"/>
          </a:ln>
          <a:effectLst>
            <a:outerShdw sx="100000" sy="100000" kx="0" ky="0" algn="bl" rotWithShape="0" blurRad="228600" dist="76200" dir="5400000">
              <a:srgbClr val="000000">
                <a:alpha val="45000"/>
              </a:srgbClr>
            </a:outerShdw>
          </a:effectLst>
        </p:spPr>
      </p:sp>
      <p:sp>
        <p:nvSpPr>
          <p:cNvPr id="34" name="fx15_8_17"/>
          <p:cNvSpPr/>
          <p:nvPr/>
        </p:nvSpPr>
        <p:spPr>
          <a:xfrm>
            <a:off x="685800" y="5586984"/>
            <a:ext cx="50292" cy="457200"/>
          </a:xfrm>
          <a:prstGeom prst="rect">
            <a:avLst/>
          </a:prstGeom>
          <a:solidFill>
            <a:srgbClr val="E2B45E"/>
          </a:solidFill>
          <a:ln/>
        </p:spPr>
      </p:sp>
      <p:sp>
        <p:nvSpPr>
          <p:cNvPr id="35" name="fx15_8_18"/>
          <p:cNvSpPr/>
          <p:nvPr/>
        </p:nvSpPr>
        <p:spPr>
          <a:xfrm>
            <a:off x="941832" y="5303520"/>
            <a:ext cx="1993392" cy="274320"/>
          </a:xfrm>
          <a:prstGeom prst="roundRect">
            <a:avLst>
              <a:gd name="adj" fmla="val 50000"/>
            </a:avLst>
          </a:prstGeom>
          <a:solidFill>
            <a:srgbClr val="E2B45E"/>
          </a:solidFill>
          <a:ln/>
        </p:spPr>
      </p:sp>
      <p:sp>
        <p:nvSpPr>
          <p:cNvPr id="36" name="fx15_8_19"/>
          <p:cNvSpPr/>
          <p:nvPr/>
        </p:nvSpPr>
        <p:spPr>
          <a:xfrm>
            <a:off x="941832" y="5303520"/>
            <a:ext cx="199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50" b="1" spc="150" kern="0" dirty="0">
                <a:solidFill>
                  <a:srgbClr val="0E08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  САМОЕ ИНТЕРЕСНОЕ</a:t>
            </a:r>
            <a:endParaRPr lang="en-US" sz="850" dirty="0"/>
          </a:p>
        </p:txBody>
      </p:sp>
      <p:sp>
        <p:nvSpPr>
          <p:cNvPr id="37" name="fx15_8_20"/>
          <p:cNvSpPr/>
          <p:nvPr/>
        </p:nvSpPr>
        <p:spPr>
          <a:xfrm>
            <a:off x="960120" y="5623560"/>
            <a:ext cx="5760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250" i="1" dirty="0">
                <a:solidFill>
                  <a:srgbClr val="F6EFE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В 1881 году Джевонс назвал Essai </a:t>
            </a:r>
            <a:pPr algn="l" indent="0" marL="0">
              <a:lnSpc>
                <a:spcPct val="105000"/>
              </a:lnSpc>
              <a:buNone/>
            </a:pPr>
            <a:r>
              <a:rPr lang="en-US" sz="1250" b="1" i="1" dirty="0">
                <a:solidFill>
                  <a:srgbClr val="F6EFE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«колыбелью политической экономии»</a:t>
            </a:r>
            <a:pPr algn="l" indent="0" marL="0">
              <a:lnSpc>
                <a:spcPct val="105000"/>
              </a:lnSpc>
              <a:buNone/>
            </a:pPr>
            <a:r>
              <a:rPr lang="en-US" sz="1250" i="1" dirty="0">
                <a:solidFill>
                  <a:srgbClr val="F6EFE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— отсюда и наш экспонат.</a:t>
            </a:r>
            <a:endParaRPr lang="en-US" sz="1250" dirty="0"/>
          </a:p>
        </p:txBody>
      </p: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38" name="!!m-ship">
                <a:extLst>
                  <a:ext uri="{FF2B5EF4-FFF2-40B4-BE49-F238E27FC236}">
                    <a16:creationId xmlns:a16="http://schemas.microsoft.com/office/drawing/2014/main" id="{189340FC-4C3A-6119-8CD4-61C94D6F306D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-4937760" y="1143000"/>
              <a:ext cx="4389120" cy="4389120"/>
            </p:xfrm>
            <a:graphic>
              <a:graphicData uri="http://schemas.microsoft.com/office/drawing/2017/model3d">
                <am3d:model3d r:embed="rIdM3d58">
                  <am3d:spPr>
                    <a:xfrm>
                      <a:off x="0" y="0"/>
                      <a:ext cx="4389120" cy="4389120"/>
                    </a:xfrm>
                    <a:prstGeom prst="rect">
                      <a:avLst/>
                    </a:prstGeom>
                  </am3d:spPr>
                  <am3d:camera>
                    <am3d:pos x="0" y="0" z="67855099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420019" d="1000000"/>
                    <am3d:preTrans dx="-2637500" dy="0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360000" ay="-6480000" az="0"/>
                    <am3d:postTrans dx="0" dy="0" dz="0"/>
                  </am3d:trans>
                  <am3d:raster rName="Office3DRenderer" rVer="16.0.8326">
                    <am3d:blip r:embed="rId6"/>
                  </am3d:raster>
                  <am3d:objViewport viewportSz="4389120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38" name="!!m-ship">
                <a:extLst>
                  <a:ext uri="{FF2B5EF4-FFF2-40B4-BE49-F238E27FC236}">
                    <a16:creationId xmlns:a16="http://schemas.microsoft.com/office/drawing/2014/main" id="{189340FC-4C3A-6119-8CD4-61C94D6F306D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-4937760" y="1143000"/>
                <a:ext cx="4389120" cy="4389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39" name="!!m-coinbig">
                <a:extLst>
                  <a:ext uri="{FF2B5EF4-FFF2-40B4-BE49-F238E27FC236}">
                    <a16:creationId xmlns:a16="http://schemas.microsoft.com/office/drawing/2014/main" id="{B31E940A-B849-60D7-658C-485508680E3A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12740335" y="1234440"/>
              <a:ext cx="3931920" cy="3931920"/>
            </p:xfrm>
            <a:graphic>
              <a:graphicData uri="http://schemas.microsoft.com/office/drawing/2017/model3d">
                <am3d:model3d r:embed="rIdM3d59">
                  <am3d:spPr>
                    <a:xfrm>
                      <a:off x="0" y="0"/>
                      <a:ext cx="3931920" cy="3931920"/>
                    </a:xfrm>
                    <a:prstGeom prst="rect">
                      <a:avLst/>
                    </a:prstGeom>
                  </am3d:spPr>
                  <am3d:camera>
                    <am3d:pos x="0" y="0" z="66612804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500000" d="1000000"/>
                    <am3d:preTrans dx="0" dy="0" dz="-269999"/>
                    <am3d:scale>
                      <am3d:sx n="1000000" d="1000000"/>
                      <am3d:sy n="1000000" d="1000000"/>
                      <am3d:sz n="1000000" d="1000000"/>
                    </am3d:scale>
                    <am3d:rot ax="480000" ay="3120000" az="-1080000"/>
                    <am3d:postTrans dx="0" dy="0" dz="0"/>
                  </am3d:trans>
                  <am3d:raster rName="Office3DRenderer" rVer="16.0.8326">
                    <am3d:blip r:embed="rId7"/>
                  </am3d:raster>
                  <am3d:objViewport viewportSz="3931920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39" name="!!m-coinbig">
                <a:extLst>
                  <a:ext uri="{FF2B5EF4-FFF2-40B4-BE49-F238E27FC236}">
                    <a16:creationId xmlns:a16="http://schemas.microsoft.com/office/drawing/2014/main" id="{B31E940A-B849-60D7-658C-485508680E3A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2740335" y="1234440"/>
                <a:ext cx="3931920" cy="39319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6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42" presetClass="entr" presetSubtype="0" fill="hold" grpId="0" nodeType="after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7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700" decel="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00" decel="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42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7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700" decel="10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700" decel="10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7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700" decel="10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700" decel="10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41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7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700" decel="100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700" decel="100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grpId="0" nodeType="withEffect">
                                  <p:stCondLst>
                                    <p:cond delay="41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7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700" decel="100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700" decel="100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41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7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700" decel="100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700" decel="100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grpId="0" nodeType="withEffect">
                                  <p:stCondLst>
                                    <p:cond delay="67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7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700" decel="100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700" decel="100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42" presetClass="entr" presetSubtype="0" fill="hold" grpId="0" nodeType="withEffect">
                                  <p:stCondLst>
                                    <p:cond delay="67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7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700" decel="100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700" decel="100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42" presetClass="entr" presetSubtype="0" fill="hold" grpId="0" nodeType="withEffect">
                                  <p:stCondLst>
                                    <p:cond delay="67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7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700" decel="100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700" decel="100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42" presetClass="entr" presetSubtype="0" fill="hold" grpId="0" nodeType="withEffect">
                                  <p:stCondLst>
                                    <p:cond delay="93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7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700" decel="100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700" decel="100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42" presetClass="entr" presetSubtype="0" fill="hold" grpId="0" nodeType="withEffect">
                                  <p:stCondLst>
                                    <p:cond delay="93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7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700" decel="100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700" decel="100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42" presetClass="entr" presetSubtype="0" fill="hold" grpId="0" nodeType="withEffect">
                                  <p:stCondLst>
                                    <p:cond delay="93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7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700" decel="100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700" decel="100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42" presetClass="entr" presetSubtype="0" fill="hold" grpId="0" nodeType="withEffect">
                                  <p:stCondLst>
                                    <p:cond delay="119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7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700" decel="100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700" decel="100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42" presetClass="entr" presetSubtype="0" fill="hold" grpId="0" nodeType="withEffect">
                                  <p:stCondLst>
                                    <p:cond delay="119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7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3" dur="700" decel="100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700" decel="100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42" presetClass="entr" presetSubtype="0" fill="hold" grpId="0" nodeType="withEffect">
                                  <p:stCondLst>
                                    <p:cond delay="119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7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700" decel="100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700" decel="100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2" presetID="42" presetClass="entr" presetSubtype="0" fill="hold" grpId="0" nodeType="withEffect">
                                  <p:stCondLst>
                                    <p:cond delay="145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7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3" dur="700" decel="100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700" decel="100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7" presetID="42" presetClass="entr" presetSubtype="0" fill="hold" grpId="0" nodeType="withEffect">
                                  <p:stCondLst>
                                    <p:cond delay="145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7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8" dur="700" decel="100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700" decel="100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2" presetID="42" presetClass="entr" presetSubtype="0" fill="hold" grpId="0" nodeType="withEffect">
                                  <p:stCondLst>
                                    <p:cond delay="145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7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3" dur="700" decel="100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700" decel="100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7" presetID="42" presetClass="entr" presetSubtype="0" fill="hold" grpId="0" nodeType="withEffect">
                                  <p:stCondLst>
                                    <p:cond delay="145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7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8" dur="700" decel="100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700" decel="100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2" presetID="42" presetClass="entr" presetSubtype="0" fill="hold" grpId="0" nodeType="withEffect">
                                  <p:stCondLst>
                                    <p:cond delay="145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7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3" dur="700" decel="100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4" dur="700" decel="100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7" presetID="42" presetClass="entr" presetSubtype="0" fill="hold" grpId="0" nodeType="withEffect">
                                  <p:stCondLst>
                                    <p:cond delay="171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7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8" dur="70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9" dur="70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16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xmlns:am3d="http://schemas.microsoft.com/office/drawing/2017/model3d" mc:Ignorable="am3d">
  <p:cSld name="Slide 16">
    <p:bg>
      <p:bgPr>
        <a:solidFill>
          <a:srgbClr val="08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ackground" descr="/home/user/omgGame/presentations/cantillon/assets/stage-bg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!!track"/>
          <p:cNvSpPr/>
          <p:nvPr/>
        </p:nvSpPr>
        <p:spPr>
          <a:xfrm>
            <a:off x="685800" y="402336"/>
            <a:ext cx="10820095" cy="91"/>
          </a:xfrm>
          <a:prstGeom prst="line">
            <a:avLst/>
          </a:prstGeom>
          <a:noFill/>
          <a:ln w="9525">
            <a:solidFill>
              <a:srgbClr val="FFFFFF">
                <a:alpha val="16000"/>
              </a:srgbClr>
            </a:solidFill>
            <a:prstDash val="solid"/>
          </a:ln>
        </p:spPr>
      </p:sp>
      <p:sp>
        <p:nvSpPr>
          <p:cNvPr id="4" name="!!progress"/>
          <p:cNvSpPr/>
          <p:nvPr/>
        </p:nvSpPr>
        <p:spPr>
          <a:xfrm>
            <a:off x="685800" y="391363"/>
            <a:ext cx="10143839" cy="21946"/>
          </a:xfrm>
          <a:prstGeom prst="rect">
            <a:avLst/>
          </a:prstGeom>
          <a:solidFill>
            <a:srgbClr val="E2B45E"/>
          </a:solidFill>
          <a:ln/>
        </p:spPr>
      </p: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5" name="!!coin">
                <a:extLst>
                  <a:ext uri="{FF2B5EF4-FFF2-40B4-BE49-F238E27FC236}">
                    <a16:creationId xmlns:a16="http://schemas.microsoft.com/office/drawing/2014/main" id="{86514E84-16C7-16ED-B030-917DA2242EC5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10573607" y="117043"/>
              <a:ext cx="512064" cy="512064"/>
            </p:xfrm>
            <a:graphic>
              <a:graphicData uri="http://schemas.microsoft.com/office/drawing/2017/model3d">
                <am3d:model3d r:embed="rIdM3d60">
                  <am3d:spPr>
                    <a:xfrm>
                      <a:off x="0" y="0"/>
                      <a:ext cx="512064" cy="512064"/>
                    </a:xfrm>
                    <a:prstGeom prst="rect">
                      <a:avLst/>
                    </a:prstGeom>
                  </am3d:spPr>
                  <am3d:camera>
                    <am3d:pos x="0" y="0" z="66612804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500000" d="1000000"/>
                    <am3d:preTrans dx="0" dy="0" dz="-269999"/>
                    <am3d:scale>
                      <am3d:sx n="1000000" d="1000000"/>
                      <am3d:sy n="1000000" d="1000000"/>
                      <am3d:sz n="1000000" d="1000000"/>
                    </am3d:scale>
                    <am3d:rot ax="0" ay="-960000" az="-135000000"/>
                    <am3d:postTrans dx="0" dy="0" dz="0"/>
                  </am3d:trans>
                  <am3d:raster rName="Office3DRenderer" rVer="16.0.8326">
                    <am3d:blip r:embed="rId2"/>
                  </am3d:raster>
                  <am3d:objViewport viewportSz="512064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5" name="!!coin">
                <a:extLst>
                  <a:ext uri="{FF2B5EF4-FFF2-40B4-BE49-F238E27FC236}">
                    <a16:creationId xmlns:a16="http://schemas.microsoft.com/office/drawing/2014/main" id="{86514E84-16C7-16ED-B030-917DA2242EC5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10573607" y="117043"/>
                <a:ext cx="512064" cy="512064"/>
              </a:xfrm>
              <a:prstGeom prst="rect">
                <a:avLst/>
              </a:prstGeom>
            </p:spPr>
          </p:pic>
        </mc:Fallback>
      </mc:AlternateContent>
      <p:sp>
        <p:nvSpPr>
          <p:cNvPr id="6" name="!!kickerbar"/>
          <p:cNvSpPr/>
          <p:nvPr/>
        </p:nvSpPr>
        <p:spPr>
          <a:xfrm>
            <a:off x="685800" y="713232"/>
            <a:ext cx="310896" cy="32004"/>
          </a:xfrm>
          <a:prstGeom prst="rect">
            <a:avLst/>
          </a:prstGeom>
          <a:solidFill>
            <a:srgbClr val="E2B45E"/>
          </a:solidFill>
          <a:ln/>
        </p:spPr>
      </p:sp>
      <p:sp>
        <p:nvSpPr>
          <p:cNvPr id="7" name="!!kicker"/>
          <p:cNvSpPr/>
          <p:nvPr/>
        </p:nvSpPr>
        <p:spPr>
          <a:xfrm>
            <a:off x="1124712" y="5943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spc="300" kern="0" dirty="0">
                <a:solidFill>
                  <a:srgbClr val="E2B4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ИТОГ</a:t>
            </a:r>
            <a:endParaRPr lang="en-US" sz="1100" dirty="0"/>
          </a:p>
        </p:txBody>
      </p:sp>
      <p:sp>
        <p:nvSpPr>
          <p:cNvPr id="8" name="!!footline"/>
          <p:cNvSpPr/>
          <p:nvPr/>
        </p:nvSpPr>
        <p:spPr>
          <a:xfrm>
            <a:off x="685800" y="6400800"/>
            <a:ext cx="10820095" cy="91"/>
          </a:xfrm>
          <a:prstGeom prst="line">
            <a:avLst/>
          </a:prstGeom>
          <a:noFill/>
          <a:ln w="9525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9" name="!!footer"/>
          <p:cNvSpPr/>
          <p:nvPr/>
        </p:nvSpPr>
        <p:spPr>
          <a:xfrm>
            <a:off x="685800" y="649224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spc="200" kern="0" dirty="0">
                <a:solidFill>
                  <a:srgbClr val="BBAC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РИЧАРД КАНТИЛЬОН  ·  1680-е – 1734</a:t>
            </a:r>
            <a:endParaRPr lang="en-US" sz="900" dirty="0"/>
          </a:p>
        </p:txBody>
      </p:sp>
      <p:sp>
        <p:nvSpPr>
          <p:cNvPr id="10" name="!!pagenum"/>
          <p:cNvSpPr/>
          <p:nvPr/>
        </p:nvSpPr>
        <p:spPr>
          <a:xfrm>
            <a:off x="10134295" y="649224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900" spc="200" kern="0" dirty="0">
                <a:solidFill>
                  <a:srgbClr val="BBAC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 / 17</a:t>
            </a:r>
            <a:endParaRPr lang="en-US" sz="900" dirty="0"/>
          </a:p>
        </p:txBody>
      </p:sp>
      <p:pic>
        <p:nvPicPr>
          <p:cNvPr id="11" name="!!glow" descr="/home/user/omgGame/presentations/cantillon/assets/glow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50558" y="-16002"/>
            <a:ext cx="5701284" cy="5701284"/>
          </a:xfrm>
          <a:prstGeom prst="rect">
            <a:avLst/>
          </a:prstGeom>
        </p:spPr>
      </p:pic>
      <p:sp>
        <p:nvSpPr>
          <p:cNvPr id="12" name="!!ring1"/>
          <p:cNvSpPr/>
          <p:nvPr/>
        </p:nvSpPr>
        <p:spPr>
          <a:xfrm>
            <a:off x="7753198" y="986638"/>
            <a:ext cx="3696005" cy="3696005"/>
          </a:xfrm>
          <a:prstGeom prst="ellipse">
            <a:avLst/>
          </a:prstGeom>
          <a:ln w="9525">
            <a:solidFill>
              <a:srgbClr val="E2B45E">
                <a:alpha val="18000"/>
              </a:srgbClr>
            </a:solidFill>
            <a:prstDash val="solid"/>
          </a:ln>
        </p:spPr>
      </p:sp>
      <p:sp>
        <p:nvSpPr>
          <p:cNvPr id="13" name="!!ring2"/>
          <p:cNvSpPr/>
          <p:nvPr/>
        </p:nvSpPr>
        <p:spPr>
          <a:xfrm>
            <a:off x="7242048" y="475488"/>
            <a:ext cx="4718304" cy="4718304"/>
          </a:xfrm>
          <a:prstGeom prst="ellipse">
            <a:avLst/>
          </a:prstGeom>
          <a:ln w="9525">
            <a:solidFill>
              <a:srgbClr val="E2B45E">
                <a:alpha val="12000"/>
              </a:srgbClr>
            </a:solidFill>
            <a:prstDash val="dash"/>
          </a:ln>
        </p:spPr>
      </p:sp>
      <p:pic>
        <p:nvPicPr>
          <p:cNvPr id="14" name="!!shadow" descr="/home/user/omgGame/presentations/cantillon/assets/shadow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19922" y="3979812"/>
            <a:ext cx="2162556" cy="540639"/>
          </a:xfrm>
          <a:prstGeom prst="rect">
            <a:avLst/>
          </a:prstGeom>
        </p:spPr>
      </p:pic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15" name="!!m-coinbig">
                <a:extLst>
                  <a:ext uri="{FF2B5EF4-FFF2-40B4-BE49-F238E27FC236}">
                    <a16:creationId xmlns:a16="http://schemas.microsoft.com/office/drawing/2014/main" id="{7CCD4557-0278-22A0-2185-36401D89880F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7635240" y="868680"/>
              <a:ext cx="3931920" cy="3931920"/>
            </p:xfrm>
            <a:graphic>
              <a:graphicData uri="http://schemas.microsoft.com/office/drawing/2017/model3d">
                <am3d:model3d r:embed="rIdM3d61">
                  <am3d:spPr>
                    <a:xfrm>
                      <a:off x="0" y="0"/>
                      <a:ext cx="3931920" cy="3931920"/>
                    </a:xfrm>
                    <a:prstGeom prst="rect">
                      <a:avLst/>
                    </a:prstGeom>
                  </am3d:spPr>
                  <am3d:camera>
                    <am3d:pos x="0" y="0" z="66612804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500000" d="1000000"/>
                    <am3d:preTrans dx="0" dy="0" dz="-269999"/>
                    <am3d:scale>
                      <am3d:sx n="1000000" d="1000000"/>
                      <am3d:sy n="1000000" d="1000000"/>
                      <am3d:sz n="1000000" d="1000000"/>
                    </am3d:scale>
                    <am3d:rot ax="480000" ay="-1680000" az="-1080000"/>
                    <am3d:postTrans dx="0" dy="0" dz="0"/>
                  </am3d:trans>
                  <am3d:raster rName="Office3DRenderer" rVer="16.0.8326">
                    <am3d:blip r:embed="rId5"/>
                  </am3d:raster>
                  <am3d:objViewport viewportSz="3931920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15" name="!!m-coinbig">
                <a:extLst>
                  <a:ext uri="{FF2B5EF4-FFF2-40B4-BE49-F238E27FC236}">
                    <a16:creationId xmlns:a16="http://schemas.microsoft.com/office/drawing/2014/main" id="{7CCD4557-0278-22A0-2185-36401D89880F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635240" y="868680"/>
                <a:ext cx="3931920" cy="3931920"/>
              </a:xfrm>
              <a:prstGeom prst="rect">
                <a:avLst/>
              </a:prstGeom>
            </p:spPr>
          </p:pic>
        </mc:Fallback>
      </mc:AlternateContent>
      <p:sp>
        <p:nvSpPr>
          <p:cNvPr id="16" name="fx16_9_0"/>
          <p:cNvSpPr/>
          <p:nvPr/>
        </p:nvSpPr>
        <p:spPr>
          <a:xfrm>
            <a:off x="7680960" y="461772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00" b="1" spc="250" kern="0" dirty="0">
                <a:solidFill>
                  <a:srgbClr val="E2B4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ЭКСПОНАТ 16</a:t>
            </a:r>
            <a:endParaRPr lang="en-US" sz="9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BBAC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Луидор 1720 года — год краха; он катился всю презентацию</a:t>
            </a:r>
            <a:endParaRPr lang="en-US" sz="900" dirty="0"/>
          </a:p>
        </p:txBody>
      </p:sp>
      <p:sp>
        <p:nvSpPr>
          <p:cNvPr id="17" name="!!title"/>
          <p:cNvSpPr/>
          <p:nvPr/>
        </p:nvSpPr>
        <p:spPr>
          <a:xfrm>
            <a:off x="685800" y="987552"/>
            <a:ext cx="6035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600" dirty="0">
                <a:solidFill>
                  <a:srgbClr val="F6EFE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Главное за 30 секунд</a:t>
            </a:r>
            <a:endParaRPr lang="en-US" sz="3600" dirty="0"/>
          </a:p>
        </p:txBody>
      </p:sp>
      <p:sp>
        <p:nvSpPr>
          <p:cNvPr id="18" name="fx16_1_1"/>
          <p:cNvSpPr/>
          <p:nvPr/>
        </p:nvSpPr>
        <p:spPr>
          <a:xfrm>
            <a:off x="685800" y="1874520"/>
            <a:ext cx="6035040" cy="1024128"/>
          </a:xfrm>
          <a:prstGeom prst="roundRect">
            <a:avLst>
              <a:gd name="adj" fmla="val 7143"/>
            </a:avLst>
          </a:prstGeom>
          <a:solidFill>
            <a:srgbClr val="21130F">
              <a:alpha val="78000"/>
            </a:srgbClr>
          </a:solidFill>
          <a:ln w="9525">
            <a:solidFill>
              <a:srgbClr val="E2B45E">
                <a:alpha val="28000"/>
              </a:srgbClr>
            </a:solidFill>
            <a:prstDash val="solid"/>
          </a:ln>
        </p:spPr>
      </p:sp>
      <p:sp>
        <p:nvSpPr>
          <p:cNvPr id="19" name="fx16_1_2"/>
          <p:cNvSpPr/>
          <p:nvPr/>
        </p:nvSpPr>
        <p:spPr>
          <a:xfrm>
            <a:off x="685800" y="2057400"/>
            <a:ext cx="45720" cy="658368"/>
          </a:xfrm>
          <a:prstGeom prst="rect">
            <a:avLst/>
          </a:prstGeom>
          <a:solidFill>
            <a:srgbClr val="E2B45E"/>
          </a:solidFill>
          <a:ln/>
        </p:spPr>
      </p:sp>
      <p:sp>
        <p:nvSpPr>
          <p:cNvPr id="20" name="fx16_1_3"/>
          <p:cNvSpPr/>
          <p:nvPr/>
        </p:nvSpPr>
        <p:spPr>
          <a:xfrm>
            <a:off x="960120" y="2002536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b="1" spc="200" kern="0" dirty="0">
                <a:solidFill>
                  <a:srgbClr val="E2B4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КТО</a:t>
            </a:r>
            <a:endParaRPr lang="en-US" sz="950" dirty="0"/>
          </a:p>
        </p:txBody>
      </p:sp>
      <p:sp>
        <p:nvSpPr>
          <p:cNvPr id="21" name="fx16_1_4"/>
          <p:cNvSpPr/>
          <p:nvPr/>
        </p:nvSpPr>
        <p:spPr>
          <a:xfrm>
            <a:off x="960120" y="2240280"/>
            <a:ext cx="56235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F6EFE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Ирландско-французский банкир (1680-е — 1734), разбогатевший на пузыре Миссисипи.</a:t>
            </a:r>
            <a:endParaRPr lang="en-US" sz="1400" dirty="0"/>
          </a:p>
        </p:txBody>
      </p:sp>
      <p:sp>
        <p:nvSpPr>
          <p:cNvPr id="22" name="fx16_2_5"/>
          <p:cNvSpPr/>
          <p:nvPr/>
        </p:nvSpPr>
        <p:spPr>
          <a:xfrm>
            <a:off x="685800" y="3044952"/>
            <a:ext cx="6035040" cy="1024128"/>
          </a:xfrm>
          <a:prstGeom prst="roundRect">
            <a:avLst>
              <a:gd name="adj" fmla="val 7143"/>
            </a:avLst>
          </a:prstGeom>
          <a:solidFill>
            <a:srgbClr val="21130F">
              <a:alpha val="78000"/>
            </a:srgbClr>
          </a:solidFill>
          <a:ln w="9525">
            <a:solidFill>
              <a:srgbClr val="E2B45E">
                <a:alpha val="28000"/>
              </a:srgbClr>
            </a:solidFill>
            <a:prstDash val="solid"/>
          </a:ln>
        </p:spPr>
      </p:sp>
      <p:sp>
        <p:nvSpPr>
          <p:cNvPr id="23" name="fx16_2_6"/>
          <p:cNvSpPr/>
          <p:nvPr/>
        </p:nvSpPr>
        <p:spPr>
          <a:xfrm>
            <a:off x="685800" y="3227832"/>
            <a:ext cx="45720" cy="658368"/>
          </a:xfrm>
          <a:prstGeom prst="rect">
            <a:avLst/>
          </a:prstGeom>
          <a:solidFill>
            <a:srgbClr val="E2B45E"/>
          </a:solidFill>
          <a:ln/>
        </p:spPr>
      </p:sp>
      <p:sp>
        <p:nvSpPr>
          <p:cNvPr id="24" name="fx16_2_7"/>
          <p:cNvSpPr/>
          <p:nvPr/>
        </p:nvSpPr>
        <p:spPr>
          <a:xfrm>
            <a:off x="960120" y="317296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b="1" spc="200" kern="0" dirty="0">
                <a:solidFill>
                  <a:srgbClr val="E2B4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ГЛАВНАЯ ИДЕЯ</a:t>
            </a:r>
            <a:endParaRPr lang="en-US" sz="950" dirty="0"/>
          </a:p>
        </p:txBody>
      </p:sp>
      <p:sp>
        <p:nvSpPr>
          <p:cNvPr id="25" name="fx16_2_8"/>
          <p:cNvSpPr/>
          <p:nvPr/>
        </p:nvSpPr>
        <p:spPr>
          <a:xfrm>
            <a:off x="960120" y="3410712"/>
            <a:ext cx="56235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F6EFE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Экономика держится на тех, кто действует в неопределённости; новые деньги выгодны первым получателям.</a:t>
            </a:r>
            <a:endParaRPr lang="en-US" sz="1400" dirty="0"/>
          </a:p>
        </p:txBody>
      </p:sp>
      <p:sp>
        <p:nvSpPr>
          <p:cNvPr id="26" name="fx16_3_9"/>
          <p:cNvSpPr/>
          <p:nvPr/>
        </p:nvSpPr>
        <p:spPr>
          <a:xfrm>
            <a:off x="685800" y="4215384"/>
            <a:ext cx="6035040" cy="1024128"/>
          </a:xfrm>
          <a:prstGeom prst="roundRect">
            <a:avLst>
              <a:gd name="adj" fmla="val 7143"/>
            </a:avLst>
          </a:prstGeom>
          <a:solidFill>
            <a:srgbClr val="21130F">
              <a:alpha val="78000"/>
            </a:srgbClr>
          </a:solidFill>
          <a:ln w="9525">
            <a:solidFill>
              <a:srgbClr val="E2B45E">
                <a:alpha val="28000"/>
              </a:srgbClr>
            </a:solidFill>
            <a:prstDash val="solid"/>
          </a:ln>
        </p:spPr>
      </p:sp>
      <p:sp>
        <p:nvSpPr>
          <p:cNvPr id="27" name="fx16_3_10"/>
          <p:cNvSpPr/>
          <p:nvPr/>
        </p:nvSpPr>
        <p:spPr>
          <a:xfrm>
            <a:off x="685800" y="4398264"/>
            <a:ext cx="45720" cy="658368"/>
          </a:xfrm>
          <a:prstGeom prst="rect">
            <a:avLst/>
          </a:prstGeom>
          <a:solidFill>
            <a:srgbClr val="E9784A"/>
          </a:solidFill>
          <a:ln/>
        </p:spPr>
      </p:sp>
      <p:sp>
        <p:nvSpPr>
          <p:cNvPr id="28" name="fx16_3_11"/>
          <p:cNvSpPr/>
          <p:nvPr/>
        </p:nvSpPr>
        <p:spPr>
          <a:xfrm>
            <a:off x="960120" y="43434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b="1" spc="200" kern="0" dirty="0">
                <a:solidFill>
                  <a:srgbClr val="E978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ВКЛАД В ПРЕДПРИНИМАТЕЛЬСТВО</a:t>
            </a:r>
            <a:endParaRPr lang="en-US" sz="950" dirty="0"/>
          </a:p>
        </p:txBody>
      </p:sp>
      <p:sp>
        <p:nvSpPr>
          <p:cNvPr id="29" name="fx16_3_12"/>
          <p:cNvSpPr/>
          <p:nvPr/>
        </p:nvSpPr>
        <p:spPr>
          <a:xfrm>
            <a:off x="960120" y="4581144"/>
            <a:ext cx="56235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F6EFE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Дал предпринимателю имя и определение: купить по известной цене, продать по неизвестной.</a:t>
            </a:r>
            <a:endParaRPr lang="en-US" sz="1400" dirty="0"/>
          </a:p>
        </p:txBody>
      </p:sp>
      <p:sp>
        <p:nvSpPr>
          <p:cNvPr id="30" name="fx16_5_13"/>
          <p:cNvSpPr/>
          <p:nvPr/>
        </p:nvSpPr>
        <p:spPr>
          <a:xfrm>
            <a:off x="685800" y="5486400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600" i="1" dirty="0">
                <a:solidFill>
                  <a:srgbClr val="F4DFB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Спасибо за внимание!</a:t>
            </a:r>
            <a:endParaRPr lang="en-US" sz="2600" dirty="0"/>
          </a:p>
        </p:txBody>
      </p:sp>
      <p:sp>
        <p:nvSpPr>
          <p:cNvPr id="31" name="fx16_4_14"/>
          <p:cNvSpPr/>
          <p:nvPr/>
        </p:nvSpPr>
        <p:spPr>
          <a:xfrm>
            <a:off x="7086600" y="5257800"/>
            <a:ext cx="4419295" cy="932688"/>
          </a:xfrm>
          <a:prstGeom prst="roundRect">
            <a:avLst>
              <a:gd name="adj" fmla="val 7843"/>
            </a:avLst>
          </a:prstGeom>
          <a:solidFill>
            <a:srgbClr val="26180A">
              <a:alpha val="94000"/>
            </a:srgbClr>
          </a:solidFill>
          <a:ln w="12700">
            <a:solidFill>
              <a:srgbClr val="E2B45E">
                <a:alpha val="55000"/>
              </a:srgbClr>
            </a:solidFill>
            <a:prstDash val="solid"/>
          </a:ln>
          <a:effectLst>
            <a:outerShdw sx="100000" sy="100000" kx="0" ky="0" algn="bl" rotWithShape="0" blurRad="228600" dist="76200" dir="5400000">
              <a:srgbClr val="000000">
                <a:alpha val="45000"/>
              </a:srgbClr>
            </a:outerShdw>
          </a:effectLst>
        </p:spPr>
      </p:sp>
      <p:sp>
        <p:nvSpPr>
          <p:cNvPr id="32" name="fx16_4_15"/>
          <p:cNvSpPr/>
          <p:nvPr/>
        </p:nvSpPr>
        <p:spPr>
          <a:xfrm>
            <a:off x="7086600" y="5404104"/>
            <a:ext cx="50292" cy="640080"/>
          </a:xfrm>
          <a:prstGeom prst="rect">
            <a:avLst/>
          </a:prstGeom>
          <a:solidFill>
            <a:srgbClr val="E2B45E"/>
          </a:solidFill>
          <a:ln/>
        </p:spPr>
      </p:sp>
      <p:sp>
        <p:nvSpPr>
          <p:cNvPr id="33" name="fx16_4_16"/>
          <p:cNvSpPr/>
          <p:nvPr/>
        </p:nvSpPr>
        <p:spPr>
          <a:xfrm>
            <a:off x="7342632" y="5120640"/>
            <a:ext cx="1993392" cy="274320"/>
          </a:xfrm>
          <a:prstGeom prst="roundRect">
            <a:avLst>
              <a:gd name="adj" fmla="val 50000"/>
            </a:avLst>
          </a:prstGeom>
          <a:solidFill>
            <a:srgbClr val="E2B45E"/>
          </a:solidFill>
          <a:ln/>
        </p:spPr>
      </p:sp>
      <p:sp>
        <p:nvSpPr>
          <p:cNvPr id="34" name="fx16_4_17"/>
          <p:cNvSpPr/>
          <p:nvPr/>
        </p:nvSpPr>
        <p:spPr>
          <a:xfrm>
            <a:off x="7342632" y="5120640"/>
            <a:ext cx="199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50" b="1" spc="150" kern="0" dirty="0">
                <a:solidFill>
                  <a:srgbClr val="0E08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  САМОЕ ИНТЕРЕСНОЕ</a:t>
            </a:r>
            <a:endParaRPr lang="en-US" sz="850" dirty="0"/>
          </a:p>
        </p:txBody>
      </p:sp>
      <p:sp>
        <p:nvSpPr>
          <p:cNvPr id="35" name="fx16_4_18"/>
          <p:cNvSpPr/>
          <p:nvPr/>
        </p:nvSpPr>
        <p:spPr>
          <a:xfrm>
            <a:off x="7360920" y="5440680"/>
            <a:ext cx="39620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250" i="1" dirty="0">
                <a:solidFill>
                  <a:srgbClr val="F6EFE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Essai ждала английского перевода </a:t>
            </a:r>
            <a:pPr algn="l" indent="0" marL="0">
              <a:lnSpc>
                <a:spcPct val="105000"/>
              </a:lnSpc>
              <a:buNone/>
            </a:pPr>
            <a:r>
              <a:rPr lang="en-US" sz="1250" b="1" i="1" dirty="0">
                <a:solidFill>
                  <a:srgbClr val="F6EFE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почти 200 лет</a:t>
            </a:r>
            <a:pPr algn="l" indent="0" marL="0">
              <a:lnSpc>
                <a:spcPct val="105000"/>
              </a:lnSpc>
              <a:buNone/>
            </a:pPr>
            <a:r>
              <a:rPr lang="en-US" sz="1250" i="1" dirty="0">
                <a:solidFill>
                  <a:srgbClr val="F6EFE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— Генри Хиггс издал её только в 1930-х.</a:t>
            </a:r>
            <a:endParaRPr lang="en-US" sz="1250" dirty="0"/>
          </a:p>
        </p:txBody>
      </p: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36" name="!!m-cradle_wood">
                <a:extLst>
                  <a:ext uri="{FF2B5EF4-FFF2-40B4-BE49-F238E27FC236}">
                    <a16:creationId xmlns:a16="http://schemas.microsoft.com/office/drawing/2014/main" id="{A3543F43-3115-4A46-A213-60CB6CBF1E4B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-4937760" y="1371600"/>
              <a:ext cx="4389120" cy="4389120"/>
            </p:xfrm>
            <a:graphic>
              <a:graphicData uri="http://schemas.microsoft.com/office/drawing/2017/model3d">
                <am3d:model3d r:embed="rIdM3d62">
                  <am3d:spPr>
                    <a:xfrm>
                      <a:off x="0" y="0"/>
                      <a:ext cx="4389120" cy="4389120"/>
                    </a:xfrm>
                    <a:prstGeom prst="rect">
                      <a:avLst/>
                    </a:prstGeom>
                  </am3d:spPr>
                  <am3d:camera>
                    <am3d:pos x="0" y="0" z="60727546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581395" d="1000000"/>
                    <am3d:preTrans dx="0" dy="0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1080000" ay="-6360000" az="0"/>
                    <am3d:postTrans dx="0" dy="0" dz="0"/>
                  </am3d:trans>
                  <am3d:raster rName="Office3DRenderer" rVer="16.0.8326">
                    <am3d:blip r:embed="rId6"/>
                  </am3d:raster>
                  <am3d:objViewport viewportSz="4389120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36" name="!!m-cradle_wood">
                <a:extLst>
                  <a:ext uri="{FF2B5EF4-FFF2-40B4-BE49-F238E27FC236}">
                    <a16:creationId xmlns:a16="http://schemas.microsoft.com/office/drawing/2014/main" id="{A3543F43-3115-4A46-A213-60CB6CBF1E4B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-4937760" y="1371600"/>
                <a:ext cx="4389120" cy="43891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6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42" presetClass="entr" presetSubtype="0" fill="hold" grpId="0" nodeType="after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7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700" decel="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00" decel="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42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7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700" decel="10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700" decel="10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7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700" decel="10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700" decel="10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7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700" decel="100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700" decel="100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grpId="0" nodeType="withEffect">
                                  <p:stCondLst>
                                    <p:cond delay="41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7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700" decel="100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700" decel="100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41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7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700" decel="100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700" decel="100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grpId="0" nodeType="withEffect">
                                  <p:stCondLst>
                                    <p:cond delay="41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7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700" decel="100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700" decel="100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42" presetClass="entr" presetSubtype="0" fill="hold" grpId="0" nodeType="withEffect">
                                  <p:stCondLst>
                                    <p:cond delay="41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7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700" decel="100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700" decel="100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42" presetClass="entr" presetSubtype="0" fill="hold" grpId="0" nodeType="withEffect">
                                  <p:stCondLst>
                                    <p:cond delay="67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7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700" decel="100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700" decel="100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42" presetClass="entr" presetSubtype="0" fill="hold" grpId="0" nodeType="withEffect">
                                  <p:stCondLst>
                                    <p:cond delay="67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7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700" decel="100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700" decel="100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42" presetClass="entr" presetSubtype="0" fill="hold" grpId="0" nodeType="withEffect">
                                  <p:stCondLst>
                                    <p:cond delay="67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7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700" decel="100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700" decel="100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42" presetClass="entr" presetSubtype="0" fill="hold" grpId="0" nodeType="withEffect">
                                  <p:stCondLst>
                                    <p:cond delay="67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7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700" decel="100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700" decel="100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42" presetClass="entr" presetSubtype="0" fill="hold" grpId="0" nodeType="withEffect">
                                  <p:stCondLst>
                                    <p:cond delay="93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7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700" decel="100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700" decel="100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42" presetClass="entr" presetSubtype="0" fill="hold" grpId="0" nodeType="withEffect">
                                  <p:stCondLst>
                                    <p:cond delay="93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7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3" dur="700" decel="100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700" decel="100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42" presetClass="entr" presetSubtype="0" fill="hold" grpId="0" nodeType="withEffect">
                                  <p:stCondLst>
                                    <p:cond delay="93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7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700" decel="100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700" decel="100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2" presetID="42" presetClass="entr" presetSubtype="0" fill="hold" grpId="0" nodeType="withEffect">
                                  <p:stCondLst>
                                    <p:cond delay="93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7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3" dur="700" decel="100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700" decel="100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7" presetID="42" presetClass="entr" presetSubtype="0" fill="hold" grpId="0" nodeType="withEffect">
                                  <p:stCondLst>
                                    <p:cond delay="93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7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8" dur="700" decel="100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700" decel="100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2" presetID="42" presetClass="entr" presetSubtype="0" fill="hold" grpId="0" nodeType="withEffect">
                                  <p:stCondLst>
                                    <p:cond delay="119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7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3" dur="700" decel="100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700" decel="100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7" presetID="42" presetClass="entr" presetSubtype="0" fill="hold" grpId="0" nodeType="withEffect">
                                  <p:stCondLst>
                                    <p:cond delay="145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7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8" dur="70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70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0" grpId="0" animBg="1"/>
      <p:bldP spid="16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xmlns:am3d="http://schemas.microsoft.com/office/drawing/2017/model3d" mc:Ignorable="am3d">
  <p:cSld name="Slide 17">
    <p:bg>
      <p:bgPr>
        <a:solidFill>
          <a:srgbClr val="08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ackground" descr="/home/user/omgGame/presentations/cantillon/assets/stage-bg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!!track"/>
          <p:cNvSpPr/>
          <p:nvPr/>
        </p:nvSpPr>
        <p:spPr>
          <a:xfrm>
            <a:off x="685800" y="402336"/>
            <a:ext cx="10820095" cy="91"/>
          </a:xfrm>
          <a:prstGeom prst="line">
            <a:avLst/>
          </a:prstGeom>
          <a:noFill/>
          <a:ln w="9525">
            <a:solidFill>
              <a:srgbClr val="FFFFFF">
                <a:alpha val="16000"/>
              </a:srgbClr>
            </a:solidFill>
            <a:prstDash val="solid"/>
          </a:ln>
        </p:spPr>
      </p:sp>
      <p:sp>
        <p:nvSpPr>
          <p:cNvPr id="4" name="!!progress"/>
          <p:cNvSpPr/>
          <p:nvPr/>
        </p:nvSpPr>
        <p:spPr>
          <a:xfrm>
            <a:off x="685800" y="391363"/>
            <a:ext cx="10820095" cy="21946"/>
          </a:xfrm>
          <a:prstGeom prst="rect">
            <a:avLst/>
          </a:prstGeom>
          <a:solidFill>
            <a:srgbClr val="E2B45E"/>
          </a:solidFill>
          <a:ln/>
        </p:spPr>
      </p: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5" name="!!coin">
                <a:extLst>
                  <a:ext uri="{FF2B5EF4-FFF2-40B4-BE49-F238E27FC236}">
                    <a16:creationId xmlns:a16="http://schemas.microsoft.com/office/drawing/2014/main" id="{31BA8CDA-291B-4033-B70C-65180BA0AA91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11249863" y="117043"/>
              <a:ext cx="512064" cy="512064"/>
            </p:xfrm>
            <a:graphic>
              <a:graphicData uri="http://schemas.microsoft.com/office/drawing/2017/model3d">
                <am3d:model3d r:embed="rIdM3d63">
                  <am3d:spPr>
                    <a:xfrm>
                      <a:off x="0" y="0"/>
                      <a:ext cx="512064" cy="512064"/>
                    </a:xfrm>
                    <a:prstGeom prst="rect">
                      <a:avLst/>
                    </a:prstGeom>
                  </am3d:spPr>
                  <am3d:camera>
                    <am3d:pos x="0" y="0" z="66612804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500000" d="1000000"/>
                    <am3d:preTrans dx="0" dy="0" dz="-269999"/>
                    <am3d:scale>
                      <am3d:sx n="1000000" d="1000000"/>
                      <am3d:sy n="1000000" d="1000000"/>
                      <am3d:sz n="1000000" d="1000000"/>
                    </am3d:scale>
                    <am3d:rot ax="0" ay="-960000" az="-144000000"/>
                    <am3d:postTrans dx="0" dy="0" dz="0"/>
                  </am3d:trans>
                  <am3d:raster rName="Office3DRenderer" rVer="16.0.8326">
                    <am3d:blip r:embed="rId2"/>
                  </am3d:raster>
                  <am3d:objViewport viewportSz="512064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5" name="!!coin">
                <a:extLst>
                  <a:ext uri="{FF2B5EF4-FFF2-40B4-BE49-F238E27FC236}">
                    <a16:creationId xmlns:a16="http://schemas.microsoft.com/office/drawing/2014/main" id="{31BA8CDA-291B-4033-B70C-65180BA0AA91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11249863" y="117043"/>
                <a:ext cx="512064" cy="512064"/>
              </a:xfrm>
              <a:prstGeom prst="rect">
                <a:avLst/>
              </a:prstGeom>
            </p:spPr>
          </p:pic>
        </mc:Fallback>
      </mc:AlternateContent>
      <p:sp>
        <p:nvSpPr>
          <p:cNvPr id="6" name="!!kickerbar"/>
          <p:cNvSpPr/>
          <p:nvPr/>
        </p:nvSpPr>
        <p:spPr>
          <a:xfrm>
            <a:off x="685800" y="713232"/>
            <a:ext cx="310896" cy="32004"/>
          </a:xfrm>
          <a:prstGeom prst="rect">
            <a:avLst/>
          </a:prstGeom>
          <a:solidFill>
            <a:srgbClr val="E2B45E"/>
          </a:solidFill>
          <a:ln/>
        </p:spPr>
      </p:sp>
      <p:sp>
        <p:nvSpPr>
          <p:cNvPr id="7" name="!!kicker"/>
          <p:cNvSpPr/>
          <p:nvPr/>
        </p:nvSpPr>
        <p:spPr>
          <a:xfrm>
            <a:off x="1124712" y="5943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spc="300" kern="0" dirty="0">
                <a:solidFill>
                  <a:srgbClr val="E2B4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ДЛЯ ПРОВЕРКИ ФАКТОВ</a:t>
            </a:r>
            <a:endParaRPr lang="en-US" sz="1100" dirty="0"/>
          </a:p>
        </p:txBody>
      </p:sp>
      <p:sp>
        <p:nvSpPr>
          <p:cNvPr id="8" name="!!footline"/>
          <p:cNvSpPr/>
          <p:nvPr/>
        </p:nvSpPr>
        <p:spPr>
          <a:xfrm>
            <a:off x="685800" y="6400800"/>
            <a:ext cx="10820095" cy="91"/>
          </a:xfrm>
          <a:prstGeom prst="line">
            <a:avLst/>
          </a:prstGeom>
          <a:noFill/>
          <a:ln w="9525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9" name="!!footer"/>
          <p:cNvSpPr/>
          <p:nvPr/>
        </p:nvSpPr>
        <p:spPr>
          <a:xfrm>
            <a:off x="685800" y="649224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spc="200" kern="0" dirty="0">
                <a:solidFill>
                  <a:srgbClr val="BBAC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РИЧАРД КАНТИЛЬОН  ·  1680-е – 1734</a:t>
            </a:r>
            <a:endParaRPr lang="en-US" sz="900" dirty="0"/>
          </a:p>
        </p:txBody>
      </p:sp>
      <p:sp>
        <p:nvSpPr>
          <p:cNvPr id="10" name="!!pagenum"/>
          <p:cNvSpPr/>
          <p:nvPr/>
        </p:nvSpPr>
        <p:spPr>
          <a:xfrm>
            <a:off x="10134295" y="649224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900" spc="200" kern="0" dirty="0">
                <a:solidFill>
                  <a:srgbClr val="BBAC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 / 17</a:t>
            </a:r>
            <a:endParaRPr lang="en-US" sz="900" dirty="0"/>
          </a:p>
        </p:txBody>
      </p:sp>
      <p:sp>
        <p:nvSpPr>
          <p:cNvPr id="11" name="!!title"/>
          <p:cNvSpPr/>
          <p:nvPr/>
        </p:nvSpPr>
        <p:spPr>
          <a:xfrm>
            <a:off x="685800" y="987552"/>
            <a:ext cx="6035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400" dirty="0">
                <a:solidFill>
                  <a:srgbClr val="F6EFE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Источники</a:t>
            </a:r>
            <a:endParaRPr lang="en-US" sz="3400" dirty="0"/>
          </a:p>
        </p:txBody>
      </p:sp>
      <p:sp>
        <p:nvSpPr>
          <p:cNvPr id="12" name="fx17_1_0"/>
          <p:cNvSpPr/>
          <p:nvPr/>
        </p:nvSpPr>
        <p:spPr>
          <a:xfrm>
            <a:off x="685800" y="1783080"/>
            <a:ext cx="521208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spcAft>
                <a:spcPts val="400"/>
              </a:spcAft>
              <a:buNone/>
            </a:pPr>
            <a:r>
              <a:rPr lang="en-US" sz="1000" b="1" spc="200" kern="0" dirty="0">
                <a:solidFill>
                  <a:srgbClr val="E2B4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БИОГРАФИЯ</a:t>
            </a:r>
            <a:endParaRPr lang="en-US" sz="1000" dirty="0"/>
          </a:p>
          <a:p>
            <a:pPr algn="l" marL="342900" indent="-342900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F6EF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Murphy A. E. Richard Cantillon: Entrepreneur and Economist (Oxford, 1986)</a:t>
            </a:r>
            <a:endParaRPr lang="en-US" sz="1000" dirty="0"/>
          </a:p>
          <a:p>
            <a:pPr algn="l" marL="342900" indent="-342900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F6EF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Brewer A. Richard Cantillon: Pioneer of Economic Theory (1992)</a:t>
            </a:r>
            <a:endParaRPr lang="en-US" sz="1000" dirty="0"/>
          </a:p>
          <a:p>
            <a:pPr algn="l" marL="342900" indent="-342900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F6EF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Wikipedia — Richard Cantillon (биография, семья, карьера, влияние)</a:t>
            </a:r>
            <a:endParaRPr lang="en-US" sz="1000" dirty="0"/>
          </a:p>
          <a:p>
            <a:pPr algn="l" marL="342900" indent="-342900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F6EF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Encyclopedia.com — Cantillon, Richard</a:t>
            </a:r>
            <a:endParaRPr lang="en-US" sz="1000" dirty="0"/>
          </a:p>
          <a:p>
            <a:pPr algn="l" marL="342900" indent="-342900">
              <a:lnSpc>
                <a:spcPct val="100000"/>
              </a:lnSpc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F6EF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Irish Independent — «A millionaire, a market crash and a murder» (2013)</a:t>
            </a:r>
            <a:endParaRPr lang="en-US" sz="1000" dirty="0"/>
          </a:p>
          <a:p>
            <a:pPr algn="l" indent="0" marL="0">
              <a:lnSpc>
                <a:spcPct val="100000"/>
              </a:lnSpc>
              <a:spcAft>
                <a:spcPts val="400"/>
              </a:spcAft>
              <a:buNone/>
            </a:pPr>
            <a:r>
              <a:rPr lang="en-US" sz="1000" b="1" spc="200" kern="0" dirty="0">
                <a:solidFill>
                  <a:srgbClr val="E2B4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ПУЗЫРЬ И ТАЙНА 1734 ГОДА</a:t>
            </a:r>
            <a:endParaRPr lang="en-US" sz="1000" dirty="0"/>
          </a:p>
          <a:p>
            <a:pPr algn="l" marL="342900" indent="-342900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F6EF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Higgs H. — история с Ло и угрозой высылки (1891)</a:t>
            </a:r>
            <a:endParaRPr lang="en-US" sz="1000" dirty="0"/>
          </a:p>
          <a:p>
            <a:pPr algn="l" marL="342900" indent="-342900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F6EF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Murphy A. E. — версия об инсценировке и Суринаме</a:t>
            </a:r>
            <a:endParaRPr lang="en-US" sz="1000" dirty="0"/>
          </a:p>
          <a:p>
            <a:pPr algn="l" marL="342900" indent="-342900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F6EF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MSED 2024 — R. Cantillon's Concept of the Entrepreneur</a:t>
            </a:r>
            <a:endParaRPr lang="en-US" sz="1000" dirty="0"/>
          </a:p>
        </p:txBody>
      </p:sp>
      <p:sp>
        <p:nvSpPr>
          <p:cNvPr id="13" name="fx17_2_1"/>
          <p:cNvSpPr/>
          <p:nvPr/>
        </p:nvSpPr>
        <p:spPr>
          <a:xfrm>
            <a:off x="6263640" y="1783080"/>
            <a:ext cx="521208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spcAft>
                <a:spcPts val="400"/>
              </a:spcAft>
              <a:buNone/>
            </a:pPr>
            <a:r>
              <a:rPr lang="en-US" sz="1000" b="1" spc="200" kern="0" dirty="0">
                <a:solidFill>
                  <a:srgbClr val="E2B4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ТРУД КАНТИЛЬОНА</a:t>
            </a:r>
            <a:endParaRPr lang="en-US" sz="1000" dirty="0"/>
          </a:p>
          <a:p>
            <a:pPr algn="l" marL="342900" indent="-342900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F6EF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Essai sur la nature du commerce en général (≈1730, изд. 1755)</a:t>
            </a:r>
            <a:endParaRPr lang="en-US" sz="1000" dirty="0"/>
          </a:p>
          <a:p>
            <a:pPr algn="l" marL="342900" indent="-342900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F6EF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Пер. H. Higgs (1931), ч. I, гл. XIII: предприниматели, нищие и разбойники</a:t>
            </a:r>
            <a:endParaRPr lang="en-US" sz="1000" dirty="0"/>
          </a:p>
          <a:p>
            <a:pPr algn="l" marL="342900" indent="-342900">
              <a:lnSpc>
                <a:spcPct val="100000"/>
              </a:lnSpc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F6EF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Ч. I, гл. XV: «мыши в амбаре» (цит. по CORE Econ, Encyclopedia.com)</a:t>
            </a:r>
            <a:endParaRPr lang="en-US" sz="1000" dirty="0"/>
          </a:p>
          <a:p>
            <a:pPr algn="l" indent="0" marL="0">
              <a:lnSpc>
                <a:spcPct val="100000"/>
              </a:lnSpc>
              <a:spcAft>
                <a:spcPts val="400"/>
              </a:spcAft>
              <a:buNone/>
            </a:pPr>
            <a:r>
              <a:rPr lang="en-US" sz="1000" b="1" spc="200" kern="0" dirty="0">
                <a:solidFill>
                  <a:srgbClr val="E2B4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ИССЛЕДОВАНИЯ</a:t>
            </a:r>
            <a:endParaRPr lang="en-US" sz="1000" dirty="0"/>
          </a:p>
          <a:p>
            <a:pPr algn="l" marL="342900" indent="-342900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F6EF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Jevons W. S. Richard Cantillon and the Nationality of Political Economy (1881)</a:t>
            </a:r>
            <a:endParaRPr lang="en-US" sz="1000" dirty="0"/>
          </a:p>
          <a:p>
            <a:pPr algn="l" marL="342900" indent="-342900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F6EF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Thornton M. Cantillon and the Rise of Anti-Mercantilism</a:t>
            </a:r>
            <a:endParaRPr lang="en-US" sz="1000" dirty="0"/>
          </a:p>
          <a:p>
            <a:pPr algn="l" marL="342900" indent="-342900">
              <a:lnSpc>
                <a:spcPct val="100000"/>
              </a:lnSpc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F6EF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Ravier L. A Redefinition of the Entrepreneurial Function Concept</a:t>
            </a:r>
            <a:endParaRPr lang="en-US" sz="1000" dirty="0"/>
          </a:p>
          <a:p>
            <a:pPr algn="l" indent="0" marL="0">
              <a:lnSpc>
                <a:spcPct val="100000"/>
              </a:lnSpc>
              <a:spcAft>
                <a:spcPts val="400"/>
              </a:spcAft>
              <a:buNone/>
            </a:pPr>
            <a:r>
              <a:rPr lang="en-US" sz="1000" b="1" spc="200" kern="0" dirty="0">
                <a:solidFill>
                  <a:srgbClr val="E2B4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3D</a:t>
            </a:r>
            <a:endParaRPr lang="en-US" sz="1000" dirty="0"/>
          </a:p>
          <a:p>
            <a:pPr algn="l" marL="342900" indent="-342900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F6EF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Все 15 экспонатов смоделированы в Blender специально для этой презентации (models/).</a:t>
            </a:r>
            <a:endParaRPr lang="en-US" sz="1000" dirty="0"/>
          </a:p>
        </p:txBody>
      </p: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14" name="!!m-coinbig">
                <a:extLst>
                  <a:ext uri="{FF2B5EF4-FFF2-40B4-BE49-F238E27FC236}">
                    <a16:creationId xmlns:a16="http://schemas.microsoft.com/office/drawing/2014/main" id="{852C021E-B0BE-3BC2-2C4C-54E6AE308759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-4480560" y="1234440"/>
              <a:ext cx="3931920" cy="3931920"/>
            </p:xfrm>
            <a:graphic>
              <a:graphicData uri="http://schemas.microsoft.com/office/drawing/2017/model3d">
                <am3d:model3d r:embed="rIdM3d64">
                  <am3d:spPr>
                    <a:xfrm>
                      <a:off x="0" y="0"/>
                      <a:ext cx="3931920" cy="3931920"/>
                    </a:xfrm>
                    <a:prstGeom prst="rect">
                      <a:avLst/>
                    </a:prstGeom>
                  </am3d:spPr>
                  <am3d:camera>
                    <am3d:pos x="0" y="0" z="66612804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500000" d="1000000"/>
                    <am3d:preTrans dx="0" dy="0" dz="-269999"/>
                    <am3d:scale>
                      <am3d:sx n="1000000" d="1000000"/>
                      <am3d:sy n="1000000" d="1000000"/>
                      <am3d:sz n="1000000" d="1000000"/>
                    </am3d:scale>
                    <am3d:rot ax="480000" ay="-6480000" az="-1080000"/>
                    <am3d:postTrans dx="0" dy="0" dz="0"/>
                  </am3d:trans>
                  <am3d:raster rName="Office3DRenderer" rVer="16.0.8326">
                    <am3d:blip r:embed="rId3"/>
                  </am3d:raster>
                  <am3d:objViewport viewportSz="3931920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14" name="!!m-coinbig">
                <a:extLst>
                  <a:ext uri="{FF2B5EF4-FFF2-40B4-BE49-F238E27FC236}">
                    <a16:creationId xmlns:a16="http://schemas.microsoft.com/office/drawing/2014/main" id="{852C021E-B0BE-3BC2-2C4C-54E6AE308759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-4480560" y="1234440"/>
                <a:ext cx="3931920" cy="39319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6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42" presetClass="entr" presetSubtype="0" fill="hold" grpId="0" nodeType="after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7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700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00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42" presetClass="entr" presetSubtype="0" fill="hold" grpId="0" nodeType="withEffect">
                                  <p:stCondLst>
                                    <p:cond delay="41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7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700" decel="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700" decel="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Ричард Кантильон — 3D-презентация</dc:title>
  <dc:subject>Биография, главная идея и вклад в теорию предпринимательства</dc:subject>
  <dc:creator>omgGame</dc:creator>
  <cp:lastModifiedBy>omgGame</cp:lastModifiedBy>
  <cp:revision>1</cp:revision>
  <dcterms:created xsi:type="dcterms:W3CDTF">2026-10-06T14:54:56Z</dcterms:created>
  <dcterms:modified xsi:type="dcterms:W3CDTF">2026-10-06T14:54:56Z</dcterms:modified>
</cp:coreProperties>
</file>