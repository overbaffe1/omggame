
<file path=[Content_Types].xml><?xml version="1.0" encoding="utf-8"?>
<Types xmlns="http://schemas.openxmlformats.org/package/2006/content-types">
  <Default Extension="glb" ContentType="model/gltf.binary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Здравствуйте! Наш доклад посвящён Ричарду Кантильону — ирландско-французскому банкиру XVIII века. Его знают гораздо меньше, чем Адама Смита, но именно Кантильон первым сделал предпринимателя центральной фигурой экономической теории — примерно в 1730 году, на 70 лет раньше Жан-Батиста Сэя, которому это часто приписывают.
Мы расскажем, в какое время он жил, что повлияло на его взгляды, в чём суть его теории предпринимательства, разберём её сильные и слабые стороны и поделимся своими выводами.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Начнём с биографии. Кантильон родился в 1680-х годах в графстве Керри, на юго-западе Ирландии, в католической дворянской семье. Семья потеряла свои земли при Кромвеле, и, как многие ирландские католики того времени, он уехал во Францию. В 1708 году он получил французское подданство. Его двоюродный брат держал банк в Париже — с этого и началась карьера Кантильона.
Интересно, что мы не знаем ни точной даты его рождения, ни даже того, как он выглядел: достоверных портретов нет. Есть только гипотеза, что он изображён на семейном портрете художника Ларжильера.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Теперь о времени, в которое он жил. Это эпоха финансовой революции: в 1694 году появляется Банк Англии, возникают государственный долг, акционерные компании и биржа. С 1701 по 1714 год Европа воюет за испанское наследство. В 1715 году умирает Людовик XIV, и казна Франции оказывается пустой. А в 1720 году почти одновременно лопаются два финансовых пузыря — в Париже и в Лондоне.
Главная экономическая идея того времени — меркантилизм: богатство страны — это золото и серебро. Кантильон же увидел другое — риск, рынок и людей, которые ставят на неизвестное будущее. Экономики как науки тогда ещё не было: «Богатство народов» Смита выйдет на 45 лет позже.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Чем он занимался? Если коротко — деньгами. Около 1711 года в Испании он работал на британского казначея Джеймса Бриджеса и организовывал выплаты британским военнопленным. В 1714 году он начал работать в парижском банке своего кузена, а в 1716-м выкупил этот банк. Его клиентами были двор изгнанных Стюартов, ирландские эмигранты, поэт Александр Поуп.
И наконец, он был спекулянтом: на финансовом пузыре он заработал огромное состояние. Деньги он хранил в банках Лондона, Амстердама, Вены и Кадиса. А уезжая из Парижа, оставил сундук со своими бумагами на хранение английским монахам.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Главная финансовая история его жизни — пузырь Миссисипи. Шотландец Джон Ло убедил регента Франции, что бумажные деньги спасут страну от долгов, и основал банк, а затем Миссисипскую компанию с монополией на торговлю с Луизианой. Её акции подорожали примерно в двадцать раз.
Кантильон считал систему обречённой — и именно поэтому на ней заработал: купил акции рано, продал дорого. Когда в 1720 году пузырь лопнул, у него было около двадцати миллионов ливров.
Есть рассказ, что Ло пригрозил ему Бастилией, а Кантильон ответил: «Я не уеду — и помогу вашей системе». Нажился на ней — и всё равно уехал. Скорее всего, это легенда, но очень показательная.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Что повлияло на его взгляды? Во-первых, англичанин Уильям Петти и его «политическая арифметика»: идея, что экономику нужно изучать с помощью цифр, и мысль о связи стоимости с землёй и трудом. Во-вторых, Джон Локк, который писал, что чем больше денег, тем выше цены. Кантильон с ним спорит — посмотрите на цитату: Локк увидел, что деньги делают всё дороже, но не объяснил, как именно это происходит. В-третьих, Джон Ло — но как антипример. И в-четвёртых, его собственный опыт банкира: примеры в его книге взяты из реальных сделок.
В свою очередь, идеи Кантильона повлияли на физиократов, Адама Смита, Сэя, Джевонса и Хайека.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Свои взгляды Кантильон изложил в книге «Опыт о природе торговли вообще», написанной около 1730 года. Это первый трактат, в котором экономика рассматривается целиком: цены, деньги, процент, торговля.
Судьба книги необычна: она вышла только в 1755 году, через 21 год после смерти автора, анонимно и с ложным адресом издателя. Адам Смит ссылается на неё в «Богатстве народов». Потом книгу почти на сто лет забыли, пока в 1881 году экономист Джевонс не открыл её заново и не назвал «колыбелью политической экономии». А Шумпетер позже назвал её первым систематическим исследованием экономики.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Теперь о сущности его теории. Главная мысль Кантильона: экономика — это система, которая регулирует себя сама через рынки, цены и деньги, а не через приказы государства.
Всё общество он делит на три группы. Землевладельцы независимы, и их расходы определяют спрос. Наёмные работники получают фиксированный, заранее известный доход. А предприниматели — это все, чей доход заранее неизвестен.
Отсюда парадокс: генерал на жалованье у Кантильона — наёмный работник, а трубочист или водонос — предприниматели. Важен не статус и не размер дохода, а только то, известен ли он заранее.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Главное для нашей темы — как Кантильон определяет предпринимателя. Предприниматель платит известную цену сегодня, чтобы продать по неизвестной цене завтра. Между этими моментами — неопределённость: никто не знает, каким будет спрос, останутся ли клиенты, что сделают конкуренты. Угадал — получил прибыль, ошибся — разорился. То есть прибыль — это плата за риск и неопределённость.
Поэтому предпринимателями у него оказываются очень разные люди: фермер, пекарь, купец, трубочист, врач, художник. И даже, как он пишет, «нищие и грабители». Для него важна не мораль и не масштаб дела, а только неопределённость дохода.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Вторая важная идея получила его имя — эффект Кантильона. Он заметил, что новые деньги распределяются по экономике неравномерно. Те, кто получает их первыми, тратят по старым ценам и выигрывают. Цены растут, и те, к кому деньги приходят последними, получают их уже после подорожания и проигрывают.
Пример из книги: когда открываются новые серебряные рудники, шахтёры начинают есть больше мяса и пить вино, эти товары дорожают, и фермеры переводят землю под скот и виноградники.
Этот термин используют и сегодня — например, когда объясняют, кто первым выигрывает от выпуска денег центральными банками.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Итак, каков вклад Кантильона в теорию предпринимательства? Во-первых, он ввёл само понятие предпринимателя в экономическую науку. Во-вторых, определил его главную функцию — брать на себя неопределённость. В-третьих, показал, что предприниматели координируют рынок: подстраивают предложение под спрос.
С него началась целая эстафета идей. Сэй увидел в предпринимателе организатора производства, Шумпетер — новатора, Найт связал прибыль с неопределённостью, а Кирцнер — с умением замечать возможности. Не случайно экономист Мюррей Ротбард назвал Кантильона «отцом-основателем современной экономики».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Теперь попробуем оценить его теорию критически.
Сильные стороны: предприниматель определяется по функции, а не по сословию, поэтому определение универсально; экономика показана как саморегулирующаяся система; деньги не нейтральны; а сама теория выросла из реального опыта автора.
Слабые стороны: предприниматель у Кантильона пассивен — он приспосабливается к рынку, но ничего не создаёт, роль инноваций позже добавит Шумпетер. Он не разделяет предпринимателя и капиталиста — это сделают Сэй и Найт. Определение слишком широкое: даже грабители считаются предпринимателями. И картина мира аграрная.
Наша оценка: основа теории верна и сегодня, но для современной экономики её нужно дополнять.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Конец жизни Кантильона тоже загадочен. 14 мая 1734 года, около трёх часов ночи, его дом в Лондоне сгорел, а в постели нашли обгоревшее тело. В доме было ценностей на двести тысяч фунтов, а недавно уволенный повар бежал за границу. Трёх слуг судили, но оправдали.
Существует две версии. Первая — убийство с целью ограбления и поджог. Вторая, которую предложил биограф Антуан Мёрфи: Кантильон инсценировал свою смерть, чтобы скрыться от судов и врагов. В её пользу говорит то, что вскоре в Суринаме появился человек с его бумагами и новым завещанием, составленным за месяц до пожара.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 немного забавных фактов. Противники в суде утверждали, что этот «ирландский дворянин» однажды назвал себя уроженцем Нормандии. В 1728 году миллионера арестовали прямо на улице Парижа — и отпустили через несколько часов. Бывшие клиенты обвиняли его в ростовщичестве, краже и даже покушении на убийство, но ни одного приговора не было. Его книгу переписывали другие авторы ещё до её выхода, а потом родственник издал её переделку. А знаменитая пивоварня Cantillon в Брюсселе — просто однофамилец.
И цитата самого Кантильона, которого всю жизнь обвиняли в ростовщичестве: «Нет ничего забавнее множества законов о проценте, которые издают в каждом веке».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Подведём итоги. Мы пришли к четырём выводам.
Первый: Кантильон — первый теоретик предпринимателя, он ввёл это понятие в экономическую науку.
Второй: суть предпринимательства, по Кантильону, — неопределённость, а не капитал, профессия или статус: купить по известной цене и продать по неизвестной.
Третий: его взгляды сформировали эпоха финансовых пузырей и колониальной торговли и его собственный опыт банкира.
Четвёртый: теория неполна, но стала фундаментом для Сэя, Шумпетера, Найта и Кирцнера.
И она актуальна сегодня: курьер-самозанятый, фермер, продавец на маркетплейсе, основатель стартапа — все вкладываются сегодня, не зная, какой будет выручка завтра. Спасибо за внимание!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Здесь приведён список источников, по которым мы готовили доклад. Если есть вопросы — с удовольствием ответим.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Relationship Id="rIdM3d1" Type="http://schemas.microsoft.com/office/2017/06/relationships/model3d" Target="../media/model3d1.glb"/><Relationship Id="rIdM3d2" Type="http://schemas.microsoft.com/office/2017/06/relationships/model3d" Target="../media/model3d2.glb"/><Relationship Id="rIdM3d3" Type="http://schemas.microsoft.com/office/2017/06/relationships/model3d" Target="../media/model3d3.glb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2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2-5.png"/><Relationship Id="rId6" Type="http://schemas.openxmlformats.org/officeDocument/2006/relationships/image" Target="../media/image-2-6.jpg"/><Relationship Id="rId7" Type="http://schemas.openxmlformats.org/officeDocument/2006/relationships/image" Target="../media/image-1-6.png"/><Relationship Id="rId8" Type="http://schemas.openxmlformats.org/officeDocument/2006/relationships/image" Target="../media/image-1-6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.xml"/><Relationship Id="rIdM3d4" Type="http://schemas.microsoft.com/office/2017/06/relationships/model3d" Target="../media/model3d4.glb"/><Relationship Id="rIdM3d5" Type="http://schemas.microsoft.com/office/2017/06/relationships/model3d" Target="../media/model3d5.glb"/><Relationship Id="rIdM3d6" Type="http://schemas.microsoft.com/office/2017/06/relationships/model3d" Target="../media/model3d6.glb"/><Relationship Id="rIdM3d7" Type="http://schemas.microsoft.com/office/2017/06/relationships/model3d" Target="../media/model3d7.glb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3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3-5.png"/><Relationship Id="rId6" Type="http://schemas.openxmlformats.org/officeDocument/2006/relationships/image" Target="../media/image-1-6.png"/><Relationship Id="rId7" Type="http://schemas.openxmlformats.org/officeDocument/2006/relationships/image" Target="../media/image-1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Relationship Id="rIdM3d8" Type="http://schemas.microsoft.com/office/2017/06/relationships/model3d" Target="../media/model3d8.glb"/><Relationship Id="rIdM3d9" Type="http://schemas.microsoft.com/office/2017/06/relationships/model3d" Target="../media/model3d9.glb"/><Relationship Id="rIdM3d10" Type="http://schemas.microsoft.com/office/2017/06/relationships/model3d" Target="../media/model3d10.glb"/><Relationship Id="rIdM3d11" Type="http://schemas.microsoft.com/office/2017/06/relationships/model3d" Target="../media/model3d11.glb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4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4-5.png"/><Relationship Id="rId6" Type="http://schemas.openxmlformats.org/officeDocument/2006/relationships/image" Target="../media/image-1-6.png"/><Relationship Id="rId7" Type="http://schemas.openxmlformats.org/officeDocument/2006/relationships/image" Target="../media/image-1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Relationship Id="rIdM3d12" Type="http://schemas.microsoft.com/office/2017/06/relationships/model3d" Target="../media/model3d12.glb"/><Relationship Id="rIdM3d13" Type="http://schemas.microsoft.com/office/2017/06/relationships/model3d" Target="../media/model3d13.glb"/><Relationship Id="rIdM3d14" Type="http://schemas.microsoft.com/office/2017/06/relationships/model3d" Target="../media/model3d14.glb"/><Relationship Id="rIdM3d15" Type="http://schemas.microsoft.com/office/2017/06/relationships/model3d" Target="../media/model3d15.glb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5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5-5.png"/><Relationship Id="rId6" Type="http://schemas.openxmlformats.org/officeDocument/2006/relationships/image" Target="../media/image-1-6.png"/><Relationship Id="rId7" Type="http://schemas.openxmlformats.org/officeDocument/2006/relationships/image" Target="../media/image-1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Relationship Id="rIdM3d16" Type="http://schemas.microsoft.com/office/2017/06/relationships/model3d" Target="../media/model3d16.glb"/><Relationship Id="rIdM3d17" Type="http://schemas.microsoft.com/office/2017/06/relationships/model3d" Target="../media/model3d17.glb"/><Relationship Id="rIdM3d18" Type="http://schemas.microsoft.com/office/2017/06/relationships/model3d" Target="../media/model3d18.glb"/><Relationship Id="rIdM3d19" Type="http://schemas.microsoft.com/office/2017/06/relationships/model3d" Target="../media/model3d19.glb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6-5.png"/><Relationship Id="rId6" Type="http://schemas.openxmlformats.org/officeDocument/2006/relationships/image" Target="../media/image-1-6.png"/><Relationship Id="rId7" Type="http://schemas.openxmlformats.org/officeDocument/2006/relationships/image" Target="../media/image-1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Relationship Id="rIdM3d20" Type="http://schemas.microsoft.com/office/2017/06/relationships/model3d" Target="../media/model3d20.glb"/><Relationship Id="rIdM3d21" Type="http://schemas.microsoft.com/office/2017/06/relationships/model3d" Target="../media/model3d21.glb"/><Relationship Id="rIdM3d22" Type="http://schemas.microsoft.com/office/2017/06/relationships/model3d" Target="../media/model3d22.glb"/><Relationship Id="rIdM3d23" Type="http://schemas.microsoft.com/office/2017/06/relationships/model3d" Target="../media/model3d23.glb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7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7-5.png"/><Relationship Id="rId6" Type="http://schemas.openxmlformats.org/officeDocument/2006/relationships/image" Target="../media/image-1-6.png"/><Relationship Id="rId7" Type="http://schemas.openxmlformats.org/officeDocument/2006/relationships/image" Target="../media/image-1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Relationship Id="rIdM3d24" Type="http://schemas.microsoft.com/office/2017/06/relationships/model3d" Target="../media/model3d24.glb"/><Relationship Id="rIdM3d25" Type="http://schemas.microsoft.com/office/2017/06/relationships/model3d" Target="../media/model3d25.glb"/><Relationship Id="rIdM3d26" Type="http://schemas.microsoft.com/office/2017/06/relationships/model3d" Target="../media/model3d26.glb"/><Relationship Id="rIdM3d27" Type="http://schemas.microsoft.com/office/2017/06/relationships/model3d" Target="../media/model3d27.glb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8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8-5.png"/><Relationship Id="rId6" Type="http://schemas.openxmlformats.org/officeDocument/2006/relationships/image" Target="../media/image-1-6.png"/><Relationship Id="rId7" Type="http://schemas.openxmlformats.org/officeDocument/2006/relationships/image" Target="../media/image-1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Relationship Id="rIdM3d28" Type="http://schemas.microsoft.com/office/2017/06/relationships/model3d" Target="../media/model3d28.glb"/><Relationship Id="rIdM3d29" Type="http://schemas.microsoft.com/office/2017/06/relationships/model3d" Target="../media/model3d29.glb"/><Relationship Id="rIdM3d30" Type="http://schemas.microsoft.com/office/2017/06/relationships/model3d" Target="../media/model3d30.glb"/><Relationship Id="rIdM3d31" Type="http://schemas.microsoft.com/office/2017/06/relationships/model3d" Target="../media/model3d31.glb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9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9-5.png"/><Relationship Id="rId6" Type="http://schemas.openxmlformats.org/officeDocument/2006/relationships/image" Target="../media/image-1-6.png"/><Relationship Id="rId7" Type="http://schemas.openxmlformats.org/officeDocument/2006/relationships/image" Target="../media/image-1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9.xml"/><Relationship Id="rIdM3d32" Type="http://schemas.microsoft.com/office/2017/06/relationships/model3d" Target="../media/model3d32.glb"/><Relationship Id="rIdM3d33" Type="http://schemas.microsoft.com/office/2017/06/relationships/model3d" Target="../media/model3d33.glb"/><Relationship Id="rIdM3d34" Type="http://schemas.microsoft.com/office/2017/06/relationships/model3d" Target="../media/model3d34.glb"/><Relationship Id="rIdM3d35" Type="http://schemas.microsoft.com/office/2017/06/relationships/model3d" Target="../media/model3d35.glb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0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0-5.png"/><Relationship Id="rId6" Type="http://schemas.openxmlformats.org/officeDocument/2006/relationships/image" Target="../media/image-1-6.png"/><Relationship Id="rId7" Type="http://schemas.openxmlformats.org/officeDocument/2006/relationships/image" Target="../media/image-1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0.xml"/><Relationship Id="rIdM3d36" Type="http://schemas.microsoft.com/office/2017/06/relationships/model3d" Target="../media/model3d36.glb"/><Relationship Id="rIdM3d37" Type="http://schemas.microsoft.com/office/2017/06/relationships/model3d" Target="../media/model3d37.glb"/><Relationship Id="rIdM3d38" Type="http://schemas.microsoft.com/office/2017/06/relationships/model3d" Target="../media/model3d38.glb"/><Relationship Id="rIdM3d39" Type="http://schemas.microsoft.com/office/2017/06/relationships/model3d" Target="../media/model3d39.glb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1-5.png"/><Relationship Id="rId6" Type="http://schemas.openxmlformats.org/officeDocument/2006/relationships/image" Target="../media/image-1-6.png"/><Relationship Id="rId7" Type="http://schemas.openxmlformats.org/officeDocument/2006/relationships/image" Target="../media/image-1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1.xml"/><Relationship Id="rIdM3d40" Type="http://schemas.microsoft.com/office/2017/06/relationships/model3d" Target="../media/model3d40.glb"/><Relationship Id="rIdM3d41" Type="http://schemas.microsoft.com/office/2017/06/relationships/model3d" Target="../media/model3d41.glb"/><Relationship Id="rIdM3d42" Type="http://schemas.microsoft.com/office/2017/06/relationships/model3d" Target="../media/model3d42.glb"/><Relationship Id="rIdM3d43" Type="http://schemas.microsoft.com/office/2017/06/relationships/model3d" Target="../media/model3d43.glb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2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2-5.png"/><Relationship Id="rId6" Type="http://schemas.openxmlformats.org/officeDocument/2006/relationships/image" Target="../media/image-1-6.png"/><Relationship Id="rId7" Type="http://schemas.openxmlformats.org/officeDocument/2006/relationships/image" Target="../media/image-1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2.xml"/><Relationship Id="rIdM3d44" Type="http://schemas.microsoft.com/office/2017/06/relationships/model3d" Target="../media/model3d44.glb"/><Relationship Id="rIdM3d45" Type="http://schemas.microsoft.com/office/2017/06/relationships/model3d" Target="../media/model3d45.glb"/><Relationship Id="rIdM3d46" Type="http://schemas.microsoft.com/office/2017/06/relationships/model3d" Target="../media/model3d46.glb"/><Relationship Id="rIdM3d47" Type="http://schemas.microsoft.com/office/2017/06/relationships/model3d" Target="../media/model3d47.glb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3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3-5.png"/><Relationship Id="rId6" Type="http://schemas.openxmlformats.org/officeDocument/2006/relationships/image" Target="../media/image-1-6.png"/><Relationship Id="rId7" Type="http://schemas.openxmlformats.org/officeDocument/2006/relationships/image" Target="../media/image-1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3.xml"/><Relationship Id="rIdM3d48" Type="http://schemas.microsoft.com/office/2017/06/relationships/model3d" Target="../media/model3d48.glb"/><Relationship Id="rIdM3d49" Type="http://schemas.microsoft.com/office/2017/06/relationships/model3d" Target="../media/model3d49.glb"/><Relationship Id="rIdM3d50" Type="http://schemas.microsoft.com/office/2017/06/relationships/model3d" Target="../media/model3d50.glb"/><Relationship Id="rIdM3d51" Type="http://schemas.microsoft.com/office/2017/06/relationships/model3d" Target="../media/model3d51.glb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4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4-5.png"/><Relationship Id="rId6" Type="http://schemas.openxmlformats.org/officeDocument/2006/relationships/image" Target="../media/image-1-6.png"/><Relationship Id="rId7" Type="http://schemas.openxmlformats.org/officeDocument/2006/relationships/image" Target="../media/image-1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4.xml"/><Relationship Id="rIdM3d52" Type="http://schemas.microsoft.com/office/2017/06/relationships/model3d" Target="../media/model3d52.glb"/><Relationship Id="rIdM3d53" Type="http://schemas.microsoft.com/office/2017/06/relationships/model3d" Target="../media/model3d53.glb"/><Relationship Id="rIdM3d54" Type="http://schemas.microsoft.com/office/2017/06/relationships/model3d" Target="../media/model3d54.glb"/><Relationship Id="rIdM3d55" Type="http://schemas.microsoft.com/office/2017/06/relationships/model3d" Target="../media/model3d55.glb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5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5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5.xml"/><Relationship Id="rIdM3d56" Type="http://schemas.microsoft.com/office/2017/06/relationships/model3d" Target="../media/model3d56.glb"/><Relationship Id="rIdM3d57" Type="http://schemas.microsoft.com/office/2017/06/relationships/model3d" Target="../media/model3d57.glb"/><Relationship Id="rIdM3d58" Type="http://schemas.microsoft.com/office/2017/06/relationships/model3d" Target="../media/model3d58.glb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6-2.png"/><Relationship Id="rId3" Type="http://schemas.openxmlformats.org/officeDocument/2006/relationships/image" Target="../media/image-1-6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Relationship Id="rIdM3d59" Type="http://schemas.microsoft.com/office/2017/06/relationships/model3d" Target="../media/model3d59.glb"/><Relationship Id="rIdM3d60" Type="http://schemas.microsoft.com/office/2017/06/relationships/model3d" Target="../media/model3d60.glb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1">
    <p:bg>
      <p:bgPr>
        <a:solidFill>
          <a:srgbClr val="0E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home/user/omgGame/presentations/cantillon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rack"/>
          <p:cNvSpPr/>
          <p:nvPr/>
        </p:nvSpPr>
        <p:spPr>
          <a:xfrm>
            <a:off x="685800" y="402336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" name="!!coin">
                <a:extLst>
                  <a:ext uri="{FF2B5EF4-FFF2-40B4-BE49-F238E27FC236}">
                    <a16:creationId xmlns:a16="http://schemas.microsoft.com/office/drawing/2014/main" id="{9A1E02E9-F241-D40B-F581-53B1510117D4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411480" y="98755"/>
              <a:ext cx="548640" cy="548640"/>
            </p:xfrm>
            <a:graphic>
              <a:graphicData uri="http://schemas.microsoft.com/office/drawing/2017/model3d">
                <am3d:model3d r:embed="rIdM3d1">
                  <am3d:spPr>
                    <a:xfrm>
                      <a:off x="0" y="0"/>
                      <a:ext cx="548640" cy="548640"/>
                    </a:xfrm>
                    <a:prstGeom prst="rect">
                      <a:avLst/>
                    </a:prstGeom>
                  </am3d:spPr>
                  <am3d:camera>
                    <am3d:pos x="0" y="0" z="6662303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00000" d="1000000"/>
                    <am3d:preTrans dx="0" dy="0" dz="-162000"/>
                    <am3d:scale>
                      <am3d:sx n="1000000" d="1000000"/>
                      <am3d:sy n="1000000" d="1000000"/>
                      <am3d:sz n="1000000" d="1000000"/>
                    </am3d:scale>
                    <am3d:rot ax="0" ay="-720000" az="0"/>
                    <am3d:postTrans dx="0" dy="0" dz="0"/>
                  </am3d:trans>
                  <am3d:raster rName="Office3DRenderer" rVer="16.0.8326">
                    <am3d:blip r:embed="rId2"/>
                  </am3d:raster>
                  <am3d:objViewport viewportSz="5486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" name="!!coin">
                <a:extLst>
                  <a:ext uri="{FF2B5EF4-FFF2-40B4-BE49-F238E27FC236}">
                    <a16:creationId xmlns:a16="http://schemas.microsoft.com/office/drawing/2014/main" id="{9A1E02E9-F241-D40B-F581-53B1510117D4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11480" y="98755"/>
                <a:ext cx="548640" cy="548640"/>
              </a:xfrm>
              <a:prstGeom prst="rect">
                <a:avLst/>
              </a:prstGeom>
            </p:spPr>
          </p:pic>
        </mc:Fallback>
      </mc:AlternateContent>
      <p:sp>
        <p:nvSpPr>
          <p:cNvPr id="5" name="!!kickerbar"/>
          <p:cNvSpPr/>
          <p:nvPr/>
        </p:nvSpPr>
        <p:spPr>
          <a:xfrm>
            <a:off x="685800" y="713232"/>
            <a:ext cx="310896" cy="3200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6" name="!!kicker"/>
          <p:cNvSpPr/>
          <p:nvPr/>
        </p:nvSpPr>
        <p:spPr>
          <a:xfrm>
            <a:off x="1124712" y="594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3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ЭКОНОМИКА  ·  РИСК  ·  ПРЕДПРИНИМАТЕЛЬСТВО</a:t>
            </a:r>
            <a:endParaRPr lang="en-US" sz="1100" dirty="0"/>
          </a:p>
        </p:txBody>
      </p:sp>
      <p:sp>
        <p:nvSpPr>
          <p:cNvPr id="7" name="!!footline"/>
          <p:cNvSpPr/>
          <p:nvPr/>
        </p:nvSpPr>
        <p:spPr>
          <a:xfrm>
            <a:off x="685800" y="6400800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8" name="!!footer"/>
          <p:cNvSpPr/>
          <p:nvPr/>
        </p:nvSpPr>
        <p:spPr>
          <a:xfrm>
            <a:off x="68580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РИЧАРД КАНТИЛЬОН  ·  1680-е – 1734</a:t>
            </a:r>
            <a:endParaRPr lang="en-US" sz="900" dirty="0"/>
          </a:p>
        </p:txBody>
      </p:sp>
      <p:sp>
        <p:nvSpPr>
          <p:cNvPr id="9" name="!!src"/>
          <p:cNvSpPr/>
          <p:nvPr/>
        </p:nvSpPr>
        <p:spPr>
          <a:xfrm>
            <a:off x="3566160" y="6492240"/>
            <a:ext cx="6492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Источники: </a:t>
            </a:r>
            <a:pPr algn="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Essai, ч. I, гл. XIII; Hébert &amp; Link (2009)</a:t>
            </a:r>
            <a:endParaRPr lang="en-US" sz="850" dirty="0"/>
          </a:p>
        </p:txBody>
      </p:sp>
      <p:sp>
        <p:nvSpPr>
          <p:cNvPr id="10" name="!!pagenum"/>
          <p:cNvSpPr/>
          <p:nvPr/>
        </p:nvSpPr>
        <p:spPr>
          <a:xfrm>
            <a:off x="10134295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16</a:t>
            </a:r>
            <a:endParaRPr lang="en-US" sz="900" dirty="0"/>
          </a:p>
        </p:txBody>
      </p:sp>
      <p:pic>
        <p:nvPicPr>
          <p:cNvPr id="11" name="!!glow" descr="/home/user/omgGame/presentations/cantillon/assets/gl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7338" y="-907542"/>
            <a:ext cx="9678924" cy="9678924"/>
          </a:xfrm>
          <a:prstGeom prst="rect">
            <a:avLst/>
          </a:prstGeom>
        </p:spPr>
      </p:pic>
      <p:sp>
        <p:nvSpPr>
          <p:cNvPr id="12" name="!!ring1"/>
          <p:cNvSpPr/>
          <p:nvPr/>
        </p:nvSpPr>
        <p:spPr>
          <a:xfrm>
            <a:off x="5549494" y="794614"/>
            <a:ext cx="6274613" cy="6274613"/>
          </a:xfrm>
          <a:prstGeom prst="ellipse">
            <a:avLst/>
          </a:prstGeom>
          <a:ln w="9525">
            <a:solidFill>
              <a:srgbClr val="E3B663">
                <a:alpha val="18000"/>
              </a:srgbClr>
            </a:solidFill>
            <a:prstDash val="solid"/>
          </a:ln>
        </p:spPr>
      </p:sp>
      <p:sp>
        <p:nvSpPr>
          <p:cNvPr id="13" name="!!ring2"/>
          <p:cNvSpPr/>
          <p:nvPr/>
        </p:nvSpPr>
        <p:spPr>
          <a:xfrm>
            <a:off x="4681728" y="-73152"/>
            <a:ext cx="8010144" cy="8010144"/>
          </a:xfrm>
          <a:prstGeom prst="ellipse">
            <a:avLst/>
          </a:prstGeom>
          <a:ln w="9525">
            <a:solidFill>
              <a:srgbClr val="E3B663">
                <a:alpha val="12000"/>
              </a:srgbClr>
            </a:solidFill>
            <a:prstDash val="dash"/>
          </a:ln>
        </p:spPr>
      </p:sp>
      <p:pic>
        <p:nvPicPr>
          <p:cNvPr id="14" name="!!shadow" descr="/home/user/omgGame/presentations/cantillon/assets/shad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6752" y="5667451"/>
            <a:ext cx="5340096" cy="1335024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5" name="!!m-ship">
                <a:extLst>
                  <a:ext uri="{FF2B5EF4-FFF2-40B4-BE49-F238E27FC236}">
                    <a16:creationId xmlns:a16="http://schemas.microsoft.com/office/drawing/2014/main" id="{0B4DA675-D15B-28B5-04DA-001D1432889A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5349240" y="594360"/>
              <a:ext cx="6675120" cy="6675120"/>
            </p:xfrm>
            <a:graphic>
              <a:graphicData uri="http://schemas.microsoft.com/office/drawing/2017/model3d">
                <am3d:model3d r:embed="rIdM3d2">
                  <am3d:spPr>
                    <a:xfrm>
                      <a:off x="0" y="0"/>
                      <a:ext cx="6675120" cy="6675120"/>
                    </a:xfrm>
                    <a:prstGeom prst="rect">
                      <a:avLst/>
                    </a:prstGeom>
                  </am3d:spPr>
                  <am3d:camera>
                    <am3d:pos x="0" y="0" z="57036726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322581" d="1000000"/>
                    <am3d:preTrans dx="-1974193" dy="-4006451" dz="-46452"/>
                    <am3d:scale>
                      <am3d:sx n="1000000" d="1000000"/>
                      <am3d:sy n="1000000" d="1000000"/>
                      <am3d:sz n="1000000" d="1000000"/>
                    </am3d:scale>
                    <am3d:rot ax="360000" ay="-2040000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667512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5" name="!!m-ship">
                <a:extLst>
                  <a:ext uri="{FF2B5EF4-FFF2-40B4-BE49-F238E27FC236}">
                    <a16:creationId xmlns:a16="http://schemas.microsoft.com/office/drawing/2014/main" id="{0B4DA675-D15B-28B5-04DA-001D1432889A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349240" y="594360"/>
                <a:ext cx="6675120" cy="6675120"/>
              </a:xfrm>
              <a:prstGeom prst="rect">
                <a:avLst/>
              </a:prstGeom>
            </p:spPr>
          </p:pic>
        </mc:Fallback>
      </mc:AlternateContent>
      <p:sp>
        <p:nvSpPr>
          <p:cNvPr id="16" name="fx1_9_0"/>
          <p:cNvSpPr/>
          <p:nvPr/>
        </p:nvSpPr>
        <p:spPr>
          <a:xfrm>
            <a:off x="7863840" y="11887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900" b="1" spc="25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ЭКСПОНАТ 01</a:t>
            </a:r>
            <a:endParaRPr lang="en-US" sz="900" dirty="0"/>
          </a:p>
          <a:p>
            <a:pPr algn="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Корабль идёт по волнам, над мачтами кружит чайка</a:t>
            </a:r>
            <a:endParaRPr lang="en-US" sz="900" dirty="0"/>
          </a:p>
        </p:txBody>
      </p:sp>
      <p:sp>
        <p:nvSpPr>
          <p:cNvPr id="17" name="!!title"/>
          <p:cNvSpPr/>
          <p:nvPr/>
        </p:nvSpPr>
        <p:spPr>
          <a:xfrm>
            <a:off x="685800" y="1143000"/>
            <a:ext cx="6400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0" dirty="0">
                <a:solidFill>
                  <a:srgbClr val="F3DDA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Ричард</a:t>
            </a:r>
            <a:endParaRPr lang="en-US" sz="52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2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Кантильон</a:t>
            </a:r>
            <a:endParaRPr lang="en-US" sz="5200" dirty="0"/>
          </a:p>
        </p:txBody>
      </p:sp>
      <p:sp>
        <p:nvSpPr>
          <p:cNvPr id="18" name="fx1_1_1"/>
          <p:cNvSpPr/>
          <p:nvPr/>
        </p:nvSpPr>
        <p:spPr>
          <a:xfrm>
            <a:off x="685800" y="3584448"/>
            <a:ext cx="1005840" cy="36576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19" name="fx1_1_2"/>
          <p:cNvSpPr/>
          <p:nvPr/>
        </p:nvSpPr>
        <p:spPr>
          <a:xfrm>
            <a:off x="685800" y="3749040"/>
            <a:ext cx="5394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80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Банкир-миллионер, который первым описал предпринимателя — и исчез при загадочных обстоятельствах</a:t>
            </a:r>
            <a:endParaRPr lang="en-US" sz="1800" dirty="0"/>
          </a:p>
        </p:txBody>
      </p:sp>
      <p:sp>
        <p:nvSpPr>
          <p:cNvPr id="20" name="fx1_2_3"/>
          <p:cNvSpPr/>
          <p:nvPr/>
        </p:nvSpPr>
        <p:spPr>
          <a:xfrm>
            <a:off x="685800" y="477316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spc="25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1680-е — 1734   ·   ИРЛАНДИЯ → ПАРИЖ → ЛОНДОН</a:t>
            </a:r>
            <a:endParaRPr lang="en-US" sz="1200" dirty="0"/>
          </a:p>
        </p:txBody>
      </p:sp>
      <p:sp>
        <p:nvSpPr>
          <p:cNvPr id="21" name="fx1_8_4"/>
          <p:cNvSpPr/>
          <p:nvPr/>
        </p:nvSpPr>
        <p:spPr>
          <a:xfrm>
            <a:off x="685800" y="5349240"/>
            <a:ext cx="5120640" cy="841248"/>
          </a:xfrm>
          <a:prstGeom prst="roundRect">
            <a:avLst>
              <a:gd name="adj" fmla="val 8696"/>
            </a:avLst>
          </a:prstGeom>
          <a:solidFill>
            <a:srgbClr val="22170B">
              <a:alpha val="92000"/>
            </a:srgbClr>
          </a:solidFill>
          <a:ln w="12700">
            <a:solidFill>
              <a:srgbClr val="E3B663">
                <a:alpha val="55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22" name="fx1_8_5"/>
          <p:cNvSpPr/>
          <p:nvPr/>
        </p:nvSpPr>
        <p:spPr>
          <a:xfrm>
            <a:off x="685800" y="5495544"/>
            <a:ext cx="50292" cy="548640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23" name="fx1_8_6"/>
          <p:cNvSpPr/>
          <p:nvPr/>
        </p:nvSpPr>
        <p:spPr>
          <a:xfrm>
            <a:off x="941832" y="5212080"/>
            <a:ext cx="1993392" cy="274320"/>
          </a:xfrm>
          <a:prstGeom prst="roundRect">
            <a:avLst>
              <a:gd name="adj" fmla="val 50000"/>
            </a:avLst>
          </a:prstGeom>
          <a:solidFill>
            <a:srgbClr val="E3B663"/>
          </a:solidFill>
          <a:ln/>
        </p:spPr>
      </p:sp>
      <p:sp>
        <p:nvSpPr>
          <p:cNvPr id="24" name="fx1_8_7"/>
          <p:cNvSpPr/>
          <p:nvPr/>
        </p:nvSpPr>
        <p:spPr>
          <a:xfrm>
            <a:off x="941832" y="5212080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spc="150" kern="0" dirty="0">
                <a:solidFill>
                  <a:srgbClr val="0D0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 САМОЕ ИНТЕРЕСНОЕ</a:t>
            </a:r>
            <a:endParaRPr lang="en-US" sz="850" dirty="0"/>
          </a:p>
        </p:txBody>
      </p:sp>
      <p:sp>
        <p:nvSpPr>
          <p:cNvPr id="25" name="fx1_8_8"/>
          <p:cNvSpPr/>
          <p:nvPr/>
        </p:nvSpPr>
        <p:spPr>
          <a:xfrm>
            <a:off x="960120" y="5532120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Предпринимателя </a:t>
            </a:r>
            <a:pPr algn="l" indent="0" marL="0">
              <a:lnSpc>
                <a:spcPct val="105000"/>
              </a:lnSpc>
              <a:buNone/>
            </a:pPr>
            <a:r>
              <a:rPr lang="en-US" sz="1250" b="1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центральной фигурой экономики</a:t>
            </a:r>
            <a:pPr algn="l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первым сделал он — примерно за 70 лет до Сэя, которому это часто приписывают.</a:t>
            </a:r>
            <a:endParaRPr lang="en-US" sz="125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6" name="!!m-harp">
                <a:extLst>
                  <a:ext uri="{FF2B5EF4-FFF2-40B4-BE49-F238E27FC236}">
                    <a16:creationId xmlns:a16="http://schemas.microsoft.com/office/drawing/2014/main" id="{8730512D-E292-9DE0-9E62-E7B81FAE94DE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740335" y="1234440"/>
              <a:ext cx="4389120" cy="4389120"/>
            </p:xfrm>
            <a:graphic>
              <a:graphicData uri="http://schemas.microsoft.com/office/drawing/2017/model3d">
                <am3d:model3d r:embed="rIdM3d3">
                  <am3d:spPr>
                    <a:xfrm>
                      <a:off x="0" y="0"/>
                      <a:ext cx="4389120" cy="4389120"/>
                    </a:xfrm>
                    <a:prstGeom prst="rect">
                      <a:avLst/>
                    </a:prstGeom>
                  </am3d:spPr>
                  <am3d:camera>
                    <am3d:pos x="0" y="0" z="60690181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49480" d="1000000"/>
                    <am3d:preTrans dx="-156106" dy="-462164" dz="-168783"/>
                    <am3d:scale>
                      <am3d:sx n="1000000" d="1000000"/>
                      <am3d:sy n="1000000" d="1000000"/>
                      <am3d:sz n="1000000" d="1000000"/>
                    </am3d:scale>
                    <am3d:rot ax="360000" ay="3240000" az="0"/>
                    <am3d:postTrans dx="0" dy="0" dz="0"/>
                  </am3d:trans>
                  <am3d:raster rName="Office3DRenderer" rVer="16.0.8326">
                    <am3d:blip r:embed="rId6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38912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6" name="!!m-harp">
                <a:extLst>
                  <a:ext uri="{FF2B5EF4-FFF2-40B4-BE49-F238E27FC236}">
                    <a16:creationId xmlns:a16="http://schemas.microsoft.com/office/drawing/2014/main" id="{8730512D-E292-9DE0-9E62-E7B81FAE94D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2740335" y="1234440"/>
                <a:ext cx="4389120" cy="438912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51" dur="4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16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2">
    <p:bg>
      <p:bgPr>
        <a:solidFill>
          <a:srgbClr val="0E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home/user/omgGame/presentations/cantillon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rack"/>
          <p:cNvSpPr/>
          <p:nvPr/>
        </p:nvSpPr>
        <p:spPr>
          <a:xfrm>
            <a:off x="685800" y="402336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4" name="!!progress"/>
          <p:cNvSpPr/>
          <p:nvPr/>
        </p:nvSpPr>
        <p:spPr>
          <a:xfrm>
            <a:off x="685800" y="391363"/>
            <a:ext cx="721340" cy="21946"/>
          </a:xfrm>
          <a:prstGeom prst="rect">
            <a:avLst/>
          </a:prstGeom>
          <a:solidFill>
            <a:srgbClr val="E3B663"/>
          </a:solidFill>
          <a:ln/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!!coin">
                <a:extLst>
                  <a:ext uri="{FF2B5EF4-FFF2-40B4-BE49-F238E27FC236}">
                    <a16:creationId xmlns:a16="http://schemas.microsoft.com/office/drawing/2014/main" id="{5BA6A588-A434-5FF5-30AE-B471887C7199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132820" y="98755"/>
              <a:ext cx="548640" cy="548640"/>
            </p:xfrm>
            <a:graphic>
              <a:graphicData uri="http://schemas.microsoft.com/office/drawing/2017/model3d">
                <am3d:model3d r:embed="rIdM3d4">
                  <am3d:spPr>
                    <a:xfrm>
                      <a:off x="0" y="0"/>
                      <a:ext cx="548640" cy="548640"/>
                    </a:xfrm>
                    <a:prstGeom prst="rect">
                      <a:avLst/>
                    </a:prstGeom>
                  </am3d:spPr>
                  <am3d:camera>
                    <am3d:pos x="0" y="0" z="6662303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00000" d="1000000"/>
                    <am3d:preTrans dx="0" dy="0" dz="-162000"/>
                    <am3d:scale>
                      <am3d:sx n="1000000" d="1000000"/>
                      <am3d:sy n="1000000" d="1000000"/>
                      <am3d:sz n="1000000" d="1000000"/>
                    </am3d:scale>
                    <am3d:rot ax="0" ay="-720000" az="-8760000"/>
                    <am3d:postTrans dx="0" dy="0" dz="0"/>
                  </am3d:trans>
                  <am3d:raster rName="Office3DRenderer" rVer="16.0.8326">
                    <am3d:blip r:embed="rId2"/>
                  </am3d:raster>
                  <am3d:objViewport viewportSz="5486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!!coin">
                <a:extLst>
                  <a:ext uri="{FF2B5EF4-FFF2-40B4-BE49-F238E27FC236}">
                    <a16:creationId xmlns:a16="http://schemas.microsoft.com/office/drawing/2014/main" id="{5BA6A588-A434-5FF5-30AE-B471887C719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132820" y="98755"/>
                <a:ext cx="548640" cy="54864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!!kickerbar"/>
          <p:cNvSpPr/>
          <p:nvPr/>
        </p:nvSpPr>
        <p:spPr>
          <a:xfrm>
            <a:off x="685800" y="713232"/>
            <a:ext cx="310896" cy="3200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7" name="!!kicker"/>
          <p:cNvSpPr/>
          <p:nvPr/>
        </p:nvSpPr>
        <p:spPr>
          <a:xfrm>
            <a:off x="1124712" y="594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3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— ГДЕ РОДИЛСЯ</a:t>
            </a:r>
            <a:endParaRPr lang="en-US" sz="1100" dirty="0"/>
          </a:p>
        </p:txBody>
      </p:sp>
      <p:sp>
        <p:nvSpPr>
          <p:cNvPr id="8" name="!!footline"/>
          <p:cNvSpPr/>
          <p:nvPr/>
        </p:nvSpPr>
        <p:spPr>
          <a:xfrm>
            <a:off x="685800" y="6400800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9" name="!!footer"/>
          <p:cNvSpPr/>
          <p:nvPr/>
        </p:nvSpPr>
        <p:spPr>
          <a:xfrm>
            <a:off x="68580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РИЧАРД КАНТИЛЬОН  ·  1680-е – 1734</a:t>
            </a:r>
            <a:endParaRPr lang="en-US" sz="900" dirty="0"/>
          </a:p>
        </p:txBody>
      </p:sp>
      <p:sp>
        <p:nvSpPr>
          <p:cNvPr id="10" name="!!src"/>
          <p:cNvSpPr/>
          <p:nvPr/>
        </p:nvSpPr>
        <p:spPr>
          <a:xfrm>
            <a:off x="3566160" y="6492240"/>
            <a:ext cx="6492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Источники: </a:t>
            </a:r>
            <a:pPr algn="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Dictionary of Irish Biography; Thornton (2018); Murphy (1986)</a:t>
            </a:r>
            <a:endParaRPr lang="en-US" sz="850" dirty="0"/>
          </a:p>
        </p:txBody>
      </p:sp>
      <p:sp>
        <p:nvSpPr>
          <p:cNvPr id="11" name="!!pagenum"/>
          <p:cNvSpPr/>
          <p:nvPr/>
        </p:nvSpPr>
        <p:spPr>
          <a:xfrm>
            <a:off x="10134295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16</a:t>
            </a:r>
            <a:endParaRPr lang="en-US" sz="900" dirty="0"/>
          </a:p>
        </p:txBody>
      </p:sp>
      <p:pic>
        <p:nvPicPr>
          <p:cNvPr id="12" name="!!glow" descr="/home/user/omgGame/presentations/cantillon/assets/gl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0528" y="-118872"/>
            <a:ext cx="6364224" cy="6364224"/>
          </a:xfrm>
          <a:prstGeom prst="rect">
            <a:avLst/>
          </a:prstGeom>
        </p:spPr>
      </p:pic>
      <p:sp>
        <p:nvSpPr>
          <p:cNvPr id="13" name="!!ring1"/>
          <p:cNvSpPr/>
          <p:nvPr/>
        </p:nvSpPr>
        <p:spPr>
          <a:xfrm>
            <a:off x="7629754" y="1000354"/>
            <a:ext cx="4125773" cy="4125773"/>
          </a:xfrm>
          <a:prstGeom prst="ellipse">
            <a:avLst/>
          </a:prstGeom>
          <a:ln w="9525">
            <a:solidFill>
              <a:srgbClr val="E3B663">
                <a:alpha val="18000"/>
              </a:srgbClr>
            </a:solidFill>
            <a:prstDash val="solid"/>
          </a:ln>
        </p:spPr>
      </p:sp>
      <p:sp>
        <p:nvSpPr>
          <p:cNvPr id="14" name="!!ring2"/>
          <p:cNvSpPr/>
          <p:nvPr/>
        </p:nvSpPr>
        <p:spPr>
          <a:xfrm>
            <a:off x="7059168" y="429768"/>
            <a:ext cx="5266944" cy="5266944"/>
          </a:xfrm>
          <a:prstGeom prst="ellipse">
            <a:avLst/>
          </a:prstGeom>
          <a:ln w="9525">
            <a:solidFill>
              <a:srgbClr val="E3B663">
                <a:alpha val="12000"/>
              </a:srgbClr>
            </a:solidFill>
            <a:prstDash val="dash"/>
          </a:ln>
        </p:spPr>
      </p:sp>
      <p:pic>
        <p:nvPicPr>
          <p:cNvPr id="15" name="!!shadow" descr="/home/user/omgGame/presentations/cantillon/assets/shad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2013" y="4303166"/>
            <a:ext cx="2721254" cy="680314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6" name="!!m-harp">
                <a:extLst>
                  <a:ext uri="{FF2B5EF4-FFF2-40B4-BE49-F238E27FC236}">
                    <a16:creationId xmlns:a16="http://schemas.microsoft.com/office/drawing/2014/main" id="{368BF625-03F1-3E96-D7FB-50150A6A5226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7498080" y="868680"/>
              <a:ext cx="4389120" cy="4389120"/>
            </p:xfrm>
            <a:graphic>
              <a:graphicData uri="http://schemas.microsoft.com/office/drawing/2017/model3d">
                <am3d:model3d r:embed="rIdM3d5">
                  <am3d:spPr>
                    <a:xfrm>
                      <a:off x="0" y="0"/>
                      <a:ext cx="4389120" cy="4389120"/>
                    </a:xfrm>
                    <a:prstGeom prst="rect">
                      <a:avLst/>
                    </a:prstGeom>
                  </am3d:spPr>
                  <am3d:camera>
                    <am3d:pos x="0" y="0" z="60690181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49480" d="1000000"/>
                    <am3d:preTrans dx="-156106" dy="-462164" dz="-168783"/>
                    <am3d:scale>
                      <am3d:sx n="1000000" d="1000000"/>
                      <am3d:sy n="1000000" d="1000000"/>
                      <am3d:sz n="1000000" d="1000000"/>
                    </am3d:scale>
                    <am3d:rot ax="360000" ay="-1560000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38912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6" name="!!m-harp">
                <a:extLst>
                  <a:ext uri="{FF2B5EF4-FFF2-40B4-BE49-F238E27FC236}">
                    <a16:creationId xmlns:a16="http://schemas.microsoft.com/office/drawing/2014/main" id="{368BF625-03F1-3E96-D7FB-50150A6A5226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498080" y="868680"/>
                <a:ext cx="4389120" cy="4389120"/>
              </a:xfrm>
              <a:prstGeom prst="rect">
                <a:avLst/>
              </a:prstGeom>
            </p:spPr>
          </p:pic>
        </mc:Fallback>
      </mc:AlternateContent>
      <p:sp>
        <p:nvSpPr>
          <p:cNvPr id="17" name="fx2_9_0"/>
          <p:cNvSpPr/>
          <p:nvPr/>
        </p:nvSpPr>
        <p:spPr>
          <a:xfrm>
            <a:off x="7909560" y="4950562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spc="25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ЭКСПОНАТ 02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Арфа: глиссандо по струнам — и ноты взлетают</a:t>
            </a:r>
            <a:endParaRPr lang="en-US" sz="900" dirty="0"/>
          </a:p>
        </p:txBody>
      </p:sp>
      <p:sp>
        <p:nvSpPr>
          <p:cNvPr id="18" name="!!title"/>
          <p:cNvSpPr/>
          <p:nvPr/>
        </p:nvSpPr>
        <p:spPr>
          <a:xfrm>
            <a:off x="685800" y="987552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Ирландец из графства Керри</a:t>
            </a:r>
            <a:endParaRPr lang="en-US" sz="3300" dirty="0"/>
          </a:p>
        </p:txBody>
      </p:sp>
      <p:sp>
        <p:nvSpPr>
          <p:cNvPr id="19" name="fx2_1_1"/>
          <p:cNvSpPr/>
          <p:nvPr/>
        </p:nvSpPr>
        <p:spPr>
          <a:xfrm>
            <a:off x="685800" y="2103120"/>
            <a:ext cx="2880360" cy="896112"/>
          </a:xfrm>
          <a:prstGeom prst="roundRect">
            <a:avLst>
              <a:gd name="adj" fmla="val 8163"/>
            </a:avLst>
          </a:prstGeom>
          <a:solidFill>
            <a:srgbClr val="22121A">
              <a:alpha val="78000"/>
            </a:srgbClr>
          </a:solidFill>
          <a:ln w="9525">
            <a:solidFill>
              <a:srgbClr val="E3B663">
                <a:alpha val="28000"/>
              </a:srgbClr>
            </a:solidFill>
            <a:prstDash val="solid"/>
          </a:ln>
        </p:spPr>
      </p:sp>
      <p:sp>
        <p:nvSpPr>
          <p:cNvPr id="20" name="fx2_1_2"/>
          <p:cNvSpPr/>
          <p:nvPr/>
        </p:nvSpPr>
        <p:spPr>
          <a:xfrm>
            <a:off x="685800" y="2267712"/>
            <a:ext cx="41148" cy="566928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21" name="fx2_1_3"/>
          <p:cNvSpPr/>
          <p:nvPr/>
        </p:nvSpPr>
        <p:spPr>
          <a:xfrm>
            <a:off x="914400" y="22219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РОДИЛСЯ</a:t>
            </a:r>
            <a:endParaRPr lang="en-US" sz="950" dirty="0"/>
          </a:p>
        </p:txBody>
      </p:sp>
      <p:sp>
        <p:nvSpPr>
          <p:cNvPr id="22" name="fx2_1_4"/>
          <p:cNvSpPr/>
          <p:nvPr/>
        </p:nvSpPr>
        <p:spPr>
          <a:xfrm>
            <a:off x="914400" y="2432304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1680-е годы</a:t>
            </a:r>
            <a:endParaRPr lang="en-US" sz="1650" dirty="0"/>
          </a:p>
        </p:txBody>
      </p:sp>
      <p:sp>
        <p:nvSpPr>
          <p:cNvPr id="23" name="fx2_1_5"/>
          <p:cNvSpPr/>
          <p:nvPr/>
        </p:nvSpPr>
        <p:spPr>
          <a:xfrm>
            <a:off x="914400" y="272491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графство Керри, Ирландия</a:t>
            </a:r>
            <a:endParaRPr lang="en-US" sz="1050" dirty="0"/>
          </a:p>
        </p:txBody>
      </p:sp>
      <p:sp>
        <p:nvSpPr>
          <p:cNvPr id="24" name="fx2_1_6"/>
          <p:cNvSpPr/>
          <p:nvPr/>
        </p:nvSpPr>
        <p:spPr>
          <a:xfrm>
            <a:off x="3703320" y="2103120"/>
            <a:ext cx="2880360" cy="896112"/>
          </a:xfrm>
          <a:prstGeom prst="roundRect">
            <a:avLst>
              <a:gd name="adj" fmla="val 8163"/>
            </a:avLst>
          </a:prstGeom>
          <a:solidFill>
            <a:srgbClr val="22121A">
              <a:alpha val="78000"/>
            </a:srgbClr>
          </a:solidFill>
          <a:ln w="9525">
            <a:solidFill>
              <a:srgbClr val="E3B663">
                <a:alpha val="28000"/>
              </a:srgbClr>
            </a:solidFill>
            <a:prstDash val="solid"/>
          </a:ln>
        </p:spPr>
      </p:sp>
      <p:sp>
        <p:nvSpPr>
          <p:cNvPr id="25" name="fx2_1_7"/>
          <p:cNvSpPr/>
          <p:nvPr/>
        </p:nvSpPr>
        <p:spPr>
          <a:xfrm>
            <a:off x="3703320" y="2267712"/>
            <a:ext cx="41148" cy="566928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26" name="fx2_1_8"/>
          <p:cNvSpPr/>
          <p:nvPr/>
        </p:nvSpPr>
        <p:spPr>
          <a:xfrm>
            <a:off x="3931920" y="22219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СЕМЬЯ</a:t>
            </a:r>
            <a:endParaRPr lang="en-US" sz="950" dirty="0"/>
          </a:p>
        </p:txBody>
      </p:sp>
      <p:sp>
        <p:nvSpPr>
          <p:cNvPr id="27" name="fx2_1_9"/>
          <p:cNvSpPr/>
          <p:nvPr/>
        </p:nvSpPr>
        <p:spPr>
          <a:xfrm>
            <a:off x="3931920" y="2432304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Католики-дворяне</a:t>
            </a:r>
            <a:endParaRPr lang="en-US" sz="1650" dirty="0"/>
          </a:p>
        </p:txBody>
      </p:sp>
      <p:sp>
        <p:nvSpPr>
          <p:cNvPr id="28" name="fx2_1_10"/>
          <p:cNvSpPr/>
          <p:nvPr/>
        </p:nvSpPr>
        <p:spPr>
          <a:xfrm>
            <a:off x="3931920" y="272491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лишились земель при Кромвеле</a:t>
            </a:r>
            <a:endParaRPr lang="en-US" sz="1050" dirty="0"/>
          </a:p>
        </p:txBody>
      </p:sp>
      <p:sp>
        <p:nvSpPr>
          <p:cNvPr id="29" name="fx2_2_11"/>
          <p:cNvSpPr/>
          <p:nvPr/>
        </p:nvSpPr>
        <p:spPr>
          <a:xfrm>
            <a:off x="685800" y="3108960"/>
            <a:ext cx="2880360" cy="896112"/>
          </a:xfrm>
          <a:prstGeom prst="roundRect">
            <a:avLst>
              <a:gd name="adj" fmla="val 8163"/>
            </a:avLst>
          </a:prstGeom>
          <a:solidFill>
            <a:srgbClr val="22121A">
              <a:alpha val="78000"/>
            </a:srgbClr>
          </a:solidFill>
          <a:ln w="9525">
            <a:solidFill>
              <a:srgbClr val="E3B663">
                <a:alpha val="28000"/>
              </a:srgbClr>
            </a:solidFill>
            <a:prstDash val="solid"/>
          </a:ln>
        </p:spPr>
      </p:sp>
      <p:sp>
        <p:nvSpPr>
          <p:cNvPr id="30" name="fx2_2_12"/>
          <p:cNvSpPr/>
          <p:nvPr/>
        </p:nvSpPr>
        <p:spPr>
          <a:xfrm>
            <a:off x="685800" y="3273552"/>
            <a:ext cx="41148" cy="566928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31" name="fx2_2_13"/>
          <p:cNvSpPr/>
          <p:nvPr/>
        </p:nvSpPr>
        <p:spPr>
          <a:xfrm>
            <a:off x="914400" y="322783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ПЕРЕЕЗД</a:t>
            </a:r>
            <a:endParaRPr lang="en-US" sz="950" dirty="0"/>
          </a:p>
        </p:txBody>
      </p:sp>
      <p:sp>
        <p:nvSpPr>
          <p:cNvPr id="32" name="fx2_2_14"/>
          <p:cNvSpPr/>
          <p:nvPr/>
        </p:nvSpPr>
        <p:spPr>
          <a:xfrm>
            <a:off x="914400" y="3438144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Франция</a:t>
            </a:r>
            <a:endParaRPr lang="en-US" sz="1650" dirty="0"/>
          </a:p>
        </p:txBody>
      </p:sp>
      <p:sp>
        <p:nvSpPr>
          <p:cNvPr id="33" name="fx2_2_15"/>
          <p:cNvSpPr/>
          <p:nvPr/>
        </p:nvSpPr>
        <p:spPr>
          <a:xfrm>
            <a:off x="914400" y="373075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французское подданство — 1708</a:t>
            </a:r>
            <a:endParaRPr lang="en-US" sz="1050" dirty="0"/>
          </a:p>
        </p:txBody>
      </p:sp>
      <p:sp>
        <p:nvSpPr>
          <p:cNvPr id="34" name="fx2_2_16"/>
          <p:cNvSpPr/>
          <p:nvPr/>
        </p:nvSpPr>
        <p:spPr>
          <a:xfrm>
            <a:off x="3703320" y="3108960"/>
            <a:ext cx="2880360" cy="896112"/>
          </a:xfrm>
          <a:prstGeom prst="roundRect">
            <a:avLst>
              <a:gd name="adj" fmla="val 8163"/>
            </a:avLst>
          </a:prstGeom>
          <a:solidFill>
            <a:srgbClr val="22121A">
              <a:alpha val="78000"/>
            </a:srgbClr>
          </a:solidFill>
          <a:ln w="9525">
            <a:solidFill>
              <a:srgbClr val="E3B663">
                <a:alpha val="28000"/>
              </a:srgbClr>
            </a:solidFill>
            <a:prstDash val="solid"/>
          </a:ln>
        </p:spPr>
      </p:sp>
      <p:sp>
        <p:nvSpPr>
          <p:cNvPr id="35" name="fx2_2_17"/>
          <p:cNvSpPr/>
          <p:nvPr/>
        </p:nvSpPr>
        <p:spPr>
          <a:xfrm>
            <a:off x="3703320" y="3273552"/>
            <a:ext cx="41148" cy="566928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36" name="fx2_2_18"/>
          <p:cNvSpPr/>
          <p:nvPr/>
        </p:nvSpPr>
        <p:spPr>
          <a:xfrm>
            <a:off x="3931920" y="322783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РОДНЯ</a:t>
            </a:r>
            <a:endParaRPr lang="en-US" sz="950" dirty="0"/>
          </a:p>
        </p:txBody>
      </p:sp>
      <p:sp>
        <p:nvSpPr>
          <p:cNvPr id="37" name="fx2_2_19"/>
          <p:cNvSpPr/>
          <p:nvPr/>
        </p:nvSpPr>
        <p:spPr>
          <a:xfrm>
            <a:off x="3931920" y="3438144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Банкиры</a:t>
            </a:r>
            <a:endParaRPr lang="en-US" sz="1650" dirty="0"/>
          </a:p>
        </p:txBody>
      </p:sp>
      <p:sp>
        <p:nvSpPr>
          <p:cNvPr id="38" name="fx2_2_20"/>
          <p:cNvSpPr/>
          <p:nvPr/>
        </p:nvSpPr>
        <p:spPr>
          <a:xfrm>
            <a:off x="3931920" y="373075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двоюродный брат вёл банк в Париже</a:t>
            </a:r>
            <a:endParaRPr lang="en-US" sz="1050" dirty="0"/>
          </a:p>
        </p:txBody>
      </p:sp>
      <p:sp>
        <p:nvSpPr>
          <p:cNvPr id="39" name="fx2_3_21"/>
          <p:cNvSpPr/>
          <p:nvPr/>
        </p:nvSpPr>
        <p:spPr>
          <a:xfrm>
            <a:off x="621792" y="4142232"/>
            <a:ext cx="2368296" cy="1764451"/>
          </a:xfrm>
          <a:prstGeom prst="rect">
            <a:avLst/>
          </a:prstGeom>
          <a:solidFill>
            <a:srgbClr val="2A1A0C"/>
          </a:solidFill>
          <a:ln w="19050">
            <a:solidFill>
              <a:srgbClr val="E3B663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pic>
        <p:nvPicPr>
          <p:cNvPr id="40" name="fx2_3_22" descr="/home/user/omgGame/presentations/cantillon/assets/largilliere-family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4206240"/>
            <a:ext cx="2240280" cy="1636435"/>
          </a:xfrm>
          <a:prstGeom prst="rect">
            <a:avLst/>
          </a:prstGeom>
        </p:spPr>
      </p:pic>
      <p:sp>
        <p:nvSpPr>
          <p:cNvPr id="41" name="fx2_3_23"/>
          <p:cNvSpPr/>
          <p:nvPr/>
        </p:nvSpPr>
        <p:spPr>
          <a:xfrm>
            <a:off x="621792" y="5934115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Н. де Ларжильер, ок. 1710. </a:t>
            </a:r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Кантильон слева?</a:t>
            </a:r>
            <a:endParaRPr lang="en-US" sz="900" dirty="0"/>
          </a:p>
        </p:txBody>
      </p:sp>
      <p:sp>
        <p:nvSpPr>
          <p:cNvPr id="42" name="fx2_4_24"/>
          <p:cNvSpPr/>
          <p:nvPr/>
        </p:nvSpPr>
        <p:spPr>
          <a:xfrm>
            <a:off x="3200400" y="4279392"/>
            <a:ext cx="3429000" cy="1783080"/>
          </a:xfrm>
          <a:prstGeom prst="roundRect">
            <a:avLst>
              <a:gd name="adj" fmla="val 4103"/>
            </a:avLst>
          </a:prstGeom>
          <a:solidFill>
            <a:srgbClr val="22170B">
              <a:alpha val="92000"/>
            </a:srgbClr>
          </a:solidFill>
          <a:ln w="12700">
            <a:solidFill>
              <a:srgbClr val="E3B663">
                <a:alpha val="55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43" name="fx2_4_25"/>
          <p:cNvSpPr/>
          <p:nvPr/>
        </p:nvSpPr>
        <p:spPr>
          <a:xfrm>
            <a:off x="3200400" y="4425696"/>
            <a:ext cx="50292" cy="1490472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44" name="fx2_4_26"/>
          <p:cNvSpPr/>
          <p:nvPr/>
        </p:nvSpPr>
        <p:spPr>
          <a:xfrm>
            <a:off x="3456432" y="4142232"/>
            <a:ext cx="1513332" cy="274320"/>
          </a:xfrm>
          <a:prstGeom prst="roundRect">
            <a:avLst>
              <a:gd name="adj" fmla="val 50000"/>
            </a:avLst>
          </a:prstGeom>
          <a:solidFill>
            <a:srgbClr val="E3B663"/>
          </a:solidFill>
          <a:ln/>
        </p:spPr>
      </p:sp>
      <p:sp>
        <p:nvSpPr>
          <p:cNvPr id="45" name="fx2_4_27"/>
          <p:cNvSpPr/>
          <p:nvPr/>
        </p:nvSpPr>
        <p:spPr>
          <a:xfrm>
            <a:off x="3456432" y="4142232"/>
            <a:ext cx="15133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spc="150" kern="0" dirty="0">
                <a:solidFill>
                  <a:srgbClr val="0D0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 ЗАГАДКА № 1</a:t>
            </a:r>
            <a:endParaRPr lang="en-US" sz="850" dirty="0"/>
          </a:p>
        </p:txBody>
      </p:sp>
      <p:sp>
        <p:nvSpPr>
          <p:cNvPr id="46" name="fx2_4_28"/>
          <p:cNvSpPr/>
          <p:nvPr/>
        </p:nvSpPr>
        <p:spPr>
          <a:xfrm>
            <a:off x="3474720" y="4462272"/>
            <a:ext cx="29718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Мы не знаем ни точной даты его рождения, ни </a:t>
            </a:r>
            <a:pPr algn="l" indent="0" marL="0">
              <a:lnSpc>
                <a:spcPct val="105000"/>
              </a:lnSpc>
              <a:buNone/>
            </a:pPr>
            <a:r>
              <a:rPr lang="en-US" sz="1250" b="1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как он выглядел</a:t>
            </a:r>
            <a:pPr algn="l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достоверных портретов нет. Есть лишь гипотеза (М. Торнтон, 2018), что он — мужчина на семейном портрете Ларжильера.</a:t>
            </a:r>
            <a:endParaRPr lang="en-US" sz="125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7" name="!!m-ship">
                <a:extLst>
                  <a:ext uri="{FF2B5EF4-FFF2-40B4-BE49-F238E27FC236}">
                    <a16:creationId xmlns:a16="http://schemas.microsoft.com/office/drawing/2014/main" id="{DB10A92F-6A5A-C6D1-89E5-7D2A4B27A5EF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7223760" y="960120"/>
              <a:ext cx="6675120" cy="6675120"/>
            </p:xfrm>
            <a:graphic>
              <a:graphicData uri="http://schemas.microsoft.com/office/drawing/2017/model3d">
                <am3d:model3d r:embed="rIdM3d6">
                  <am3d:spPr>
                    <a:xfrm>
                      <a:off x="0" y="0"/>
                      <a:ext cx="6675120" cy="6675120"/>
                    </a:xfrm>
                    <a:prstGeom prst="rect">
                      <a:avLst/>
                    </a:prstGeom>
                  </am3d:spPr>
                  <am3d:camera>
                    <am3d:pos x="0" y="0" z="57036726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322581" d="1000000"/>
                    <am3d:preTrans dx="-1974193" dy="-4006451" dz="-46452"/>
                    <am3d:scale>
                      <am3d:sx n="1000000" d="1000000"/>
                      <am3d:sy n="1000000" d="1000000"/>
                      <am3d:sz n="1000000" d="1000000"/>
                    </am3d:scale>
                    <am3d:rot ax="360000" ay="-6840000" az="0"/>
                    <am3d:postTrans dx="0" dy="0" dz="0"/>
                  </am3d:trans>
                  <am3d:raster rName="Office3DRenderer" rVer="16.0.8326">
                    <am3d:blip r:embed="rId7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667512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7" name="!!m-ship">
                <a:extLst>
                  <a:ext uri="{FF2B5EF4-FFF2-40B4-BE49-F238E27FC236}">
                    <a16:creationId xmlns:a16="http://schemas.microsoft.com/office/drawing/2014/main" id="{DB10A92F-6A5A-C6D1-89E5-7D2A4B27A5E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-7223760" y="960120"/>
                <a:ext cx="6675120" cy="6675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8" name="!!m-globe_a">
                <a:extLst>
                  <a:ext uri="{FF2B5EF4-FFF2-40B4-BE49-F238E27FC236}">
                    <a16:creationId xmlns:a16="http://schemas.microsoft.com/office/drawing/2014/main" id="{007DCAD6-DB5B-33E2-3E6E-7CB4819C5D1B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740335" y="1143000"/>
              <a:ext cx="4389120" cy="4389120"/>
            </p:xfrm>
            <a:graphic>
              <a:graphicData uri="http://schemas.microsoft.com/office/drawing/2017/model3d">
                <am3d:model3d r:embed="rIdM3d7">
                  <am3d:spPr>
                    <a:xfrm>
                      <a:off x="0" y="0"/>
                      <a:ext cx="4389120" cy="4389120"/>
                    </a:xfrm>
                    <a:prstGeom prst="rect">
                      <a:avLst/>
                    </a:prstGeom>
                  </am3d:spPr>
                  <am3d:camera>
                    <am3d:pos x="0" y="0" z="71437206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71790" d="1000000"/>
                    <am3d:preTrans dx="1061824" dy="-773652" dz="270750"/>
                    <am3d:scale>
                      <am3d:sx n="1000000" d="1000000"/>
                      <am3d:sy n="1000000" d="1000000"/>
                      <am3d:sz n="1000000" d="1000000"/>
                    </am3d:scale>
                    <am3d:rot ax="600000" ay="3600000" az="0"/>
                    <am3d:postTrans dx="0" dy="0" dz="0"/>
                  </am3d:trans>
                  <am3d:raster rName="Office3DRenderer" rVer="16.0.8326">
                    <am3d:blip r:embed="rId8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8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38912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8" name="!!m-globe_a">
                <a:extLst>
                  <a:ext uri="{FF2B5EF4-FFF2-40B4-BE49-F238E27FC236}">
                    <a16:creationId xmlns:a16="http://schemas.microsoft.com/office/drawing/2014/main" id="{007DCAD6-DB5B-33E2-3E6E-7CB4819C5D1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2740335" y="1143000"/>
                <a:ext cx="4389120" cy="438912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7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7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7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7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70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70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7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70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70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7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70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70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7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700" decel="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700" decel="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7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3" dur="700" decel="10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700" decel="10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7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700" decel="100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700" decel="100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7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3" dur="700" decel="100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4" dur="700" decel="100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8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9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0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51" dur="4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1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3">
    <p:bg>
      <p:bgPr>
        <a:solidFill>
          <a:srgbClr val="0E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home/user/omgGame/presentations/cantillon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rack"/>
          <p:cNvSpPr/>
          <p:nvPr/>
        </p:nvSpPr>
        <p:spPr>
          <a:xfrm>
            <a:off x="685800" y="402336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4" name="!!progress"/>
          <p:cNvSpPr/>
          <p:nvPr/>
        </p:nvSpPr>
        <p:spPr>
          <a:xfrm>
            <a:off x="685800" y="391363"/>
            <a:ext cx="1442679" cy="21946"/>
          </a:xfrm>
          <a:prstGeom prst="rect">
            <a:avLst/>
          </a:prstGeom>
          <a:solidFill>
            <a:srgbClr val="E3B663"/>
          </a:solidFill>
          <a:ln/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!!coin">
                <a:extLst>
                  <a:ext uri="{FF2B5EF4-FFF2-40B4-BE49-F238E27FC236}">
                    <a16:creationId xmlns:a16="http://schemas.microsoft.com/office/drawing/2014/main" id="{12A0E007-ECA8-02A4-EC24-107FC5338DD5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854159" y="98755"/>
              <a:ext cx="548640" cy="548640"/>
            </p:xfrm>
            <a:graphic>
              <a:graphicData uri="http://schemas.microsoft.com/office/drawing/2017/model3d">
                <am3d:model3d r:embed="rIdM3d8">
                  <am3d:spPr>
                    <a:xfrm>
                      <a:off x="0" y="0"/>
                      <a:ext cx="548640" cy="548640"/>
                    </a:xfrm>
                    <a:prstGeom prst="rect">
                      <a:avLst/>
                    </a:prstGeom>
                  </am3d:spPr>
                  <am3d:camera>
                    <am3d:pos x="0" y="0" z="6662303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00000" d="1000000"/>
                    <am3d:preTrans dx="0" dy="0" dz="-162000"/>
                    <am3d:scale>
                      <am3d:sx n="1000000" d="1000000"/>
                      <am3d:sy n="1000000" d="1000000"/>
                      <am3d:sz n="1000000" d="1000000"/>
                    </am3d:scale>
                    <am3d:rot ax="0" ay="-720000" az="-17520000"/>
                    <am3d:postTrans dx="0" dy="0" dz="0"/>
                  </am3d:trans>
                  <am3d:raster rName="Office3DRenderer" rVer="16.0.8326">
                    <am3d:blip r:embed="rId2"/>
                  </am3d:raster>
                  <am3d:objViewport viewportSz="5486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!!coin">
                <a:extLst>
                  <a:ext uri="{FF2B5EF4-FFF2-40B4-BE49-F238E27FC236}">
                    <a16:creationId xmlns:a16="http://schemas.microsoft.com/office/drawing/2014/main" id="{12A0E007-ECA8-02A4-EC24-107FC5338DD5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854159" y="98755"/>
                <a:ext cx="548640" cy="54864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!!kickerbar"/>
          <p:cNvSpPr/>
          <p:nvPr/>
        </p:nvSpPr>
        <p:spPr>
          <a:xfrm>
            <a:off x="685800" y="713232"/>
            <a:ext cx="310896" cy="3200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7" name="!!kicker"/>
          <p:cNvSpPr/>
          <p:nvPr/>
        </p:nvSpPr>
        <p:spPr>
          <a:xfrm>
            <a:off x="1124712" y="594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3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— КОНТЕКСТ ЭПОХИ</a:t>
            </a:r>
            <a:endParaRPr lang="en-US" sz="1100" dirty="0"/>
          </a:p>
        </p:txBody>
      </p:sp>
      <p:sp>
        <p:nvSpPr>
          <p:cNvPr id="8" name="!!footline"/>
          <p:cNvSpPr/>
          <p:nvPr/>
        </p:nvSpPr>
        <p:spPr>
          <a:xfrm>
            <a:off x="685800" y="6400800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9" name="!!footer"/>
          <p:cNvSpPr/>
          <p:nvPr/>
        </p:nvSpPr>
        <p:spPr>
          <a:xfrm>
            <a:off x="68580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РИЧАРД КАНТИЛЬОН  ·  1680-е – 1734</a:t>
            </a:r>
            <a:endParaRPr lang="en-US" sz="900" dirty="0"/>
          </a:p>
        </p:txBody>
      </p:sp>
      <p:sp>
        <p:nvSpPr>
          <p:cNvPr id="10" name="!!src"/>
          <p:cNvSpPr/>
          <p:nvPr/>
        </p:nvSpPr>
        <p:spPr>
          <a:xfrm>
            <a:off x="3566160" y="6492240"/>
            <a:ext cx="6492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Источники: </a:t>
            </a:r>
            <a:pPr algn="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Murphy (1986); Essai, ч. II, гл. VI; Rothbard (1995)</a:t>
            </a:r>
            <a:endParaRPr lang="en-US" sz="850" dirty="0"/>
          </a:p>
        </p:txBody>
      </p:sp>
      <p:sp>
        <p:nvSpPr>
          <p:cNvPr id="11" name="!!pagenum"/>
          <p:cNvSpPr/>
          <p:nvPr/>
        </p:nvSpPr>
        <p:spPr>
          <a:xfrm>
            <a:off x="10134295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16</a:t>
            </a:r>
            <a:endParaRPr lang="en-US" sz="900" dirty="0"/>
          </a:p>
        </p:txBody>
      </p:sp>
      <p:pic>
        <p:nvPicPr>
          <p:cNvPr id="12" name="!!glow" descr="/home/user/omgGame/presentations/cantillon/assets/gl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1968" y="-210312"/>
            <a:ext cx="6364224" cy="6364224"/>
          </a:xfrm>
          <a:prstGeom prst="rect">
            <a:avLst/>
          </a:prstGeom>
        </p:spPr>
      </p:pic>
      <p:sp>
        <p:nvSpPr>
          <p:cNvPr id="13" name="!!ring1"/>
          <p:cNvSpPr/>
          <p:nvPr/>
        </p:nvSpPr>
        <p:spPr>
          <a:xfrm>
            <a:off x="7721194" y="908914"/>
            <a:ext cx="4125773" cy="4125773"/>
          </a:xfrm>
          <a:prstGeom prst="ellipse">
            <a:avLst/>
          </a:prstGeom>
          <a:ln w="9525">
            <a:solidFill>
              <a:srgbClr val="E3B663">
                <a:alpha val="18000"/>
              </a:srgbClr>
            </a:solidFill>
            <a:prstDash val="solid"/>
          </a:ln>
        </p:spPr>
      </p:sp>
      <p:sp>
        <p:nvSpPr>
          <p:cNvPr id="14" name="!!ring2"/>
          <p:cNvSpPr/>
          <p:nvPr/>
        </p:nvSpPr>
        <p:spPr>
          <a:xfrm>
            <a:off x="7150608" y="338328"/>
            <a:ext cx="5266944" cy="5266944"/>
          </a:xfrm>
          <a:prstGeom prst="ellipse">
            <a:avLst/>
          </a:prstGeom>
          <a:ln w="9525">
            <a:solidFill>
              <a:srgbClr val="E3B663">
                <a:alpha val="12000"/>
              </a:srgbClr>
            </a:solidFill>
            <a:prstDash val="dash"/>
          </a:ln>
        </p:spPr>
      </p:sp>
      <p:pic>
        <p:nvPicPr>
          <p:cNvPr id="15" name="!!shadow" descr="/home/user/omgGame/presentations/cantillon/assets/shad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7072" y="4337914"/>
            <a:ext cx="2414016" cy="603504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6" name="!!m-globe_a">
                <a:extLst>
                  <a:ext uri="{FF2B5EF4-FFF2-40B4-BE49-F238E27FC236}">
                    <a16:creationId xmlns:a16="http://schemas.microsoft.com/office/drawing/2014/main" id="{3ED59128-AEBE-5561-A4CC-99B850F8C3A1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7589520" y="777240"/>
              <a:ext cx="4389120" cy="4389120"/>
            </p:xfrm>
            <a:graphic>
              <a:graphicData uri="http://schemas.microsoft.com/office/drawing/2017/model3d">
                <am3d:model3d r:embed="rIdM3d9">
                  <am3d:spPr>
                    <a:xfrm>
                      <a:off x="0" y="0"/>
                      <a:ext cx="4389120" cy="4389120"/>
                    </a:xfrm>
                    <a:prstGeom prst="rect">
                      <a:avLst/>
                    </a:prstGeom>
                  </am3d:spPr>
                  <am3d:camera>
                    <am3d:pos x="0" y="0" z="71437206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71790" d="1000000"/>
                    <am3d:preTrans dx="1061824" dy="-773652" dz="270750"/>
                    <am3d:scale>
                      <am3d:sx n="1000000" d="1000000"/>
                      <am3d:sy n="1000000" d="1000000"/>
                      <am3d:sz n="1000000" d="1000000"/>
                    </am3d:scale>
                    <am3d:rot ax="600000" ay="-1200000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8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38912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6" name="!!m-globe_a">
                <a:extLst>
                  <a:ext uri="{FF2B5EF4-FFF2-40B4-BE49-F238E27FC236}">
                    <a16:creationId xmlns:a16="http://schemas.microsoft.com/office/drawing/2014/main" id="{3ED59128-AEBE-5561-A4CC-99B850F8C3A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589520" y="777240"/>
                <a:ext cx="4389120" cy="4389120"/>
              </a:xfrm>
              <a:prstGeom prst="rect">
                <a:avLst/>
              </a:prstGeom>
            </p:spPr>
          </p:pic>
        </mc:Fallback>
      </mc:AlternateContent>
      <p:sp>
        <p:nvSpPr>
          <p:cNvPr id="17" name="fx3_9_0"/>
          <p:cNvSpPr/>
          <p:nvPr/>
        </p:nvSpPr>
        <p:spPr>
          <a:xfrm>
            <a:off x="8046720" y="4859122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spc="25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ЭКСПОНАТ 03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Глобус вращается: маршруты серебра и колоний</a:t>
            </a:r>
            <a:endParaRPr lang="en-US" sz="900" dirty="0"/>
          </a:p>
        </p:txBody>
      </p:sp>
      <p:sp>
        <p:nvSpPr>
          <p:cNvPr id="18" name="!!title"/>
          <p:cNvSpPr/>
          <p:nvPr/>
        </p:nvSpPr>
        <p:spPr>
          <a:xfrm>
            <a:off x="685800" y="987552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2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Эпоха: войны, колонии и долги</a:t>
            </a:r>
            <a:endParaRPr lang="en-US" sz="3200" dirty="0"/>
          </a:p>
        </p:txBody>
      </p:sp>
      <p:sp>
        <p:nvSpPr>
          <p:cNvPr id="19" name="fx3_1_1"/>
          <p:cNvSpPr/>
          <p:nvPr/>
        </p:nvSpPr>
        <p:spPr>
          <a:xfrm>
            <a:off x="685800" y="1773936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1694</a:t>
            </a:r>
            <a:endParaRPr lang="en-US" sz="1800" dirty="0"/>
          </a:p>
        </p:txBody>
      </p:sp>
      <p:sp>
        <p:nvSpPr>
          <p:cNvPr id="20" name="fx3_1_2"/>
          <p:cNvSpPr/>
          <p:nvPr/>
        </p:nvSpPr>
        <p:spPr>
          <a:xfrm>
            <a:off x="1600200" y="1810512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Финансовая революция</a:t>
            </a:r>
            <a:endParaRPr lang="en-US" sz="1350" dirty="0"/>
          </a:p>
        </p:txBody>
      </p:sp>
      <p:sp>
        <p:nvSpPr>
          <p:cNvPr id="21" name="fx3_1_3"/>
          <p:cNvSpPr/>
          <p:nvPr/>
        </p:nvSpPr>
        <p:spPr>
          <a:xfrm>
            <a:off x="1600200" y="2084832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Банк Англии, госдолг, акционерные компании, биржа: деньги всё чаще — бумага и кредит.</a:t>
            </a:r>
            <a:endParaRPr lang="en-US" sz="1100" dirty="0"/>
          </a:p>
        </p:txBody>
      </p:sp>
      <p:sp>
        <p:nvSpPr>
          <p:cNvPr id="22" name="fx3_2_4"/>
          <p:cNvSpPr/>
          <p:nvPr/>
        </p:nvSpPr>
        <p:spPr>
          <a:xfrm>
            <a:off x="685800" y="2505456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1701</a:t>
            </a:r>
            <a:endParaRPr lang="en-US" sz="1800" dirty="0"/>
          </a:p>
        </p:txBody>
      </p:sp>
      <p:sp>
        <p:nvSpPr>
          <p:cNvPr id="23" name="fx3_2_5"/>
          <p:cNvSpPr/>
          <p:nvPr/>
        </p:nvSpPr>
        <p:spPr>
          <a:xfrm>
            <a:off x="1600200" y="2542032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Война за испанское наследство</a:t>
            </a:r>
            <a:endParaRPr lang="en-US" sz="1350" dirty="0"/>
          </a:p>
        </p:txBody>
      </p:sp>
      <p:sp>
        <p:nvSpPr>
          <p:cNvPr id="24" name="fx3_2_6"/>
          <p:cNvSpPr/>
          <p:nvPr/>
        </p:nvSpPr>
        <p:spPr>
          <a:xfrm>
            <a:off x="1600200" y="2816352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лет войны по всей Европе; Кантильон делает карьеру на военных финансах.</a:t>
            </a:r>
            <a:endParaRPr lang="en-US" sz="1100" dirty="0"/>
          </a:p>
        </p:txBody>
      </p:sp>
      <p:sp>
        <p:nvSpPr>
          <p:cNvPr id="25" name="fx3_3_7"/>
          <p:cNvSpPr/>
          <p:nvPr/>
        </p:nvSpPr>
        <p:spPr>
          <a:xfrm>
            <a:off x="685800" y="3236976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1715</a:t>
            </a:r>
            <a:endParaRPr lang="en-US" sz="1800" dirty="0"/>
          </a:p>
        </p:txBody>
      </p:sp>
      <p:sp>
        <p:nvSpPr>
          <p:cNvPr id="26" name="fx3_3_8"/>
          <p:cNvSpPr/>
          <p:nvPr/>
        </p:nvSpPr>
        <p:spPr>
          <a:xfrm>
            <a:off x="1600200" y="3273552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Смерть Людовика XIV</a:t>
            </a:r>
            <a:endParaRPr lang="en-US" sz="1350" dirty="0"/>
          </a:p>
        </p:txBody>
      </p:sp>
      <p:sp>
        <p:nvSpPr>
          <p:cNvPr id="27" name="fx3_3_9"/>
          <p:cNvSpPr/>
          <p:nvPr/>
        </p:nvSpPr>
        <p:spPr>
          <a:xfrm>
            <a:off x="1600200" y="3547872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Казна Франции пуста; регент ищет чудо — его предложит Джон Ло.</a:t>
            </a:r>
            <a:endParaRPr lang="en-US" sz="1100" dirty="0"/>
          </a:p>
        </p:txBody>
      </p:sp>
      <p:sp>
        <p:nvSpPr>
          <p:cNvPr id="28" name="fx3_4_10"/>
          <p:cNvSpPr/>
          <p:nvPr/>
        </p:nvSpPr>
        <p:spPr>
          <a:xfrm>
            <a:off x="685800" y="3968496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1720</a:t>
            </a:r>
            <a:endParaRPr lang="en-US" sz="1800" dirty="0"/>
          </a:p>
        </p:txBody>
      </p:sp>
      <p:sp>
        <p:nvSpPr>
          <p:cNvPr id="29" name="fx3_4_11"/>
          <p:cNvSpPr/>
          <p:nvPr/>
        </p:nvSpPr>
        <p:spPr>
          <a:xfrm>
            <a:off x="1600200" y="4005072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Колонии и пузыри</a:t>
            </a:r>
            <a:endParaRPr lang="en-US" sz="1350" dirty="0"/>
          </a:p>
        </p:txBody>
      </p:sp>
      <p:sp>
        <p:nvSpPr>
          <p:cNvPr id="30" name="fx3_4_12"/>
          <p:cNvSpPr/>
          <p:nvPr/>
        </p:nvSpPr>
        <p:spPr>
          <a:xfrm>
            <a:off x="1600200" y="4279392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Луизиана, серебро Америки, монополии. В 1720-м лопаются пузыри Миссисипи (Париж) и Южных морей (Лондон).</a:t>
            </a:r>
            <a:endParaRPr lang="en-US" sz="1100" dirty="0"/>
          </a:p>
        </p:txBody>
      </p:sp>
      <p:sp>
        <p:nvSpPr>
          <p:cNvPr id="31" name="fx3_5_13"/>
          <p:cNvSpPr/>
          <p:nvPr/>
        </p:nvSpPr>
        <p:spPr>
          <a:xfrm>
            <a:off x="685800" y="4754880"/>
            <a:ext cx="6675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это дало Кантильону: </a:t>
            </a:r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вокруг меркантилизм («богатство = золото»), а он видит другое — риск, рынок и людей, которые ставят на неизвестное будущее.</a:t>
            </a:r>
            <a:endParaRPr lang="en-US" sz="1150" dirty="0"/>
          </a:p>
        </p:txBody>
      </p:sp>
      <p:sp>
        <p:nvSpPr>
          <p:cNvPr id="32" name="fx3_6_14"/>
          <p:cNvSpPr/>
          <p:nvPr/>
        </p:nvSpPr>
        <p:spPr>
          <a:xfrm>
            <a:off x="685800" y="5486400"/>
            <a:ext cx="6675120" cy="731520"/>
          </a:xfrm>
          <a:prstGeom prst="roundRect">
            <a:avLst>
              <a:gd name="adj" fmla="val 10000"/>
            </a:avLst>
          </a:prstGeom>
          <a:solidFill>
            <a:srgbClr val="22170B">
              <a:alpha val="92000"/>
            </a:srgbClr>
          </a:solidFill>
          <a:ln w="12700">
            <a:solidFill>
              <a:srgbClr val="E3B663">
                <a:alpha val="55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33" name="fx3_6_15"/>
          <p:cNvSpPr/>
          <p:nvPr/>
        </p:nvSpPr>
        <p:spPr>
          <a:xfrm>
            <a:off x="685800" y="5632704"/>
            <a:ext cx="50292" cy="438912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34" name="fx3_6_16"/>
          <p:cNvSpPr/>
          <p:nvPr/>
        </p:nvSpPr>
        <p:spPr>
          <a:xfrm>
            <a:off x="941832" y="5349240"/>
            <a:ext cx="1993392" cy="274320"/>
          </a:xfrm>
          <a:prstGeom prst="roundRect">
            <a:avLst>
              <a:gd name="adj" fmla="val 50000"/>
            </a:avLst>
          </a:prstGeom>
          <a:solidFill>
            <a:srgbClr val="E3B663"/>
          </a:solidFill>
          <a:ln/>
        </p:spPr>
      </p:sp>
      <p:sp>
        <p:nvSpPr>
          <p:cNvPr id="35" name="fx3_6_17"/>
          <p:cNvSpPr/>
          <p:nvPr/>
        </p:nvSpPr>
        <p:spPr>
          <a:xfrm>
            <a:off x="941832" y="5349240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spc="150" kern="0" dirty="0">
                <a:solidFill>
                  <a:srgbClr val="0D0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 САМОЕ ИНТЕРЕСНОЕ</a:t>
            </a:r>
            <a:endParaRPr lang="en-US" sz="850" dirty="0"/>
          </a:p>
        </p:txBody>
      </p:sp>
      <p:sp>
        <p:nvSpPr>
          <p:cNvPr id="36" name="fx3_6_18"/>
          <p:cNvSpPr/>
          <p:nvPr/>
        </p:nvSpPr>
        <p:spPr>
          <a:xfrm>
            <a:off x="960120" y="566928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Экономики как науки ещё нет: «Богатство народов» Смита выйдет только в 1776-м — </a:t>
            </a:r>
            <a:pPr algn="l" indent="0" marL="0">
              <a:lnSpc>
                <a:spcPct val="105000"/>
              </a:lnSpc>
              <a:buNone/>
            </a:pPr>
            <a:r>
              <a:rPr lang="en-US" sz="1250" b="1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на 45 лет позже книги Кантильона</a:t>
            </a:r>
            <a:pPr algn="l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25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7" name="!!m-harp">
                <a:extLst>
                  <a:ext uri="{FF2B5EF4-FFF2-40B4-BE49-F238E27FC236}">
                    <a16:creationId xmlns:a16="http://schemas.microsoft.com/office/drawing/2014/main" id="{79D0796F-7FCC-E305-7BD7-4FF0DCFBA2A6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4937760" y="1234440"/>
              <a:ext cx="4389120" cy="4389120"/>
            </p:xfrm>
            <a:graphic>
              <a:graphicData uri="http://schemas.microsoft.com/office/drawing/2017/model3d">
                <am3d:model3d r:embed="rIdM3d10">
                  <am3d:spPr>
                    <a:xfrm>
                      <a:off x="0" y="0"/>
                      <a:ext cx="4389120" cy="4389120"/>
                    </a:xfrm>
                    <a:prstGeom prst="rect">
                      <a:avLst/>
                    </a:prstGeom>
                  </am3d:spPr>
                  <am3d:camera>
                    <am3d:pos x="0" y="0" z="60690181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49480" d="1000000"/>
                    <am3d:preTrans dx="-156106" dy="-462164" dz="-168783"/>
                    <am3d:scale>
                      <am3d:sx n="1000000" d="1000000"/>
                      <am3d:sy n="1000000" d="1000000"/>
                      <am3d:sz n="1000000" d="1000000"/>
                    </am3d:scale>
                    <am3d:rot ax="360000" ay="-6360000" az="0"/>
                    <am3d:postTrans dx="0" dy="0" dz="0"/>
                  </am3d:trans>
                  <am3d:raster rName="Office3DRenderer" rVer="16.0.8326">
                    <am3d:blip r:embed="rId6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38912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7" name="!!m-harp">
                <a:extLst>
                  <a:ext uri="{FF2B5EF4-FFF2-40B4-BE49-F238E27FC236}">
                    <a16:creationId xmlns:a16="http://schemas.microsoft.com/office/drawing/2014/main" id="{79D0796F-7FCC-E305-7BD7-4FF0DCFBA2A6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-4937760" y="1234440"/>
                <a:ext cx="4389120" cy="4389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8" name="!!m-chest">
                <a:extLst>
                  <a:ext uri="{FF2B5EF4-FFF2-40B4-BE49-F238E27FC236}">
                    <a16:creationId xmlns:a16="http://schemas.microsoft.com/office/drawing/2014/main" id="{2EE869EC-7563-DDD3-6C65-B5E3C0303059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740335" y="1325880"/>
              <a:ext cx="4480560" cy="4480560"/>
            </p:xfrm>
            <a:graphic>
              <a:graphicData uri="http://schemas.microsoft.com/office/drawing/2017/model3d">
                <am3d:model3d r:embed="rIdM3d11">
                  <am3d:spPr>
                    <a:xfrm>
                      <a:off x="0" y="0"/>
                      <a:ext cx="4480560" cy="4480560"/>
                    </a:xfrm>
                    <a:prstGeom prst="rect">
                      <a:avLst/>
                    </a:prstGeom>
                  </am3d:spPr>
                  <am3d:camera>
                    <am3d:pos x="0" y="0" z="66381807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931099" d="1000000"/>
                    <am3d:preTrans dx="0" dy="1813409" dz="-4089385"/>
                    <am3d:scale>
                      <am3d:sx n="1000000" d="1000000"/>
                      <am3d:sy n="1000000" d="1000000"/>
                      <am3d:sz n="1000000" d="1000000"/>
                    </am3d:scale>
                    <am3d:rot ax="960000" ay="3120000" az="0"/>
                    <am3d:postTrans dx="0" dy="0" dz="0"/>
                  </am3d:trans>
                  <am3d:raster rName="Office3DRenderer" rVer="16.0.8326">
                    <am3d:blip r:embed="rId7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5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48056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8" name="!!m-chest">
                <a:extLst>
                  <a:ext uri="{FF2B5EF4-FFF2-40B4-BE49-F238E27FC236}">
                    <a16:creationId xmlns:a16="http://schemas.microsoft.com/office/drawing/2014/main" id="{2EE869EC-7563-DDD3-6C65-B5E3C030305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2740335" y="1325880"/>
                <a:ext cx="4480560" cy="448056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171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01" dur="8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1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4">
    <p:bg>
      <p:bgPr>
        <a:solidFill>
          <a:srgbClr val="0E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home/user/omgGame/presentations/cantillon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rack"/>
          <p:cNvSpPr/>
          <p:nvPr/>
        </p:nvSpPr>
        <p:spPr>
          <a:xfrm>
            <a:off x="685800" y="402336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4" name="!!progress"/>
          <p:cNvSpPr/>
          <p:nvPr/>
        </p:nvSpPr>
        <p:spPr>
          <a:xfrm>
            <a:off x="685800" y="391363"/>
            <a:ext cx="2164019" cy="21946"/>
          </a:xfrm>
          <a:prstGeom prst="rect">
            <a:avLst/>
          </a:prstGeom>
          <a:solidFill>
            <a:srgbClr val="E3B663"/>
          </a:solidFill>
          <a:ln/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!!coin">
                <a:extLst>
                  <a:ext uri="{FF2B5EF4-FFF2-40B4-BE49-F238E27FC236}">
                    <a16:creationId xmlns:a16="http://schemas.microsoft.com/office/drawing/2014/main" id="{A0CD095D-703B-44BD-CB3A-97BF8DFA782A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2575499" y="98755"/>
              <a:ext cx="548640" cy="548640"/>
            </p:xfrm>
            <a:graphic>
              <a:graphicData uri="http://schemas.microsoft.com/office/drawing/2017/model3d">
                <am3d:model3d r:embed="rIdM3d12">
                  <am3d:spPr>
                    <a:xfrm>
                      <a:off x="0" y="0"/>
                      <a:ext cx="548640" cy="548640"/>
                    </a:xfrm>
                    <a:prstGeom prst="rect">
                      <a:avLst/>
                    </a:prstGeom>
                  </am3d:spPr>
                  <am3d:camera>
                    <am3d:pos x="0" y="0" z="6662303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00000" d="1000000"/>
                    <am3d:preTrans dx="0" dy="0" dz="-162000"/>
                    <am3d:scale>
                      <am3d:sx n="1000000" d="1000000"/>
                      <am3d:sy n="1000000" d="1000000"/>
                      <am3d:sz n="1000000" d="1000000"/>
                    </am3d:scale>
                    <am3d:rot ax="0" ay="-720000" az="-26280000"/>
                    <am3d:postTrans dx="0" dy="0" dz="0"/>
                  </am3d:trans>
                  <am3d:raster rName="Office3DRenderer" rVer="16.0.8326">
                    <am3d:blip r:embed="rId2"/>
                  </am3d:raster>
                  <am3d:objViewport viewportSz="5486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!!coin">
                <a:extLst>
                  <a:ext uri="{FF2B5EF4-FFF2-40B4-BE49-F238E27FC236}">
                    <a16:creationId xmlns:a16="http://schemas.microsoft.com/office/drawing/2014/main" id="{A0CD095D-703B-44BD-CB3A-97BF8DFA782A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575499" y="98755"/>
                <a:ext cx="548640" cy="54864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!!kickerbar"/>
          <p:cNvSpPr/>
          <p:nvPr/>
        </p:nvSpPr>
        <p:spPr>
          <a:xfrm>
            <a:off x="685800" y="713232"/>
            <a:ext cx="310896" cy="3200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7" name="!!kicker"/>
          <p:cNvSpPr/>
          <p:nvPr/>
        </p:nvSpPr>
        <p:spPr>
          <a:xfrm>
            <a:off x="1124712" y="594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3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— ЧЕМ ЗАНИМАЛСЯ</a:t>
            </a:r>
            <a:endParaRPr lang="en-US" sz="1100" dirty="0"/>
          </a:p>
        </p:txBody>
      </p:sp>
      <p:sp>
        <p:nvSpPr>
          <p:cNvPr id="8" name="!!footline"/>
          <p:cNvSpPr/>
          <p:nvPr/>
        </p:nvSpPr>
        <p:spPr>
          <a:xfrm>
            <a:off x="685800" y="6400800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9" name="!!footer"/>
          <p:cNvSpPr/>
          <p:nvPr/>
        </p:nvSpPr>
        <p:spPr>
          <a:xfrm>
            <a:off x="68580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РИЧАРД КАНТИЛЬОН  ·  1680-е – 1734</a:t>
            </a:r>
            <a:endParaRPr lang="en-US" sz="900" dirty="0"/>
          </a:p>
        </p:txBody>
      </p:sp>
      <p:sp>
        <p:nvSpPr>
          <p:cNvPr id="10" name="!!src"/>
          <p:cNvSpPr/>
          <p:nvPr/>
        </p:nvSpPr>
        <p:spPr>
          <a:xfrm>
            <a:off x="3566160" y="6492240"/>
            <a:ext cx="6492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Источники: </a:t>
            </a:r>
            <a:pPr algn="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Murphy (1985, 1986); Dictionary of Irish Biography</a:t>
            </a:r>
            <a:endParaRPr lang="en-US" sz="850" dirty="0"/>
          </a:p>
        </p:txBody>
      </p:sp>
      <p:sp>
        <p:nvSpPr>
          <p:cNvPr id="11" name="!!pagenum"/>
          <p:cNvSpPr/>
          <p:nvPr/>
        </p:nvSpPr>
        <p:spPr>
          <a:xfrm>
            <a:off x="10134295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16</a:t>
            </a:r>
            <a:endParaRPr lang="en-US" sz="900" dirty="0"/>
          </a:p>
        </p:txBody>
      </p:sp>
      <p:pic>
        <p:nvPicPr>
          <p:cNvPr id="12" name="!!glow" descr="/home/user/omgGame/presentations/cantillon/assets/gl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8514" y="-48006"/>
            <a:ext cx="6496812" cy="6496812"/>
          </a:xfrm>
          <a:prstGeom prst="rect">
            <a:avLst/>
          </a:prstGeom>
        </p:spPr>
      </p:pic>
      <p:sp>
        <p:nvSpPr>
          <p:cNvPr id="13" name="!!ring1"/>
          <p:cNvSpPr/>
          <p:nvPr/>
        </p:nvSpPr>
        <p:spPr>
          <a:xfrm>
            <a:off x="7541057" y="1094537"/>
            <a:ext cx="4211726" cy="4211726"/>
          </a:xfrm>
          <a:prstGeom prst="ellipse">
            <a:avLst/>
          </a:prstGeom>
          <a:ln w="9525">
            <a:solidFill>
              <a:srgbClr val="E3B663">
                <a:alpha val="18000"/>
              </a:srgbClr>
            </a:solidFill>
            <a:prstDash val="solid"/>
          </a:ln>
        </p:spPr>
      </p:sp>
      <p:sp>
        <p:nvSpPr>
          <p:cNvPr id="14" name="!!ring2"/>
          <p:cNvSpPr/>
          <p:nvPr/>
        </p:nvSpPr>
        <p:spPr>
          <a:xfrm>
            <a:off x="6958584" y="512064"/>
            <a:ext cx="5376672" cy="5376672"/>
          </a:xfrm>
          <a:prstGeom prst="ellipse">
            <a:avLst/>
          </a:prstGeom>
          <a:ln w="9525">
            <a:solidFill>
              <a:srgbClr val="E3B663">
                <a:alpha val="12000"/>
              </a:srgbClr>
            </a:solidFill>
            <a:prstDash val="dash"/>
          </a:ln>
        </p:spPr>
      </p:sp>
      <p:pic>
        <p:nvPicPr>
          <p:cNvPr id="15" name="!!shadow" descr="/home/user/omgGame/presentations/cantillon/assets/shad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99502" y="3928491"/>
            <a:ext cx="3494837" cy="873709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6" name="!!m-chest">
                <a:extLst>
                  <a:ext uri="{FF2B5EF4-FFF2-40B4-BE49-F238E27FC236}">
                    <a16:creationId xmlns:a16="http://schemas.microsoft.com/office/drawing/2014/main" id="{CA6AC79B-3668-2F4D-A798-A2BB81C671B2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7406640" y="960120"/>
              <a:ext cx="4480560" cy="4480560"/>
            </p:xfrm>
            <a:graphic>
              <a:graphicData uri="http://schemas.microsoft.com/office/drawing/2017/model3d">
                <am3d:model3d r:embed="rIdM3d13">
                  <am3d:spPr>
                    <a:xfrm>
                      <a:off x="0" y="0"/>
                      <a:ext cx="4480560" cy="4480560"/>
                    </a:xfrm>
                    <a:prstGeom prst="rect">
                      <a:avLst/>
                    </a:prstGeom>
                  </am3d:spPr>
                  <am3d:camera>
                    <am3d:pos x="0" y="0" z="66381807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931099" d="1000000"/>
                    <am3d:preTrans dx="0" dy="1813409" dz="-4089385"/>
                    <am3d:scale>
                      <am3d:sx n="1000000" d="1000000"/>
                      <am3d:sy n="1000000" d="1000000"/>
                      <am3d:sz n="1000000" d="1000000"/>
                    </am3d:scale>
                    <am3d:rot ax="960000" ay="-1680000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5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48056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6" name="!!m-chest">
                <a:extLst>
                  <a:ext uri="{FF2B5EF4-FFF2-40B4-BE49-F238E27FC236}">
                    <a16:creationId xmlns:a16="http://schemas.microsoft.com/office/drawing/2014/main" id="{CA6AC79B-3668-2F4D-A798-A2BB81C671B2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406640" y="960120"/>
                <a:ext cx="4480560" cy="4480560"/>
              </a:xfrm>
              <a:prstGeom prst="rect">
                <a:avLst/>
              </a:prstGeom>
            </p:spPr>
          </p:pic>
        </mc:Fallback>
      </mc:AlternateContent>
      <p:sp>
        <p:nvSpPr>
          <p:cNvPr id="17" name="fx4_9_0"/>
          <p:cNvSpPr/>
          <p:nvPr/>
        </p:nvSpPr>
        <p:spPr>
          <a:xfrm>
            <a:off x="7863840" y="5127041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spc="25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ЭКСПОНАТ 04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Сундук открывается: ключ, бумаги, луидоры</a:t>
            </a:r>
            <a:endParaRPr lang="en-US" sz="900" dirty="0"/>
          </a:p>
        </p:txBody>
      </p:sp>
      <p:sp>
        <p:nvSpPr>
          <p:cNvPr id="18" name="!!title"/>
          <p:cNvSpPr/>
          <p:nvPr/>
        </p:nvSpPr>
        <p:spPr>
          <a:xfrm>
            <a:off x="685800" y="98755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2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Банкир, финансист, спекулянт</a:t>
            </a:r>
            <a:endParaRPr lang="en-US" sz="3200" dirty="0"/>
          </a:p>
        </p:txBody>
      </p:sp>
      <p:sp>
        <p:nvSpPr>
          <p:cNvPr id="19" name="fx4_1_1"/>
          <p:cNvSpPr/>
          <p:nvPr/>
        </p:nvSpPr>
        <p:spPr>
          <a:xfrm>
            <a:off x="685800" y="1965960"/>
            <a:ext cx="3227832" cy="1408176"/>
          </a:xfrm>
          <a:prstGeom prst="roundRect">
            <a:avLst>
              <a:gd name="adj" fmla="val 5195"/>
            </a:avLst>
          </a:prstGeom>
          <a:solidFill>
            <a:srgbClr val="22121A">
              <a:alpha val="85000"/>
            </a:srgbClr>
          </a:solidFill>
          <a:ln w="9525">
            <a:solidFill>
              <a:srgbClr val="E3B663">
                <a:alpha val="28000"/>
              </a:srgbClr>
            </a:solidFill>
            <a:prstDash val="solid"/>
          </a:ln>
        </p:spPr>
      </p:sp>
      <p:sp>
        <p:nvSpPr>
          <p:cNvPr id="20" name="fx4_1_2"/>
          <p:cNvSpPr/>
          <p:nvPr/>
        </p:nvSpPr>
        <p:spPr>
          <a:xfrm>
            <a:off x="886968" y="2093976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</a:t>
            </a:r>
            <a:endParaRPr lang="en-US" sz="2200" dirty="0"/>
          </a:p>
        </p:txBody>
      </p:sp>
      <p:sp>
        <p:nvSpPr>
          <p:cNvPr id="21" name="fx4_1_3"/>
          <p:cNvSpPr/>
          <p:nvPr/>
        </p:nvSpPr>
        <p:spPr>
          <a:xfrm>
            <a:off x="1417320" y="2148840"/>
            <a:ext cx="2359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Агент казначейства · 1711</a:t>
            </a:r>
            <a:endParaRPr lang="en-US" sz="1300" dirty="0"/>
          </a:p>
        </p:txBody>
      </p:sp>
      <p:sp>
        <p:nvSpPr>
          <p:cNvPr id="22" name="fx4_1_4"/>
          <p:cNvSpPr/>
          <p:nvPr/>
        </p:nvSpPr>
        <p:spPr>
          <a:xfrm>
            <a:off x="886968" y="2569464"/>
            <a:ext cx="28620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Испании организует выплаты британским пленным. Покровитель — казначей Джеймс Бриджес.</a:t>
            </a:r>
            <a:endParaRPr lang="en-US" sz="1100" dirty="0"/>
          </a:p>
        </p:txBody>
      </p:sp>
      <p:sp>
        <p:nvSpPr>
          <p:cNvPr id="23" name="fx4_2_5"/>
          <p:cNvSpPr/>
          <p:nvPr/>
        </p:nvSpPr>
        <p:spPr>
          <a:xfrm>
            <a:off x="4050792" y="1965960"/>
            <a:ext cx="3227832" cy="1408176"/>
          </a:xfrm>
          <a:prstGeom prst="roundRect">
            <a:avLst>
              <a:gd name="adj" fmla="val 5195"/>
            </a:avLst>
          </a:prstGeom>
          <a:solidFill>
            <a:srgbClr val="22121A">
              <a:alpha val="85000"/>
            </a:srgbClr>
          </a:solidFill>
          <a:ln w="9525">
            <a:solidFill>
              <a:srgbClr val="E3B663">
                <a:alpha val="28000"/>
              </a:srgbClr>
            </a:solidFill>
            <a:prstDash val="solid"/>
          </a:ln>
        </p:spPr>
      </p:sp>
      <p:sp>
        <p:nvSpPr>
          <p:cNvPr id="24" name="fx4_2_6"/>
          <p:cNvSpPr/>
          <p:nvPr/>
        </p:nvSpPr>
        <p:spPr>
          <a:xfrm>
            <a:off x="4251960" y="2093976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II</a:t>
            </a:r>
            <a:endParaRPr lang="en-US" sz="2200" dirty="0"/>
          </a:p>
        </p:txBody>
      </p:sp>
      <p:sp>
        <p:nvSpPr>
          <p:cNvPr id="25" name="fx4_2_7"/>
          <p:cNvSpPr/>
          <p:nvPr/>
        </p:nvSpPr>
        <p:spPr>
          <a:xfrm>
            <a:off x="4782312" y="2148840"/>
            <a:ext cx="2359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Парижский банкир · 1714–1716</a:t>
            </a:r>
            <a:endParaRPr lang="en-US" sz="1300" dirty="0"/>
          </a:p>
        </p:txBody>
      </p:sp>
      <p:sp>
        <p:nvSpPr>
          <p:cNvPr id="26" name="fx4_2_8"/>
          <p:cNvSpPr/>
          <p:nvPr/>
        </p:nvSpPr>
        <p:spPr>
          <a:xfrm>
            <a:off x="4251960" y="2569464"/>
            <a:ext cx="28620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Начинает в банке кузена, а в 1716-м выкупает его и становится хозяином.</a:t>
            </a:r>
            <a:endParaRPr lang="en-US" sz="1100" dirty="0"/>
          </a:p>
        </p:txBody>
      </p:sp>
      <p:sp>
        <p:nvSpPr>
          <p:cNvPr id="27" name="fx4_3_9"/>
          <p:cNvSpPr/>
          <p:nvPr/>
        </p:nvSpPr>
        <p:spPr>
          <a:xfrm>
            <a:off x="685800" y="3502152"/>
            <a:ext cx="3227832" cy="1408176"/>
          </a:xfrm>
          <a:prstGeom prst="roundRect">
            <a:avLst>
              <a:gd name="adj" fmla="val 5195"/>
            </a:avLst>
          </a:prstGeom>
          <a:solidFill>
            <a:srgbClr val="22121A">
              <a:alpha val="85000"/>
            </a:srgbClr>
          </a:solidFill>
          <a:ln w="9525">
            <a:solidFill>
              <a:srgbClr val="E3B663">
                <a:alpha val="28000"/>
              </a:srgbClr>
            </a:solidFill>
            <a:prstDash val="solid"/>
          </a:ln>
        </p:spPr>
      </p:sp>
      <p:sp>
        <p:nvSpPr>
          <p:cNvPr id="28" name="fx4_3_10"/>
          <p:cNvSpPr/>
          <p:nvPr/>
        </p:nvSpPr>
        <p:spPr>
          <a:xfrm>
            <a:off x="886968" y="3630168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III</a:t>
            </a:r>
            <a:endParaRPr lang="en-US" sz="2200" dirty="0"/>
          </a:p>
        </p:txBody>
      </p:sp>
      <p:sp>
        <p:nvSpPr>
          <p:cNvPr id="29" name="fx4_3_11"/>
          <p:cNvSpPr/>
          <p:nvPr/>
        </p:nvSpPr>
        <p:spPr>
          <a:xfrm>
            <a:off x="1417320" y="3685032"/>
            <a:ext cx="2359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Банкир изгнанников</a:t>
            </a:r>
            <a:endParaRPr lang="en-US" sz="1300" dirty="0"/>
          </a:p>
        </p:txBody>
      </p:sp>
      <p:sp>
        <p:nvSpPr>
          <p:cNvPr id="30" name="fx4_3_12"/>
          <p:cNvSpPr/>
          <p:nvPr/>
        </p:nvSpPr>
        <p:spPr>
          <a:xfrm>
            <a:off x="886968" y="4105656"/>
            <a:ext cx="28620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Двор Стюартов, ирландские эмигранты, поэт Поуп, политик Болингброк.</a:t>
            </a:r>
            <a:endParaRPr lang="en-US" sz="1100" dirty="0"/>
          </a:p>
        </p:txBody>
      </p:sp>
      <p:sp>
        <p:nvSpPr>
          <p:cNvPr id="31" name="fx4_4_13"/>
          <p:cNvSpPr/>
          <p:nvPr/>
        </p:nvSpPr>
        <p:spPr>
          <a:xfrm>
            <a:off x="4050792" y="3502152"/>
            <a:ext cx="3227832" cy="1408176"/>
          </a:xfrm>
          <a:prstGeom prst="roundRect">
            <a:avLst>
              <a:gd name="adj" fmla="val 5195"/>
            </a:avLst>
          </a:prstGeom>
          <a:solidFill>
            <a:srgbClr val="22121A">
              <a:alpha val="85000"/>
            </a:srgbClr>
          </a:solidFill>
          <a:ln w="9525">
            <a:solidFill>
              <a:srgbClr val="E3B663">
                <a:alpha val="28000"/>
              </a:srgbClr>
            </a:solidFill>
            <a:prstDash val="solid"/>
          </a:ln>
        </p:spPr>
      </p:sp>
      <p:sp>
        <p:nvSpPr>
          <p:cNvPr id="32" name="fx4_4_14"/>
          <p:cNvSpPr/>
          <p:nvPr/>
        </p:nvSpPr>
        <p:spPr>
          <a:xfrm>
            <a:off x="4251960" y="3630168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IV</a:t>
            </a:r>
            <a:endParaRPr lang="en-US" sz="2200" dirty="0"/>
          </a:p>
        </p:txBody>
      </p:sp>
      <p:sp>
        <p:nvSpPr>
          <p:cNvPr id="33" name="fx4_4_15"/>
          <p:cNvSpPr/>
          <p:nvPr/>
        </p:nvSpPr>
        <p:spPr>
          <a:xfrm>
            <a:off x="4782312" y="3685032"/>
            <a:ext cx="2359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Спекулянт · 1719–1720</a:t>
            </a:r>
            <a:endParaRPr lang="en-US" sz="1300" dirty="0"/>
          </a:p>
        </p:txBody>
      </p:sp>
      <p:sp>
        <p:nvSpPr>
          <p:cNvPr id="34" name="fx4_4_16"/>
          <p:cNvSpPr/>
          <p:nvPr/>
        </p:nvSpPr>
        <p:spPr>
          <a:xfrm>
            <a:off x="4251960" y="4105656"/>
            <a:ext cx="28620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Состояние на пузыре Миссисипи. Деньги — в банках Лондона, Амстердама, Вены и Кадиса.</a:t>
            </a:r>
            <a:endParaRPr lang="en-US" sz="1100" dirty="0"/>
          </a:p>
        </p:txBody>
      </p:sp>
      <p:sp>
        <p:nvSpPr>
          <p:cNvPr id="35" name="fx4_8_17"/>
          <p:cNvSpPr/>
          <p:nvPr/>
        </p:nvSpPr>
        <p:spPr>
          <a:xfrm>
            <a:off x="685800" y="5257800"/>
            <a:ext cx="6592824" cy="932688"/>
          </a:xfrm>
          <a:prstGeom prst="roundRect">
            <a:avLst>
              <a:gd name="adj" fmla="val 7843"/>
            </a:avLst>
          </a:prstGeom>
          <a:solidFill>
            <a:srgbClr val="22170B">
              <a:alpha val="92000"/>
            </a:srgbClr>
          </a:solidFill>
          <a:ln w="12700">
            <a:solidFill>
              <a:srgbClr val="E3B663">
                <a:alpha val="55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36" name="fx4_8_18"/>
          <p:cNvSpPr/>
          <p:nvPr/>
        </p:nvSpPr>
        <p:spPr>
          <a:xfrm>
            <a:off x="685800" y="5404104"/>
            <a:ext cx="50292" cy="640080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37" name="fx4_8_19"/>
          <p:cNvSpPr/>
          <p:nvPr/>
        </p:nvSpPr>
        <p:spPr>
          <a:xfrm>
            <a:off x="941832" y="5120640"/>
            <a:ext cx="1993392" cy="274320"/>
          </a:xfrm>
          <a:prstGeom prst="roundRect">
            <a:avLst>
              <a:gd name="adj" fmla="val 50000"/>
            </a:avLst>
          </a:prstGeom>
          <a:solidFill>
            <a:srgbClr val="E3B663"/>
          </a:solidFill>
          <a:ln/>
        </p:spPr>
      </p:sp>
      <p:sp>
        <p:nvSpPr>
          <p:cNvPr id="38" name="fx4_8_20"/>
          <p:cNvSpPr/>
          <p:nvPr/>
        </p:nvSpPr>
        <p:spPr>
          <a:xfrm>
            <a:off x="941832" y="5120640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spc="150" kern="0" dirty="0">
                <a:solidFill>
                  <a:srgbClr val="0D0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 САМОЕ ИНТЕРЕСНОЕ</a:t>
            </a:r>
            <a:endParaRPr lang="en-US" sz="850" dirty="0"/>
          </a:p>
        </p:txBody>
      </p:sp>
      <p:sp>
        <p:nvSpPr>
          <p:cNvPr id="39" name="fx4_8_21"/>
          <p:cNvSpPr/>
          <p:nvPr/>
        </p:nvSpPr>
        <p:spPr>
          <a:xfrm>
            <a:off x="960120" y="5440680"/>
            <a:ext cx="61356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Уезжая из Парижа, он </a:t>
            </a:r>
            <a:pPr algn="l" indent="0" marL="0">
              <a:lnSpc>
                <a:spcPct val="105000"/>
              </a:lnSpc>
              <a:buNone/>
            </a:pPr>
            <a:r>
              <a:rPr lang="en-US" sz="1250" b="1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запер все бумаги в сундук</a:t>
            </a:r>
            <a:pPr algn="l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и оставил его на хранение английским монахам-бенедиктинцам — переждать «финансовую бурю».</a:t>
            </a:r>
            <a:endParaRPr lang="en-US" sz="125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0" name="!!m-globe_a">
                <a:extLst>
                  <a:ext uri="{FF2B5EF4-FFF2-40B4-BE49-F238E27FC236}">
                    <a16:creationId xmlns:a16="http://schemas.microsoft.com/office/drawing/2014/main" id="{32FBDF39-A59C-37B2-6E99-441F3C07D615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4937760" y="1143000"/>
              <a:ext cx="4389120" cy="4389120"/>
            </p:xfrm>
            <a:graphic>
              <a:graphicData uri="http://schemas.microsoft.com/office/drawing/2017/model3d">
                <am3d:model3d r:embed="rIdM3d14">
                  <am3d:spPr>
                    <a:xfrm>
                      <a:off x="0" y="0"/>
                      <a:ext cx="4389120" cy="4389120"/>
                    </a:xfrm>
                    <a:prstGeom prst="rect">
                      <a:avLst/>
                    </a:prstGeom>
                  </am3d:spPr>
                  <am3d:camera>
                    <am3d:pos x="0" y="0" z="71437206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71790" d="1000000"/>
                    <am3d:preTrans dx="1061824" dy="-773652" dz="270750"/>
                    <am3d:scale>
                      <am3d:sx n="1000000" d="1000000"/>
                      <am3d:sy n="1000000" d="1000000"/>
                      <am3d:sz n="1000000" d="1000000"/>
                    </am3d:scale>
                    <am3d:rot ax="600000" ay="-6000000" az="0"/>
                    <am3d:postTrans dx="0" dy="0" dz="0"/>
                  </am3d:trans>
                  <am3d:raster rName="Office3DRenderer" rVer="16.0.8326">
                    <am3d:blip r:embed="rId6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8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38912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0" name="!!m-globe_a">
                <a:extLst>
                  <a:ext uri="{FF2B5EF4-FFF2-40B4-BE49-F238E27FC236}">
                    <a16:creationId xmlns:a16="http://schemas.microsoft.com/office/drawing/2014/main" id="{32FBDF39-A59C-37B2-6E99-441F3C07D615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-4937760" y="1143000"/>
                <a:ext cx="4389120" cy="4389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1" name="!!m-bubble">
                <a:extLst>
                  <a:ext uri="{FF2B5EF4-FFF2-40B4-BE49-F238E27FC236}">
                    <a16:creationId xmlns:a16="http://schemas.microsoft.com/office/drawing/2014/main" id="{E68BADBA-591E-4E9D-BE61-57BBBA9E6331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740335" y="1234440"/>
              <a:ext cx="4297680" cy="4297680"/>
            </p:xfrm>
            <a:graphic>
              <a:graphicData uri="http://schemas.microsoft.com/office/drawing/2017/model3d">
                <am3d:model3d r:embed="rIdM3d15">
                  <am3d:spPr>
                    <a:xfrm>
                      <a:off x="0" y="0"/>
                      <a:ext cx="4297680" cy="4297680"/>
                    </a:xfrm>
                    <a:prstGeom prst="rect">
                      <a:avLst/>
                    </a:prstGeom>
                  </am3d:spPr>
                  <am3d:camera>
                    <am3d:pos x="0" y="0" z="7469258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996292" d="1000000"/>
                    <am3d:preTrans dx="963413" dy="2600320" dz="2"/>
                    <am3d:scale>
                      <am3d:sx n="1000000" d="1000000"/>
                      <am3d:sy n="1000000" d="1000000"/>
                      <am3d:sz n="1000000" d="1000000"/>
                    </am3d:scale>
                    <am3d:rot ax="840000" ay="3360000" az="0"/>
                    <am3d:postTrans dx="0" dy="0" dz="0"/>
                  </am3d:trans>
                  <am3d:raster rName="Office3DRenderer" rVer="16.0.8326">
                    <am3d:blip r:embed="rId7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5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2976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1" name="!!m-bubble">
                <a:extLst>
                  <a:ext uri="{FF2B5EF4-FFF2-40B4-BE49-F238E27FC236}">
                    <a16:creationId xmlns:a16="http://schemas.microsoft.com/office/drawing/2014/main" id="{E68BADBA-591E-4E9D-BE61-57BBBA9E633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2740335" y="1234440"/>
                <a:ext cx="4297680" cy="42976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7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7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7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16" dur="5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1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5">
    <p:bg>
      <p:bgPr>
        <a:solidFill>
          <a:srgbClr val="0E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home/user/omgGame/presentations/cantillon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rack"/>
          <p:cNvSpPr/>
          <p:nvPr/>
        </p:nvSpPr>
        <p:spPr>
          <a:xfrm>
            <a:off x="685800" y="402336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4" name="!!progress"/>
          <p:cNvSpPr/>
          <p:nvPr/>
        </p:nvSpPr>
        <p:spPr>
          <a:xfrm>
            <a:off x="685800" y="391363"/>
            <a:ext cx="2885359" cy="21946"/>
          </a:xfrm>
          <a:prstGeom prst="rect">
            <a:avLst/>
          </a:prstGeom>
          <a:solidFill>
            <a:srgbClr val="E3B663"/>
          </a:solidFill>
          <a:ln/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!!coin">
                <a:extLst>
                  <a:ext uri="{FF2B5EF4-FFF2-40B4-BE49-F238E27FC236}">
                    <a16:creationId xmlns:a16="http://schemas.microsoft.com/office/drawing/2014/main" id="{85BAE302-4A0A-9AF0-301C-95BD8D2D9707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3296839" y="98755"/>
              <a:ext cx="548640" cy="548640"/>
            </p:xfrm>
            <a:graphic>
              <a:graphicData uri="http://schemas.microsoft.com/office/drawing/2017/model3d">
                <am3d:model3d r:embed="rIdM3d16">
                  <am3d:spPr>
                    <a:xfrm>
                      <a:off x="0" y="0"/>
                      <a:ext cx="548640" cy="548640"/>
                    </a:xfrm>
                    <a:prstGeom prst="rect">
                      <a:avLst/>
                    </a:prstGeom>
                  </am3d:spPr>
                  <am3d:camera>
                    <am3d:pos x="0" y="0" z="6662303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00000" d="1000000"/>
                    <am3d:preTrans dx="0" dy="0" dz="-162000"/>
                    <am3d:scale>
                      <am3d:sx n="1000000" d="1000000"/>
                      <am3d:sy n="1000000" d="1000000"/>
                      <am3d:sz n="1000000" d="1000000"/>
                    </am3d:scale>
                    <am3d:rot ax="0" ay="-720000" az="-35040000"/>
                    <am3d:postTrans dx="0" dy="0" dz="0"/>
                  </am3d:trans>
                  <am3d:raster rName="Office3DRenderer" rVer="16.0.8326">
                    <am3d:blip r:embed="rId2"/>
                  </am3d:raster>
                  <am3d:objViewport viewportSz="5486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!!coin">
                <a:extLst>
                  <a:ext uri="{FF2B5EF4-FFF2-40B4-BE49-F238E27FC236}">
                    <a16:creationId xmlns:a16="http://schemas.microsoft.com/office/drawing/2014/main" id="{85BAE302-4A0A-9AF0-301C-95BD8D2D9707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3296839" y="98755"/>
                <a:ext cx="548640" cy="54864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!!kickerbar"/>
          <p:cNvSpPr/>
          <p:nvPr/>
        </p:nvSpPr>
        <p:spPr>
          <a:xfrm>
            <a:off x="685800" y="713232"/>
            <a:ext cx="310896" cy="3200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7" name="!!kicker"/>
          <p:cNvSpPr/>
          <p:nvPr/>
        </p:nvSpPr>
        <p:spPr>
          <a:xfrm>
            <a:off x="1124712" y="594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3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— ПУЗЫРЬ И ДУЭЛЬ С ДЖОНОМ ЛО</a:t>
            </a:r>
            <a:endParaRPr lang="en-US" sz="1100" dirty="0"/>
          </a:p>
        </p:txBody>
      </p:sp>
      <p:sp>
        <p:nvSpPr>
          <p:cNvPr id="8" name="!!footline"/>
          <p:cNvSpPr/>
          <p:nvPr/>
        </p:nvSpPr>
        <p:spPr>
          <a:xfrm>
            <a:off x="685800" y="6400800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9" name="!!footer"/>
          <p:cNvSpPr/>
          <p:nvPr/>
        </p:nvSpPr>
        <p:spPr>
          <a:xfrm>
            <a:off x="68580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РИЧАРД КАНТИЛЬОН  ·  1680-е – 1734</a:t>
            </a:r>
            <a:endParaRPr lang="en-US" sz="900" dirty="0"/>
          </a:p>
        </p:txBody>
      </p:sp>
      <p:sp>
        <p:nvSpPr>
          <p:cNvPr id="10" name="!!src"/>
          <p:cNvSpPr/>
          <p:nvPr/>
        </p:nvSpPr>
        <p:spPr>
          <a:xfrm>
            <a:off x="3566160" y="6492240"/>
            <a:ext cx="6492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Источники: </a:t>
            </a:r>
            <a:pPr algn="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Jevons (1881); Hayek (1931); Irish Independent (2013)</a:t>
            </a:r>
            <a:endParaRPr lang="en-US" sz="850" dirty="0"/>
          </a:p>
        </p:txBody>
      </p:sp>
      <p:sp>
        <p:nvSpPr>
          <p:cNvPr id="11" name="!!pagenum"/>
          <p:cNvSpPr/>
          <p:nvPr/>
        </p:nvSpPr>
        <p:spPr>
          <a:xfrm>
            <a:off x="10134295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16</a:t>
            </a:r>
            <a:endParaRPr lang="en-US" sz="900" dirty="0"/>
          </a:p>
        </p:txBody>
      </p:sp>
      <p:pic>
        <p:nvPicPr>
          <p:cNvPr id="12" name="!!glow" descr="/home/user/omgGame/presentations/cantillon/assets/gl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6822" y="-98298"/>
            <a:ext cx="6231636" cy="6231636"/>
          </a:xfrm>
          <a:prstGeom prst="rect">
            <a:avLst/>
          </a:prstGeom>
        </p:spPr>
      </p:pic>
      <p:sp>
        <p:nvSpPr>
          <p:cNvPr id="13" name="!!ring1"/>
          <p:cNvSpPr/>
          <p:nvPr/>
        </p:nvSpPr>
        <p:spPr>
          <a:xfrm>
            <a:off x="7672730" y="997610"/>
            <a:ext cx="4039819" cy="4039819"/>
          </a:xfrm>
          <a:prstGeom prst="ellipse">
            <a:avLst/>
          </a:prstGeom>
          <a:ln w="9525">
            <a:solidFill>
              <a:srgbClr val="E3B663">
                <a:alpha val="18000"/>
              </a:srgbClr>
            </a:solidFill>
            <a:prstDash val="solid"/>
          </a:ln>
        </p:spPr>
      </p:sp>
      <p:sp>
        <p:nvSpPr>
          <p:cNvPr id="14" name="!!ring2"/>
          <p:cNvSpPr/>
          <p:nvPr/>
        </p:nvSpPr>
        <p:spPr>
          <a:xfrm>
            <a:off x="7114032" y="438912"/>
            <a:ext cx="5157216" cy="5157216"/>
          </a:xfrm>
          <a:prstGeom prst="ellipse">
            <a:avLst/>
          </a:prstGeom>
          <a:ln w="9525">
            <a:solidFill>
              <a:srgbClr val="E3B663">
                <a:alpha val="12000"/>
              </a:srgbClr>
            </a:solidFill>
            <a:prstDash val="dash"/>
          </a:ln>
        </p:spPr>
      </p:sp>
      <p:pic>
        <p:nvPicPr>
          <p:cNvPr id="15" name="!!shadow" descr="/home/user/omgGame/presentations/cantillon/assets/shad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8452" y="4016731"/>
            <a:ext cx="3008376" cy="752094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6" name="!!m-bubble">
                <a:extLst>
                  <a:ext uri="{FF2B5EF4-FFF2-40B4-BE49-F238E27FC236}">
                    <a16:creationId xmlns:a16="http://schemas.microsoft.com/office/drawing/2014/main" id="{6F5AAA51-2F49-D8F9-7082-28E5955D672B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7543800" y="868680"/>
              <a:ext cx="4297680" cy="4297680"/>
            </p:xfrm>
            <a:graphic>
              <a:graphicData uri="http://schemas.microsoft.com/office/drawing/2017/model3d">
                <am3d:model3d r:embed="rIdM3d17">
                  <am3d:spPr>
                    <a:xfrm>
                      <a:off x="0" y="0"/>
                      <a:ext cx="4297680" cy="4297680"/>
                    </a:xfrm>
                    <a:prstGeom prst="rect">
                      <a:avLst/>
                    </a:prstGeom>
                  </am3d:spPr>
                  <am3d:camera>
                    <am3d:pos x="0" y="0" z="7469258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996292" d="1000000"/>
                    <am3d:preTrans dx="963413" dy="2600320" dz="2"/>
                    <am3d:scale>
                      <am3d:sx n="1000000" d="1000000"/>
                      <am3d:sy n="1000000" d="1000000"/>
                      <am3d:sz n="1000000" d="1000000"/>
                    </am3d:scale>
                    <am3d:rot ax="840000" ay="-1440000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5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2976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6" name="!!m-bubble">
                <a:extLst>
                  <a:ext uri="{FF2B5EF4-FFF2-40B4-BE49-F238E27FC236}">
                    <a16:creationId xmlns:a16="http://schemas.microsoft.com/office/drawing/2014/main" id="{6F5AAA51-2F49-D8F9-7082-28E5955D672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543800" y="868680"/>
                <a:ext cx="4297680" cy="4297680"/>
              </a:xfrm>
              <a:prstGeom prst="rect">
                <a:avLst/>
              </a:prstGeom>
            </p:spPr>
          </p:pic>
        </mc:Fallback>
      </mc:AlternateContent>
      <p:sp>
        <p:nvSpPr>
          <p:cNvPr id="17" name="fx5_9_0"/>
          <p:cNvSpPr/>
          <p:nvPr/>
        </p:nvSpPr>
        <p:spPr>
          <a:xfrm>
            <a:off x="7955280" y="4865522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spc="25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ЭКСПОНАТ 05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Пузырь раздувается, лопается — и растёт снова</a:t>
            </a:r>
            <a:endParaRPr lang="en-US" sz="900" dirty="0"/>
          </a:p>
        </p:txBody>
      </p:sp>
      <p:sp>
        <p:nvSpPr>
          <p:cNvPr id="18" name="!!title"/>
          <p:cNvSpPr/>
          <p:nvPr/>
        </p:nvSpPr>
        <p:spPr>
          <a:xfrm>
            <a:off x="685800" y="987552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2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Пузырь Миссисипи: как он разбогател</a:t>
            </a:r>
            <a:endParaRPr lang="en-US" sz="3200" dirty="0"/>
          </a:p>
        </p:txBody>
      </p:sp>
      <p:sp>
        <p:nvSpPr>
          <p:cNvPr id="19" name="fx5_1_1"/>
          <p:cNvSpPr/>
          <p:nvPr/>
        </p:nvSpPr>
        <p:spPr>
          <a:xfrm>
            <a:off x="685800" y="2176272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</a:t>
            </a:r>
            <a:endParaRPr lang="en-US" sz="1800" dirty="0"/>
          </a:p>
        </p:txBody>
      </p:sp>
      <p:sp>
        <p:nvSpPr>
          <p:cNvPr id="20" name="fx5_1_2"/>
          <p:cNvSpPr/>
          <p:nvPr/>
        </p:nvSpPr>
        <p:spPr>
          <a:xfrm>
            <a:off x="1280160" y="221284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Банк Джона Ло · 1716</a:t>
            </a:r>
            <a:endParaRPr lang="en-US" sz="1400" dirty="0"/>
          </a:p>
        </p:txBody>
      </p:sp>
      <p:sp>
        <p:nvSpPr>
          <p:cNvPr id="21" name="fx5_1_3"/>
          <p:cNvSpPr/>
          <p:nvPr/>
        </p:nvSpPr>
        <p:spPr>
          <a:xfrm>
            <a:off x="1280160" y="2487168"/>
            <a:ext cx="5760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Шотландец убеждает регента: бумажные деньги спасут Францию от долгов.</a:t>
            </a:r>
            <a:endParaRPr lang="en-US" sz="1150" dirty="0"/>
          </a:p>
        </p:txBody>
      </p:sp>
      <p:sp>
        <p:nvSpPr>
          <p:cNvPr id="22" name="fx5_2_4"/>
          <p:cNvSpPr/>
          <p:nvPr/>
        </p:nvSpPr>
        <p:spPr>
          <a:xfrm>
            <a:off x="685800" y="2889504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II</a:t>
            </a:r>
            <a:endParaRPr lang="en-US" sz="1800" dirty="0"/>
          </a:p>
        </p:txBody>
      </p:sp>
      <p:sp>
        <p:nvSpPr>
          <p:cNvPr id="23" name="fx5_2_5"/>
          <p:cNvSpPr/>
          <p:nvPr/>
        </p:nvSpPr>
        <p:spPr>
          <a:xfrm>
            <a:off x="1280160" y="292608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Миссисипская компания · 1717–1719</a:t>
            </a:r>
            <a:endParaRPr lang="en-US" sz="1400" dirty="0"/>
          </a:p>
        </p:txBody>
      </p:sp>
      <p:sp>
        <p:nvSpPr>
          <p:cNvPr id="24" name="fx5_2_6"/>
          <p:cNvSpPr/>
          <p:nvPr/>
        </p:nvSpPr>
        <p:spPr>
          <a:xfrm>
            <a:off x="1280160" y="3200400"/>
            <a:ext cx="5760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Монополия на Луизиану; акции дорожают примерно в 20 раз.</a:t>
            </a:r>
            <a:endParaRPr lang="en-US" sz="1150" dirty="0"/>
          </a:p>
        </p:txBody>
      </p:sp>
      <p:sp>
        <p:nvSpPr>
          <p:cNvPr id="25" name="fx5_3_7"/>
          <p:cNvSpPr/>
          <p:nvPr/>
        </p:nvSpPr>
        <p:spPr>
          <a:xfrm>
            <a:off x="685800" y="3602736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III</a:t>
            </a:r>
            <a:endParaRPr lang="en-US" sz="1800" dirty="0"/>
          </a:p>
        </p:txBody>
      </p:sp>
      <p:sp>
        <p:nvSpPr>
          <p:cNvPr id="26" name="fx5_3_8"/>
          <p:cNvSpPr/>
          <p:nvPr/>
        </p:nvSpPr>
        <p:spPr>
          <a:xfrm>
            <a:off x="1280160" y="363931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Ход Кантильона</a:t>
            </a:r>
            <a:endParaRPr lang="en-US" sz="1400" dirty="0"/>
          </a:p>
        </p:txBody>
      </p:sp>
      <p:sp>
        <p:nvSpPr>
          <p:cNvPr id="27" name="fx5_3_9"/>
          <p:cNvSpPr/>
          <p:nvPr/>
        </p:nvSpPr>
        <p:spPr>
          <a:xfrm>
            <a:off x="1280160" y="3913632"/>
            <a:ext cx="5760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Считает систему обречённой: покупает рано, продаёт дорого, кредитует под залог.</a:t>
            </a:r>
            <a:endParaRPr lang="en-US" sz="1150" dirty="0"/>
          </a:p>
        </p:txBody>
      </p:sp>
      <p:sp>
        <p:nvSpPr>
          <p:cNvPr id="28" name="fx5_4_10"/>
          <p:cNvSpPr/>
          <p:nvPr/>
        </p:nvSpPr>
        <p:spPr>
          <a:xfrm>
            <a:off x="685800" y="4315968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IV</a:t>
            </a:r>
            <a:endParaRPr lang="en-US" sz="1800" dirty="0"/>
          </a:p>
        </p:txBody>
      </p:sp>
      <p:sp>
        <p:nvSpPr>
          <p:cNvPr id="29" name="fx5_4_11"/>
          <p:cNvSpPr/>
          <p:nvPr/>
        </p:nvSpPr>
        <p:spPr>
          <a:xfrm>
            <a:off x="1280160" y="435254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Крах · 1720</a:t>
            </a:r>
            <a:endParaRPr lang="en-US" sz="1400" dirty="0"/>
          </a:p>
        </p:txBody>
      </p:sp>
      <p:sp>
        <p:nvSpPr>
          <p:cNvPr id="30" name="fx5_4_12"/>
          <p:cNvSpPr/>
          <p:nvPr/>
        </p:nvSpPr>
        <p:spPr>
          <a:xfrm>
            <a:off x="1280160" y="4626864"/>
            <a:ext cx="5760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Пузырь лопается — а у него ≈ 20 млн ливров (порядка €60 млн сегодня).</a:t>
            </a:r>
            <a:endParaRPr lang="en-US" sz="1150" dirty="0"/>
          </a:p>
        </p:txBody>
      </p:sp>
      <p:sp>
        <p:nvSpPr>
          <p:cNvPr id="31" name="fx5_8_13"/>
          <p:cNvSpPr/>
          <p:nvPr/>
        </p:nvSpPr>
        <p:spPr>
          <a:xfrm>
            <a:off x="685800" y="5138928"/>
            <a:ext cx="6400800" cy="1060704"/>
          </a:xfrm>
          <a:prstGeom prst="roundRect">
            <a:avLst>
              <a:gd name="adj" fmla="val 6897"/>
            </a:avLst>
          </a:prstGeom>
          <a:solidFill>
            <a:srgbClr val="22170B">
              <a:alpha val="92000"/>
            </a:srgbClr>
          </a:solidFill>
          <a:ln w="12700">
            <a:solidFill>
              <a:srgbClr val="E3B663">
                <a:alpha val="55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32" name="fx5_8_14"/>
          <p:cNvSpPr/>
          <p:nvPr/>
        </p:nvSpPr>
        <p:spPr>
          <a:xfrm>
            <a:off x="685800" y="5285232"/>
            <a:ext cx="50292" cy="768096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33" name="fx5_8_15"/>
          <p:cNvSpPr/>
          <p:nvPr/>
        </p:nvSpPr>
        <p:spPr>
          <a:xfrm>
            <a:off x="941832" y="5001768"/>
            <a:ext cx="2089404" cy="274320"/>
          </a:xfrm>
          <a:prstGeom prst="roundRect">
            <a:avLst>
              <a:gd name="adj" fmla="val 50000"/>
            </a:avLst>
          </a:prstGeom>
          <a:solidFill>
            <a:srgbClr val="E3B663"/>
          </a:solidFill>
          <a:ln/>
        </p:spPr>
      </p:sp>
      <p:sp>
        <p:nvSpPr>
          <p:cNvPr id="34" name="fx5_8_16"/>
          <p:cNvSpPr/>
          <p:nvPr/>
        </p:nvSpPr>
        <p:spPr>
          <a:xfrm>
            <a:off x="941832" y="5001768"/>
            <a:ext cx="20894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spc="150" kern="0" dirty="0">
                <a:solidFill>
                  <a:srgbClr val="0D0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 ДУЭЛЬ С ДЖОНОМ ЛО</a:t>
            </a:r>
            <a:endParaRPr lang="en-US" sz="850" dirty="0"/>
          </a:p>
        </p:txBody>
      </p:sp>
      <p:sp>
        <p:nvSpPr>
          <p:cNvPr id="35" name="fx5_8_17"/>
          <p:cNvSpPr/>
          <p:nvPr/>
        </p:nvSpPr>
        <p:spPr>
          <a:xfrm>
            <a:off x="960120" y="5321808"/>
            <a:ext cx="5943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Ло: «Я могу сегодня же отправить вас в Бастилию». Кантильон: </a:t>
            </a:r>
            <a:pPr algn="l" indent="0" marL="0">
              <a:lnSpc>
                <a:spcPct val="105000"/>
              </a:lnSpc>
              <a:buNone/>
            </a:pPr>
            <a:r>
              <a:rPr lang="en-US" sz="1250" b="1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«Хорошо. Я не уеду — и помогу вашей системе»</a:t>
            </a:r>
            <a:pPr algn="l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Нажился на ней — и всё равно уехал.</a:t>
            </a:r>
            <a:endParaRPr lang="en-US" sz="125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6" name="!!m-chest">
                <a:extLst>
                  <a:ext uri="{FF2B5EF4-FFF2-40B4-BE49-F238E27FC236}">
                    <a16:creationId xmlns:a16="http://schemas.microsoft.com/office/drawing/2014/main" id="{A8EEEDA7-1EC4-9317-7602-7CD29B538BB4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5029200" y="1325880"/>
              <a:ext cx="4480560" cy="4480560"/>
            </p:xfrm>
            <a:graphic>
              <a:graphicData uri="http://schemas.microsoft.com/office/drawing/2017/model3d">
                <am3d:model3d r:embed="rIdM3d18">
                  <am3d:spPr>
                    <a:xfrm>
                      <a:off x="0" y="0"/>
                      <a:ext cx="4480560" cy="4480560"/>
                    </a:xfrm>
                    <a:prstGeom prst="rect">
                      <a:avLst/>
                    </a:prstGeom>
                  </am3d:spPr>
                  <am3d:camera>
                    <am3d:pos x="0" y="0" z="66381807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931099" d="1000000"/>
                    <am3d:preTrans dx="0" dy="1813409" dz="-4089385"/>
                    <am3d:scale>
                      <am3d:sx n="1000000" d="1000000"/>
                      <am3d:sy n="1000000" d="1000000"/>
                      <am3d:sz n="1000000" d="1000000"/>
                    </am3d:scale>
                    <am3d:rot ax="960000" ay="-6480000" az="0"/>
                    <am3d:postTrans dx="0" dy="0" dz="0"/>
                  </am3d:trans>
                  <am3d:raster rName="Office3DRenderer" rVer="16.0.8326">
                    <am3d:blip r:embed="rId6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5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48056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6" name="!!m-chest">
                <a:extLst>
                  <a:ext uri="{FF2B5EF4-FFF2-40B4-BE49-F238E27FC236}">
                    <a16:creationId xmlns:a16="http://schemas.microsoft.com/office/drawing/2014/main" id="{A8EEEDA7-1EC4-9317-7602-7CD29B538BB4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-5029200" y="1325880"/>
                <a:ext cx="4480560" cy="4480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7" name="!!m-books_c">
                <a:extLst>
                  <a:ext uri="{FF2B5EF4-FFF2-40B4-BE49-F238E27FC236}">
                    <a16:creationId xmlns:a16="http://schemas.microsoft.com/office/drawing/2014/main" id="{D1033AF8-8243-7B57-C733-C66847E48A55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740335" y="1280160"/>
              <a:ext cx="4389120" cy="4389120"/>
            </p:xfrm>
            <a:graphic>
              <a:graphicData uri="http://schemas.microsoft.com/office/drawing/2017/model3d">
                <am3d:model3d r:embed="rIdM3d19">
                  <am3d:spPr>
                    <a:xfrm>
                      <a:off x="0" y="0"/>
                      <a:ext cx="4389120" cy="4389120"/>
                    </a:xfrm>
                    <a:prstGeom prst="rect">
                      <a:avLst/>
                    </a:prstGeom>
                  </am3d:spPr>
                  <am3d:camera>
                    <am3d:pos x="0" y="0" z="6904588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85921" d="1000000"/>
                    <am3d:preTrans dx="72745" dy="-12163581" dz="-706525"/>
                    <am3d:scale>
                      <am3d:sx n="1000000" d="1000000"/>
                      <am3d:sy n="1000000" d="1000000"/>
                      <am3d:sz n="1000000" d="1000000"/>
                    </am3d:scale>
                    <am3d:rot ax="1080000" ay="3240000" az="0"/>
                    <am3d:postTrans dx="0" dy="0" dz="0"/>
                  </am3d:trans>
                  <am3d:raster rName="Office3DRenderer" rVer="16.0.8326">
                    <am3d:blip r:embed="rId7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6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38912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7" name="!!m-books_c">
                <a:extLst>
                  <a:ext uri="{FF2B5EF4-FFF2-40B4-BE49-F238E27FC236}">
                    <a16:creationId xmlns:a16="http://schemas.microsoft.com/office/drawing/2014/main" id="{D1033AF8-8243-7B57-C733-C66847E48A55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2740335" y="1280160"/>
                <a:ext cx="4389120" cy="438912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96" dur="5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1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6">
    <p:bg>
      <p:bgPr>
        <a:solidFill>
          <a:srgbClr val="0E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home/user/omgGame/presentations/cantillon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rack"/>
          <p:cNvSpPr/>
          <p:nvPr/>
        </p:nvSpPr>
        <p:spPr>
          <a:xfrm>
            <a:off x="685800" y="402336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4" name="!!progress"/>
          <p:cNvSpPr/>
          <p:nvPr/>
        </p:nvSpPr>
        <p:spPr>
          <a:xfrm>
            <a:off x="685800" y="391363"/>
            <a:ext cx="3606698" cy="21946"/>
          </a:xfrm>
          <a:prstGeom prst="rect">
            <a:avLst/>
          </a:prstGeom>
          <a:solidFill>
            <a:srgbClr val="E3B663"/>
          </a:solidFill>
          <a:ln/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!!coin">
                <a:extLst>
                  <a:ext uri="{FF2B5EF4-FFF2-40B4-BE49-F238E27FC236}">
                    <a16:creationId xmlns:a16="http://schemas.microsoft.com/office/drawing/2014/main" id="{2211B53C-6482-5629-C2C3-EC7D7354B01F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4018178" y="98755"/>
              <a:ext cx="548640" cy="548640"/>
            </p:xfrm>
            <a:graphic>
              <a:graphicData uri="http://schemas.microsoft.com/office/drawing/2017/model3d">
                <am3d:model3d r:embed="rIdM3d20">
                  <am3d:spPr>
                    <a:xfrm>
                      <a:off x="0" y="0"/>
                      <a:ext cx="548640" cy="548640"/>
                    </a:xfrm>
                    <a:prstGeom prst="rect">
                      <a:avLst/>
                    </a:prstGeom>
                  </am3d:spPr>
                  <am3d:camera>
                    <am3d:pos x="0" y="0" z="6662303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00000" d="1000000"/>
                    <am3d:preTrans dx="0" dy="0" dz="-162000"/>
                    <am3d:scale>
                      <am3d:sx n="1000000" d="1000000"/>
                      <am3d:sy n="1000000" d="1000000"/>
                      <am3d:sz n="1000000" d="1000000"/>
                    </am3d:scale>
                    <am3d:rot ax="0" ay="-720000" az="-43800000"/>
                    <am3d:postTrans dx="0" dy="0" dz="0"/>
                  </am3d:trans>
                  <am3d:raster rName="Office3DRenderer" rVer="16.0.8326">
                    <am3d:blip r:embed="rId2"/>
                  </am3d:raster>
                  <am3d:objViewport viewportSz="5486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!!coin">
                <a:extLst>
                  <a:ext uri="{FF2B5EF4-FFF2-40B4-BE49-F238E27FC236}">
                    <a16:creationId xmlns:a16="http://schemas.microsoft.com/office/drawing/2014/main" id="{2211B53C-6482-5629-C2C3-EC7D7354B01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018178" y="98755"/>
                <a:ext cx="548640" cy="54864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!!kickerbar"/>
          <p:cNvSpPr/>
          <p:nvPr/>
        </p:nvSpPr>
        <p:spPr>
          <a:xfrm>
            <a:off x="685800" y="713232"/>
            <a:ext cx="310896" cy="3200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7" name="!!kicker"/>
          <p:cNvSpPr/>
          <p:nvPr/>
        </p:nvSpPr>
        <p:spPr>
          <a:xfrm>
            <a:off x="1124712" y="594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3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— КТО ПОВЛИЯЛ НА ЕГО ВЗГЛЯДЫ</a:t>
            </a:r>
            <a:endParaRPr lang="en-US" sz="1100" dirty="0"/>
          </a:p>
        </p:txBody>
      </p:sp>
      <p:sp>
        <p:nvSpPr>
          <p:cNvPr id="8" name="!!footline"/>
          <p:cNvSpPr/>
          <p:nvPr/>
        </p:nvSpPr>
        <p:spPr>
          <a:xfrm>
            <a:off x="685800" y="6400800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9" name="!!footer"/>
          <p:cNvSpPr/>
          <p:nvPr/>
        </p:nvSpPr>
        <p:spPr>
          <a:xfrm>
            <a:off x="68580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РИЧАРД КАНТИЛЬОН  ·  1680-е – 1734</a:t>
            </a:r>
            <a:endParaRPr lang="en-US" sz="900" dirty="0"/>
          </a:p>
        </p:txBody>
      </p:sp>
      <p:sp>
        <p:nvSpPr>
          <p:cNvPr id="10" name="!!src"/>
          <p:cNvSpPr/>
          <p:nvPr/>
        </p:nvSpPr>
        <p:spPr>
          <a:xfrm>
            <a:off x="3566160" y="6492240"/>
            <a:ext cx="6492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Источники: </a:t>
            </a:r>
            <a:pPr algn="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Essai, ч. II, гл. VI; Hayek (1931); Murphy (1986)</a:t>
            </a:r>
            <a:endParaRPr lang="en-US" sz="850" dirty="0"/>
          </a:p>
        </p:txBody>
      </p:sp>
      <p:sp>
        <p:nvSpPr>
          <p:cNvPr id="11" name="!!pagenum"/>
          <p:cNvSpPr/>
          <p:nvPr/>
        </p:nvSpPr>
        <p:spPr>
          <a:xfrm>
            <a:off x="10134295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16</a:t>
            </a:r>
            <a:endParaRPr lang="en-US" sz="900" dirty="0"/>
          </a:p>
        </p:txBody>
      </p:sp>
      <p:pic>
        <p:nvPicPr>
          <p:cNvPr id="12" name="!!glow" descr="/home/user/omgGame/presentations/cantillon/assets/gl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0528" y="-73152"/>
            <a:ext cx="6364224" cy="6364224"/>
          </a:xfrm>
          <a:prstGeom prst="rect">
            <a:avLst/>
          </a:prstGeom>
        </p:spPr>
      </p:pic>
      <p:sp>
        <p:nvSpPr>
          <p:cNvPr id="13" name="!!ring1"/>
          <p:cNvSpPr/>
          <p:nvPr/>
        </p:nvSpPr>
        <p:spPr>
          <a:xfrm>
            <a:off x="7629754" y="1046074"/>
            <a:ext cx="4125773" cy="4125773"/>
          </a:xfrm>
          <a:prstGeom prst="ellipse">
            <a:avLst/>
          </a:prstGeom>
          <a:ln w="9525">
            <a:solidFill>
              <a:srgbClr val="E3B663">
                <a:alpha val="18000"/>
              </a:srgbClr>
            </a:solidFill>
            <a:prstDash val="solid"/>
          </a:ln>
        </p:spPr>
      </p:sp>
      <p:sp>
        <p:nvSpPr>
          <p:cNvPr id="14" name="!!ring2"/>
          <p:cNvSpPr/>
          <p:nvPr/>
        </p:nvSpPr>
        <p:spPr>
          <a:xfrm>
            <a:off x="7059168" y="475488"/>
            <a:ext cx="5266944" cy="5266944"/>
          </a:xfrm>
          <a:prstGeom prst="ellipse">
            <a:avLst/>
          </a:prstGeom>
          <a:ln w="9525">
            <a:solidFill>
              <a:srgbClr val="E3B663">
                <a:alpha val="12000"/>
              </a:srgbClr>
            </a:solidFill>
            <a:prstDash val="dash"/>
          </a:ln>
        </p:spPr>
      </p:sp>
      <p:pic>
        <p:nvPicPr>
          <p:cNvPr id="15" name="!!shadow" descr="/home/user/omgGame/presentations/cantillon/assets/shad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6992" y="3811219"/>
            <a:ext cx="3511296" cy="877824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6" name="!!m-books_c">
                <a:extLst>
                  <a:ext uri="{FF2B5EF4-FFF2-40B4-BE49-F238E27FC236}">
                    <a16:creationId xmlns:a16="http://schemas.microsoft.com/office/drawing/2014/main" id="{0602BEFF-7995-8281-448A-4603591950F7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7498080" y="914400"/>
              <a:ext cx="4389120" cy="4389120"/>
            </p:xfrm>
            <a:graphic>
              <a:graphicData uri="http://schemas.microsoft.com/office/drawing/2017/model3d">
                <am3d:model3d r:embed="rIdM3d21">
                  <am3d:spPr>
                    <a:xfrm>
                      <a:off x="0" y="0"/>
                      <a:ext cx="4389120" cy="4389120"/>
                    </a:xfrm>
                    <a:prstGeom prst="rect">
                      <a:avLst/>
                    </a:prstGeom>
                  </am3d:spPr>
                  <am3d:camera>
                    <am3d:pos x="0" y="0" z="6904588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85921" d="1000000"/>
                    <am3d:preTrans dx="72745" dy="-12163581" dz="-706525"/>
                    <am3d:scale>
                      <am3d:sx n="1000000" d="1000000"/>
                      <am3d:sy n="1000000" d="1000000"/>
                      <am3d:sz n="1000000" d="1000000"/>
                    </am3d:scale>
                    <am3d:rot ax="1080000" ay="-1560000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6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38912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6" name="!!m-books_c">
                <a:extLst>
                  <a:ext uri="{FF2B5EF4-FFF2-40B4-BE49-F238E27FC236}">
                    <a16:creationId xmlns:a16="http://schemas.microsoft.com/office/drawing/2014/main" id="{0602BEFF-7995-8281-448A-4603591950F7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498080" y="914400"/>
                <a:ext cx="4389120" cy="4389120"/>
              </a:xfrm>
              <a:prstGeom prst="rect">
                <a:avLst/>
              </a:prstGeom>
            </p:spPr>
          </p:pic>
        </mc:Fallback>
      </mc:AlternateContent>
      <p:sp>
        <p:nvSpPr>
          <p:cNvPr id="17" name="fx6_9_0"/>
          <p:cNvSpPr/>
          <p:nvPr/>
        </p:nvSpPr>
        <p:spPr>
          <a:xfrm>
            <a:off x="7955280" y="4996282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spc="25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ЭКСПОНАТ 06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Лупа читает Петти, Локка и Ло</a:t>
            </a:r>
            <a:endParaRPr lang="en-US" sz="900" dirty="0"/>
          </a:p>
        </p:txBody>
      </p:sp>
      <p:sp>
        <p:nvSpPr>
          <p:cNvPr id="18" name="!!title"/>
          <p:cNvSpPr/>
          <p:nvPr/>
        </p:nvSpPr>
        <p:spPr>
          <a:xfrm>
            <a:off x="685800" y="987552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2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Кто повлиял на его взгляды</a:t>
            </a:r>
            <a:endParaRPr lang="en-US" sz="3200" dirty="0"/>
          </a:p>
        </p:txBody>
      </p:sp>
      <p:sp>
        <p:nvSpPr>
          <p:cNvPr id="19" name="fx6_1_1"/>
          <p:cNvSpPr/>
          <p:nvPr/>
        </p:nvSpPr>
        <p:spPr>
          <a:xfrm>
            <a:off x="685800" y="1810512"/>
            <a:ext cx="3227832" cy="1216152"/>
          </a:xfrm>
          <a:prstGeom prst="roundRect">
            <a:avLst>
              <a:gd name="adj" fmla="val 6015"/>
            </a:avLst>
          </a:prstGeom>
          <a:solidFill>
            <a:srgbClr val="22121A">
              <a:alpha val="85000"/>
            </a:srgbClr>
          </a:solidFill>
          <a:ln w="9525">
            <a:solidFill>
              <a:srgbClr val="E3B663">
                <a:alpha val="28000"/>
              </a:srgbClr>
            </a:solidFill>
            <a:prstDash val="solid"/>
          </a:ln>
        </p:spPr>
      </p:sp>
      <p:sp>
        <p:nvSpPr>
          <p:cNvPr id="20" name="fx6_1_2"/>
          <p:cNvSpPr/>
          <p:nvPr/>
        </p:nvSpPr>
        <p:spPr>
          <a:xfrm>
            <a:off x="685800" y="1956816"/>
            <a:ext cx="41148" cy="92354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21" name="fx6_1_3"/>
          <p:cNvSpPr/>
          <p:nvPr/>
        </p:nvSpPr>
        <p:spPr>
          <a:xfrm>
            <a:off x="886968" y="1901952"/>
            <a:ext cx="29535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Уильям Петти</a:t>
            </a:r>
            <a:endParaRPr lang="en-US" sz="1600" dirty="0"/>
          </a:p>
        </p:txBody>
      </p:sp>
      <p:sp>
        <p:nvSpPr>
          <p:cNvPr id="22" name="fx6_1_4"/>
          <p:cNvSpPr/>
          <p:nvPr/>
        </p:nvSpPr>
        <p:spPr>
          <a:xfrm>
            <a:off x="886968" y="2212848"/>
            <a:ext cx="2953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1623–1687 · «Политическая арифметика»</a:t>
            </a:r>
            <a:endParaRPr lang="en-US" sz="950" dirty="0"/>
          </a:p>
        </p:txBody>
      </p:sp>
      <p:sp>
        <p:nvSpPr>
          <p:cNvPr id="23" name="fx6_1_5"/>
          <p:cNvSpPr/>
          <p:nvPr/>
        </p:nvSpPr>
        <p:spPr>
          <a:xfrm>
            <a:off x="886968" y="2450592"/>
            <a:ext cx="29077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Считать экономику цифрами. Соотношение земли и труда → теория стоимости Кантильона.</a:t>
            </a:r>
            <a:endParaRPr lang="en-US" sz="1050" dirty="0"/>
          </a:p>
        </p:txBody>
      </p:sp>
      <p:sp>
        <p:nvSpPr>
          <p:cNvPr id="24" name="fx6_2_6"/>
          <p:cNvSpPr/>
          <p:nvPr/>
        </p:nvSpPr>
        <p:spPr>
          <a:xfrm>
            <a:off x="4050792" y="1810512"/>
            <a:ext cx="3227832" cy="1216152"/>
          </a:xfrm>
          <a:prstGeom prst="roundRect">
            <a:avLst>
              <a:gd name="adj" fmla="val 6015"/>
            </a:avLst>
          </a:prstGeom>
          <a:solidFill>
            <a:srgbClr val="22121A">
              <a:alpha val="85000"/>
            </a:srgbClr>
          </a:solidFill>
          <a:ln w="9525">
            <a:solidFill>
              <a:srgbClr val="E3B663">
                <a:alpha val="28000"/>
              </a:srgbClr>
            </a:solidFill>
            <a:prstDash val="solid"/>
          </a:ln>
        </p:spPr>
      </p:sp>
      <p:sp>
        <p:nvSpPr>
          <p:cNvPr id="25" name="fx6_2_7"/>
          <p:cNvSpPr/>
          <p:nvPr/>
        </p:nvSpPr>
        <p:spPr>
          <a:xfrm>
            <a:off x="4050792" y="1956816"/>
            <a:ext cx="41148" cy="92354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26" name="fx6_2_8"/>
          <p:cNvSpPr/>
          <p:nvPr/>
        </p:nvSpPr>
        <p:spPr>
          <a:xfrm>
            <a:off x="4251960" y="1901952"/>
            <a:ext cx="29535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Джон Локк</a:t>
            </a:r>
            <a:endParaRPr lang="en-US" sz="1600" dirty="0"/>
          </a:p>
        </p:txBody>
      </p:sp>
      <p:sp>
        <p:nvSpPr>
          <p:cNvPr id="27" name="fx6_2_9"/>
          <p:cNvSpPr/>
          <p:nvPr/>
        </p:nvSpPr>
        <p:spPr>
          <a:xfrm>
            <a:off x="4251960" y="2212848"/>
            <a:ext cx="2953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1632–1704 · трактат о деньгах, 1692</a:t>
            </a:r>
            <a:endParaRPr lang="en-US" sz="950" dirty="0"/>
          </a:p>
        </p:txBody>
      </p:sp>
      <p:sp>
        <p:nvSpPr>
          <p:cNvPr id="28" name="fx6_2_10"/>
          <p:cNvSpPr/>
          <p:nvPr/>
        </p:nvSpPr>
        <p:spPr>
          <a:xfrm>
            <a:off x="4251960" y="2450592"/>
            <a:ext cx="29077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Больше денег — выше цены. Кантильон спорит: важно, как именно деньги расходятся.</a:t>
            </a:r>
            <a:endParaRPr lang="en-US" sz="1050" dirty="0"/>
          </a:p>
        </p:txBody>
      </p:sp>
      <p:sp>
        <p:nvSpPr>
          <p:cNvPr id="29" name="fx6_3_11"/>
          <p:cNvSpPr/>
          <p:nvPr/>
        </p:nvSpPr>
        <p:spPr>
          <a:xfrm>
            <a:off x="685800" y="3136392"/>
            <a:ext cx="3227832" cy="1216152"/>
          </a:xfrm>
          <a:prstGeom prst="roundRect">
            <a:avLst>
              <a:gd name="adj" fmla="val 6015"/>
            </a:avLst>
          </a:prstGeom>
          <a:solidFill>
            <a:srgbClr val="22121A">
              <a:alpha val="85000"/>
            </a:srgbClr>
          </a:solidFill>
          <a:ln w="9525">
            <a:solidFill>
              <a:srgbClr val="E3B663">
                <a:alpha val="28000"/>
              </a:srgbClr>
            </a:solidFill>
            <a:prstDash val="solid"/>
          </a:ln>
        </p:spPr>
      </p:sp>
      <p:sp>
        <p:nvSpPr>
          <p:cNvPr id="30" name="fx6_3_12"/>
          <p:cNvSpPr/>
          <p:nvPr/>
        </p:nvSpPr>
        <p:spPr>
          <a:xfrm>
            <a:off x="685800" y="3282696"/>
            <a:ext cx="41148" cy="92354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31" name="fx6_3_13"/>
          <p:cNvSpPr/>
          <p:nvPr/>
        </p:nvSpPr>
        <p:spPr>
          <a:xfrm>
            <a:off x="886968" y="3227832"/>
            <a:ext cx="29535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Джон Ло</a:t>
            </a:r>
            <a:endParaRPr lang="en-US" sz="1600" dirty="0"/>
          </a:p>
        </p:txBody>
      </p:sp>
      <p:sp>
        <p:nvSpPr>
          <p:cNvPr id="32" name="fx6_3_14"/>
          <p:cNvSpPr/>
          <p:nvPr/>
        </p:nvSpPr>
        <p:spPr>
          <a:xfrm>
            <a:off x="886968" y="3538728"/>
            <a:ext cx="2953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1671–1729 · банкир регента</a:t>
            </a:r>
            <a:endParaRPr lang="en-US" sz="950" dirty="0"/>
          </a:p>
        </p:txBody>
      </p:sp>
      <p:sp>
        <p:nvSpPr>
          <p:cNvPr id="33" name="fx6_3_15"/>
          <p:cNvSpPr/>
          <p:nvPr/>
        </p:nvSpPr>
        <p:spPr>
          <a:xfrm>
            <a:off x="886968" y="3776472"/>
            <a:ext cx="29077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Антипример: бумажные деньги и пузырь. Кантильон увидел эту систему изнутри.</a:t>
            </a:r>
            <a:endParaRPr lang="en-US" sz="1050" dirty="0"/>
          </a:p>
        </p:txBody>
      </p:sp>
      <p:sp>
        <p:nvSpPr>
          <p:cNvPr id="34" name="fx6_4_16"/>
          <p:cNvSpPr/>
          <p:nvPr/>
        </p:nvSpPr>
        <p:spPr>
          <a:xfrm>
            <a:off x="4050792" y="3136392"/>
            <a:ext cx="3227832" cy="1216152"/>
          </a:xfrm>
          <a:prstGeom prst="roundRect">
            <a:avLst>
              <a:gd name="adj" fmla="val 6015"/>
            </a:avLst>
          </a:prstGeom>
          <a:solidFill>
            <a:srgbClr val="22121A">
              <a:alpha val="85000"/>
            </a:srgbClr>
          </a:solidFill>
          <a:ln w="9525">
            <a:solidFill>
              <a:srgbClr val="E3B663">
                <a:alpha val="28000"/>
              </a:srgbClr>
            </a:solidFill>
            <a:prstDash val="solid"/>
          </a:ln>
        </p:spPr>
      </p:sp>
      <p:sp>
        <p:nvSpPr>
          <p:cNvPr id="35" name="fx6_4_17"/>
          <p:cNvSpPr/>
          <p:nvPr/>
        </p:nvSpPr>
        <p:spPr>
          <a:xfrm>
            <a:off x="4050792" y="3282696"/>
            <a:ext cx="41148" cy="92354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36" name="fx6_4_18"/>
          <p:cNvSpPr/>
          <p:nvPr/>
        </p:nvSpPr>
        <p:spPr>
          <a:xfrm>
            <a:off x="4251960" y="3227832"/>
            <a:ext cx="29535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Своя практика</a:t>
            </a:r>
            <a:endParaRPr lang="en-US" sz="1600" dirty="0"/>
          </a:p>
        </p:txBody>
      </p:sp>
      <p:sp>
        <p:nvSpPr>
          <p:cNvPr id="37" name="fx6_4_19"/>
          <p:cNvSpPr/>
          <p:nvPr/>
        </p:nvSpPr>
        <p:spPr>
          <a:xfrm>
            <a:off x="4251960" y="3538728"/>
            <a:ext cx="2953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банк · валюта · торговля</a:t>
            </a:r>
            <a:endParaRPr lang="en-US" sz="950" dirty="0"/>
          </a:p>
        </p:txBody>
      </p:sp>
      <p:sp>
        <p:nvSpPr>
          <p:cNvPr id="38" name="fx6_4_20"/>
          <p:cNvSpPr/>
          <p:nvPr/>
        </p:nvSpPr>
        <p:spPr>
          <a:xfrm>
            <a:off x="4251960" y="3776472"/>
            <a:ext cx="29077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Сделки между Парижем, Лондоном и Амстердамом — отсюда примеры в «Essai».</a:t>
            </a:r>
            <a:endParaRPr lang="en-US" sz="1050" dirty="0"/>
          </a:p>
        </p:txBody>
      </p:sp>
      <p:sp>
        <p:nvSpPr>
          <p:cNvPr id="39" name="fx6_5_21"/>
          <p:cNvSpPr/>
          <p:nvPr/>
        </p:nvSpPr>
        <p:spPr>
          <a:xfrm>
            <a:off x="685800" y="455371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КОГО ВДОХНОВИЛ ОН САМ</a:t>
            </a:r>
            <a:endParaRPr lang="en-US" sz="950" dirty="0"/>
          </a:p>
        </p:txBody>
      </p:sp>
      <p:sp>
        <p:nvSpPr>
          <p:cNvPr id="40" name="fx6_5_22"/>
          <p:cNvSpPr/>
          <p:nvPr/>
        </p:nvSpPr>
        <p:spPr>
          <a:xfrm>
            <a:off x="685800" y="4809744"/>
            <a:ext cx="1477670" cy="329184"/>
          </a:xfrm>
          <a:prstGeom prst="roundRect">
            <a:avLst>
              <a:gd name="adj" fmla="val 50000"/>
            </a:avLst>
          </a:prstGeom>
          <a:solidFill>
            <a:srgbClr val="22121A">
              <a:alpha val="90000"/>
            </a:srgbClr>
          </a:solidFill>
          <a:ln w="9525">
            <a:solidFill>
              <a:srgbClr val="E3B663">
                <a:alpha val="40000"/>
              </a:srgbClr>
            </a:solidFill>
            <a:prstDash val="solid"/>
          </a:ln>
        </p:spPr>
      </p:sp>
      <p:sp>
        <p:nvSpPr>
          <p:cNvPr id="41" name="fx6_5_23"/>
          <p:cNvSpPr/>
          <p:nvPr/>
        </p:nvSpPr>
        <p:spPr>
          <a:xfrm>
            <a:off x="685800" y="4809744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Кенэ и Мирабо</a:t>
            </a:r>
            <a:endParaRPr lang="en-US" sz="1050" dirty="0"/>
          </a:p>
        </p:txBody>
      </p:sp>
      <p:sp>
        <p:nvSpPr>
          <p:cNvPr id="42" name="fx6_5_24"/>
          <p:cNvSpPr/>
          <p:nvPr/>
        </p:nvSpPr>
        <p:spPr>
          <a:xfrm>
            <a:off x="2163470" y="4791456"/>
            <a:ext cx="292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43" name="fx6_5_25"/>
          <p:cNvSpPr/>
          <p:nvPr/>
        </p:nvSpPr>
        <p:spPr>
          <a:xfrm>
            <a:off x="2456078" y="4809744"/>
            <a:ext cx="1141171" cy="329184"/>
          </a:xfrm>
          <a:prstGeom prst="roundRect">
            <a:avLst>
              <a:gd name="adj" fmla="val 50000"/>
            </a:avLst>
          </a:prstGeom>
          <a:solidFill>
            <a:srgbClr val="22121A">
              <a:alpha val="90000"/>
            </a:srgbClr>
          </a:solidFill>
          <a:ln w="9525">
            <a:solidFill>
              <a:srgbClr val="E3B663">
                <a:alpha val="40000"/>
              </a:srgbClr>
            </a:solidFill>
            <a:prstDash val="solid"/>
          </a:ln>
        </p:spPr>
      </p:sp>
      <p:sp>
        <p:nvSpPr>
          <p:cNvPr id="44" name="fx6_5_26"/>
          <p:cNvSpPr/>
          <p:nvPr/>
        </p:nvSpPr>
        <p:spPr>
          <a:xfrm>
            <a:off x="2456078" y="4809744"/>
            <a:ext cx="114117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Адам Смит</a:t>
            </a:r>
            <a:endParaRPr lang="en-US" sz="1050" dirty="0"/>
          </a:p>
        </p:txBody>
      </p:sp>
      <p:sp>
        <p:nvSpPr>
          <p:cNvPr id="45" name="fx6_5_27"/>
          <p:cNvSpPr/>
          <p:nvPr/>
        </p:nvSpPr>
        <p:spPr>
          <a:xfrm>
            <a:off x="3597250" y="4791456"/>
            <a:ext cx="292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46" name="fx6_5_28"/>
          <p:cNvSpPr/>
          <p:nvPr/>
        </p:nvSpPr>
        <p:spPr>
          <a:xfrm>
            <a:off x="3889858" y="4809744"/>
            <a:ext cx="636422" cy="329184"/>
          </a:xfrm>
          <a:prstGeom prst="roundRect">
            <a:avLst>
              <a:gd name="adj" fmla="val 50000"/>
            </a:avLst>
          </a:prstGeom>
          <a:solidFill>
            <a:srgbClr val="22121A">
              <a:alpha val="90000"/>
            </a:srgbClr>
          </a:solidFill>
          <a:ln w="9525">
            <a:solidFill>
              <a:srgbClr val="E3B663">
                <a:alpha val="40000"/>
              </a:srgbClr>
            </a:solidFill>
            <a:prstDash val="solid"/>
          </a:ln>
        </p:spPr>
      </p:sp>
      <p:sp>
        <p:nvSpPr>
          <p:cNvPr id="47" name="fx6_5_29"/>
          <p:cNvSpPr/>
          <p:nvPr/>
        </p:nvSpPr>
        <p:spPr>
          <a:xfrm>
            <a:off x="3889858" y="4809744"/>
            <a:ext cx="63642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Сэй</a:t>
            </a:r>
            <a:endParaRPr lang="en-US" sz="1050" dirty="0"/>
          </a:p>
        </p:txBody>
      </p:sp>
      <p:sp>
        <p:nvSpPr>
          <p:cNvPr id="48" name="fx6_5_30"/>
          <p:cNvSpPr/>
          <p:nvPr/>
        </p:nvSpPr>
        <p:spPr>
          <a:xfrm>
            <a:off x="4526280" y="4791456"/>
            <a:ext cx="292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49" name="fx6_5_31"/>
          <p:cNvSpPr/>
          <p:nvPr/>
        </p:nvSpPr>
        <p:spPr>
          <a:xfrm>
            <a:off x="4818888" y="4809744"/>
            <a:ext cx="972922" cy="329184"/>
          </a:xfrm>
          <a:prstGeom prst="roundRect">
            <a:avLst>
              <a:gd name="adj" fmla="val 50000"/>
            </a:avLst>
          </a:prstGeom>
          <a:solidFill>
            <a:srgbClr val="22121A">
              <a:alpha val="90000"/>
            </a:srgbClr>
          </a:solidFill>
          <a:ln w="9525">
            <a:solidFill>
              <a:srgbClr val="E3B663">
                <a:alpha val="40000"/>
              </a:srgbClr>
            </a:solidFill>
            <a:prstDash val="solid"/>
          </a:ln>
        </p:spPr>
      </p:sp>
      <p:sp>
        <p:nvSpPr>
          <p:cNvPr id="50" name="fx6_5_32"/>
          <p:cNvSpPr/>
          <p:nvPr/>
        </p:nvSpPr>
        <p:spPr>
          <a:xfrm>
            <a:off x="4818888" y="4809744"/>
            <a:ext cx="97292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Джевонс</a:t>
            </a:r>
            <a:endParaRPr lang="en-US" sz="1050" dirty="0"/>
          </a:p>
        </p:txBody>
      </p:sp>
      <p:sp>
        <p:nvSpPr>
          <p:cNvPr id="51" name="fx6_5_33"/>
          <p:cNvSpPr/>
          <p:nvPr/>
        </p:nvSpPr>
        <p:spPr>
          <a:xfrm>
            <a:off x="5791810" y="4791456"/>
            <a:ext cx="292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52" name="fx6_5_34"/>
          <p:cNvSpPr/>
          <p:nvPr/>
        </p:nvSpPr>
        <p:spPr>
          <a:xfrm>
            <a:off x="6084418" y="4809744"/>
            <a:ext cx="804672" cy="329184"/>
          </a:xfrm>
          <a:prstGeom prst="roundRect">
            <a:avLst>
              <a:gd name="adj" fmla="val 50000"/>
            </a:avLst>
          </a:prstGeom>
          <a:solidFill>
            <a:srgbClr val="22121A">
              <a:alpha val="90000"/>
            </a:srgbClr>
          </a:solidFill>
          <a:ln w="9525">
            <a:solidFill>
              <a:srgbClr val="E3B663">
                <a:alpha val="40000"/>
              </a:srgbClr>
            </a:solidFill>
            <a:prstDash val="solid"/>
          </a:ln>
        </p:spPr>
      </p:sp>
      <p:sp>
        <p:nvSpPr>
          <p:cNvPr id="53" name="fx6_5_35"/>
          <p:cNvSpPr/>
          <p:nvPr/>
        </p:nvSpPr>
        <p:spPr>
          <a:xfrm>
            <a:off x="6084418" y="4809744"/>
            <a:ext cx="804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Хайек</a:t>
            </a:r>
            <a:endParaRPr lang="en-US" sz="1050" dirty="0"/>
          </a:p>
        </p:txBody>
      </p:sp>
      <p:sp>
        <p:nvSpPr>
          <p:cNvPr id="54" name="fx6_6_36"/>
          <p:cNvSpPr/>
          <p:nvPr/>
        </p:nvSpPr>
        <p:spPr>
          <a:xfrm>
            <a:off x="685800" y="5440680"/>
            <a:ext cx="6592824" cy="777240"/>
          </a:xfrm>
          <a:prstGeom prst="roundRect">
            <a:avLst>
              <a:gd name="adj" fmla="val 9412"/>
            </a:avLst>
          </a:prstGeom>
          <a:solidFill>
            <a:srgbClr val="22170B">
              <a:alpha val="92000"/>
            </a:srgbClr>
          </a:solidFill>
          <a:ln w="12700">
            <a:solidFill>
              <a:srgbClr val="E3B663">
                <a:alpha val="55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55" name="fx6_6_37"/>
          <p:cNvSpPr/>
          <p:nvPr/>
        </p:nvSpPr>
        <p:spPr>
          <a:xfrm>
            <a:off x="685800" y="5586984"/>
            <a:ext cx="50292" cy="484632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56" name="fx6_6_38"/>
          <p:cNvSpPr/>
          <p:nvPr/>
        </p:nvSpPr>
        <p:spPr>
          <a:xfrm>
            <a:off x="941832" y="5303520"/>
            <a:ext cx="2473452" cy="274320"/>
          </a:xfrm>
          <a:prstGeom prst="roundRect">
            <a:avLst>
              <a:gd name="adj" fmla="val 50000"/>
            </a:avLst>
          </a:prstGeom>
          <a:solidFill>
            <a:srgbClr val="E3B663"/>
          </a:solidFill>
          <a:ln/>
        </p:spPr>
      </p:sp>
      <p:sp>
        <p:nvSpPr>
          <p:cNvPr id="57" name="fx6_6_39"/>
          <p:cNvSpPr/>
          <p:nvPr/>
        </p:nvSpPr>
        <p:spPr>
          <a:xfrm>
            <a:off x="941832" y="5303520"/>
            <a:ext cx="24734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spc="150" kern="0" dirty="0">
                <a:solidFill>
                  <a:srgbClr val="0D0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 ЦИТАТА: СПОР С ЛОККОМ</a:t>
            </a:r>
            <a:endParaRPr lang="en-US" sz="850" dirty="0"/>
          </a:p>
        </p:txBody>
      </p:sp>
      <p:sp>
        <p:nvSpPr>
          <p:cNvPr id="58" name="fx6_6_40"/>
          <p:cNvSpPr/>
          <p:nvPr/>
        </p:nvSpPr>
        <p:spPr>
          <a:xfrm>
            <a:off x="960120" y="5623560"/>
            <a:ext cx="61356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«Г-н Локк ясно видел, что обилие денег делает всё дороже, </a:t>
            </a:r>
            <a:pPr algn="l" indent="0" marL="0">
              <a:lnSpc>
                <a:spcPct val="105000"/>
              </a:lnSpc>
              <a:buNone/>
            </a:pPr>
            <a:r>
              <a:rPr lang="en-US" sz="1250" b="1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но не рассмотрел, как это происходит</a:t>
            </a:r>
            <a:pPr algn="l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» — «Essai», ч. II, гл. VI</a:t>
            </a:r>
            <a:endParaRPr lang="en-US" sz="125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9" name="!!m-bubble">
                <a:extLst>
                  <a:ext uri="{FF2B5EF4-FFF2-40B4-BE49-F238E27FC236}">
                    <a16:creationId xmlns:a16="http://schemas.microsoft.com/office/drawing/2014/main" id="{D0524948-514C-A1DC-2417-4B218930B5E5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4846320" y="1234440"/>
              <a:ext cx="4297680" cy="4297680"/>
            </p:xfrm>
            <a:graphic>
              <a:graphicData uri="http://schemas.microsoft.com/office/drawing/2017/model3d">
                <am3d:model3d r:embed="rIdM3d22">
                  <am3d:spPr>
                    <a:xfrm>
                      <a:off x="0" y="0"/>
                      <a:ext cx="4297680" cy="4297680"/>
                    </a:xfrm>
                    <a:prstGeom prst="rect">
                      <a:avLst/>
                    </a:prstGeom>
                  </am3d:spPr>
                  <am3d:camera>
                    <am3d:pos x="0" y="0" z="7469258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996292" d="1000000"/>
                    <am3d:preTrans dx="963413" dy="2600320" dz="2"/>
                    <am3d:scale>
                      <am3d:sx n="1000000" d="1000000"/>
                      <am3d:sy n="1000000" d="1000000"/>
                      <am3d:sz n="1000000" d="1000000"/>
                    </am3d:scale>
                    <am3d:rot ax="840000" ay="-6240000" az="0"/>
                    <am3d:postTrans dx="0" dy="0" dz="0"/>
                  </am3d:trans>
                  <am3d:raster rName="Office3DRenderer" rVer="16.0.8326">
                    <am3d:blip r:embed="rId6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5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2976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9" name="!!m-bubble">
                <a:extLst>
                  <a:ext uri="{FF2B5EF4-FFF2-40B4-BE49-F238E27FC236}">
                    <a16:creationId xmlns:a16="http://schemas.microsoft.com/office/drawing/2014/main" id="{D0524948-514C-A1DC-2417-4B218930B5E5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-4846320" y="1234440"/>
                <a:ext cx="4297680" cy="4297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60" name="!!m-quill">
                <a:extLst>
                  <a:ext uri="{FF2B5EF4-FFF2-40B4-BE49-F238E27FC236}">
                    <a16:creationId xmlns:a16="http://schemas.microsoft.com/office/drawing/2014/main" id="{C34E2800-099B-406B-8E39-2E986D19F1D2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740335" y="1325880"/>
              <a:ext cx="4572000" cy="4572000"/>
            </p:xfrm>
            <a:graphic>
              <a:graphicData uri="http://schemas.microsoft.com/office/drawing/2017/model3d">
                <am3d:model3d r:embed="rIdM3d23">
                  <am3d:spPr>
                    <a:xfrm>
                      <a:off x="0" y="0"/>
                      <a:ext cx="4572000" cy="4572000"/>
                    </a:xfrm>
                    <a:prstGeom prst="rect">
                      <a:avLst/>
                    </a:prstGeom>
                  </am3d:spPr>
                  <am3d:camera>
                    <am3d:pos x="0" y="0" z="6332763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03235" d="1000000"/>
                    <am3d:preTrans dx="-1721519" dy="-4179158" dz="-1113924"/>
                    <am3d:scale>
                      <am3d:sx n="1000000" d="1000000"/>
                      <am3d:sy n="1000000" d="1000000"/>
                      <am3d:sz n="1000000" d="1000000"/>
                    </am3d:scale>
                    <am3d:rot ax="1200000" ay="3360000" az="0"/>
                    <am3d:postTrans dx="0" dy="0" dz="0"/>
                  </am3d:trans>
                  <am3d:raster rName="Office3DRenderer" rVer="16.0.8326">
                    <am3d:blip r:embed="rId7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6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57200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60" name="!!m-quill">
                <a:extLst>
                  <a:ext uri="{FF2B5EF4-FFF2-40B4-BE49-F238E27FC236}">
                    <a16:creationId xmlns:a16="http://schemas.microsoft.com/office/drawing/2014/main" id="{C34E2800-099B-406B-8E39-2E986D19F1D2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2740335" y="1325880"/>
                <a:ext cx="4572000" cy="45720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7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7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7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7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70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70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7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70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70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7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70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70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7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700" decel="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700" decel="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7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3" dur="700" decel="10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700" decel="10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7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700" decel="100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700" decel="100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7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3" dur="700" decel="100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4" dur="700" decel="100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7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8" dur="700" decel="100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9" dur="700" decel="100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7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3" dur="700" decel="100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4" dur="700" decel="100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7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8" dur="700" decel="100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9" dur="700" decel="100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1" dur="7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3" dur="700" decel="1000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4" dur="700" decel="1000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7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8" dur="700" decel="100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9" dur="700" decel="100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7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3" dur="700" decel="100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4" dur="700" decel="100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6" dur="7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8" dur="700" decel="100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9" dur="700" decel="100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2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7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3" dur="700" decel="100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4" dur="700" decel="100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7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7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8" dur="700" decel="1000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9" dur="700" decel="1000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2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1" dur="7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3" dur="700" decel="100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4" dur="700" decel="100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7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6" dur="7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8" dur="700" decel="1000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9" dur="700" decel="1000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2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1" dur="7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3" dur="700" decel="100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4" dur="700" decel="100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7" presetID="42" presetClass="entr" presetSubtype="0" fill="hold" grpId="0" nodeType="withEffect">
                                  <p:stCondLst>
                                    <p:cond delay="171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6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8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9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0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11" dur="6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1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7">
    <p:bg>
      <p:bgPr>
        <a:solidFill>
          <a:srgbClr val="0E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home/user/omgGame/presentations/cantillon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rack"/>
          <p:cNvSpPr/>
          <p:nvPr/>
        </p:nvSpPr>
        <p:spPr>
          <a:xfrm>
            <a:off x="685800" y="402336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4" name="!!progress"/>
          <p:cNvSpPr/>
          <p:nvPr/>
        </p:nvSpPr>
        <p:spPr>
          <a:xfrm>
            <a:off x="685800" y="391363"/>
            <a:ext cx="4328038" cy="21946"/>
          </a:xfrm>
          <a:prstGeom prst="rect">
            <a:avLst/>
          </a:prstGeom>
          <a:solidFill>
            <a:srgbClr val="E3B663"/>
          </a:solidFill>
          <a:ln/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!!coin">
                <a:extLst>
                  <a:ext uri="{FF2B5EF4-FFF2-40B4-BE49-F238E27FC236}">
                    <a16:creationId xmlns:a16="http://schemas.microsoft.com/office/drawing/2014/main" id="{475BC4AB-5B80-D192-9BBB-7708C1D3B096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4739518" y="98755"/>
              <a:ext cx="548640" cy="548640"/>
            </p:xfrm>
            <a:graphic>
              <a:graphicData uri="http://schemas.microsoft.com/office/drawing/2017/model3d">
                <am3d:model3d r:embed="rIdM3d24">
                  <am3d:spPr>
                    <a:xfrm>
                      <a:off x="0" y="0"/>
                      <a:ext cx="548640" cy="548640"/>
                    </a:xfrm>
                    <a:prstGeom prst="rect">
                      <a:avLst/>
                    </a:prstGeom>
                  </am3d:spPr>
                  <am3d:camera>
                    <am3d:pos x="0" y="0" z="6662303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00000" d="1000000"/>
                    <am3d:preTrans dx="0" dy="0" dz="-162000"/>
                    <am3d:scale>
                      <am3d:sx n="1000000" d="1000000"/>
                      <am3d:sy n="1000000" d="1000000"/>
                      <am3d:sz n="1000000" d="1000000"/>
                    </am3d:scale>
                    <am3d:rot ax="0" ay="-720000" az="-52560000"/>
                    <am3d:postTrans dx="0" dy="0" dz="0"/>
                  </am3d:trans>
                  <am3d:raster rName="Office3DRenderer" rVer="16.0.8326">
                    <am3d:blip r:embed="rId2"/>
                  </am3d:raster>
                  <am3d:objViewport viewportSz="5486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!!coin">
                <a:extLst>
                  <a:ext uri="{FF2B5EF4-FFF2-40B4-BE49-F238E27FC236}">
                    <a16:creationId xmlns:a16="http://schemas.microsoft.com/office/drawing/2014/main" id="{475BC4AB-5B80-D192-9BBB-7708C1D3B096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739518" y="98755"/>
                <a:ext cx="548640" cy="54864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!!kickerbar"/>
          <p:cNvSpPr/>
          <p:nvPr/>
        </p:nvSpPr>
        <p:spPr>
          <a:xfrm>
            <a:off x="685800" y="713232"/>
            <a:ext cx="310896" cy="3200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7" name="!!kicker"/>
          <p:cNvSpPr/>
          <p:nvPr/>
        </p:nvSpPr>
        <p:spPr>
          <a:xfrm>
            <a:off x="1124712" y="594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3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— ГЛАВНЫЙ ТРУД</a:t>
            </a:r>
            <a:endParaRPr lang="en-US" sz="1100" dirty="0"/>
          </a:p>
        </p:txBody>
      </p:sp>
      <p:sp>
        <p:nvSpPr>
          <p:cNvPr id="8" name="!!footline"/>
          <p:cNvSpPr/>
          <p:nvPr/>
        </p:nvSpPr>
        <p:spPr>
          <a:xfrm>
            <a:off x="685800" y="6400800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9" name="!!footer"/>
          <p:cNvSpPr/>
          <p:nvPr/>
        </p:nvSpPr>
        <p:spPr>
          <a:xfrm>
            <a:off x="68580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РИЧАРД КАНТИЛЬОН  ·  1680-е – 1734</a:t>
            </a:r>
            <a:endParaRPr lang="en-US" sz="900" dirty="0"/>
          </a:p>
        </p:txBody>
      </p:sp>
      <p:sp>
        <p:nvSpPr>
          <p:cNvPr id="10" name="!!src"/>
          <p:cNvSpPr/>
          <p:nvPr/>
        </p:nvSpPr>
        <p:spPr>
          <a:xfrm>
            <a:off x="3566160" y="6492240"/>
            <a:ext cx="6492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Источники: </a:t>
            </a:r>
            <a:pPr algn="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Hayek (1931); Jevons (1881); Schumpeter (1954)</a:t>
            </a:r>
            <a:endParaRPr lang="en-US" sz="850" dirty="0"/>
          </a:p>
        </p:txBody>
      </p:sp>
      <p:sp>
        <p:nvSpPr>
          <p:cNvPr id="11" name="!!pagenum"/>
          <p:cNvSpPr/>
          <p:nvPr/>
        </p:nvSpPr>
        <p:spPr>
          <a:xfrm>
            <a:off x="10134295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16</a:t>
            </a:r>
            <a:endParaRPr lang="en-US" sz="900" dirty="0"/>
          </a:p>
        </p:txBody>
      </p:sp>
      <p:pic>
        <p:nvPicPr>
          <p:cNvPr id="12" name="!!glow" descr="/home/user/omgGame/presentations/cantillon/assets/gl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3620" y="-68580"/>
            <a:ext cx="6629400" cy="6629400"/>
          </a:xfrm>
          <a:prstGeom prst="rect">
            <a:avLst/>
          </a:prstGeom>
        </p:spPr>
      </p:pic>
      <p:sp>
        <p:nvSpPr>
          <p:cNvPr id="13" name="!!ring1"/>
          <p:cNvSpPr/>
          <p:nvPr/>
        </p:nvSpPr>
        <p:spPr>
          <a:xfrm>
            <a:off x="7269480" y="1097280"/>
            <a:ext cx="4297680" cy="4297680"/>
          </a:xfrm>
          <a:prstGeom prst="ellipse">
            <a:avLst/>
          </a:prstGeom>
          <a:ln w="9525">
            <a:solidFill>
              <a:srgbClr val="E3B663">
                <a:alpha val="18000"/>
              </a:srgbClr>
            </a:solidFill>
            <a:prstDash val="solid"/>
          </a:ln>
        </p:spPr>
      </p:sp>
      <p:sp>
        <p:nvSpPr>
          <p:cNvPr id="14" name="!!ring2"/>
          <p:cNvSpPr/>
          <p:nvPr/>
        </p:nvSpPr>
        <p:spPr>
          <a:xfrm>
            <a:off x="6675120" y="502920"/>
            <a:ext cx="5486400" cy="5486400"/>
          </a:xfrm>
          <a:prstGeom prst="ellipse">
            <a:avLst/>
          </a:prstGeom>
          <a:ln w="9525">
            <a:solidFill>
              <a:srgbClr val="E3B663">
                <a:alpha val="12000"/>
              </a:srgbClr>
            </a:solidFill>
            <a:prstDash val="dash"/>
          </a:ln>
        </p:spPr>
      </p:sp>
      <p:pic>
        <p:nvPicPr>
          <p:cNvPr id="15" name="!!shadow" descr="/home/user/omgGame/presentations/cantillon/assets/shad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5240" y="4080510"/>
            <a:ext cx="3566160" cy="891540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6" name="!!m-quill">
                <a:extLst>
                  <a:ext uri="{FF2B5EF4-FFF2-40B4-BE49-F238E27FC236}">
                    <a16:creationId xmlns:a16="http://schemas.microsoft.com/office/drawing/2014/main" id="{DEA61CDC-95DA-2798-2773-CA25547C982D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7132320" y="960120"/>
              <a:ext cx="4572000" cy="4572000"/>
            </p:xfrm>
            <a:graphic>
              <a:graphicData uri="http://schemas.microsoft.com/office/drawing/2017/model3d">
                <am3d:model3d r:embed="rIdM3d25">
                  <am3d:spPr>
                    <a:xfrm>
                      <a:off x="0" y="0"/>
                      <a:ext cx="4572000" cy="4572000"/>
                    </a:xfrm>
                    <a:prstGeom prst="rect">
                      <a:avLst/>
                    </a:prstGeom>
                  </am3d:spPr>
                  <am3d:camera>
                    <am3d:pos x="0" y="0" z="6332763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03235" d="1000000"/>
                    <am3d:preTrans dx="-1721519" dy="-4179158" dz="-1113924"/>
                    <am3d:scale>
                      <am3d:sx n="1000000" d="1000000"/>
                      <am3d:sy n="1000000" d="1000000"/>
                      <am3d:sz n="1000000" d="1000000"/>
                    </am3d:scale>
                    <am3d:rot ax="1200000" ay="-1440000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6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57200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6" name="!!m-quill">
                <a:extLst>
                  <a:ext uri="{FF2B5EF4-FFF2-40B4-BE49-F238E27FC236}">
                    <a16:creationId xmlns:a16="http://schemas.microsoft.com/office/drawing/2014/main" id="{DEA61CDC-95DA-2798-2773-CA25547C982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132320" y="960120"/>
                <a:ext cx="4572000" cy="4572000"/>
              </a:xfrm>
              <a:prstGeom prst="rect">
                <a:avLst/>
              </a:prstGeom>
            </p:spPr>
          </p:pic>
        </mc:Fallback>
      </mc:AlternateContent>
      <p:sp>
        <p:nvSpPr>
          <p:cNvPr id="17" name="fx7_9_0"/>
          <p:cNvSpPr/>
          <p:nvPr/>
        </p:nvSpPr>
        <p:spPr>
          <a:xfrm>
            <a:off x="7772400" y="52120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spc="25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ЭКСПОНАТ 07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Страницы «Essai» листаются сами, перо макает чернила</a:t>
            </a:r>
            <a:endParaRPr lang="en-US" sz="900" dirty="0"/>
          </a:p>
        </p:txBody>
      </p:sp>
      <p:sp>
        <p:nvSpPr>
          <p:cNvPr id="18" name="!!title"/>
          <p:cNvSpPr/>
          <p:nvPr/>
        </p:nvSpPr>
        <p:spPr>
          <a:xfrm>
            <a:off x="685800" y="987552"/>
            <a:ext cx="6309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6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Книга, опередившая Адама Смита</a:t>
            </a:r>
            <a:endParaRPr lang="en-US" sz="3600" dirty="0"/>
          </a:p>
        </p:txBody>
      </p:sp>
      <p:sp>
        <p:nvSpPr>
          <p:cNvPr id="19" name="fx7_1_1"/>
          <p:cNvSpPr/>
          <p:nvPr/>
        </p:nvSpPr>
        <p:spPr>
          <a:xfrm>
            <a:off x="685800" y="2221992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1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≈1730</a:t>
            </a:r>
            <a:endParaRPr lang="en-US" sz="2100" dirty="0"/>
          </a:p>
        </p:txBody>
      </p:sp>
      <p:sp>
        <p:nvSpPr>
          <p:cNvPr id="20" name="fx7_1_2"/>
          <p:cNvSpPr/>
          <p:nvPr/>
        </p:nvSpPr>
        <p:spPr>
          <a:xfrm>
            <a:off x="1965960" y="224028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Написан «Essai sur la nature du commerce»</a:t>
            </a:r>
            <a:endParaRPr lang="en-US" sz="1450" dirty="0"/>
          </a:p>
        </p:txBody>
      </p:sp>
      <p:sp>
        <p:nvSpPr>
          <p:cNvPr id="21" name="fx7_1_3"/>
          <p:cNvSpPr/>
          <p:nvPr/>
        </p:nvSpPr>
        <p:spPr>
          <a:xfrm>
            <a:off x="1965960" y="257860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Первый трактат об экономике целиком: цены, деньги, процент, торговля.</a:t>
            </a:r>
            <a:endParaRPr lang="en-US" sz="1100" dirty="0"/>
          </a:p>
        </p:txBody>
      </p:sp>
      <p:sp>
        <p:nvSpPr>
          <p:cNvPr id="22" name="fx7_2_4"/>
          <p:cNvSpPr/>
          <p:nvPr/>
        </p:nvSpPr>
        <p:spPr>
          <a:xfrm>
            <a:off x="685800" y="2898648"/>
            <a:ext cx="6035040" cy="91"/>
          </a:xfrm>
          <a:prstGeom prst="line">
            <a:avLst/>
          </a:prstGeom>
          <a:noFill/>
          <a:ln w="9525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23" name="fx7_2_5"/>
          <p:cNvSpPr/>
          <p:nvPr/>
        </p:nvSpPr>
        <p:spPr>
          <a:xfrm>
            <a:off x="685800" y="2990088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1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1755</a:t>
            </a:r>
            <a:endParaRPr lang="en-US" sz="2100" dirty="0"/>
          </a:p>
        </p:txBody>
      </p:sp>
      <p:sp>
        <p:nvSpPr>
          <p:cNvPr id="24" name="fx7_2_6"/>
          <p:cNvSpPr/>
          <p:nvPr/>
        </p:nvSpPr>
        <p:spPr>
          <a:xfrm>
            <a:off x="1965960" y="3008376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Издан через 21 год после смерти автора</a:t>
            </a:r>
            <a:endParaRPr lang="en-US" sz="1450" dirty="0"/>
          </a:p>
        </p:txBody>
      </p:sp>
      <p:sp>
        <p:nvSpPr>
          <p:cNvPr id="25" name="fx7_2_7"/>
          <p:cNvSpPr/>
          <p:nvPr/>
        </p:nvSpPr>
        <p:spPr>
          <a:xfrm>
            <a:off x="1965960" y="3346704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Анонимно, с фальшивым адресом «Лондон» и пометкой «перевод с английского».</a:t>
            </a:r>
            <a:endParaRPr lang="en-US" sz="1100" dirty="0"/>
          </a:p>
        </p:txBody>
      </p:sp>
      <p:sp>
        <p:nvSpPr>
          <p:cNvPr id="26" name="fx7_3_8"/>
          <p:cNvSpPr/>
          <p:nvPr/>
        </p:nvSpPr>
        <p:spPr>
          <a:xfrm>
            <a:off x="685800" y="3666744"/>
            <a:ext cx="6035040" cy="91"/>
          </a:xfrm>
          <a:prstGeom prst="line">
            <a:avLst/>
          </a:prstGeom>
          <a:noFill/>
          <a:ln w="9525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27" name="fx7_3_9"/>
          <p:cNvSpPr/>
          <p:nvPr/>
        </p:nvSpPr>
        <p:spPr>
          <a:xfrm>
            <a:off x="685800" y="3758184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1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1776</a:t>
            </a:r>
            <a:endParaRPr lang="en-US" sz="2100" dirty="0"/>
          </a:p>
        </p:txBody>
      </p:sp>
      <p:sp>
        <p:nvSpPr>
          <p:cNvPr id="28" name="fx7_3_10"/>
          <p:cNvSpPr/>
          <p:nvPr/>
        </p:nvSpPr>
        <p:spPr>
          <a:xfrm>
            <a:off x="1965960" y="3776472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Адам Смит ссылается на Кантильона</a:t>
            </a:r>
            <a:endParaRPr lang="en-US" sz="1450" dirty="0"/>
          </a:p>
        </p:txBody>
      </p:sp>
      <p:sp>
        <p:nvSpPr>
          <p:cNvPr id="29" name="fx7_3_11"/>
          <p:cNvSpPr/>
          <p:nvPr/>
        </p:nvSpPr>
        <p:spPr>
          <a:xfrm>
            <a:off x="1965960" y="411480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Один из немногих авторов, которых цитирует «Богатство народов».</a:t>
            </a:r>
            <a:endParaRPr lang="en-US" sz="1100" dirty="0"/>
          </a:p>
        </p:txBody>
      </p:sp>
      <p:sp>
        <p:nvSpPr>
          <p:cNvPr id="30" name="fx7_4_12"/>
          <p:cNvSpPr/>
          <p:nvPr/>
        </p:nvSpPr>
        <p:spPr>
          <a:xfrm>
            <a:off x="685800" y="4434840"/>
            <a:ext cx="6035040" cy="91"/>
          </a:xfrm>
          <a:prstGeom prst="line">
            <a:avLst/>
          </a:prstGeom>
          <a:noFill/>
          <a:ln w="9525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31" name="fx7_4_13"/>
          <p:cNvSpPr/>
          <p:nvPr/>
        </p:nvSpPr>
        <p:spPr>
          <a:xfrm>
            <a:off x="685800" y="452628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1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1881</a:t>
            </a:r>
            <a:endParaRPr lang="en-US" sz="2100" dirty="0"/>
          </a:p>
        </p:txBody>
      </p:sp>
      <p:sp>
        <p:nvSpPr>
          <p:cNvPr id="32" name="fx7_4_14"/>
          <p:cNvSpPr/>
          <p:nvPr/>
        </p:nvSpPr>
        <p:spPr>
          <a:xfrm>
            <a:off x="1965960" y="4544568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Джевонс открывает книгу заново</a:t>
            </a:r>
            <a:endParaRPr lang="en-US" sz="1450" dirty="0"/>
          </a:p>
        </p:txBody>
      </p:sp>
      <p:sp>
        <p:nvSpPr>
          <p:cNvPr id="33" name="fx7_4_15"/>
          <p:cNvSpPr/>
          <p:nvPr/>
        </p:nvSpPr>
        <p:spPr>
          <a:xfrm>
            <a:off x="1965960" y="4882896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 называет её «колыбелью политической экономии».</a:t>
            </a:r>
            <a:endParaRPr lang="en-US" sz="1100" dirty="0"/>
          </a:p>
        </p:txBody>
      </p:sp>
      <p:sp>
        <p:nvSpPr>
          <p:cNvPr id="34" name="fx7_8_16"/>
          <p:cNvSpPr/>
          <p:nvPr/>
        </p:nvSpPr>
        <p:spPr>
          <a:xfrm>
            <a:off x="685800" y="5394960"/>
            <a:ext cx="6126480" cy="804672"/>
          </a:xfrm>
          <a:prstGeom prst="roundRect">
            <a:avLst>
              <a:gd name="adj" fmla="val 9091"/>
            </a:avLst>
          </a:prstGeom>
          <a:solidFill>
            <a:srgbClr val="22170B">
              <a:alpha val="92000"/>
            </a:srgbClr>
          </a:solidFill>
          <a:ln w="12700">
            <a:solidFill>
              <a:srgbClr val="E3B663">
                <a:alpha val="55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35" name="fx7_8_17"/>
          <p:cNvSpPr/>
          <p:nvPr/>
        </p:nvSpPr>
        <p:spPr>
          <a:xfrm>
            <a:off x="685800" y="5541264"/>
            <a:ext cx="50292" cy="51206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36" name="fx7_8_18"/>
          <p:cNvSpPr/>
          <p:nvPr/>
        </p:nvSpPr>
        <p:spPr>
          <a:xfrm>
            <a:off x="941832" y="5257800"/>
            <a:ext cx="1993392" cy="274320"/>
          </a:xfrm>
          <a:prstGeom prst="roundRect">
            <a:avLst>
              <a:gd name="adj" fmla="val 50000"/>
            </a:avLst>
          </a:prstGeom>
          <a:solidFill>
            <a:srgbClr val="E3B663"/>
          </a:solidFill>
          <a:ln/>
        </p:spPr>
      </p:sp>
      <p:sp>
        <p:nvSpPr>
          <p:cNvPr id="37" name="fx7_8_19"/>
          <p:cNvSpPr/>
          <p:nvPr/>
        </p:nvSpPr>
        <p:spPr>
          <a:xfrm>
            <a:off x="941832" y="5257800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spc="150" kern="0" dirty="0">
                <a:solidFill>
                  <a:srgbClr val="0D0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 САМОЕ ИНТЕРЕСНОЕ</a:t>
            </a:r>
            <a:endParaRPr lang="en-US" sz="850" dirty="0"/>
          </a:p>
        </p:txBody>
      </p:sp>
      <p:sp>
        <p:nvSpPr>
          <p:cNvPr id="38" name="fx7_8_20"/>
          <p:cNvSpPr/>
          <p:nvPr/>
        </p:nvSpPr>
        <p:spPr>
          <a:xfrm>
            <a:off x="960120" y="5577840"/>
            <a:ext cx="5669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Шумпетер назвал «Essai» </a:t>
            </a:r>
            <a:pPr algn="l" indent="0" marL="0">
              <a:lnSpc>
                <a:spcPct val="105000"/>
              </a:lnSpc>
              <a:buNone/>
            </a:pPr>
            <a:r>
              <a:rPr lang="en-US" sz="1250" b="1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«первым систематическим проникновением в область экономики»</a:t>
            </a:r>
            <a:pPr algn="l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А статистическое приложение к книге потеряно.</a:t>
            </a:r>
            <a:endParaRPr lang="en-US" sz="125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9" name="!!m-books_c">
                <a:extLst>
                  <a:ext uri="{FF2B5EF4-FFF2-40B4-BE49-F238E27FC236}">
                    <a16:creationId xmlns:a16="http://schemas.microsoft.com/office/drawing/2014/main" id="{AB91A608-EDCB-CFAB-213E-0296FD525162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4937760" y="1280160"/>
              <a:ext cx="4389120" cy="4389120"/>
            </p:xfrm>
            <a:graphic>
              <a:graphicData uri="http://schemas.microsoft.com/office/drawing/2017/model3d">
                <am3d:model3d r:embed="rIdM3d26">
                  <am3d:spPr>
                    <a:xfrm>
                      <a:off x="0" y="0"/>
                      <a:ext cx="4389120" cy="4389120"/>
                    </a:xfrm>
                    <a:prstGeom prst="rect">
                      <a:avLst/>
                    </a:prstGeom>
                  </am3d:spPr>
                  <am3d:camera>
                    <am3d:pos x="0" y="0" z="6904588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85921" d="1000000"/>
                    <am3d:preTrans dx="72745" dy="-12163581" dz="-706525"/>
                    <am3d:scale>
                      <am3d:sx n="1000000" d="1000000"/>
                      <am3d:sy n="1000000" d="1000000"/>
                      <am3d:sz n="1000000" d="1000000"/>
                    </am3d:scale>
                    <am3d:rot ax="1080000" ay="-6360000" az="0"/>
                    <am3d:postTrans dx="0" dy="0" dz="0"/>
                  </am3d:trans>
                  <am3d:raster rName="Office3DRenderer" rVer="16.0.8326">
                    <am3d:blip r:embed="rId6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6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38912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9" name="!!m-books_c">
                <a:extLst>
                  <a:ext uri="{FF2B5EF4-FFF2-40B4-BE49-F238E27FC236}">
                    <a16:creationId xmlns:a16="http://schemas.microsoft.com/office/drawing/2014/main" id="{AB91A608-EDCB-CFAB-213E-0296FD525162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-4937760" y="1280160"/>
                <a:ext cx="4389120" cy="4389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0" name="!!m-scales">
                <a:extLst>
                  <a:ext uri="{FF2B5EF4-FFF2-40B4-BE49-F238E27FC236}">
                    <a16:creationId xmlns:a16="http://schemas.microsoft.com/office/drawing/2014/main" id="{798B1C4F-E04F-C177-B3D3-B11FD74CE6A1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740335" y="1234440"/>
              <a:ext cx="4389120" cy="4389120"/>
            </p:xfrm>
            <a:graphic>
              <a:graphicData uri="http://schemas.microsoft.com/office/drawing/2017/model3d">
                <am3d:model3d r:embed="rIdM3d27">
                  <am3d:spPr>
                    <a:xfrm>
                      <a:off x="0" y="0"/>
                      <a:ext cx="4389120" cy="4389120"/>
                    </a:xfrm>
                    <a:prstGeom prst="rect">
                      <a:avLst/>
                    </a:prstGeom>
                  </am3d:spPr>
                  <am3d:camera>
                    <am3d:pos x="0" y="0" z="6289864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95238" d="1000000"/>
                    <am3d:preTrans dx="0" dy="-2089285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480000" ay="3720000" az="0"/>
                    <am3d:postTrans dx="0" dy="0" dz="0"/>
                  </am3d:trans>
                  <am3d:raster rName="Office3DRenderer" rVer="16.0.8326">
                    <am3d:blip r:embed="rId7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38912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0" name="!!m-scales">
                <a:extLst>
                  <a:ext uri="{FF2B5EF4-FFF2-40B4-BE49-F238E27FC236}">
                    <a16:creationId xmlns:a16="http://schemas.microsoft.com/office/drawing/2014/main" id="{798B1C4F-E04F-C177-B3D3-B11FD74CE6A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2740335" y="1234440"/>
                <a:ext cx="4389120" cy="438912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11" dur="6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1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8">
    <p:bg>
      <p:bgPr>
        <a:solidFill>
          <a:srgbClr val="0E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home/user/omgGame/presentations/cantillon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rack"/>
          <p:cNvSpPr/>
          <p:nvPr/>
        </p:nvSpPr>
        <p:spPr>
          <a:xfrm>
            <a:off x="685800" y="402336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4" name="!!progress"/>
          <p:cNvSpPr/>
          <p:nvPr/>
        </p:nvSpPr>
        <p:spPr>
          <a:xfrm>
            <a:off x="685800" y="391363"/>
            <a:ext cx="5049378" cy="21946"/>
          </a:xfrm>
          <a:prstGeom prst="rect">
            <a:avLst/>
          </a:prstGeom>
          <a:solidFill>
            <a:srgbClr val="E3B663"/>
          </a:solidFill>
          <a:ln/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!!coin">
                <a:extLst>
                  <a:ext uri="{FF2B5EF4-FFF2-40B4-BE49-F238E27FC236}">
                    <a16:creationId xmlns:a16="http://schemas.microsoft.com/office/drawing/2014/main" id="{85914BAC-DE10-4720-A199-79F92D00755B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5460858" y="98755"/>
              <a:ext cx="548640" cy="548640"/>
            </p:xfrm>
            <a:graphic>
              <a:graphicData uri="http://schemas.microsoft.com/office/drawing/2017/model3d">
                <am3d:model3d r:embed="rIdM3d28">
                  <am3d:spPr>
                    <a:xfrm>
                      <a:off x="0" y="0"/>
                      <a:ext cx="548640" cy="548640"/>
                    </a:xfrm>
                    <a:prstGeom prst="rect">
                      <a:avLst/>
                    </a:prstGeom>
                  </am3d:spPr>
                  <am3d:camera>
                    <am3d:pos x="0" y="0" z="6662303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00000" d="1000000"/>
                    <am3d:preTrans dx="0" dy="0" dz="-162000"/>
                    <am3d:scale>
                      <am3d:sx n="1000000" d="1000000"/>
                      <am3d:sy n="1000000" d="1000000"/>
                      <am3d:sz n="1000000" d="1000000"/>
                    </am3d:scale>
                    <am3d:rot ax="0" ay="-720000" az="-61320000"/>
                    <am3d:postTrans dx="0" dy="0" dz="0"/>
                  </am3d:trans>
                  <am3d:raster rName="Office3DRenderer" rVer="16.0.8326">
                    <am3d:blip r:embed="rId2"/>
                  </am3d:raster>
                  <am3d:objViewport viewportSz="5486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!!coin">
                <a:extLst>
                  <a:ext uri="{FF2B5EF4-FFF2-40B4-BE49-F238E27FC236}">
                    <a16:creationId xmlns:a16="http://schemas.microsoft.com/office/drawing/2014/main" id="{85914BAC-DE10-4720-A199-79F92D00755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5460858" y="98755"/>
                <a:ext cx="548640" cy="54864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!!kickerbar"/>
          <p:cNvSpPr/>
          <p:nvPr/>
        </p:nvSpPr>
        <p:spPr>
          <a:xfrm>
            <a:off x="685800" y="713232"/>
            <a:ext cx="310896" cy="3200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7" name="!!kicker"/>
          <p:cNvSpPr/>
          <p:nvPr/>
        </p:nvSpPr>
        <p:spPr>
          <a:xfrm>
            <a:off x="1124712" y="594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3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— ГЛАВНАЯ МЫСЛЬ</a:t>
            </a:r>
            <a:endParaRPr lang="en-US" sz="1100" dirty="0"/>
          </a:p>
        </p:txBody>
      </p:sp>
      <p:sp>
        <p:nvSpPr>
          <p:cNvPr id="8" name="!!footline"/>
          <p:cNvSpPr/>
          <p:nvPr/>
        </p:nvSpPr>
        <p:spPr>
          <a:xfrm>
            <a:off x="685800" y="6400800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9" name="!!footer"/>
          <p:cNvSpPr/>
          <p:nvPr/>
        </p:nvSpPr>
        <p:spPr>
          <a:xfrm>
            <a:off x="68580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РИЧАРД КАНТИЛЬОН  ·  1680-е – 1734</a:t>
            </a:r>
            <a:endParaRPr lang="en-US" sz="900" dirty="0"/>
          </a:p>
        </p:txBody>
      </p:sp>
      <p:sp>
        <p:nvSpPr>
          <p:cNvPr id="10" name="!!src"/>
          <p:cNvSpPr/>
          <p:nvPr/>
        </p:nvSpPr>
        <p:spPr>
          <a:xfrm>
            <a:off x="3566160" y="6492240"/>
            <a:ext cx="6492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Источники: </a:t>
            </a:r>
            <a:pPr algn="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Essai, ч. I, гл. XII–XIII (пер. Higgs, 1931)</a:t>
            </a:r>
            <a:endParaRPr lang="en-US" sz="850" dirty="0"/>
          </a:p>
        </p:txBody>
      </p:sp>
      <p:sp>
        <p:nvSpPr>
          <p:cNvPr id="11" name="!!pagenum"/>
          <p:cNvSpPr/>
          <p:nvPr/>
        </p:nvSpPr>
        <p:spPr>
          <a:xfrm>
            <a:off x="10134295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16</a:t>
            </a:r>
            <a:endParaRPr lang="en-US" sz="900" dirty="0"/>
          </a:p>
        </p:txBody>
      </p:sp>
      <p:pic>
        <p:nvPicPr>
          <p:cNvPr id="12" name="!!glow" descr="/home/user/omgGame/presentations/cantillon/assets/gl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7688" y="-118872"/>
            <a:ext cx="6364224" cy="6364224"/>
          </a:xfrm>
          <a:prstGeom prst="rect">
            <a:avLst/>
          </a:prstGeom>
        </p:spPr>
      </p:pic>
      <p:sp>
        <p:nvSpPr>
          <p:cNvPr id="13" name="!!ring1"/>
          <p:cNvSpPr/>
          <p:nvPr/>
        </p:nvSpPr>
        <p:spPr>
          <a:xfrm>
            <a:off x="7766914" y="1000354"/>
            <a:ext cx="4125773" cy="4125773"/>
          </a:xfrm>
          <a:prstGeom prst="ellipse">
            <a:avLst/>
          </a:prstGeom>
          <a:ln w="9525">
            <a:solidFill>
              <a:srgbClr val="E3B663">
                <a:alpha val="18000"/>
              </a:srgbClr>
            </a:solidFill>
            <a:prstDash val="solid"/>
          </a:ln>
        </p:spPr>
      </p:sp>
      <p:sp>
        <p:nvSpPr>
          <p:cNvPr id="14" name="!!ring2"/>
          <p:cNvSpPr/>
          <p:nvPr/>
        </p:nvSpPr>
        <p:spPr>
          <a:xfrm>
            <a:off x="7196328" y="429768"/>
            <a:ext cx="5266944" cy="5266944"/>
          </a:xfrm>
          <a:prstGeom prst="ellipse">
            <a:avLst/>
          </a:prstGeom>
          <a:ln w="9525">
            <a:solidFill>
              <a:srgbClr val="E3B663">
                <a:alpha val="12000"/>
              </a:srgbClr>
            </a:solidFill>
            <a:prstDash val="dash"/>
          </a:ln>
        </p:spPr>
      </p:sp>
      <p:pic>
        <p:nvPicPr>
          <p:cNvPr id="15" name="!!shadow" descr="/home/user/omgGame/presentations/cantillon/assets/shad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13064" y="4314139"/>
            <a:ext cx="2633472" cy="658368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6" name="!!m-scales">
                <a:extLst>
                  <a:ext uri="{FF2B5EF4-FFF2-40B4-BE49-F238E27FC236}">
                    <a16:creationId xmlns:a16="http://schemas.microsoft.com/office/drawing/2014/main" id="{C01D85DD-6F11-01D3-9130-0880206D912E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7635240" y="868680"/>
              <a:ext cx="4389120" cy="4389120"/>
            </p:xfrm>
            <a:graphic>
              <a:graphicData uri="http://schemas.microsoft.com/office/drawing/2017/model3d">
                <am3d:model3d r:embed="rIdM3d29">
                  <am3d:spPr>
                    <a:xfrm>
                      <a:off x="0" y="0"/>
                      <a:ext cx="4389120" cy="4389120"/>
                    </a:xfrm>
                    <a:prstGeom prst="rect">
                      <a:avLst/>
                    </a:prstGeom>
                  </am3d:spPr>
                  <am3d:camera>
                    <am3d:pos x="0" y="0" z="6289864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95238" d="1000000"/>
                    <am3d:preTrans dx="0" dy="-2089285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480000" ay="-1080000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38912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6" name="!!m-scales">
                <a:extLst>
                  <a:ext uri="{FF2B5EF4-FFF2-40B4-BE49-F238E27FC236}">
                    <a16:creationId xmlns:a16="http://schemas.microsoft.com/office/drawing/2014/main" id="{C01D85DD-6F11-01D3-9130-0880206D912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635240" y="868680"/>
                <a:ext cx="4389120" cy="4389120"/>
              </a:xfrm>
              <a:prstGeom prst="rect">
                <a:avLst/>
              </a:prstGeom>
            </p:spPr>
          </p:pic>
        </mc:Fallback>
      </mc:AlternateContent>
      <p:sp>
        <p:nvSpPr>
          <p:cNvPr id="17" name="fx8_9_0"/>
          <p:cNvSpPr/>
          <p:nvPr/>
        </p:nvSpPr>
        <p:spPr>
          <a:xfrm>
            <a:off x="8183880" y="495056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spc="25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ЭКСПОНАТ 08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Весы сами ищут равновесие — как рынок</a:t>
            </a:r>
            <a:endParaRPr lang="en-US" sz="900" dirty="0"/>
          </a:p>
        </p:txBody>
      </p:sp>
      <p:sp>
        <p:nvSpPr>
          <p:cNvPr id="18" name="!!title"/>
          <p:cNvSpPr/>
          <p:nvPr/>
        </p:nvSpPr>
        <p:spPr>
          <a:xfrm>
            <a:off x="685800" y="98755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1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Экономика — система, а не казна</a:t>
            </a:r>
            <a:endParaRPr lang="en-US" sz="3100" dirty="0"/>
          </a:p>
        </p:txBody>
      </p:sp>
      <p:sp>
        <p:nvSpPr>
          <p:cNvPr id="19" name="fx8_1_1"/>
          <p:cNvSpPr/>
          <p:nvPr/>
        </p:nvSpPr>
        <p:spPr>
          <a:xfrm>
            <a:off x="685800" y="173736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Рынки, цены и деньги регулируют хозяйство сами. Всё общество — три группы:</a:t>
            </a:r>
            <a:endParaRPr lang="en-US" sz="1300" dirty="0"/>
          </a:p>
        </p:txBody>
      </p:sp>
      <p:sp>
        <p:nvSpPr>
          <p:cNvPr id="20" name="fx8_2_2"/>
          <p:cNvSpPr/>
          <p:nvPr/>
        </p:nvSpPr>
        <p:spPr>
          <a:xfrm>
            <a:off x="685800" y="2240280"/>
            <a:ext cx="2148840" cy="2514600"/>
          </a:xfrm>
          <a:prstGeom prst="roundRect">
            <a:avLst>
              <a:gd name="adj" fmla="val 3404"/>
            </a:avLst>
          </a:prstGeom>
          <a:solidFill>
            <a:srgbClr val="22121A">
              <a:alpha val="88000"/>
            </a:srgbClr>
          </a:solidFill>
          <a:ln w="9525">
            <a:solidFill>
              <a:srgbClr val="9A8C86">
                <a:alpha val="30000"/>
              </a:srgbClr>
            </a:solidFill>
            <a:prstDash val="solid"/>
          </a:ln>
        </p:spPr>
      </p:sp>
      <p:sp>
        <p:nvSpPr>
          <p:cNvPr id="21" name="fx8_2_3"/>
          <p:cNvSpPr/>
          <p:nvPr/>
        </p:nvSpPr>
        <p:spPr>
          <a:xfrm>
            <a:off x="868680" y="2423160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ЗЕМЛЕВЛАДЕЛЬЦЫ</a:t>
            </a:r>
            <a:endParaRPr lang="en-US" sz="950" dirty="0"/>
          </a:p>
        </p:txBody>
      </p:sp>
      <p:sp>
        <p:nvSpPr>
          <p:cNvPr id="22" name="fx8_2_4"/>
          <p:cNvSpPr/>
          <p:nvPr/>
        </p:nvSpPr>
        <p:spPr>
          <a:xfrm>
            <a:off x="868680" y="269748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8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Независимы</a:t>
            </a:r>
            <a:endParaRPr lang="en-US" sz="1800" dirty="0"/>
          </a:p>
        </p:txBody>
      </p:sp>
      <p:sp>
        <p:nvSpPr>
          <p:cNvPr id="23" name="fx8_2_5"/>
          <p:cNvSpPr/>
          <p:nvPr/>
        </p:nvSpPr>
        <p:spPr>
          <a:xfrm>
            <a:off x="868680" y="342900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Их расходы задают спрос всей экономики.</a:t>
            </a:r>
            <a:endParaRPr lang="en-US" sz="1150" dirty="0"/>
          </a:p>
        </p:txBody>
      </p:sp>
      <p:sp>
        <p:nvSpPr>
          <p:cNvPr id="24" name="fx8_3_6"/>
          <p:cNvSpPr/>
          <p:nvPr/>
        </p:nvSpPr>
        <p:spPr>
          <a:xfrm>
            <a:off x="2971800" y="2240280"/>
            <a:ext cx="2148840" cy="2514600"/>
          </a:xfrm>
          <a:prstGeom prst="roundRect">
            <a:avLst>
              <a:gd name="adj" fmla="val 3404"/>
            </a:avLst>
          </a:prstGeom>
          <a:solidFill>
            <a:srgbClr val="22121A">
              <a:alpha val="88000"/>
            </a:srgbClr>
          </a:solidFill>
          <a:ln w="9525">
            <a:solidFill>
              <a:srgbClr val="9A8C86">
                <a:alpha val="30000"/>
              </a:srgbClr>
            </a:solidFill>
            <a:prstDash val="solid"/>
          </a:ln>
        </p:spPr>
      </p:sp>
      <p:sp>
        <p:nvSpPr>
          <p:cNvPr id="25" name="fx8_3_7"/>
          <p:cNvSpPr/>
          <p:nvPr/>
        </p:nvSpPr>
        <p:spPr>
          <a:xfrm>
            <a:off x="3154680" y="2423160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НАЁМНЫЕ</a:t>
            </a:r>
            <a:endParaRPr lang="en-US" sz="950" dirty="0"/>
          </a:p>
        </p:txBody>
      </p:sp>
      <p:sp>
        <p:nvSpPr>
          <p:cNvPr id="26" name="fx8_3_8"/>
          <p:cNvSpPr/>
          <p:nvPr/>
        </p:nvSpPr>
        <p:spPr>
          <a:xfrm>
            <a:off x="3154680" y="269748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8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Фиксированный доход</a:t>
            </a:r>
            <a:endParaRPr lang="en-US" sz="1800" dirty="0"/>
          </a:p>
        </p:txBody>
      </p:sp>
      <p:sp>
        <p:nvSpPr>
          <p:cNvPr id="27" name="fx8_3_9"/>
          <p:cNvSpPr/>
          <p:nvPr/>
        </p:nvSpPr>
        <p:spPr>
          <a:xfrm>
            <a:off x="3154680" y="342900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Генерал на жалованье, придворный с пенсией, слуга с зарплатой.</a:t>
            </a:r>
            <a:endParaRPr lang="en-US" sz="1150" dirty="0"/>
          </a:p>
        </p:txBody>
      </p:sp>
      <p:sp>
        <p:nvSpPr>
          <p:cNvPr id="28" name="fx8_4_10"/>
          <p:cNvSpPr/>
          <p:nvPr/>
        </p:nvSpPr>
        <p:spPr>
          <a:xfrm>
            <a:off x="5257800" y="2240280"/>
            <a:ext cx="2148840" cy="2514600"/>
          </a:xfrm>
          <a:prstGeom prst="roundRect">
            <a:avLst>
              <a:gd name="adj" fmla="val 3404"/>
            </a:avLst>
          </a:prstGeom>
          <a:solidFill>
            <a:srgbClr val="2E1E10"/>
          </a:solidFill>
          <a:ln w="9525">
            <a:solidFill>
              <a:srgbClr val="E3B663">
                <a:alpha val="70000"/>
              </a:srgbClr>
            </a:solidFill>
            <a:prstDash val="solid"/>
          </a:ln>
        </p:spPr>
      </p:sp>
      <p:sp>
        <p:nvSpPr>
          <p:cNvPr id="29" name="fx8_4_11"/>
          <p:cNvSpPr/>
          <p:nvPr/>
        </p:nvSpPr>
        <p:spPr>
          <a:xfrm>
            <a:off x="5440680" y="2423160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ПРЕДПРИНИМАТЕЛИ</a:t>
            </a:r>
            <a:endParaRPr lang="en-US" sz="950" dirty="0"/>
          </a:p>
        </p:txBody>
      </p:sp>
      <p:sp>
        <p:nvSpPr>
          <p:cNvPr id="30" name="fx8_4_12"/>
          <p:cNvSpPr/>
          <p:nvPr/>
        </p:nvSpPr>
        <p:spPr>
          <a:xfrm>
            <a:off x="5440680" y="269748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8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Неизвестный доход</a:t>
            </a:r>
            <a:endParaRPr lang="en-US" sz="1800" dirty="0"/>
          </a:p>
        </p:txBody>
      </p:sp>
      <p:sp>
        <p:nvSpPr>
          <p:cNvPr id="31" name="fx8_4_13"/>
          <p:cNvSpPr/>
          <p:nvPr/>
        </p:nvSpPr>
        <p:spPr>
          <a:xfrm>
            <a:off x="5440680" y="342900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Покупают по известной цене, продают по неизвестной.</a:t>
            </a:r>
            <a:endParaRPr lang="en-US" sz="1150" dirty="0"/>
          </a:p>
        </p:txBody>
      </p:sp>
      <p:sp>
        <p:nvSpPr>
          <p:cNvPr id="32" name="fx8_8_14"/>
          <p:cNvSpPr/>
          <p:nvPr/>
        </p:nvSpPr>
        <p:spPr>
          <a:xfrm>
            <a:off x="685800" y="5166360"/>
            <a:ext cx="6720840" cy="1005840"/>
          </a:xfrm>
          <a:prstGeom prst="roundRect">
            <a:avLst>
              <a:gd name="adj" fmla="val 7273"/>
            </a:avLst>
          </a:prstGeom>
          <a:solidFill>
            <a:srgbClr val="22170B">
              <a:alpha val="92000"/>
            </a:srgbClr>
          </a:solidFill>
          <a:ln w="12700">
            <a:solidFill>
              <a:srgbClr val="E3B663">
                <a:alpha val="55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33" name="fx8_8_15"/>
          <p:cNvSpPr/>
          <p:nvPr/>
        </p:nvSpPr>
        <p:spPr>
          <a:xfrm>
            <a:off x="685800" y="5312664"/>
            <a:ext cx="50292" cy="713232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34" name="fx8_8_16"/>
          <p:cNvSpPr/>
          <p:nvPr/>
        </p:nvSpPr>
        <p:spPr>
          <a:xfrm>
            <a:off x="941832" y="5029200"/>
            <a:ext cx="1225296" cy="274320"/>
          </a:xfrm>
          <a:prstGeom prst="roundRect">
            <a:avLst>
              <a:gd name="adj" fmla="val 50000"/>
            </a:avLst>
          </a:prstGeom>
          <a:solidFill>
            <a:srgbClr val="E3B663"/>
          </a:solidFill>
          <a:ln/>
        </p:spPr>
      </p:sp>
      <p:sp>
        <p:nvSpPr>
          <p:cNvPr id="35" name="fx8_8_17"/>
          <p:cNvSpPr/>
          <p:nvPr/>
        </p:nvSpPr>
        <p:spPr>
          <a:xfrm>
            <a:off x="941832" y="5029200"/>
            <a:ext cx="1225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spc="150" kern="0" dirty="0">
                <a:solidFill>
                  <a:srgbClr val="0D0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 ПАРАДОКС</a:t>
            </a:r>
            <a:endParaRPr lang="en-US" sz="850" dirty="0"/>
          </a:p>
        </p:txBody>
      </p:sp>
      <p:sp>
        <p:nvSpPr>
          <p:cNvPr id="36" name="fx8_8_18"/>
          <p:cNvSpPr/>
          <p:nvPr/>
        </p:nvSpPr>
        <p:spPr>
          <a:xfrm>
            <a:off x="960120" y="5349240"/>
            <a:ext cx="6263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Парадокс Кантильона: </a:t>
            </a:r>
            <a:pPr algn="l" indent="0" marL="0">
              <a:lnSpc>
                <a:spcPct val="105000"/>
              </a:lnSpc>
              <a:buNone/>
            </a:pPr>
            <a:r>
              <a:rPr lang="en-US" sz="1300" b="1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генерал на жалованье — наёмный работник, а трубочист и водонос — предприниматели</a:t>
            </a:r>
            <a:pPr algn="l" indent="0" marL="0">
              <a:lnSpc>
                <a:spcPct val="105000"/>
              </a:lnSpc>
              <a:buNone/>
            </a:pPr>
            <a:r>
              <a:rPr lang="en-US" sz="130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Важно лишь, известен ли доход заранее.</a:t>
            </a:r>
            <a:endParaRPr lang="en-US" sz="130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7" name="!!m-quill">
                <a:extLst>
                  <a:ext uri="{FF2B5EF4-FFF2-40B4-BE49-F238E27FC236}">
                    <a16:creationId xmlns:a16="http://schemas.microsoft.com/office/drawing/2014/main" id="{1DC40023-7999-BEF5-527E-A8263B1B0575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5120640" y="1325880"/>
              <a:ext cx="4572000" cy="4572000"/>
            </p:xfrm>
            <a:graphic>
              <a:graphicData uri="http://schemas.microsoft.com/office/drawing/2017/model3d">
                <am3d:model3d r:embed="rIdM3d30">
                  <am3d:spPr>
                    <a:xfrm>
                      <a:off x="0" y="0"/>
                      <a:ext cx="4572000" cy="4572000"/>
                    </a:xfrm>
                    <a:prstGeom prst="rect">
                      <a:avLst/>
                    </a:prstGeom>
                  </am3d:spPr>
                  <am3d:camera>
                    <am3d:pos x="0" y="0" z="6332763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03235" d="1000000"/>
                    <am3d:preTrans dx="-1721519" dy="-4179158" dz="-1113924"/>
                    <am3d:scale>
                      <am3d:sx n="1000000" d="1000000"/>
                      <am3d:sy n="1000000" d="1000000"/>
                      <am3d:sz n="1000000" d="1000000"/>
                    </am3d:scale>
                    <am3d:rot ax="1200000" ay="-6240000" az="0"/>
                    <am3d:postTrans dx="0" dy="0" dz="0"/>
                  </am3d:trans>
                  <am3d:raster rName="Office3DRenderer" rVer="16.0.8326">
                    <am3d:blip r:embed="rId6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6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57200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7" name="!!m-quill">
                <a:extLst>
                  <a:ext uri="{FF2B5EF4-FFF2-40B4-BE49-F238E27FC236}">
                    <a16:creationId xmlns:a16="http://schemas.microsoft.com/office/drawing/2014/main" id="{1DC40023-7999-BEF5-527E-A8263B1B0575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-5120640" y="1325880"/>
                <a:ext cx="4572000" cy="457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8" name="!!m-dice">
                <a:extLst>
                  <a:ext uri="{FF2B5EF4-FFF2-40B4-BE49-F238E27FC236}">
                    <a16:creationId xmlns:a16="http://schemas.microsoft.com/office/drawing/2014/main" id="{553A649B-8DFC-D984-3009-2AC9257BFF5E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740335" y="1463040"/>
              <a:ext cx="3840480" cy="3840480"/>
            </p:xfrm>
            <a:graphic>
              <a:graphicData uri="http://schemas.microsoft.com/office/drawing/2017/model3d">
                <am3d:model3d r:embed="rIdM3d31">
                  <am3d:spPr>
                    <a:xfrm>
                      <a:off x="0" y="0"/>
                      <a:ext cx="3840480" cy="3840480"/>
                    </a:xfrm>
                    <a:prstGeom prst="rect">
                      <a:avLst/>
                    </a:prstGeom>
                  </am3d:spPr>
                  <am3d:camera>
                    <am3d:pos x="0" y="0" z="5859994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69231" d="1000000"/>
                    <am3d:preTrans dx="0" dy="832292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1080000" ay="3360000" az="0"/>
                    <am3d:postTrans dx="0" dy="0" dz="0"/>
                  </am3d:trans>
                  <am3d:raster rName="Office3DRenderer" rVer="16.0.8326">
                    <am3d:blip r:embed="rId7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8404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8" name="!!m-dice">
                <a:extLst>
                  <a:ext uri="{FF2B5EF4-FFF2-40B4-BE49-F238E27FC236}">
                    <a16:creationId xmlns:a16="http://schemas.microsoft.com/office/drawing/2014/main" id="{553A649B-8DFC-D984-3009-2AC9257BFF5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2740335" y="1463040"/>
                <a:ext cx="3840480" cy="38404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01" dur="4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1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9">
    <p:bg>
      <p:bgPr>
        <a:solidFill>
          <a:srgbClr val="0E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home/user/omgGame/presentations/cantillon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rack"/>
          <p:cNvSpPr/>
          <p:nvPr/>
        </p:nvSpPr>
        <p:spPr>
          <a:xfrm>
            <a:off x="685800" y="402336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4" name="!!progress"/>
          <p:cNvSpPr/>
          <p:nvPr/>
        </p:nvSpPr>
        <p:spPr>
          <a:xfrm>
            <a:off x="685800" y="391363"/>
            <a:ext cx="5770717" cy="21946"/>
          </a:xfrm>
          <a:prstGeom prst="rect">
            <a:avLst/>
          </a:prstGeom>
          <a:solidFill>
            <a:srgbClr val="E3B663"/>
          </a:solidFill>
          <a:ln/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!!coin">
                <a:extLst>
                  <a:ext uri="{FF2B5EF4-FFF2-40B4-BE49-F238E27FC236}">
                    <a16:creationId xmlns:a16="http://schemas.microsoft.com/office/drawing/2014/main" id="{7B1FC48D-2562-AAC4-6EEF-A6442D962781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6182197" y="98755"/>
              <a:ext cx="548640" cy="548640"/>
            </p:xfrm>
            <a:graphic>
              <a:graphicData uri="http://schemas.microsoft.com/office/drawing/2017/model3d">
                <am3d:model3d r:embed="rIdM3d32">
                  <am3d:spPr>
                    <a:xfrm>
                      <a:off x="0" y="0"/>
                      <a:ext cx="548640" cy="548640"/>
                    </a:xfrm>
                    <a:prstGeom prst="rect">
                      <a:avLst/>
                    </a:prstGeom>
                  </am3d:spPr>
                  <am3d:camera>
                    <am3d:pos x="0" y="0" z="6662303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00000" d="1000000"/>
                    <am3d:preTrans dx="0" dy="0" dz="-162000"/>
                    <am3d:scale>
                      <am3d:sx n="1000000" d="1000000"/>
                      <am3d:sy n="1000000" d="1000000"/>
                      <am3d:sz n="1000000" d="1000000"/>
                    </am3d:scale>
                    <am3d:rot ax="0" ay="-720000" az="-70080000"/>
                    <am3d:postTrans dx="0" dy="0" dz="0"/>
                  </am3d:trans>
                  <am3d:raster rName="Office3DRenderer" rVer="16.0.8326">
                    <am3d:blip r:embed="rId2"/>
                  </am3d:raster>
                  <am3d:objViewport viewportSz="5486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!!coin">
                <a:extLst>
                  <a:ext uri="{FF2B5EF4-FFF2-40B4-BE49-F238E27FC236}">
                    <a16:creationId xmlns:a16="http://schemas.microsoft.com/office/drawing/2014/main" id="{7B1FC48D-2562-AAC4-6EEF-A6442D96278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182197" y="98755"/>
                <a:ext cx="548640" cy="54864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!!kickerbar"/>
          <p:cNvSpPr/>
          <p:nvPr/>
        </p:nvSpPr>
        <p:spPr>
          <a:xfrm>
            <a:off x="685800" y="713232"/>
            <a:ext cx="310896" cy="3200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7" name="!!kicker"/>
          <p:cNvSpPr/>
          <p:nvPr/>
        </p:nvSpPr>
        <p:spPr>
          <a:xfrm>
            <a:off x="1124712" y="594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3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— ПРЕДПРИНИМАТЕЛЬ ПО КАНТИЛЬОНУ</a:t>
            </a:r>
            <a:endParaRPr lang="en-US" sz="1100" dirty="0"/>
          </a:p>
        </p:txBody>
      </p:sp>
      <p:sp>
        <p:nvSpPr>
          <p:cNvPr id="8" name="!!footline"/>
          <p:cNvSpPr/>
          <p:nvPr/>
        </p:nvSpPr>
        <p:spPr>
          <a:xfrm>
            <a:off x="685800" y="6400800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9" name="!!footer"/>
          <p:cNvSpPr/>
          <p:nvPr/>
        </p:nvSpPr>
        <p:spPr>
          <a:xfrm>
            <a:off x="68580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РИЧАРД КАНТИЛЬОН  ·  1680-е – 1734</a:t>
            </a:r>
            <a:endParaRPr lang="en-US" sz="900" dirty="0"/>
          </a:p>
        </p:txBody>
      </p:sp>
      <p:sp>
        <p:nvSpPr>
          <p:cNvPr id="10" name="!!src"/>
          <p:cNvSpPr/>
          <p:nvPr/>
        </p:nvSpPr>
        <p:spPr>
          <a:xfrm>
            <a:off x="3566160" y="6492240"/>
            <a:ext cx="6492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Источники: </a:t>
            </a:r>
            <a:pPr algn="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Essai, ч. I, гл. XIII (пер. Higgs, 1931)</a:t>
            </a:r>
            <a:endParaRPr lang="en-US" sz="850" dirty="0"/>
          </a:p>
        </p:txBody>
      </p:sp>
      <p:sp>
        <p:nvSpPr>
          <p:cNvPr id="11" name="!!pagenum"/>
          <p:cNvSpPr/>
          <p:nvPr/>
        </p:nvSpPr>
        <p:spPr>
          <a:xfrm>
            <a:off x="10134295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16</a:t>
            </a:r>
            <a:endParaRPr lang="en-US" sz="900" dirty="0"/>
          </a:p>
        </p:txBody>
      </p:sp>
      <p:pic>
        <p:nvPicPr>
          <p:cNvPr id="12" name="!!glow" descr="/home/user/omgGame/presentations/cantillon/assets/gl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9732" y="233172"/>
            <a:ext cx="5568696" cy="5568696"/>
          </a:xfrm>
          <a:prstGeom prst="rect">
            <a:avLst/>
          </a:prstGeom>
        </p:spPr>
      </p:pic>
      <p:sp>
        <p:nvSpPr>
          <p:cNvPr id="13" name="!!ring1"/>
          <p:cNvSpPr/>
          <p:nvPr/>
        </p:nvSpPr>
        <p:spPr>
          <a:xfrm>
            <a:off x="7979054" y="1212494"/>
            <a:ext cx="3610051" cy="3610051"/>
          </a:xfrm>
          <a:prstGeom prst="ellipse">
            <a:avLst/>
          </a:prstGeom>
          <a:ln w="9525">
            <a:solidFill>
              <a:srgbClr val="E3B663">
                <a:alpha val="18000"/>
              </a:srgbClr>
            </a:solidFill>
            <a:prstDash val="solid"/>
          </a:ln>
        </p:spPr>
      </p:sp>
      <p:sp>
        <p:nvSpPr>
          <p:cNvPr id="14" name="!!ring2"/>
          <p:cNvSpPr/>
          <p:nvPr/>
        </p:nvSpPr>
        <p:spPr>
          <a:xfrm>
            <a:off x="7479792" y="713232"/>
            <a:ext cx="4608576" cy="4608576"/>
          </a:xfrm>
          <a:prstGeom prst="ellipse">
            <a:avLst/>
          </a:prstGeom>
          <a:ln w="9525">
            <a:solidFill>
              <a:srgbClr val="E3B663">
                <a:alpha val="12000"/>
              </a:srgbClr>
            </a:solidFill>
            <a:prstDash val="dash"/>
          </a:ln>
        </p:spPr>
      </p:sp>
      <p:pic>
        <p:nvPicPr>
          <p:cNvPr id="15" name="!!shadow" descr="/home/user/omgGame/presentations/cantillon/assets/shad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39912" y="3680003"/>
            <a:ext cx="2688336" cy="672084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6" name="!!m-dice">
                <a:extLst>
                  <a:ext uri="{FF2B5EF4-FFF2-40B4-BE49-F238E27FC236}">
                    <a16:creationId xmlns:a16="http://schemas.microsoft.com/office/drawing/2014/main" id="{7106C5FB-2683-3398-0883-341F02F0F9E5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7863840" y="1097280"/>
              <a:ext cx="3840480" cy="3840480"/>
            </p:xfrm>
            <a:graphic>
              <a:graphicData uri="http://schemas.microsoft.com/office/drawing/2017/model3d">
                <am3d:model3d r:embed="rIdM3d33">
                  <am3d:spPr>
                    <a:xfrm>
                      <a:off x="0" y="0"/>
                      <a:ext cx="3840480" cy="3840480"/>
                    </a:xfrm>
                    <a:prstGeom prst="rect">
                      <a:avLst/>
                    </a:prstGeom>
                  </am3d:spPr>
                  <am3d:camera>
                    <am3d:pos x="0" y="0" z="5859994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69231" d="1000000"/>
                    <am3d:preTrans dx="0" dy="832292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1080000" ay="-1440000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8404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6" name="!!m-dice">
                <a:extLst>
                  <a:ext uri="{FF2B5EF4-FFF2-40B4-BE49-F238E27FC236}">
                    <a16:creationId xmlns:a16="http://schemas.microsoft.com/office/drawing/2014/main" id="{7106C5FB-2683-3398-0883-341F02F0F9E5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863840" y="1097280"/>
                <a:ext cx="3840480" cy="3840480"/>
              </a:xfrm>
              <a:prstGeom prst="rect">
                <a:avLst/>
              </a:prstGeom>
            </p:spPr>
          </p:pic>
        </mc:Fallback>
      </mc:AlternateContent>
      <p:sp>
        <p:nvSpPr>
          <p:cNvPr id="17" name="fx9_9_0"/>
          <p:cNvSpPr/>
          <p:nvPr/>
        </p:nvSpPr>
        <p:spPr>
          <a:xfrm>
            <a:off x="8138160" y="4668926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spc="25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ЭКСПОНАТ 09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Кости катятся, ставка крутится волчком</a:t>
            </a:r>
            <a:endParaRPr lang="en-US" sz="900" dirty="0"/>
          </a:p>
        </p:txBody>
      </p:sp>
      <p:sp>
        <p:nvSpPr>
          <p:cNvPr id="18" name="!!title"/>
          <p:cNvSpPr/>
          <p:nvPr/>
        </p:nvSpPr>
        <p:spPr>
          <a:xfrm>
            <a:off x="685800" y="987552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1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Купить по известной цене, продать — по неизвестной</a:t>
            </a:r>
            <a:endParaRPr lang="en-US" sz="3100" dirty="0"/>
          </a:p>
        </p:txBody>
      </p:sp>
      <p:sp>
        <p:nvSpPr>
          <p:cNvPr id="19" name="fx9_1_1"/>
          <p:cNvSpPr/>
          <p:nvPr/>
        </p:nvSpPr>
        <p:spPr>
          <a:xfrm>
            <a:off x="685800" y="2176272"/>
            <a:ext cx="2057400" cy="1188720"/>
          </a:xfrm>
          <a:prstGeom prst="roundRect">
            <a:avLst>
              <a:gd name="adj" fmla="val 6154"/>
            </a:avLst>
          </a:prstGeom>
          <a:solidFill>
            <a:srgbClr val="22121A">
              <a:alpha val="90000"/>
            </a:srgbClr>
          </a:solidFill>
          <a:ln w="9525">
            <a:solidFill>
              <a:srgbClr val="E3B663">
                <a:alpha val="35000"/>
              </a:srgbClr>
            </a:solidFill>
            <a:prstDash val="solid"/>
          </a:ln>
        </p:spPr>
      </p:sp>
      <p:sp>
        <p:nvSpPr>
          <p:cNvPr id="20" name="fx9_1_2"/>
          <p:cNvSpPr/>
          <p:nvPr/>
        </p:nvSpPr>
        <p:spPr>
          <a:xfrm>
            <a:off x="868680" y="2304288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СЕГОДНЯ</a:t>
            </a:r>
            <a:endParaRPr lang="en-US" sz="950" dirty="0"/>
          </a:p>
        </p:txBody>
      </p:sp>
      <p:sp>
        <p:nvSpPr>
          <p:cNvPr id="21" name="fx9_1_3"/>
          <p:cNvSpPr/>
          <p:nvPr/>
        </p:nvSpPr>
        <p:spPr>
          <a:xfrm>
            <a:off x="868680" y="25603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Известная цена</a:t>
            </a:r>
            <a:endParaRPr lang="en-US" sz="1350" dirty="0"/>
          </a:p>
        </p:txBody>
      </p:sp>
      <p:sp>
        <p:nvSpPr>
          <p:cNvPr id="22" name="fx9_1_4"/>
          <p:cNvSpPr/>
          <p:nvPr/>
        </p:nvSpPr>
        <p:spPr>
          <a:xfrm>
            <a:off x="868680" y="294436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платит за сырьё, товар, труд</a:t>
            </a:r>
            <a:endParaRPr lang="en-US" sz="1050" dirty="0"/>
          </a:p>
        </p:txBody>
      </p:sp>
      <p:sp>
        <p:nvSpPr>
          <p:cNvPr id="23" name="fx9_1_5"/>
          <p:cNvSpPr/>
          <p:nvPr/>
        </p:nvSpPr>
        <p:spPr>
          <a:xfrm>
            <a:off x="2743200" y="2523744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000" dirty="0"/>
          </a:p>
        </p:txBody>
      </p:sp>
      <p:sp>
        <p:nvSpPr>
          <p:cNvPr id="24" name="fx9_2_6"/>
          <p:cNvSpPr/>
          <p:nvPr/>
        </p:nvSpPr>
        <p:spPr>
          <a:xfrm>
            <a:off x="3017520" y="2176272"/>
            <a:ext cx="2057400" cy="1188720"/>
          </a:xfrm>
          <a:prstGeom prst="roundRect">
            <a:avLst>
              <a:gd name="adj" fmla="val 6154"/>
            </a:avLst>
          </a:prstGeom>
          <a:solidFill>
            <a:srgbClr val="22121A">
              <a:alpha val="90000"/>
            </a:srgbClr>
          </a:solidFill>
          <a:ln w="9525">
            <a:solidFill>
              <a:srgbClr val="E8866A">
                <a:alpha val="65000"/>
              </a:srgbClr>
            </a:solidFill>
            <a:prstDash val="solid"/>
          </a:ln>
        </p:spPr>
      </p:sp>
      <p:sp>
        <p:nvSpPr>
          <p:cNvPr id="25" name="fx9_2_7"/>
          <p:cNvSpPr/>
          <p:nvPr/>
        </p:nvSpPr>
        <p:spPr>
          <a:xfrm>
            <a:off x="3200400" y="2304288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00" kern="0" dirty="0">
                <a:solidFill>
                  <a:srgbClr val="E8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МЕЖДУ НИМИ</a:t>
            </a:r>
            <a:endParaRPr lang="en-US" sz="950" dirty="0"/>
          </a:p>
        </p:txBody>
      </p:sp>
      <p:sp>
        <p:nvSpPr>
          <p:cNvPr id="26" name="fx9_2_8"/>
          <p:cNvSpPr/>
          <p:nvPr/>
        </p:nvSpPr>
        <p:spPr>
          <a:xfrm>
            <a:off x="3200400" y="25603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Неопределённость</a:t>
            </a:r>
            <a:endParaRPr lang="en-US" sz="1350" dirty="0"/>
          </a:p>
        </p:txBody>
      </p:sp>
      <p:sp>
        <p:nvSpPr>
          <p:cNvPr id="27" name="fx9_2_9"/>
          <p:cNvSpPr/>
          <p:nvPr/>
        </p:nvSpPr>
        <p:spPr>
          <a:xfrm>
            <a:off x="3200400" y="294436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спрос, клиенты, конкуренты</a:t>
            </a:r>
            <a:endParaRPr lang="en-US" sz="1050" dirty="0"/>
          </a:p>
        </p:txBody>
      </p:sp>
      <p:sp>
        <p:nvSpPr>
          <p:cNvPr id="28" name="fx9_2_10"/>
          <p:cNvSpPr/>
          <p:nvPr/>
        </p:nvSpPr>
        <p:spPr>
          <a:xfrm>
            <a:off x="5074920" y="2523744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000" dirty="0"/>
          </a:p>
        </p:txBody>
      </p:sp>
      <p:sp>
        <p:nvSpPr>
          <p:cNvPr id="29" name="fx9_3_11"/>
          <p:cNvSpPr/>
          <p:nvPr/>
        </p:nvSpPr>
        <p:spPr>
          <a:xfrm>
            <a:off x="5349240" y="2176272"/>
            <a:ext cx="2057400" cy="1188720"/>
          </a:xfrm>
          <a:prstGeom prst="roundRect">
            <a:avLst>
              <a:gd name="adj" fmla="val 6154"/>
            </a:avLst>
          </a:prstGeom>
          <a:solidFill>
            <a:srgbClr val="22121A">
              <a:alpha val="90000"/>
            </a:srgbClr>
          </a:solidFill>
          <a:ln w="9525">
            <a:solidFill>
              <a:srgbClr val="E3B663">
                <a:alpha val="35000"/>
              </a:srgbClr>
            </a:solidFill>
            <a:prstDash val="solid"/>
          </a:ln>
        </p:spPr>
      </p:sp>
      <p:sp>
        <p:nvSpPr>
          <p:cNvPr id="30" name="fx9_3_12"/>
          <p:cNvSpPr/>
          <p:nvPr/>
        </p:nvSpPr>
        <p:spPr>
          <a:xfrm>
            <a:off x="5532120" y="2304288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ЗАВТРА</a:t>
            </a:r>
            <a:endParaRPr lang="en-US" sz="950" dirty="0"/>
          </a:p>
        </p:txBody>
      </p:sp>
      <p:sp>
        <p:nvSpPr>
          <p:cNvPr id="31" name="fx9_3_13"/>
          <p:cNvSpPr/>
          <p:nvPr/>
        </p:nvSpPr>
        <p:spPr>
          <a:xfrm>
            <a:off x="5532120" y="25603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Неизвестная цена</a:t>
            </a:r>
            <a:endParaRPr lang="en-US" sz="1350" dirty="0"/>
          </a:p>
        </p:txBody>
      </p:sp>
      <p:sp>
        <p:nvSpPr>
          <p:cNvPr id="32" name="fx9_3_14"/>
          <p:cNvSpPr/>
          <p:nvPr/>
        </p:nvSpPr>
        <p:spPr>
          <a:xfrm>
            <a:off x="5532120" y="294436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прибыль — или банкротство</a:t>
            </a:r>
            <a:endParaRPr lang="en-US" sz="1050" dirty="0"/>
          </a:p>
        </p:txBody>
      </p:sp>
      <p:sp>
        <p:nvSpPr>
          <p:cNvPr id="33" name="fx9_4_15"/>
          <p:cNvSpPr/>
          <p:nvPr/>
        </p:nvSpPr>
        <p:spPr>
          <a:xfrm>
            <a:off x="685800" y="3584448"/>
            <a:ext cx="6583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КТО ЖИВЁТ «В НЕОПРЕДЕЛЁННОСТИ» — ПРИМЕРЫ ИЗ КНИГИ</a:t>
            </a:r>
            <a:endParaRPr lang="en-US" sz="950" dirty="0"/>
          </a:p>
        </p:txBody>
      </p:sp>
      <p:sp>
        <p:nvSpPr>
          <p:cNvPr id="34" name="fx9_4_16"/>
          <p:cNvSpPr/>
          <p:nvPr/>
        </p:nvSpPr>
        <p:spPr>
          <a:xfrm>
            <a:off x="685800" y="3858768"/>
            <a:ext cx="1033272" cy="347472"/>
          </a:xfrm>
          <a:prstGeom prst="roundRect">
            <a:avLst>
              <a:gd name="adj" fmla="val 50000"/>
            </a:avLst>
          </a:prstGeom>
          <a:solidFill>
            <a:srgbClr val="22121A">
              <a:alpha val="85000"/>
            </a:srgbClr>
          </a:solidFill>
          <a:ln w="9525">
            <a:solidFill>
              <a:srgbClr val="9A8C86">
                <a:alpha val="45000"/>
              </a:srgbClr>
            </a:solidFill>
            <a:prstDash val="solid"/>
          </a:ln>
        </p:spPr>
      </p:sp>
      <p:sp>
        <p:nvSpPr>
          <p:cNvPr id="35" name="fx9_4_17"/>
          <p:cNvSpPr/>
          <p:nvPr/>
        </p:nvSpPr>
        <p:spPr>
          <a:xfrm>
            <a:off x="685800" y="3858768"/>
            <a:ext cx="1033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фермер</a:t>
            </a:r>
            <a:endParaRPr lang="en-US" sz="1100" dirty="0"/>
          </a:p>
        </p:txBody>
      </p:sp>
      <p:sp>
        <p:nvSpPr>
          <p:cNvPr id="36" name="fx9_4_18"/>
          <p:cNvSpPr/>
          <p:nvPr/>
        </p:nvSpPr>
        <p:spPr>
          <a:xfrm>
            <a:off x="1792224" y="3858768"/>
            <a:ext cx="1033272" cy="347472"/>
          </a:xfrm>
          <a:prstGeom prst="roundRect">
            <a:avLst>
              <a:gd name="adj" fmla="val 50000"/>
            </a:avLst>
          </a:prstGeom>
          <a:solidFill>
            <a:srgbClr val="22121A">
              <a:alpha val="85000"/>
            </a:srgbClr>
          </a:solidFill>
          <a:ln w="9525">
            <a:solidFill>
              <a:srgbClr val="9A8C86">
                <a:alpha val="45000"/>
              </a:srgbClr>
            </a:solidFill>
            <a:prstDash val="solid"/>
          </a:ln>
        </p:spPr>
      </p:sp>
      <p:sp>
        <p:nvSpPr>
          <p:cNvPr id="37" name="fx9_4_19"/>
          <p:cNvSpPr/>
          <p:nvPr/>
        </p:nvSpPr>
        <p:spPr>
          <a:xfrm>
            <a:off x="1792224" y="3858768"/>
            <a:ext cx="1033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оптовик</a:t>
            </a:r>
            <a:endParaRPr lang="en-US" sz="1100" dirty="0"/>
          </a:p>
        </p:txBody>
      </p:sp>
      <p:sp>
        <p:nvSpPr>
          <p:cNvPr id="38" name="fx9_4_20"/>
          <p:cNvSpPr/>
          <p:nvPr/>
        </p:nvSpPr>
        <p:spPr>
          <a:xfrm>
            <a:off x="2898648" y="3858768"/>
            <a:ext cx="1033272" cy="347472"/>
          </a:xfrm>
          <a:prstGeom prst="roundRect">
            <a:avLst>
              <a:gd name="adj" fmla="val 50000"/>
            </a:avLst>
          </a:prstGeom>
          <a:solidFill>
            <a:srgbClr val="22121A">
              <a:alpha val="85000"/>
            </a:srgbClr>
          </a:solidFill>
          <a:ln w="9525">
            <a:solidFill>
              <a:srgbClr val="9A8C86">
                <a:alpha val="45000"/>
              </a:srgbClr>
            </a:solidFill>
            <a:prstDash val="solid"/>
          </a:ln>
        </p:spPr>
      </p:sp>
      <p:sp>
        <p:nvSpPr>
          <p:cNvPr id="39" name="fx9_4_21"/>
          <p:cNvSpPr/>
          <p:nvPr/>
        </p:nvSpPr>
        <p:spPr>
          <a:xfrm>
            <a:off x="2898648" y="3858768"/>
            <a:ext cx="1033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пекарь</a:t>
            </a:r>
            <a:endParaRPr lang="en-US" sz="1100" dirty="0"/>
          </a:p>
        </p:txBody>
      </p:sp>
      <p:sp>
        <p:nvSpPr>
          <p:cNvPr id="40" name="fx9_4_22"/>
          <p:cNvSpPr/>
          <p:nvPr/>
        </p:nvSpPr>
        <p:spPr>
          <a:xfrm>
            <a:off x="4005072" y="3858768"/>
            <a:ext cx="1033272" cy="347472"/>
          </a:xfrm>
          <a:prstGeom prst="roundRect">
            <a:avLst>
              <a:gd name="adj" fmla="val 50000"/>
            </a:avLst>
          </a:prstGeom>
          <a:solidFill>
            <a:srgbClr val="22121A">
              <a:alpha val="85000"/>
            </a:srgbClr>
          </a:solidFill>
          <a:ln w="9525">
            <a:solidFill>
              <a:srgbClr val="9A8C86">
                <a:alpha val="45000"/>
              </a:srgbClr>
            </a:solidFill>
            <a:prstDash val="solid"/>
          </a:ln>
        </p:spPr>
      </p:sp>
      <p:sp>
        <p:nvSpPr>
          <p:cNvPr id="41" name="fx9_4_23"/>
          <p:cNvSpPr/>
          <p:nvPr/>
        </p:nvSpPr>
        <p:spPr>
          <a:xfrm>
            <a:off x="4005072" y="3858768"/>
            <a:ext cx="1033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мясник</a:t>
            </a:r>
            <a:endParaRPr lang="en-US" sz="1100" dirty="0"/>
          </a:p>
        </p:txBody>
      </p:sp>
      <p:sp>
        <p:nvSpPr>
          <p:cNvPr id="42" name="fx9_4_24"/>
          <p:cNvSpPr/>
          <p:nvPr/>
        </p:nvSpPr>
        <p:spPr>
          <a:xfrm>
            <a:off x="5111496" y="3858768"/>
            <a:ext cx="1033272" cy="347472"/>
          </a:xfrm>
          <a:prstGeom prst="roundRect">
            <a:avLst>
              <a:gd name="adj" fmla="val 50000"/>
            </a:avLst>
          </a:prstGeom>
          <a:solidFill>
            <a:srgbClr val="22121A">
              <a:alpha val="85000"/>
            </a:srgbClr>
          </a:solidFill>
          <a:ln w="9525">
            <a:solidFill>
              <a:srgbClr val="9A8C86">
                <a:alpha val="45000"/>
              </a:srgbClr>
            </a:solidFill>
            <a:prstDash val="solid"/>
          </a:ln>
        </p:spPr>
      </p:sp>
      <p:sp>
        <p:nvSpPr>
          <p:cNvPr id="43" name="fx9_4_25"/>
          <p:cNvSpPr/>
          <p:nvPr/>
        </p:nvSpPr>
        <p:spPr>
          <a:xfrm>
            <a:off x="5111496" y="3858768"/>
            <a:ext cx="1033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трактирщик</a:t>
            </a:r>
            <a:endParaRPr lang="en-US" sz="1100" dirty="0"/>
          </a:p>
        </p:txBody>
      </p:sp>
      <p:sp>
        <p:nvSpPr>
          <p:cNvPr id="44" name="fx9_4_26"/>
          <p:cNvSpPr/>
          <p:nvPr/>
        </p:nvSpPr>
        <p:spPr>
          <a:xfrm>
            <a:off x="6217920" y="3858768"/>
            <a:ext cx="1033272" cy="347472"/>
          </a:xfrm>
          <a:prstGeom prst="roundRect">
            <a:avLst>
              <a:gd name="adj" fmla="val 50000"/>
            </a:avLst>
          </a:prstGeom>
          <a:solidFill>
            <a:srgbClr val="22121A">
              <a:alpha val="85000"/>
            </a:srgbClr>
          </a:solidFill>
          <a:ln w="9525">
            <a:solidFill>
              <a:srgbClr val="9A8C86">
                <a:alpha val="45000"/>
              </a:srgbClr>
            </a:solidFill>
            <a:prstDash val="solid"/>
          </a:ln>
        </p:spPr>
      </p:sp>
      <p:sp>
        <p:nvSpPr>
          <p:cNvPr id="45" name="fx9_4_27"/>
          <p:cNvSpPr/>
          <p:nvPr/>
        </p:nvSpPr>
        <p:spPr>
          <a:xfrm>
            <a:off x="6217920" y="3858768"/>
            <a:ext cx="1033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купец</a:t>
            </a:r>
            <a:endParaRPr lang="en-US" sz="1100" dirty="0"/>
          </a:p>
        </p:txBody>
      </p:sp>
      <p:sp>
        <p:nvSpPr>
          <p:cNvPr id="46" name="fx9_5_28"/>
          <p:cNvSpPr/>
          <p:nvPr/>
        </p:nvSpPr>
        <p:spPr>
          <a:xfrm>
            <a:off x="685800" y="4315968"/>
            <a:ext cx="1033272" cy="347472"/>
          </a:xfrm>
          <a:prstGeom prst="roundRect">
            <a:avLst>
              <a:gd name="adj" fmla="val 50000"/>
            </a:avLst>
          </a:prstGeom>
          <a:solidFill>
            <a:srgbClr val="22121A">
              <a:alpha val="85000"/>
            </a:srgbClr>
          </a:solidFill>
          <a:ln w="9525">
            <a:solidFill>
              <a:srgbClr val="9A8C86">
                <a:alpha val="45000"/>
              </a:srgbClr>
            </a:solidFill>
            <a:prstDash val="solid"/>
          </a:ln>
        </p:spPr>
      </p:sp>
      <p:sp>
        <p:nvSpPr>
          <p:cNvPr id="47" name="fx9_5_29"/>
          <p:cNvSpPr/>
          <p:nvPr/>
        </p:nvSpPr>
        <p:spPr>
          <a:xfrm>
            <a:off x="685800" y="4315968"/>
            <a:ext cx="1033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трубочист</a:t>
            </a:r>
            <a:endParaRPr lang="en-US" sz="1100" dirty="0"/>
          </a:p>
        </p:txBody>
      </p:sp>
      <p:sp>
        <p:nvSpPr>
          <p:cNvPr id="48" name="fx9_5_30"/>
          <p:cNvSpPr/>
          <p:nvPr/>
        </p:nvSpPr>
        <p:spPr>
          <a:xfrm>
            <a:off x="1792224" y="4315968"/>
            <a:ext cx="1033272" cy="347472"/>
          </a:xfrm>
          <a:prstGeom prst="roundRect">
            <a:avLst>
              <a:gd name="adj" fmla="val 50000"/>
            </a:avLst>
          </a:prstGeom>
          <a:solidFill>
            <a:srgbClr val="22121A">
              <a:alpha val="85000"/>
            </a:srgbClr>
          </a:solidFill>
          <a:ln w="9525">
            <a:solidFill>
              <a:srgbClr val="9A8C86">
                <a:alpha val="45000"/>
              </a:srgbClr>
            </a:solidFill>
            <a:prstDash val="solid"/>
          </a:ln>
        </p:spPr>
      </p:sp>
      <p:sp>
        <p:nvSpPr>
          <p:cNvPr id="49" name="fx9_5_31"/>
          <p:cNvSpPr/>
          <p:nvPr/>
        </p:nvSpPr>
        <p:spPr>
          <a:xfrm>
            <a:off x="1792224" y="4315968"/>
            <a:ext cx="1033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водонос</a:t>
            </a:r>
            <a:endParaRPr lang="en-US" sz="1100" dirty="0"/>
          </a:p>
        </p:txBody>
      </p:sp>
      <p:sp>
        <p:nvSpPr>
          <p:cNvPr id="50" name="fx9_5_32"/>
          <p:cNvSpPr/>
          <p:nvPr/>
        </p:nvSpPr>
        <p:spPr>
          <a:xfrm>
            <a:off x="2898648" y="4315968"/>
            <a:ext cx="1033272" cy="347472"/>
          </a:xfrm>
          <a:prstGeom prst="roundRect">
            <a:avLst>
              <a:gd name="adj" fmla="val 50000"/>
            </a:avLst>
          </a:prstGeom>
          <a:solidFill>
            <a:srgbClr val="22121A">
              <a:alpha val="85000"/>
            </a:srgbClr>
          </a:solidFill>
          <a:ln w="9525">
            <a:solidFill>
              <a:srgbClr val="9A8C86">
                <a:alpha val="45000"/>
              </a:srgbClr>
            </a:solidFill>
            <a:prstDash val="solid"/>
          </a:ln>
        </p:spPr>
      </p:sp>
      <p:sp>
        <p:nvSpPr>
          <p:cNvPr id="51" name="fx9_5_33"/>
          <p:cNvSpPr/>
          <p:nvPr/>
        </p:nvSpPr>
        <p:spPr>
          <a:xfrm>
            <a:off x="2898648" y="4315968"/>
            <a:ext cx="1033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швея</a:t>
            </a:r>
            <a:endParaRPr lang="en-US" sz="1100" dirty="0"/>
          </a:p>
        </p:txBody>
      </p:sp>
      <p:sp>
        <p:nvSpPr>
          <p:cNvPr id="52" name="fx9_5_34"/>
          <p:cNvSpPr/>
          <p:nvPr/>
        </p:nvSpPr>
        <p:spPr>
          <a:xfrm>
            <a:off x="4005072" y="4315968"/>
            <a:ext cx="1033272" cy="347472"/>
          </a:xfrm>
          <a:prstGeom prst="roundRect">
            <a:avLst>
              <a:gd name="adj" fmla="val 50000"/>
            </a:avLst>
          </a:prstGeom>
          <a:solidFill>
            <a:srgbClr val="22121A">
              <a:alpha val="85000"/>
            </a:srgbClr>
          </a:solidFill>
          <a:ln w="9525">
            <a:solidFill>
              <a:srgbClr val="9A8C86">
                <a:alpha val="45000"/>
              </a:srgbClr>
            </a:solidFill>
            <a:prstDash val="solid"/>
          </a:ln>
        </p:spPr>
      </p:sp>
      <p:sp>
        <p:nvSpPr>
          <p:cNvPr id="53" name="fx9_5_35"/>
          <p:cNvSpPr/>
          <p:nvPr/>
        </p:nvSpPr>
        <p:spPr>
          <a:xfrm>
            <a:off x="4005072" y="4315968"/>
            <a:ext cx="1033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художник</a:t>
            </a:r>
            <a:endParaRPr lang="en-US" sz="1100" dirty="0"/>
          </a:p>
        </p:txBody>
      </p:sp>
      <p:sp>
        <p:nvSpPr>
          <p:cNvPr id="54" name="fx9_5_36"/>
          <p:cNvSpPr/>
          <p:nvPr/>
        </p:nvSpPr>
        <p:spPr>
          <a:xfrm>
            <a:off x="5111496" y="4315968"/>
            <a:ext cx="1033272" cy="347472"/>
          </a:xfrm>
          <a:prstGeom prst="roundRect">
            <a:avLst>
              <a:gd name="adj" fmla="val 50000"/>
            </a:avLst>
          </a:prstGeom>
          <a:solidFill>
            <a:srgbClr val="22121A">
              <a:alpha val="85000"/>
            </a:srgbClr>
          </a:solidFill>
          <a:ln w="9525">
            <a:solidFill>
              <a:srgbClr val="9A8C86">
                <a:alpha val="45000"/>
              </a:srgbClr>
            </a:solidFill>
            <a:prstDash val="solid"/>
          </a:ln>
        </p:spPr>
      </p:sp>
      <p:sp>
        <p:nvSpPr>
          <p:cNvPr id="55" name="fx9_5_37"/>
          <p:cNvSpPr/>
          <p:nvPr/>
        </p:nvSpPr>
        <p:spPr>
          <a:xfrm>
            <a:off x="5111496" y="4315968"/>
            <a:ext cx="1033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врач</a:t>
            </a:r>
            <a:endParaRPr lang="en-US" sz="1100" dirty="0"/>
          </a:p>
        </p:txBody>
      </p:sp>
      <p:sp>
        <p:nvSpPr>
          <p:cNvPr id="56" name="fx9_5_38"/>
          <p:cNvSpPr/>
          <p:nvPr/>
        </p:nvSpPr>
        <p:spPr>
          <a:xfrm>
            <a:off x="6217920" y="4315968"/>
            <a:ext cx="1033272" cy="347472"/>
          </a:xfrm>
          <a:prstGeom prst="roundRect">
            <a:avLst>
              <a:gd name="adj" fmla="val 50000"/>
            </a:avLst>
          </a:prstGeom>
          <a:solidFill>
            <a:srgbClr val="22121A">
              <a:alpha val="85000"/>
            </a:srgbClr>
          </a:solidFill>
          <a:ln w="9525">
            <a:solidFill>
              <a:srgbClr val="9A8C86">
                <a:alpha val="45000"/>
              </a:srgbClr>
            </a:solidFill>
            <a:prstDash val="solid"/>
          </a:ln>
        </p:spPr>
      </p:sp>
      <p:sp>
        <p:nvSpPr>
          <p:cNvPr id="57" name="fx9_5_39"/>
          <p:cNvSpPr/>
          <p:nvPr/>
        </p:nvSpPr>
        <p:spPr>
          <a:xfrm>
            <a:off x="6217920" y="4315968"/>
            <a:ext cx="1033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адвокат</a:t>
            </a:r>
            <a:endParaRPr lang="en-US" sz="1100" dirty="0"/>
          </a:p>
        </p:txBody>
      </p:sp>
      <p:sp>
        <p:nvSpPr>
          <p:cNvPr id="58" name="fx9_8_40"/>
          <p:cNvSpPr/>
          <p:nvPr/>
        </p:nvSpPr>
        <p:spPr>
          <a:xfrm>
            <a:off x="685800" y="5166360"/>
            <a:ext cx="6675120" cy="1024128"/>
          </a:xfrm>
          <a:prstGeom prst="roundRect">
            <a:avLst>
              <a:gd name="adj" fmla="val 7143"/>
            </a:avLst>
          </a:prstGeom>
          <a:solidFill>
            <a:srgbClr val="22170B">
              <a:alpha val="92000"/>
            </a:srgbClr>
          </a:solidFill>
          <a:ln w="12700">
            <a:solidFill>
              <a:srgbClr val="E3B663">
                <a:alpha val="55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59" name="fx9_8_41"/>
          <p:cNvSpPr/>
          <p:nvPr/>
        </p:nvSpPr>
        <p:spPr>
          <a:xfrm>
            <a:off x="685800" y="5312664"/>
            <a:ext cx="50292" cy="731520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60" name="fx9_8_42"/>
          <p:cNvSpPr/>
          <p:nvPr/>
        </p:nvSpPr>
        <p:spPr>
          <a:xfrm>
            <a:off x="941832" y="5029200"/>
            <a:ext cx="2761488" cy="274320"/>
          </a:xfrm>
          <a:prstGeom prst="roundRect">
            <a:avLst>
              <a:gd name="adj" fmla="val 50000"/>
            </a:avLst>
          </a:prstGeom>
          <a:solidFill>
            <a:srgbClr val="E3B663"/>
          </a:solidFill>
          <a:ln/>
        </p:spPr>
      </p:sp>
      <p:sp>
        <p:nvSpPr>
          <p:cNvPr id="61" name="fx9_8_43"/>
          <p:cNvSpPr/>
          <p:nvPr/>
        </p:nvSpPr>
        <p:spPr>
          <a:xfrm>
            <a:off x="941832" y="5029200"/>
            <a:ext cx="2761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spc="150" kern="0" dirty="0">
                <a:solidFill>
                  <a:srgbClr val="0D0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 ЦИТАТА, КОТОРАЯ УДИВЛЯЕТ</a:t>
            </a:r>
            <a:endParaRPr lang="en-US" sz="850" dirty="0"/>
          </a:p>
        </p:txBody>
      </p:sp>
      <p:sp>
        <p:nvSpPr>
          <p:cNvPr id="62" name="fx9_8_44"/>
          <p:cNvSpPr/>
          <p:nvPr/>
        </p:nvSpPr>
        <p:spPr>
          <a:xfrm>
            <a:off x="960120" y="5349240"/>
            <a:ext cx="6217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60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«…даже нищие и грабители — предприниматели этого класса».</a:t>
            </a:r>
            <a:endParaRPr lang="en-US" sz="16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«Essai», ч. I, гл. XIII</a:t>
            </a:r>
            <a:endParaRPr lang="en-US" sz="160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63" name="!!m-scales">
                <a:extLst>
                  <a:ext uri="{FF2B5EF4-FFF2-40B4-BE49-F238E27FC236}">
                    <a16:creationId xmlns:a16="http://schemas.microsoft.com/office/drawing/2014/main" id="{ED8F247B-4861-B282-6F57-9AADC6E60229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4937760" y="1234440"/>
              <a:ext cx="4389120" cy="4389120"/>
            </p:xfrm>
            <a:graphic>
              <a:graphicData uri="http://schemas.microsoft.com/office/drawing/2017/model3d">
                <am3d:model3d r:embed="rIdM3d34">
                  <am3d:spPr>
                    <a:xfrm>
                      <a:off x="0" y="0"/>
                      <a:ext cx="4389120" cy="4389120"/>
                    </a:xfrm>
                    <a:prstGeom prst="rect">
                      <a:avLst/>
                    </a:prstGeom>
                  </am3d:spPr>
                  <am3d:camera>
                    <am3d:pos x="0" y="0" z="6289864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95238" d="1000000"/>
                    <am3d:preTrans dx="0" dy="-2089285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480000" ay="-5880000" az="0"/>
                    <am3d:postTrans dx="0" dy="0" dz="0"/>
                  </am3d:trans>
                  <am3d:raster rName="Office3DRenderer" rVer="16.0.8326">
                    <am3d:blip r:embed="rId6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38912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63" name="!!m-scales">
                <a:extLst>
                  <a:ext uri="{FF2B5EF4-FFF2-40B4-BE49-F238E27FC236}">
                    <a16:creationId xmlns:a16="http://schemas.microsoft.com/office/drawing/2014/main" id="{ED8F247B-4861-B282-6F57-9AADC6E6022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-4937760" y="1234440"/>
                <a:ext cx="4389120" cy="4389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64" name="!!m-ripple">
                <a:extLst>
                  <a:ext uri="{FF2B5EF4-FFF2-40B4-BE49-F238E27FC236}">
                    <a16:creationId xmlns:a16="http://schemas.microsoft.com/office/drawing/2014/main" id="{CE958340-B64E-EEFA-5FA5-2AAC5D06C8BA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740335" y="1371600"/>
              <a:ext cx="4206240" cy="4206240"/>
            </p:xfrm>
            <a:graphic>
              <a:graphicData uri="http://schemas.microsoft.com/office/drawing/2017/model3d">
                <am3d:model3d r:embed="rIdM3d35">
                  <am3d:spPr>
                    <a:xfrm>
                      <a:off x="0" y="0"/>
                      <a:ext cx="4206240" cy="4206240"/>
                    </a:xfrm>
                    <a:prstGeom prst="rect">
                      <a:avLst/>
                    </a:prstGeom>
                  </am3d:spPr>
                  <am3d:camera>
                    <am3d:pos x="0" y="0" z="7004157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35294" d="1000000"/>
                    <am3d:preTrans dx="0" dy="-2569383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1560000" ay="4200000" az="0"/>
                    <am3d:postTrans dx="0" dy="0" dz="0"/>
                  </am3d:trans>
                  <am3d:raster rName="Office3DRenderer" rVer="16.0.8326">
                    <am3d:blip r:embed="rId7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2062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64" name="!!m-ripple">
                <a:extLst>
                  <a:ext uri="{FF2B5EF4-FFF2-40B4-BE49-F238E27FC236}">
                    <a16:creationId xmlns:a16="http://schemas.microsoft.com/office/drawing/2014/main" id="{CE958340-B64E-EEFA-5FA5-2AAC5D06C8BA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2740335" y="1371600"/>
                <a:ext cx="4206240" cy="420624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7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7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7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7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70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70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7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70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70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7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70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70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7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700" decel="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700" decel="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7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3" dur="700" decel="10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700" decel="10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7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700" decel="100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700" decel="100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7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3" dur="700" decel="100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4" dur="700" decel="100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7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8" dur="700" decel="100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9" dur="700" decel="100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7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3" dur="700" decel="100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4" dur="700" decel="100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7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8" dur="700" decel="100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9" dur="700" decel="100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1" dur="7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3" dur="700" decel="1000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4" dur="700" decel="1000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7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8" dur="700" decel="100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9" dur="700" decel="100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7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3" dur="700" decel="100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4" dur="700" decel="100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6" dur="7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8" dur="700" decel="100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9" dur="700" decel="100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7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3" dur="700" decel="100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4" dur="700" decel="100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7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8" dur="700" decel="1000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9" dur="700" decel="1000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1" dur="7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3" dur="700" decel="100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4" dur="700" decel="100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6" dur="7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8" dur="700" decel="1000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9" dur="700" decel="1000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2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1" dur="7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3" dur="700" decel="100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4" dur="700" decel="100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7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6" dur="7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8" dur="700" decel="1000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9" dur="700" decel="1000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2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1" dur="7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3" dur="700" decel="1000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4" dur="700" decel="1000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7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6" dur="7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8" dur="700" decel="1000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9" dur="700" decel="1000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2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1" dur="7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3" dur="700" decel="1000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4" dur="700" decel="1000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7" presetID="42" presetClass="entr" presetSubtype="0" fill="hold" grpId="0" nodeType="withEffect">
                                  <p:stCondLst>
                                    <p:cond delay="1710"/>
                                  </p:stCondLst>
                                  <p:childTnLst>
                                    <p:set>
                                      <p:cBhvr>
                                        <p:cTn id="2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6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8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9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0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31" dur="4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2" grpId="0" animBg="1"/>
      <p:bldP spid="1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10">
    <p:bg>
      <p:bgPr>
        <a:solidFill>
          <a:srgbClr val="0E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home/user/omgGame/presentations/cantillon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rack"/>
          <p:cNvSpPr/>
          <p:nvPr/>
        </p:nvSpPr>
        <p:spPr>
          <a:xfrm>
            <a:off x="685800" y="402336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4" name="!!progress"/>
          <p:cNvSpPr/>
          <p:nvPr/>
        </p:nvSpPr>
        <p:spPr>
          <a:xfrm>
            <a:off x="685800" y="391363"/>
            <a:ext cx="6492057" cy="21946"/>
          </a:xfrm>
          <a:prstGeom prst="rect">
            <a:avLst/>
          </a:prstGeom>
          <a:solidFill>
            <a:srgbClr val="E3B663"/>
          </a:solidFill>
          <a:ln/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!!coin">
                <a:extLst>
                  <a:ext uri="{FF2B5EF4-FFF2-40B4-BE49-F238E27FC236}">
                    <a16:creationId xmlns:a16="http://schemas.microsoft.com/office/drawing/2014/main" id="{C3CF7894-BBB3-3850-CE8B-EADC98FC2A78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6903537" y="98755"/>
              <a:ext cx="548640" cy="548640"/>
            </p:xfrm>
            <a:graphic>
              <a:graphicData uri="http://schemas.microsoft.com/office/drawing/2017/model3d">
                <am3d:model3d r:embed="rIdM3d36">
                  <am3d:spPr>
                    <a:xfrm>
                      <a:off x="0" y="0"/>
                      <a:ext cx="548640" cy="548640"/>
                    </a:xfrm>
                    <a:prstGeom prst="rect">
                      <a:avLst/>
                    </a:prstGeom>
                  </am3d:spPr>
                  <am3d:camera>
                    <am3d:pos x="0" y="0" z="6662303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00000" d="1000000"/>
                    <am3d:preTrans dx="0" dy="0" dz="-162000"/>
                    <am3d:scale>
                      <am3d:sx n="1000000" d="1000000"/>
                      <am3d:sy n="1000000" d="1000000"/>
                      <am3d:sz n="1000000" d="1000000"/>
                    </am3d:scale>
                    <am3d:rot ax="0" ay="-720000" az="-78840000"/>
                    <am3d:postTrans dx="0" dy="0" dz="0"/>
                  </am3d:trans>
                  <am3d:raster rName="Office3DRenderer" rVer="16.0.8326">
                    <am3d:blip r:embed="rId2"/>
                  </am3d:raster>
                  <am3d:objViewport viewportSz="5486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!!coin">
                <a:extLst>
                  <a:ext uri="{FF2B5EF4-FFF2-40B4-BE49-F238E27FC236}">
                    <a16:creationId xmlns:a16="http://schemas.microsoft.com/office/drawing/2014/main" id="{C3CF7894-BBB3-3850-CE8B-EADC98FC2A7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903537" y="98755"/>
                <a:ext cx="548640" cy="54864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!!kickerbar"/>
          <p:cNvSpPr/>
          <p:nvPr/>
        </p:nvSpPr>
        <p:spPr>
          <a:xfrm>
            <a:off x="685800" y="713232"/>
            <a:ext cx="310896" cy="3200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7" name="!!kicker"/>
          <p:cNvSpPr/>
          <p:nvPr/>
        </p:nvSpPr>
        <p:spPr>
          <a:xfrm>
            <a:off x="1124712" y="594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3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— ЭФФЕКТ КАНТИЛЬОНА</a:t>
            </a:r>
            <a:endParaRPr lang="en-US" sz="1100" dirty="0"/>
          </a:p>
        </p:txBody>
      </p:sp>
      <p:sp>
        <p:nvSpPr>
          <p:cNvPr id="8" name="!!footline"/>
          <p:cNvSpPr/>
          <p:nvPr/>
        </p:nvSpPr>
        <p:spPr>
          <a:xfrm>
            <a:off x="685800" y="6400800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9" name="!!footer"/>
          <p:cNvSpPr/>
          <p:nvPr/>
        </p:nvSpPr>
        <p:spPr>
          <a:xfrm>
            <a:off x="68580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РИЧАРД КАНТИЛЬОН  ·  1680-е – 1734</a:t>
            </a:r>
            <a:endParaRPr lang="en-US" sz="900" dirty="0"/>
          </a:p>
        </p:txBody>
      </p:sp>
      <p:sp>
        <p:nvSpPr>
          <p:cNvPr id="10" name="!!src"/>
          <p:cNvSpPr/>
          <p:nvPr/>
        </p:nvSpPr>
        <p:spPr>
          <a:xfrm>
            <a:off x="3566160" y="6492240"/>
            <a:ext cx="6492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Источники: </a:t>
            </a:r>
            <a:pPr algn="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Essai, ч. II, гл. VI–VII; Mises Institute</a:t>
            </a:r>
            <a:endParaRPr lang="en-US" sz="850" dirty="0"/>
          </a:p>
        </p:txBody>
      </p:sp>
      <p:sp>
        <p:nvSpPr>
          <p:cNvPr id="11" name="!!pagenum"/>
          <p:cNvSpPr/>
          <p:nvPr/>
        </p:nvSpPr>
        <p:spPr>
          <a:xfrm>
            <a:off x="10134295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16</a:t>
            </a:r>
            <a:endParaRPr lang="en-US" sz="900" dirty="0"/>
          </a:p>
        </p:txBody>
      </p:sp>
      <p:pic>
        <p:nvPicPr>
          <p:cNvPr id="12" name="!!glow" descr="/home/user/omgGame/presentations/cantillon/assets/gl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3116" y="59436"/>
            <a:ext cx="6099048" cy="6099048"/>
          </a:xfrm>
          <a:prstGeom prst="rect">
            <a:avLst/>
          </a:prstGeom>
        </p:spPr>
      </p:pic>
      <p:sp>
        <p:nvSpPr>
          <p:cNvPr id="13" name="!!ring1"/>
          <p:cNvSpPr/>
          <p:nvPr/>
        </p:nvSpPr>
        <p:spPr>
          <a:xfrm>
            <a:off x="7715707" y="1132027"/>
            <a:ext cx="3953866" cy="3953866"/>
          </a:xfrm>
          <a:prstGeom prst="ellipse">
            <a:avLst/>
          </a:prstGeom>
          <a:ln w="9525">
            <a:solidFill>
              <a:srgbClr val="E3B663">
                <a:alpha val="18000"/>
              </a:srgbClr>
            </a:solidFill>
            <a:prstDash val="solid"/>
          </a:ln>
        </p:spPr>
      </p:sp>
      <p:sp>
        <p:nvSpPr>
          <p:cNvPr id="14" name="!!ring2"/>
          <p:cNvSpPr/>
          <p:nvPr/>
        </p:nvSpPr>
        <p:spPr>
          <a:xfrm>
            <a:off x="7168896" y="585216"/>
            <a:ext cx="5047488" cy="5047488"/>
          </a:xfrm>
          <a:prstGeom prst="ellipse">
            <a:avLst/>
          </a:prstGeom>
          <a:ln w="9525">
            <a:solidFill>
              <a:srgbClr val="E3B663">
                <a:alpha val="12000"/>
              </a:srgbClr>
            </a:solidFill>
            <a:prstDash val="dash"/>
          </a:ln>
        </p:spPr>
      </p:sp>
      <p:pic>
        <p:nvPicPr>
          <p:cNvPr id="15" name="!!shadow" descr="/home/user/omgGame/presentations/cantillon/assets/shad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04988" y="3671545"/>
            <a:ext cx="3575304" cy="893826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6" name="!!m-ripple">
                <a:extLst>
                  <a:ext uri="{FF2B5EF4-FFF2-40B4-BE49-F238E27FC236}">
                    <a16:creationId xmlns:a16="http://schemas.microsoft.com/office/drawing/2014/main" id="{4AE32BC7-0DC0-F857-2FE4-D2C17EC06C5D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7589520" y="1005840"/>
              <a:ext cx="4206240" cy="4206240"/>
            </p:xfrm>
            <a:graphic>
              <a:graphicData uri="http://schemas.microsoft.com/office/drawing/2017/model3d">
                <am3d:model3d r:embed="rIdM3d37">
                  <am3d:spPr>
                    <a:xfrm>
                      <a:off x="0" y="0"/>
                      <a:ext cx="4206240" cy="4206240"/>
                    </a:xfrm>
                    <a:prstGeom prst="rect">
                      <a:avLst/>
                    </a:prstGeom>
                  </am3d:spPr>
                  <am3d:camera>
                    <am3d:pos x="0" y="0" z="7004157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35294" d="1000000"/>
                    <am3d:preTrans dx="0" dy="-2569383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1560000" ay="-600000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2062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6" name="!!m-ripple">
                <a:extLst>
                  <a:ext uri="{FF2B5EF4-FFF2-40B4-BE49-F238E27FC236}">
                    <a16:creationId xmlns:a16="http://schemas.microsoft.com/office/drawing/2014/main" id="{4AE32BC7-0DC0-F857-2FE4-D2C17EC06C5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589520" y="1005840"/>
                <a:ext cx="4206240" cy="4206240"/>
              </a:xfrm>
              <a:prstGeom prst="rect">
                <a:avLst/>
              </a:prstGeom>
            </p:spPr>
          </p:pic>
        </mc:Fallback>
      </mc:AlternateContent>
      <p:sp>
        <p:nvSpPr>
          <p:cNvPr id="17" name="fx10_9_0"/>
          <p:cNvSpPr/>
          <p:nvPr/>
        </p:nvSpPr>
        <p:spPr>
          <a:xfrm>
            <a:off x="8046720" y="4917643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spc="25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ЭКСПОНАТ 10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Монета падает в воду — и расходятся круги</a:t>
            </a:r>
            <a:endParaRPr lang="en-US" sz="900" dirty="0"/>
          </a:p>
        </p:txBody>
      </p:sp>
      <p:sp>
        <p:nvSpPr>
          <p:cNvPr id="18" name="!!title"/>
          <p:cNvSpPr/>
          <p:nvPr/>
        </p:nvSpPr>
        <p:spPr>
          <a:xfrm>
            <a:off x="685800" y="987552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2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Кто первым получает новые деньги — выигрывает</a:t>
            </a:r>
            <a:endParaRPr lang="en-US" sz="3200" dirty="0"/>
          </a:p>
        </p:txBody>
      </p:sp>
      <p:sp>
        <p:nvSpPr>
          <p:cNvPr id="19" name="fx10_1_1"/>
          <p:cNvSpPr/>
          <p:nvPr/>
        </p:nvSpPr>
        <p:spPr>
          <a:xfrm>
            <a:off x="685800" y="2240280"/>
            <a:ext cx="1588770" cy="1600200"/>
          </a:xfrm>
          <a:prstGeom prst="roundRect">
            <a:avLst>
              <a:gd name="adj" fmla="val 4604"/>
            </a:avLst>
          </a:prstGeom>
          <a:solidFill>
            <a:srgbClr val="22121A">
              <a:alpha val="95000"/>
            </a:srgbClr>
          </a:solidFill>
          <a:ln w="9525">
            <a:solidFill>
              <a:srgbClr val="E3B663">
                <a:alpha val="30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20" name="fx10_1_2"/>
          <p:cNvSpPr/>
          <p:nvPr/>
        </p:nvSpPr>
        <p:spPr>
          <a:xfrm>
            <a:off x="1279017" y="2404872"/>
            <a:ext cx="402336" cy="402336"/>
          </a:xfrm>
          <a:prstGeom prst="ellipse">
            <a:avLst/>
          </a:prstGeom>
          <a:solidFill>
            <a:srgbClr val="0D0709"/>
          </a:solidFill>
          <a:ln w="15875">
            <a:solidFill>
              <a:srgbClr val="E3B663"/>
            </a:solidFill>
            <a:prstDash val="solid"/>
          </a:ln>
        </p:spPr>
      </p:sp>
      <p:sp>
        <p:nvSpPr>
          <p:cNvPr id="21" name="fx10_1_3"/>
          <p:cNvSpPr/>
          <p:nvPr/>
        </p:nvSpPr>
        <p:spPr>
          <a:xfrm>
            <a:off x="1279017" y="24048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500" dirty="0"/>
          </a:p>
        </p:txBody>
      </p:sp>
      <p:sp>
        <p:nvSpPr>
          <p:cNvPr id="22" name="fx10_1_4"/>
          <p:cNvSpPr/>
          <p:nvPr/>
        </p:nvSpPr>
        <p:spPr>
          <a:xfrm>
            <a:off x="795528" y="2898648"/>
            <a:ext cx="13693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Новые деньги</a:t>
            </a:r>
            <a:endParaRPr lang="en-US" sz="1250" dirty="0"/>
          </a:p>
        </p:txBody>
      </p:sp>
      <p:sp>
        <p:nvSpPr>
          <p:cNvPr id="23" name="fx10_1_5"/>
          <p:cNvSpPr/>
          <p:nvPr/>
        </p:nvSpPr>
        <p:spPr>
          <a:xfrm>
            <a:off x="795528" y="3172968"/>
            <a:ext cx="136931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рудник, печатный станок, кредит</a:t>
            </a:r>
            <a:endParaRPr lang="en-US" sz="1000" dirty="0"/>
          </a:p>
        </p:txBody>
      </p:sp>
      <p:sp>
        <p:nvSpPr>
          <p:cNvPr id="24" name="fx10_2_6"/>
          <p:cNvSpPr/>
          <p:nvPr/>
        </p:nvSpPr>
        <p:spPr>
          <a:xfrm>
            <a:off x="2411730" y="2240280"/>
            <a:ext cx="1588770" cy="1600200"/>
          </a:xfrm>
          <a:prstGeom prst="roundRect">
            <a:avLst>
              <a:gd name="adj" fmla="val 4604"/>
            </a:avLst>
          </a:prstGeom>
          <a:solidFill>
            <a:srgbClr val="22121A">
              <a:alpha val="95000"/>
            </a:srgbClr>
          </a:solidFill>
          <a:ln w="9525">
            <a:solidFill>
              <a:srgbClr val="E3B663">
                <a:alpha val="30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25" name="fx10_2_7"/>
          <p:cNvSpPr/>
          <p:nvPr/>
        </p:nvSpPr>
        <p:spPr>
          <a:xfrm>
            <a:off x="3004947" y="2404872"/>
            <a:ext cx="402336" cy="402336"/>
          </a:xfrm>
          <a:prstGeom prst="ellipse">
            <a:avLst/>
          </a:prstGeom>
          <a:solidFill>
            <a:srgbClr val="0D0709"/>
          </a:solidFill>
          <a:ln w="15875">
            <a:solidFill>
              <a:srgbClr val="E3B663"/>
            </a:solidFill>
            <a:prstDash val="solid"/>
          </a:ln>
        </p:spPr>
      </p:sp>
      <p:sp>
        <p:nvSpPr>
          <p:cNvPr id="26" name="fx10_2_8"/>
          <p:cNvSpPr/>
          <p:nvPr/>
        </p:nvSpPr>
        <p:spPr>
          <a:xfrm>
            <a:off x="3004947" y="24048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500" dirty="0"/>
          </a:p>
        </p:txBody>
      </p:sp>
      <p:sp>
        <p:nvSpPr>
          <p:cNvPr id="27" name="fx10_2_9"/>
          <p:cNvSpPr/>
          <p:nvPr/>
        </p:nvSpPr>
        <p:spPr>
          <a:xfrm>
            <a:off x="2521458" y="2898648"/>
            <a:ext cx="13693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Первые</a:t>
            </a:r>
            <a:endParaRPr lang="en-US" sz="1250" dirty="0"/>
          </a:p>
        </p:txBody>
      </p:sp>
      <p:sp>
        <p:nvSpPr>
          <p:cNvPr id="28" name="fx10_2_10"/>
          <p:cNvSpPr/>
          <p:nvPr/>
        </p:nvSpPr>
        <p:spPr>
          <a:xfrm>
            <a:off x="2521458" y="3172968"/>
            <a:ext cx="136931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получатели тратят по старым ценам — выигрывают</a:t>
            </a:r>
            <a:endParaRPr lang="en-US" sz="1000" dirty="0"/>
          </a:p>
        </p:txBody>
      </p:sp>
      <p:sp>
        <p:nvSpPr>
          <p:cNvPr id="29" name="fx10_3_11"/>
          <p:cNvSpPr/>
          <p:nvPr/>
        </p:nvSpPr>
        <p:spPr>
          <a:xfrm>
            <a:off x="4137660" y="2240280"/>
            <a:ext cx="1588770" cy="1600200"/>
          </a:xfrm>
          <a:prstGeom prst="roundRect">
            <a:avLst>
              <a:gd name="adj" fmla="val 4604"/>
            </a:avLst>
          </a:prstGeom>
          <a:solidFill>
            <a:srgbClr val="22121A">
              <a:alpha val="95000"/>
            </a:srgbClr>
          </a:solidFill>
          <a:ln w="9525">
            <a:solidFill>
              <a:srgbClr val="E3B663">
                <a:alpha val="30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30" name="fx10_3_12"/>
          <p:cNvSpPr/>
          <p:nvPr/>
        </p:nvSpPr>
        <p:spPr>
          <a:xfrm>
            <a:off x="4730877" y="2404872"/>
            <a:ext cx="402336" cy="402336"/>
          </a:xfrm>
          <a:prstGeom prst="ellipse">
            <a:avLst/>
          </a:prstGeom>
          <a:solidFill>
            <a:srgbClr val="0D0709"/>
          </a:solidFill>
          <a:ln w="15875">
            <a:solidFill>
              <a:srgbClr val="E3B663"/>
            </a:solidFill>
            <a:prstDash val="solid"/>
          </a:ln>
        </p:spPr>
      </p:sp>
      <p:sp>
        <p:nvSpPr>
          <p:cNvPr id="31" name="fx10_3_13"/>
          <p:cNvSpPr/>
          <p:nvPr/>
        </p:nvSpPr>
        <p:spPr>
          <a:xfrm>
            <a:off x="4730877" y="24048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500" dirty="0"/>
          </a:p>
        </p:txBody>
      </p:sp>
      <p:sp>
        <p:nvSpPr>
          <p:cNvPr id="32" name="fx10_3_14"/>
          <p:cNvSpPr/>
          <p:nvPr/>
        </p:nvSpPr>
        <p:spPr>
          <a:xfrm>
            <a:off x="4247388" y="2898648"/>
            <a:ext cx="13693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Рост цен</a:t>
            </a:r>
            <a:endParaRPr lang="en-US" sz="1250" dirty="0"/>
          </a:p>
        </p:txBody>
      </p:sp>
      <p:sp>
        <p:nvSpPr>
          <p:cNvPr id="33" name="fx10_3_15"/>
          <p:cNvSpPr/>
          <p:nvPr/>
        </p:nvSpPr>
        <p:spPr>
          <a:xfrm>
            <a:off x="4247388" y="3172968"/>
            <a:ext cx="136931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дорожает то, что покупают именно они</a:t>
            </a:r>
            <a:endParaRPr lang="en-US" sz="1000" dirty="0"/>
          </a:p>
        </p:txBody>
      </p:sp>
      <p:sp>
        <p:nvSpPr>
          <p:cNvPr id="34" name="fx10_4_16"/>
          <p:cNvSpPr/>
          <p:nvPr/>
        </p:nvSpPr>
        <p:spPr>
          <a:xfrm>
            <a:off x="5863590" y="2240280"/>
            <a:ext cx="1588770" cy="1600200"/>
          </a:xfrm>
          <a:prstGeom prst="roundRect">
            <a:avLst>
              <a:gd name="adj" fmla="val 4604"/>
            </a:avLst>
          </a:prstGeom>
          <a:solidFill>
            <a:srgbClr val="2A1210">
              <a:alpha val="95000"/>
            </a:srgbClr>
          </a:solidFill>
          <a:ln w="9525">
            <a:solidFill>
              <a:srgbClr val="E8866A">
                <a:alpha val="60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35" name="fx10_4_17"/>
          <p:cNvSpPr/>
          <p:nvPr/>
        </p:nvSpPr>
        <p:spPr>
          <a:xfrm>
            <a:off x="6456807" y="2404872"/>
            <a:ext cx="402336" cy="402336"/>
          </a:xfrm>
          <a:prstGeom prst="ellipse">
            <a:avLst/>
          </a:prstGeom>
          <a:solidFill>
            <a:srgbClr val="0D0709"/>
          </a:solidFill>
          <a:ln w="15875">
            <a:solidFill>
              <a:srgbClr val="E8866A"/>
            </a:solidFill>
            <a:prstDash val="solid"/>
          </a:ln>
        </p:spPr>
      </p:sp>
      <p:sp>
        <p:nvSpPr>
          <p:cNvPr id="36" name="fx10_4_18"/>
          <p:cNvSpPr/>
          <p:nvPr/>
        </p:nvSpPr>
        <p:spPr>
          <a:xfrm>
            <a:off x="6456807" y="24048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86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500" dirty="0"/>
          </a:p>
        </p:txBody>
      </p:sp>
      <p:sp>
        <p:nvSpPr>
          <p:cNvPr id="37" name="fx10_4_19"/>
          <p:cNvSpPr/>
          <p:nvPr/>
        </p:nvSpPr>
        <p:spPr>
          <a:xfrm>
            <a:off x="5973318" y="2898648"/>
            <a:ext cx="13693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Последние</a:t>
            </a:r>
            <a:endParaRPr lang="en-US" sz="1250" dirty="0"/>
          </a:p>
        </p:txBody>
      </p:sp>
      <p:sp>
        <p:nvSpPr>
          <p:cNvPr id="38" name="fx10_4_20"/>
          <p:cNvSpPr/>
          <p:nvPr/>
        </p:nvSpPr>
        <p:spPr>
          <a:xfrm>
            <a:off x="5973318" y="3172968"/>
            <a:ext cx="136931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получают деньги после роста цен — проигрывают</a:t>
            </a:r>
            <a:endParaRPr lang="en-US" sz="1000" dirty="0"/>
          </a:p>
        </p:txBody>
      </p:sp>
      <p:sp>
        <p:nvSpPr>
          <p:cNvPr id="39" name="fx10_5_21"/>
          <p:cNvSpPr/>
          <p:nvPr/>
        </p:nvSpPr>
        <p:spPr>
          <a:xfrm>
            <a:off x="685800" y="4005072"/>
            <a:ext cx="6766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Пример из «Essai»: </a:t>
            </a:r>
            <a:pPr algn="l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новое серебро → шахтёры едят больше мяса и пьют вино → фермеры переводят землю под скот и виноградники.</a:t>
            </a:r>
            <a:endParaRPr lang="en-US" sz="1200" dirty="0"/>
          </a:p>
        </p:txBody>
      </p:sp>
      <p:sp>
        <p:nvSpPr>
          <p:cNvPr id="40" name="fx10_8_22"/>
          <p:cNvSpPr/>
          <p:nvPr/>
        </p:nvSpPr>
        <p:spPr>
          <a:xfrm>
            <a:off x="685800" y="5166360"/>
            <a:ext cx="6766560" cy="1005840"/>
          </a:xfrm>
          <a:prstGeom prst="roundRect">
            <a:avLst>
              <a:gd name="adj" fmla="val 7273"/>
            </a:avLst>
          </a:prstGeom>
          <a:solidFill>
            <a:srgbClr val="22170B">
              <a:alpha val="92000"/>
            </a:srgbClr>
          </a:solidFill>
          <a:ln w="12700">
            <a:solidFill>
              <a:srgbClr val="E3B663">
                <a:alpha val="55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41" name="fx10_8_23"/>
          <p:cNvSpPr/>
          <p:nvPr/>
        </p:nvSpPr>
        <p:spPr>
          <a:xfrm>
            <a:off x="685800" y="5312664"/>
            <a:ext cx="50292" cy="713232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42" name="fx10_8_24"/>
          <p:cNvSpPr/>
          <p:nvPr/>
        </p:nvSpPr>
        <p:spPr>
          <a:xfrm>
            <a:off x="941832" y="5029200"/>
            <a:ext cx="1993392" cy="274320"/>
          </a:xfrm>
          <a:prstGeom prst="roundRect">
            <a:avLst>
              <a:gd name="adj" fmla="val 50000"/>
            </a:avLst>
          </a:prstGeom>
          <a:solidFill>
            <a:srgbClr val="E3B663"/>
          </a:solidFill>
          <a:ln/>
        </p:spPr>
      </p:sp>
      <p:sp>
        <p:nvSpPr>
          <p:cNvPr id="43" name="fx10_8_25"/>
          <p:cNvSpPr/>
          <p:nvPr/>
        </p:nvSpPr>
        <p:spPr>
          <a:xfrm>
            <a:off x="941832" y="5029200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spc="150" kern="0" dirty="0">
                <a:solidFill>
                  <a:srgbClr val="0D0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 САМОЕ ИНТЕРЕСНОЕ</a:t>
            </a:r>
            <a:endParaRPr lang="en-US" sz="850" dirty="0"/>
          </a:p>
        </p:txBody>
      </p:sp>
      <p:sp>
        <p:nvSpPr>
          <p:cNvPr id="44" name="fx10_8_26"/>
          <p:cNvSpPr/>
          <p:nvPr/>
        </p:nvSpPr>
        <p:spPr>
          <a:xfrm>
            <a:off x="960120" y="534924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Термин жив и сегодня: «эффектом Кантильона» объясняют, почему от печатания денег центробанками </a:t>
            </a:r>
            <a:pPr algn="l" indent="0" marL="0">
              <a:lnSpc>
                <a:spcPct val="105000"/>
              </a:lnSpc>
              <a:buNone/>
            </a:pPr>
            <a:r>
              <a:rPr lang="en-US" sz="1250" b="1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раньше всех выигрывают банки и владельцы активов</a:t>
            </a:r>
            <a:pPr algn="l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25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5" name="!!m-dice">
                <a:extLst>
                  <a:ext uri="{FF2B5EF4-FFF2-40B4-BE49-F238E27FC236}">
                    <a16:creationId xmlns:a16="http://schemas.microsoft.com/office/drawing/2014/main" id="{CE198307-AAB1-CE8C-E847-788B76078748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4389120" y="1463040"/>
              <a:ext cx="3840480" cy="3840480"/>
            </p:xfrm>
            <a:graphic>
              <a:graphicData uri="http://schemas.microsoft.com/office/drawing/2017/model3d">
                <am3d:model3d r:embed="rIdM3d38">
                  <am3d:spPr>
                    <a:xfrm>
                      <a:off x="0" y="0"/>
                      <a:ext cx="3840480" cy="3840480"/>
                    </a:xfrm>
                    <a:prstGeom prst="rect">
                      <a:avLst/>
                    </a:prstGeom>
                  </am3d:spPr>
                  <am3d:camera>
                    <am3d:pos x="0" y="0" z="5859994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69231" d="1000000"/>
                    <am3d:preTrans dx="0" dy="832292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1080000" ay="-6240000" az="0"/>
                    <am3d:postTrans dx="0" dy="0" dz="0"/>
                  </am3d:trans>
                  <am3d:raster rName="Office3DRenderer" rVer="16.0.8326">
                    <am3d:blip r:embed="rId6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8404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5" name="!!m-dice">
                <a:extLst>
                  <a:ext uri="{FF2B5EF4-FFF2-40B4-BE49-F238E27FC236}">
                    <a16:creationId xmlns:a16="http://schemas.microsoft.com/office/drawing/2014/main" id="{CE198307-AAB1-CE8C-E847-788B7607874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-4389120" y="1463040"/>
                <a:ext cx="3840480" cy="3840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6" name="!!m-compass">
                <a:extLst>
                  <a:ext uri="{FF2B5EF4-FFF2-40B4-BE49-F238E27FC236}">
                    <a16:creationId xmlns:a16="http://schemas.microsoft.com/office/drawing/2014/main" id="{D6FEAE83-11EB-395A-9CC1-4F1EDA83892F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740335" y="502920"/>
              <a:ext cx="2697480" cy="2697480"/>
            </p:xfrm>
            <a:graphic>
              <a:graphicData uri="http://schemas.microsoft.com/office/drawing/2017/model3d">
                <am3d:model3d r:embed="rIdM3d39">
                  <am3d:spPr>
                    <a:xfrm>
                      <a:off x="0" y="0"/>
                      <a:ext cx="2697480" cy="2697480"/>
                    </a:xfrm>
                    <a:prstGeom prst="rect">
                      <a:avLst/>
                    </a:prstGeom>
                  </am3d:spPr>
                  <am3d:camera>
                    <am3d:pos x="0" y="0" z="69237137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863215" d="1000000"/>
                    <am3d:preTrans dx="0" dy="-3113734" dz="1498900"/>
                    <am3d:scale>
                      <am3d:sx n="1000000" d="1000000"/>
                      <am3d:sy n="1000000" d="1000000"/>
                      <am3d:sz n="1000000" d="1000000"/>
                    </am3d:scale>
                    <am3d:rot ax="360000" ay="3600000" az="0"/>
                    <am3d:postTrans dx="0" dy="0" dz="0"/>
                  </am3d:trans>
                  <am3d:raster rName="Office3DRenderer" rVer="16.0.8326">
                    <am3d:blip r:embed="rId7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26974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6" name="!!m-compass">
                <a:extLst>
                  <a:ext uri="{FF2B5EF4-FFF2-40B4-BE49-F238E27FC236}">
                    <a16:creationId xmlns:a16="http://schemas.microsoft.com/office/drawing/2014/main" id="{D6FEAE83-11EB-395A-9CC1-4F1EDA83892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2740335" y="502920"/>
                <a:ext cx="2697480" cy="26974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7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7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7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7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70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70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7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70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70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7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70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70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7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700" decel="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700" decel="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7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3" dur="700" decel="10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700" decel="10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7" presetID="42" presetClass="entr" presetSubtype="0" fill="hold" grpId="0" nodeType="withEffect">
                                  <p:stCondLst>
                                    <p:cond delay="171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0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41" dur="4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1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11">
    <p:bg>
      <p:bgPr>
        <a:solidFill>
          <a:srgbClr val="0E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home/user/omgGame/presentations/cantillon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rack"/>
          <p:cNvSpPr/>
          <p:nvPr/>
        </p:nvSpPr>
        <p:spPr>
          <a:xfrm>
            <a:off x="685800" y="402336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4" name="!!progress"/>
          <p:cNvSpPr/>
          <p:nvPr/>
        </p:nvSpPr>
        <p:spPr>
          <a:xfrm>
            <a:off x="685800" y="391363"/>
            <a:ext cx="7213397" cy="21946"/>
          </a:xfrm>
          <a:prstGeom prst="rect">
            <a:avLst/>
          </a:prstGeom>
          <a:solidFill>
            <a:srgbClr val="E3B663"/>
          </a:solidFill>
          <a:ln/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!!coin">
                <a:extLst>
                  <a:ext uri="{FF2B5EF4-FFF2-40B4-BE49-F238E27FC236}">
                    <a16:creationId xmlns:a16="http://schemas.microsoft.com/office/drawing/2014/main" id="{125583AA-71F4-D095-59C0-5E18035892A2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7624877" y="98755"/>
              <a:ext cx="548640" cy="548640"/>
            </p:xfrm>
            <a:graphic>
              <a:graphicData uri="http://schemas.microsoft.com/office/drawing/2017/model3d">
                <am3d:model3d r:embed="rIdM3d40">
                  <am3d:spPr>
                    <a:xfrm>
                      <a:off x="0" y="0"/>
                      <a:ext cx="548640" cy="548640"/>
                    </a:xfrm>
                    <a:prstGeom prst="rect">
                      <a:avLst/>
                    </a:prstGeom>
                  </am3d:spPr>
                  <am3d:camera>
                    <am3d:pos x="0" y="0" z="6662303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00000" d="1000000"/>
                    <am3d:preTrans dx="0" dy="0" dz="-162000"/>
                    <am3d:scale>
                      <am3d:sx n="1000000" d="1000000"/>
                      <am3d:sy n="1000000" d="1000000"/>
                      <am3d:sz n="1000000" d="1000000"/>
                    </am3d:scale>
                    <am3d:rot ax="0" ay="-720000" az="-87600000"/>
                    <am3d:postTrans dx="0" dy="0" dz="0"/>
                  </am3d:trans>
                  <am3d:raster rName="Office3DRenderer" rVer="16.0.8326">
                    <am3d:blip r:embed="rId2"/>
                  </am3d:raster>
                  <am3d:objViewport viewportSz="5486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!!coin">
                <a:extLst>
                  <a:ext uri="{FF2B5EF4-FFF2-40B4-BE49-F238E27FC236}">
                    <a16:creationId xmlns:a16="http://schemas.microsoft.com/office/drawing/2014/main" id="{125583AA-71F4-D095-59C0-5E18035892A2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7624877" y="98755"/>
                <a:ext cx="548640" cy="54864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!!kickerbar"/>
          <p:cNvSpPr/>
          <p:nvPr/>
        </p:nvSpPr>
        <p:spPr>
          <a:xfrm>
            <a:off x="685800" y="713232"/>
            <a:ext cx="310896" cy="3200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7" name="!!kicker"/>
          <p:cNvSpPr/>
          <p:nvPr/>
        </p:nvSpPr>
        <p:spPr>
          <a:xfrm>
            <a:off x="1124712" y="594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3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— ВКЛАД В ПРЕДПРИНИМАТЕЛЬСТВО</a:t>
            </a:r>
            <a:endParaRPr lang="en-US" sz="1100" dirty="0"/>
          </a:p>
        </p:txBody>
      </p:sp>
      <p:sp>
        <p:nvSpPr>
          <p:cNvPr id="8" name="!!footline"/>
          <p:cNvSpPr/>
          <p:nvPr/>
        </p:nvSpPr>
        <p:spPr>
          <a:xfrm>
            <a:off x="685800" y="6400800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9" name="!!footer"/>
          <p:cNvSpPr/>
          <p:nvPr/>
        </p:nvSpPr>
        <p:spPr>
          <a:xfrm>
            <a:off x="68580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РИЧАРД КАНТИЛЬОН  ·  1680-е – 1734</a:t>
            </a:r>
            <a:endParaRPr lang="en-US" sz="900" dirty="0"/>
          </a:p>
        </p:txBody>
      </p:sp>
      <p:sp>
        <p:nvSpPr>
          <p:cNvPr id="10" name="!!src"/>
          <p:cNvSpPr/>
          <p:nvPr/>
        </p:nvSpPr>
        <p:spPr>
          <a:xfrm>
            <a:off x="3566160" y="6492240"/>
            <a:ext cx="6492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Источники: </a:t>
            </a:r>
            <a:pPr algn="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Rothbard (1995); Hébert &amp; Link (2009)</a:t>
            </a:r>
            <a:endParaRPr lang="en-US" sz="850" dirty="0"/>
          </a:p>
        </p:txBody>
      </p:sp>
      <p:sp>
        <p:nvSpPr>
          <p:cNvPr id="11" name="!!pagenum"/>
          <p:cNvSpPr/>
          <p:nvPr/>
        </p:nvSpPr>
        <p:spPr>
          <a:xfrm>
            <a:off x="10134295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16</a:t>
            </a:r>
            <a:endParaRPr lang="en-US" sz="900" dirty="0"/>
          </a:p>
        </p:txBody>
      </p:sp>
      <p:pic>
        <p:nvPicPr>
          <p:cNvPr id="12" name="!!glow" descr="/home/user/omgGame/presentations/cantillon/assets/gl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0778" y="-267462"/>
            <a:ext cx="3506724" cy="3506724"/>
          </a:xfrm>
          <a:prstGeom prst="rect">
            <a:avLst/>
          </a:prstGeom>
        </p:spPr>
      </p:pic>
      <p:sp>
        <p:nvSpPr>
          <p:cNvPr id="13" name="!!ring1"/>
          <p:cNvSpPr/>
          <p:nvPr/>
        </p:nvSpPr>
        <p:spPr>
          <a:xfrm>
            <a:off x="8996324" y="218084"/>
            <a:ext cx="2535631" cy="2535631"/>
          </a:xfrm>
          <a:prstGeom prst="ellipse">
            <a:avLst/>
          </a:prstGeom>
          <a:ln w="9525">
            <a:solidFill>
              <a:srgbClr val="E3B663">
                <a:alpha val="18000"/>
              </a:srgbClr>
            </a:solidFill>
            <a:prstDash val="solid"/>
          </a:ln>
        </p:spPr>
      </p:sp>
      <p:sp>
        <p:nvSpPr>
          <p:cNvPr id="14" name="!!ring2"/>
          <p:cNvSpPr/>
          <p:nvPr/>
        </p:nvSpPr>
        <p:spPr>
          <a:xfrm>
            <a:off x="8645652" y="-132588"/>
            <a:ext cx="3236976" cy="3236976"/>
          </a:xfrm>
          <a:prstGeom prst="ellipse">
            <a:avLst/>
          </a:prstGeom>
          <a:ln w="9525">
            <a:solidFill>
              <a:srgbClr val="E3B663">
                <a:alpha val="12000"/>
              </a:srgbClr>
            </a:solidFill>
            <a:prstDash val="dash"/>
          </a:ln>
        </p:spPr>
      </p:sp>
      <p:pic>
        <p:nvPicPr>
          <p:cNvPr id="15" name="!!shadow" descr="/home/user/omgGame/presentations/cantillon/assets/shad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54896" y="2254682"/>
            <a:ext cx="1618488" cy="404622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6" name="!!m-compass">
                <a:extLst>
                  <a:ext uri="{FF2B5EF4-FFF2-40B4-BE49-F238E27FC236}">
                    <a16:creationId xmlns:a16="http://schemas.microsoft.com/office/drawing/2014/main" id="{AEACFEC9-193F-B859-4030-E21DF2ECD313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8915400" y="137160"/>
              <a:ext cx="2697480" cy="2697480"/>
            </p:xfrm>
            <a:graphic>
              <a:graphicData uri="http://schemas.microsoft.com/office/drawing/2017/model3d">
                <am3d:model3d r:embed="rIdM3d41">
                  <am3d:spPr>
                    <a:xfrm>
                      <a:off x="0" y="0"/>
                      <a:ext cx="2697480" cy="2697480"/>
                    </a:xfrm>
                    <a:prstGeom prst="rect">
                      <a:avLst/>
                    </a:prstGeom>
                  </am3d:spPr>
                  <am3d:camera>
                    <am3d:pos x="0" y="0" z="69237137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863215" d="1000000"/>
                    <am3d:preTrans dx="0" dy="-3113734" dz="1498900"/>
                    <am3d:scale>
                      <am3d:sx n="1000000" d="1000000"/>
                      <am3d:sy n="1000000" d="1000000"/>
                      <am3d:sz n="1000000" d="1000000"/>
                    </am3d:scale>
                    <am3d:rot ax="360000" ay="-1200000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26974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6" name="!!m-compass">
                <a:extLst>
                  <a:ext uri="{FF2B5EF4-FFF2-40B4-BE49-F238E27FC236}">
                    <a16:creationId xmlns:a16="http://schemas.microsoft.com/office/drawing/2014/main" id="{AEACFEC9-193F-B859-4030-E21DF2ECD31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915400" y="137160"/>
                <a:ext cx="2697480" cy="2697480"/>
              </a:xfrm>
              <a:prstGeom prst="rect">
                <a:avLst/>
              </a:prstGeom>
            </p:spPr>
          </p:pic>
        </mc:Fallback>
      </mc:AlternateContent>
      <p:sp>
        <p:nvSpPr>
          <p:cNvPr id="17" name="fx11_9_0"/>
          <p:cNvSpPr/>
          <p:nvPr/>
        </p:nvSpPr>
        <p:spPr>
          <a:xfrm>
            <a:off x="6400800" y="91440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900" b="1" spc="25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ЭКСПОНАТ 11</a:t>
            </a:r>
            <a:endParaRPr lang="en-US" sz="900" dirty="0"/>
          </a:p>
          <a:p>
            <a:pPr algn="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Толчок — и стрелка снова находит север</a:t>
            </a:r>
            <a:endParaRPr lang="en-US" sz="900" dirty="0"/>
          </a:p>
        </p:txBody>
      </p:sp>
      <p:sp>
        <p:nvSpPr>
          <p:cNvPr id="18" name="!!title"/>
          <p:cNvSpPr/>
          <p:nvPr/>
        </p:nvSpPr>
        <p:spPr>
          <a:xfrm>
            <a:off x="685800" y="987552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 него началась теория предпринимателя</a:t>
            </a:r>
            <a:endParaRPr lang="en-US" sz="3300" dirty="0"/>
          </a:p>
        </p:txBody>
      </p:sp>
      <p:sp>
        <p:nvSpPr>
          <p:cNvPr id="19" name="fx11_1_1"/>
          <p:cNvSpPr/>
          <p:nvPr/>
        </p:nvSpPr>
        <p:spPr>
          <a:xfrm>
            <a:off x="685800" y="2176272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800" dirty="0"/>
          </a:p>
        </p:txBody>
      </p:sp>
      <p:sp>
        <p:nvSpPr>
          <p:cNvPr id="20" name="fx11_1_2"/>
          <p:cNvSpPr/>
          <p:nvPr/>
        </p:nvSpPr>
        <p:spPr>
          <a:xfrm>
            <a:off x="1280160" y="221284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Ввёл само понятие</a:t>
            </a:r>
            <a:endParaRPr lang="en-US" sz="1400" dirty="0"/>
          </a:p>
        </p:txBody>
      </p:sp>
      <p:sp>
        <p:nvSpPr>
          <p:cNvPr id="21" name="fx11_1_3"/>
          <p:cNvSpPr/>
          <p:nvPr/>
        </p:nvSpPr>
        <p:spPr>
          <a:xfrm>
            <a:off x="1280160" y="248716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Предприниматель — центральная фигура экономики.</a:t>
            </a:r>
            <a:endParaRPr lang="en-US" sz="1150" dirty="0"/>
          </a:p>
        </p:txBody>
      </p:sp>
      <p:sp>
        <p:nvSpPr>
          <p:cNvPr id="22" name="fx11_2_4"/>
          <p:cNvSpPr/>
          <p:nvPr/>
        </p:nvSpPr>
        <p:spPr>
          <a:xfrm>
            <a:off x="685800" y="2816352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800" dirty="0"/>
          </a:p>
        </p:txBody>
      </p:sp>
      <p:sp>
        <p:nvSpPr>
          <p:cNvPr id="23" name="fx11_2_5"/>
          <p:cNvSpPr/>
          <p:nvPr/>
        </p:nvSpPr>
        <p:spPr>
          <a:xfrm>
            <a:off x="1280160" y="28529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Функция — нести неопределённость</a:t>
            </a:r>
            <a:endParaRPr lang="en-US" sz="1400" dirty="0"/>
          </a:p>
        </p:txBody>
      </p:sp>
      <p:sp>
        <p:nvSpPr>
          <p:cNvPr id="24" name="fx11_2_6"/>
          <p:cNvSpPr/>
          <p:nvPr/>
        </p:nvSpPr>
        <p:spPr>
          <a:xfrm>
            <a:off x="1280160" y="312724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капитал и не профессия, а доход «по неизвестной цене».</a:t>
            </a:r>
            <a:endParaRPr lang="en-US" sz="1150" dirty="0"/>
          </a:p>
        </p:txBody>
      </p:sp>
      <p:sp>
        <p:nvSpPr>
          <p:cNvPr id="25" name="fx11_3_7"/>
          <p:cNvSpPr/>
          <p:nvPr/>
        </p:nvSpPr>
        <p:spPr>
          <a:xfrm>
            <a:off x="685800" y="3456432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800" dirty="0"/>
          </a:p>
        </p:txBody>
      </p:sp>
      <p:sp>
        <p:nvSpPr>
          <p:cNvPr id="26" name="fx11_3_8"/>
          <p:cNvSpPr/>
          <p:nvPr/>
        </p:nvSpPr>
        <p:spPr>
          <a:xfrm>
            <a:off x="1280160" y="349300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Предприниматель координирует рынок</a:t>
            </a:r>
            <a:endParaRPr lang="en-US" sz="1400" dirty="0"/>
          </a:p>
        </p:txBody>
      </p:sp>
      <p:sp>
        <p:nvSpPr>
          <p:cNvPr id="27" name="fx11_3_9"/>
          <p:cNvSpPr/>
          <p:nvPr/>
        </p:nvSpPr>
        <p:spPr>
          <a:xfrm>
            <a:off x="1280160" y="376732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Подстраивает предложение под спрос и связывает рынки.</a:t>
            </a:r>
            <a:endParaRPr lang="en-US" sz="1150" dirty="0"/>
          </a:p>
        </p:txBody>
      </p:sp>
      <p:sp>
        <p:nvSpPr>
          <p:cNvPr id="28" name="fx11_4_10"/>
          <p:cNvSpPr/>
          <p:nvPr/>
        </p:nvSpPr>
        <p:spPr>
          <a:xfrm>
            <a:off x="685800" y="422452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ЭСТАФЕТА ИДЕЙ</a:t>
            </a:r>
            <a:endParaRPr lang="en-US" sz="950" dirty="0"/>
          </a:p>
        </p:txBody>
      </p:sp>
      <p:sp>
        <p:nvSpPr>
          <p:cNvPr id="29" name="fx11_4_11"/>
          <p:cNvSpPr/>
          <p:nvPr/>
        </p:nvSpPr>
        <p:spPr>
          <a:xfrm>
            <a:off x="1767810" y="4645152"/>
            <a:ext cx="8656076" cy="91"/>
          </a:xfrm>
          <a:prstGeom prst="line">
            <a:avLst/>
          </a:prstGeom>
          <a:noFill/>
          <a:ln w="19050">
            <a:solidFill>
              <a:srgbClr val="E3B663">
                <a:alpha val="60000"/>
              </a:srgbClr>
            </a:solidFill>
            <a:prstDash val="solid"/>
          </a:ln>
        </p:spPr>
      </p:sp>
      <p:sp>
        <p:nvSpPr>
          <p:cNvPr id="30" name="fx11_4_12"/>
          <p:cNvSpPr/>
          <p:nvPr/>
        </p:nvSpPr>
        <p:spPr>
          <a:xfrm>
            <a:off x="1667226" y="4544568"/>
            <a:ext cx="201168" cy="201168"/>
          </a:xfrm>
          <a:prstGeom prst="ellipse">
            <a:avLst/>
          </a:prstGeom>
          <a:solidFill>
            <a:srgbClr val="E3B663"/>
          </a:solidFill>
          <a:ln w="25400">
            <a:solidFill>
              <a:srgbClr val="E3B663"/>
            </a:solidFill>
            <a:prstDash val="solid"/>
          </a:ln>
        </p:spPr>
      </p:sp>
      <p:sp>
        <p:nvSpPr>
          <p:cNvPr id="31" name="fx11_4_13"/>
          <p:cNvSpPr/>
          <p:nvPr/>
        </p:nvSpPr>
        <p:spPr>
          <a:xfrm>
            <a:off x="685800" y="4800600"/>
            <a:ext cx="21640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Кантильон  </a:t>
            </a:r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≈1730</a:t>
            </a:r>
            <a:endParaRPr lang="en-US" sz="1300" dirty="0"/>
          </a:p>
        </p:txBody>
      </p:sp>
      <p:sp>
        <p:nvSpPr>
          <p:cNvPr id="32" name="fx11_4_14"/>
          <p:cNvSpPr/>
          <p:nvPr/>
        </p:nvSpPr>
        <p:spPr>
          <a:xfrm>
            <a:off x="777240" y="5074920"/>
            <a:ext cx="19811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несёт риск</a:t>
            </a:r>
            <a:endParaRPr lang="en-US" sz="1050" dirty="0"/>
          </a:p>
        </p:txBody>
      </p:sp>
      <p:sp>
        <p:nvSpPr>
          <p:cNvPr id="33" name="fx11_4_15"/>
          <p:cNvSpPr/>
          <p:nvPr/>
        </p:nvSpPr>
        <p:spPr>
          <a:xfrm>
            <a:off x="3831245" y="4544568"/>
            <a:ext cx="201168" cy="201168"/>
          </a:xfrm>
          <a:prstGeom prst="ellipse">
            <a:avLst/>
          </a:prstGeom>
          <a:solidFill>
            <a:srgbClr val="0D0709"/>
          </a:solidFill>
          <a:ln w="25400">
            <a:solidFill>
              <a:srgbClr val="E3B663"/>
            </a:solidFill>
            <a:prstDash val="solid"/>
          </a:ln>
        </p:spPr>
      </p:sp>
      <p:sp>
        <p:nvSpPr>
          <p:cNvPr id="34" name="fx11_4_16"/>
          <p:cNvSpPr/>
          <p:nvPr/>
        </p:nvSpPr>
        <p:spPr>
          <a:xfrm>
            <a:off x="2849819" y="4800600"/>
            <a:ext cx="21640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Сэй  </a:t>
            </a:r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1803</a:t>
            </a:r>
            <a:endParaRPr lang="en-US" sz="1300" dirty="0"/>
          </a:p>
        </p:txBody>
      </p:sp>
      <p:sp>
        <p:nvSpPr>
          <p:cNvPr id="35" name="fx11_4_17"/>
          <p:cNvSpPr/>
          <p:nvPr/>
        </p:nvSpPr>
        <p:spPr>
          <a:xfrm>
            <a:off x="2941259" y="5074920"/>
            <a:ext cx="19811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организатор производства</a:t>
            </a:r>
            <a:endParaRPr lang="en-US" sz="1050" dirty="0"/>
          </a:p>
        </p:txBody>
      </p:sp>
      <p:sp>
        <p:nvSpPr>
          <p:cNvPr id="36" name="fx11_5_18"/>
          <p:cNvSpPr/>
          <p:nvPr/>
        </p:nvSpPr>
        <p:spPr>
          <a:xfrm>
            <a:off x="5995264" y="4544568"/>
            <a:ext cx="201168" cy="201168"/>
          </a:xfrm>
          <a:prstGeom prst="ellipse">
            <a:avLst/>
          </a:prstGeom>
          <a:solidFill>
            <a:srgbClr val="0D0709"/>
          </a:solidFill>
          <a:ln w="25400">
            <a:solidFill>
              <a:srgbClr val="E3B663"/>
            </a:solidFill>
            <a:prstDash val="solid"/>
          </a:ln>
        </p:spPr>
      </p:sp>
      <p:sp>
        <p:nvSpPr>
          <p:cNvPr id="37" name="fx11_5_19"/>
          <p:cNvSpPr/>
          <p:nvPr/>
        </p:nvSpPr>
        <p:spPr>
          <a:xfrm>
            <a:off x="5013838" y="4800600"/>
            <a:ext cx="21640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Шумпетер  </a:t>
            </a:r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1911</a:t>
            </a:r>
            <a:endParaRPr lang="en-US" sz="1300" dirty="0"/>
          </a:p>
        </p:txBody>
      </p:sp>
      <p:sp>
        <p:nvSpPr>
          <p:cNvPr id="38" name="fx11_5_20"/>
          <p:cNvSpPr/>
          <p:nvPr/>
        </p:nvSpPr>
        <p:spPr>
          <a:xfrm>
            <a:off x="5105278" y="5074920"/>
            <a:ext cx="19811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новатор, новые комбинации</a:t>
            </a:r>
            <a:endParaRPr lang="en-US" sz="1050" dirty="0"/>
          </a:p>
        </p:txBody>
      </p:sp>
      <p:sp>
        <p:nvSpPr>
          <p:cNvPr id="39" name="fx11_5_21"/>
          <p:cNvSpPr/>
          <p:nvPr/>
        </p:nvSpPr>
        <p:spPr>
          <a:xfrm>
            <a:off x="8159283" y="4544568"/>
            <a:ext cx="201168" cy="201168"/>
          </a:xfrm>
          <a:prstGeom prst="ellipse">
            <a:avLst/>
          </a:prstGeom>
          <a:solidFill>
            <a:srgbClr val="0D0709"/>
          </a:solidFill>
          <a:ln w="25400">
            <a:solidFill>
              <a:srgbClr val="E3B663"/>
            </a:solidFill>
            <a:prstDash val="solid"/>
          </a:ln>
        </p:spPr>
      </p:sp>
      <p:sp>
        <p:nvSpPr>
          <p:cNvPr id="40" name="fx11_5_22"/>
          <p:cNvSpPr/>
          <p:nvPr/>
        </p:nvSpPr>
        <p:spPr>
          <a:xfrm>
            <a:off x="7177857" y="4800600"/>
            <a:ext cx="21640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Найт  </a:t>
            </a:r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1921</a:t>
            </a:r>
            <a:endParaRPr lang="en-US" sz="1300" dirty="0"/>
          </a:p>
        </p:txBody>
      </p:sp>
      <p:sp>
        <p:nvSpPr>
          <p:cNvPr id="41" name="fx11_5_23"/>
          <p:cNvSpPr/>
          <p:nvPr/>
        </p:nvSpPr>
        <p:spPr>
          <a:xfrm>
            <a:off x="7269297" y="5074920"/>
            <a:ext cx="19811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неопределённость и прибыль</a:t>
            </a:r>
            <a:endParaRPr lang="en-US" sz="1050" dirty="0"/>
          </a:p>
        </p:txBody>
      </p:sp>
      <p:sp>
        <p:nvSpPr>
          <p:cNvPr id="42" name="fx11_6_24"/>
          <p:cNvSpPr/>
          <p:nvPr/>
        </p:nvSpPr>
        <p:spPr>
          <a:xfrm>
            <a:off x="10323302" y="4544568"/>
            <a:ext cx="201168" cy="201168"/>
          </a:xfrm>
          <a:prstGeom prst="ellipse">
            <a:avLst/>
          </a:prstGeom>
          <a:solidFill>
            <a:srgbClr val="0D0709"/>
          </a:solidFill>
          <a:ln w="25400">
            <a:solidFill>
              <a:srgbClr val="E3B663"/>
            </a:solidFill>
            <a:prstDash val="solid"/>
          </a:ln>
        </p:spPr>
      </p:sp>
      <p:sp>
        <p:nvSpPr>
          <p:cNvPr id="43" name="fx11_6_25"/>
          <p:cNvSpPr/>
          <p:nvPr/>
        </p:nvSpPr>
        <p:spPr>
          <a:xfrm>
            <a:off x="9341876" y="4800600"/>
            <a:ext cx="21640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Кирцнер  </a:t>
            </a:r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1973</a:t>
            </a:r>
            <a:endParaRPr lang="en-US" sz="1300" dirty="0"/>
          </a:p>
        </p:txBody>
      </p:sp>
      <p:sp>
        <p:nvSpPr>
          <p:cNvPr id="44" name="fx11_6_26"/>
          <p:cNvSpPr/>
          <p:nvPr/>
        </p:nvSpPr>
        <p:spPr>
          <a:xfrm>
            <a:off x="9433316" y="5074920"/>
            <a:ext cx="19811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бдительность к возможностям</a:t>
            </a:r>
            <a:endParaRPr lang="en-US" sz="1050" dirty="0"/>
          </a:p>
        </p:txBody>
      </p:sp>
      <p:sp>
        <p:nvSpPr>
          <p:cNvPr id="45" name="fx11_7_27"/>
          <p:cNvSpPr/>
          <p:nvPr/>
        </p:nvSpPr>
        <p:spPr>
          <a:xfrm>
            <a:off x="685800" y="5559552"/>
            <a:ext cx="6583680" cy="658368"/>
          </a:xfrm>
          <a:prstGeom prst="roundRect">
            <a:avLst>
              <a:gd name="adj" fmla="val 11111"/>
            </a:avLst>
          </a:prstGeom>
          <a:solidFill>
            <a:srgbClr val="22170B">
              <a:alpha val="92000"/>
            </a:srgbClr>
          </a:solidFill>
          <a:ln w="12700">
            <a:solidFill>
              <a:srgbClr val="E3B663">
                <a:alpha val="55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46" name="fx11_7_28"/>
          <p:cNvSpPr/>
          <p:nvPr/>
        </p:nvSpPr>
        <p:spPr>
          <a:xfrm>
            <a:off x="685800" y="5705856"/>
            <a:ext cx="50292" cy="365760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47" name="fx11_7_29"/>
          <p:cNvSpPr/>
          <p:nvPr/>
        </p:nvSpPr>
        <p:spPr>
          <a:xfrm>
            <a:off x="941832" y="5422392"/>
            <a:ext cx="1993392" cy="274320"/>
          </a:xfrm>
          <a:prstGeom prst="roundRect">
            <a:avLst>
              <a:gd name="adj" fmla="val 50000"/>
            </a:avLst>
          </a:prstGeom>
          <a:solidFill>
            <a:srgbClr val="E3B663"/>
          </a:solidFill>
          <a:ln/>
        </p:spPr>
      </p:sp>
      <p:sp>
        <p:nvSpPr>
          <p:cNvPr id="48" name="fx11_7_30"/>
          <p:cNvSpPr/>
          <p:nvPr/>
        </p:nvSpPr>
        <p:spPr>
          <a:xfrm>
            <a:off x="941832" y="5422392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spc="150" kern="0" dirty="0">
                <a:solidFill>
                  <a:srgbClr val="0D0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 САМОЕ ИНТЕРЕСНОЕ</a:t>
            </a:r>
            <a:endParaRPr lang="en-US" sz="850" dirty="0"/>
          </a:p>
        </p:txBody>
      </p:sp>
      <p:sp>
        <p:nvSpPr>
          <p:cNvPr id="49" name="fx11_7_31"/>
          <p:cNvSpPr/>
          <p:nvPr/>
        </p:nvSpPr>
        <p:spPr>
          <a:xfrm>
            <a:off x="960120" y="5742432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Мюррей Ротбард назвал его </a:t>
            </a:r>
            <a:pPr algn="l" indent="0" marL="0">
              <a:lnSpc>
                <a:spcPct val="105000"/>
              </a:lnSpc>
              <a:buNone/>
            </a:pPr>
            <a:r>
              <a:rPr lang="en-US" sz="1250" b="1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«отцом-основателем современной экономики»</a:t>
            </a:r>
            <a:pPr algn="l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раньше Адама Смита.</a:t>
            </a:r>
            <a:endParaRPr lang="en-US" sz="125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0" name="!!m-ripple">
                <a:extLst>
                  <a:ext uri="{FF2B5EF4-FFF2-40B4-BE49-F238E27FC236}">
                    <a16:creationId xmlns:a16="http://schemas.microsoft.com/office/drawing/2014/main" id="{C94985E6-C2F5-D8FA-859E-E4C851236CC6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4754880" y="1371600"/>
              <a:ext cx="4206240" cy="4206240"/>
            </p:xfrm>
            <a:graphic>
              <a:graphicData uri="http://schemas.microsoft.com/office/drawing/2017/model3d">
                <am3d:model3d r:embed="rIdM3d42">
                  <am3d:spPr>
                    <a:xfrm>
                      <a:off x="0" y="0"/>
                      <a:ext cx="4206240" cy="4206240"/>
                    </a:xfrm>
                    <a:prstGeom prst="rect">
                      <a:avLst/>
                    </a:prstGeom>
                  </am3d:spPr>
                  <am3d:camera>
                    <am3d:pos x="0" y="0" z="7004157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35294" d="1000000"/>
                    <am3d:preTrans dx="0" dy="-2569383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1560000" ay="-5400000" az="0"/>
                    <am3d:postTrans dx="0" dy="0" dz="0"/>
                  </am3d:trans>
                  <am3d:raster rName="Office3DRenderer" rVer="16.0.8326">
                    <am3d:blip r:embed="rId6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2062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0" name="!!m-ripple">
                <a:extLst>
                  <a:ext uri="{FF2B5EF4-FFF2-40B4-BE49-F238E27FC236}">
                    <a16:creationId xmlns:a16="http://schemas.microsoft.com/office/drawing/2014/main" id="{C94985E6-C2F5-D8FA-859E-E4C851236CC6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-4754880" y="1371600"/>
                <a:ext cx="4206240" cy="4206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1" name="!!m-hourglass_c">
                <a:extLst>
                  <a:ext uri="{FF2B5EF4-FFF2-40B4-BE49-F238E27FC236}">
                    <a16:creationId xmlns:a16="http://schemas.microsoft.com/office/drawing/2014/main" id="{91CA864E-9770-0084-E33F-6B0518968384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740335" y="1234440"/>
              <a:ext cx="3840480" cy="3840480"/>
            </p:xfrm>
            <a:graphic>
              <a:graphicData uri="http://schemas.microsoft.com/office/drawing/2017/model3d">
                <am3d:model3d r:embed="rIdM3d43">
                  <am3d:spPr>
                    <a:xfrm>
                      <a:off x="0" y="0"/>
                      <a:ext cx="3840480" cy="3840480"/>
                    </a:xfrm>
                    <a:prstGeom prst="rect">
                      <a:avLst/>
                    </a:prstGeom>
                  </am3d:spPr>
                  <am3d:camera>
                    <am3d:pos x="0" y="0" z="63290777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04225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720000" ay="3480000" az="0"/>
                    <am3d:postTrans dx="0" dy="0" dz="0"/>
                  </am3d:trans>
                  <am3d:raster rName="Office3DRenderer" rVer="16.0.8326">
                    <am3d:blip r:embed="rId7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5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8404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1" name="!!m-hourglass_c">
                <a:extLst>
                  <a:ext uri="{FF2B5EF4-FFF2-40B4-BE49-F238E27FC236}">
                    <a16:creationId xmlns:a16="http://schemas.microsoft.com/office/drawing/2014/main" id="{91CA864E-9770-0084-E33F-6B0518968384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2740335" y="1234440"/>
                <a:ext cx="3840480" cy="38404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7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7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7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7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70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70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7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70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70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7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70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70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7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700" decel="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700" decel="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7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3" dur="700" decel="10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700" decel="10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7" presetID="42" presetClass="entr" presetSubtype="0" fill="hold" grpId="0" nodeType="withEffect">
                                  <p:stCondLst>
                                    <p:cond delay="171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7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700" decel="100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700" decel="100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42" presetClass="entr" presetSubtype="0" fill="hold" grpId="0" nodeType="withEffect">
                                  <p:stCondLst>
                                    <p:cond delay="171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7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3" dur="700" decel="100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4" dur="700" decel="100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7" presetID="42" presetClass="entr" presetSubtype="0" fill="hold" grpId="0" nodeType="withEffect">
                                  <p:stCondLst>
                                    <p:cond delay="171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7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8" dur="700" decel="100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9" dur="700" decel="100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2" presetID="42" presetClass="entr" presetSubtype="0" fill="hold" grpId="0" nodeType="withEffect">
                                  <p:stCondLst>
                                    <p:cond delay="171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7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3" dur="700" decel="100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4" dur="700" decel="100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7" presetID="42" presetClass="entr" presetSubtype="0" fill="hold" grpId="0" nodeType="withEffect">
                                  <p:stCondLst>
                                    <p:cond delay="171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7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8" dur="700" decel="100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9" dur="700" decel="100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2" presetID="42" presetClass="entr" presetSubtype="0" fill="hold" grpId="0" nodeType="withEffect">
                                  <p:stCondLst>
                                    <p:cond delay="197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1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3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4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5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66" dur="4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1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12">
    <p:bg>
      <p:bgPr>
        <a:solidFill>
          <a:srgbClr val="0E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home/user/omgGame/presentations/cantillon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rack"/>
          <p:cNvSpPr/>
          <p:nvPr/>
        </p:nvSpPr>
        <p:spPr>
          <a:xfrm>
            <a:off x="685800" y="402336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4" name="!!progress"/>
          <p:cNvSpPr/>
          <p:nvPr/>
        </p:nvSpPr>
        <p:spPr>
          <a:xfrm>
            <a:off x="685800" y="391363"/>
            <a:ext cx="7934736" cy="21946"/>
          </a:xfrm>
          <a:prstGeom prst="rect">
            <a:avLst/>
          </a:prstGeom>
          <a:solidFill>
            <a:srgbClr val="E3B663"/>
          </a:solidFill>
          <a:ln/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!!coin">
                <a:extLst>
                  <a:ext uri="{FF2B5EF4-FFF2-40B4-BE49-F238E27FC236}">
                    <a16:creationId xmlns:a16="http://schemas.microsoft.com/office/drawing/2014/main" id="{F1FFD5E0-2589-B9B2-D25D-C250CE14C2CC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8346216" y="98755"/>
              <a:ext cx="548640" cy="548640"/>
            </p:xfrm>
            <a:graphic>
              <a:graphicData uri="http://schemas.microsoft.com/office/drawing/2017/model3d">
                <am3d:model3d r:embed="rIdM3d44">
                  <am3d:spPr>
                    <a:xfrm>
                      <a:off x="0" y="0"/>
                      <a:ext cx="548640" cy="548640"/>
                    </a:xfrm>
                    <a:prstGeom prst="rect">
                      <a:avLst/>
                    </a:prstGeom>
                  </am3d:spPr>
                  <am3d:camera>
                    <am3d:pos x="0" y="0" z="6662303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00000" d="1000000"/>
                    <am3d:preTrans dx="0" dy="0" dz="-162000"/>
                    <am3d:scale>
                      <am3d:sx n="1000000" d="1000000"/>
                      <am3d:sy n="1000000" d="1000000"/>
                      <am3d:sz n="1000000" d="1000000"/>
                    </am3d:scale>
                    <am3d:rot ax="0" ay="-720000" az="-96360000"/>
                    <am3d:postTrans dx="0" dy="0" dz="0"/>
                  </am3d:trans>
                  <am3d:raster rName="Office3DRenderer" rVer="16.0.8326">
                    <am3d:blip r:embed="rId2"/>
                  </am3d:raster>
                  <am3d:objViewport viewportSz="5486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!!coin">
                <a:extLst>
                  <a:ext uri="{FF2B5EF4-FFF2-40B4-BE49-F238E27FC236}">
                    <a16:creationId xmlns:a16="http://schemas.microsoft.com/office/drawing/2014/main" id="{F1FFD5E0-2589-B9B2-D25D-C250CE14C2C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346216" y="98755"/>
                <a:ext cx="548640" cy="54864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!!kickerbar"/>
          <p:cNvSpPr/>
          <p:nvPr/>
        </p:nvSpPr>
        <p:spPr>
          <a:xfrm>
            <a:off x="685800" y="713232"/>
            <a:ext cx="310896" cy="3200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7" name="!!kicker"/>
          <p:cNvSpPr/>
          <p:nvPr/>
        </p:nvSpPr>
        <p:spPr>
          <a:xfrm>
            <a:off x="1124712" y="594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3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— СИЛЬНЫЕ И СЛАБЫЕ СТОРОНЫ</a:t>
            </a:r>
            <a:endParaRPr lang="en-US" sz="1100" dirty="0"/>
          </a:p>
        </p:txBody>
      </p:sp>
      <p:sp>
        <p:nvSpPr>
          <p:cNvPr id="8" name="!!footline"/>
          <p:cNvSpPr/>
          <p:nvPr/>
        </p:nvSpPr>
        <p:spPr>
          <a:xfrm>
            <a:off x="685800" y="6400800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9" name="!!footer"/>
          <p:cNvSpPr/>
          <p:nvPr/>
        </p:nvSpPr>
        <p:spPr>
          <a:xfrm>
            <a:off x="68580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РИЧАРД КАНТИЛЬОН  ·  1680-е – 1734</a:t>
            </a:r>
            <a:endParaRPr lang="en-US" sz="900" dirty="0"/>
          </a:p>
        </p:txBody>
      </p:sp>
      <p:sp>
        <p:nvSpPr>
          <p:cNvPr id="10" name="!!src"/>
          <p:cNvSpPr/>
          <p:nvPr/>
        </p:nvSpPr>
        <p:spPr>
          <a:xfrm>
            <a:off x="3566160" y="6492240"/>
            <a:ext cx="6492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Источники: </a:t>
            </a:r>
            <a:pPr algn="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Hébert &amp; Link (2009); Knight (1921); Baumol (1990)</a:t>
            </a:r>
            <a:endParaRPr lang="en-US" sz="850" dirty="0"/>
          </a:p>
        </p:txBody>
      </p:sp>
      <p:sp>
        <p:nvSpPr>
          <p:cNvPr id="11" name="!!pagenum"/>
          <p:cNvSpPr/>
          <p:nvPr/>
        </p:nvSpPr>
        <p:spPr>
          <a:xfrm>
            <a:off x="10134295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16</a:t>
            </a:r>
            <a:endParaRPr lang="en-US" sz="900" dirty="0"/>
          </a:p>
        </p:txBody>
      </p:sp>
      <p:pic>
        <p:nvPicPr>
          <p:cNvPr id="12" name="!!glow" descr="/home/user/omgGame/presentations/cantillon/assets/gl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6892" y="4572"/>
            <a:ext cx="5568696" cy="5568696"/>
          </a:xfrm>
          <a:prstGeom prst="rect">
            <a:avLst/>
          </a:prstGeom>
        </p:spPr>
      </p:pic>
      <p:sp>
        <p:nvSpPr>
          <p:cNvPr id="13" name="!!ring1"/>
          <p:cNvSpPr/>
          <p:nvPr/>
        </p:nvSpPr>
        <p:spPr>
          <a:xfrm>
            <a:off x="8116214" y="983894"/>
            <a:ext cx="3610051" cy="3610051"/>
          </a:xfrm>
          <a:prstGeom prst="ellipse">
            <a:avLst/>
          </a:prstGeom>
          <a:ln w="9525">
            <a:solidFill>
              <a:srgbClr val="E3B663">
                <a:alpha val="18000"/>
              </a:srgbClr>
            </a:solidFill>
            <a:prstDash val="solid"/>
          </a:ln>
        </p:spPr>
      </p:sp>
      <p:sp>
        <p:nvSpPr>
          <p:cNvPr id="14" name="!!ring2"/>
          <p:cNvSpPr/>
          <p:nvPr/>
        </p:nvSpPr>
        <p:spPr>
          <a:xfrm>
            <a:off x="7616952" y="484632"/>
            <a:ext cx="4608576" cy="4608576"/>
          </a:xfrm>
          <a:prstGeom prst="ellipse">
            <a:avLst/>
          </a:prstGeom>
          <a:ln w="9525">
            <a:solidFill>
              <a:srgbClr val="E3B663">
                <a:alpha val="12000"/>
              </a:srgbClr>
            </a:solidFill>
            <a:prstDash val="dash"/>
          </a:ln>
        </p:spPr>
      </p:sp>
      <p:pic>
        <p:nvPicPr>
          <p:cNvPr id="15" name="!!shadow" descr="/home/user/omgGame/presentations/cantillon/assets/shad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9096" y="3883457"/>
            <a:ext cx="2304288" cy="576072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6" name="!!m-hourglass_c">
                <a:extLst>
                  <a:ext uri="{FF2B5EF4-FFF2-40B4-BE49-F238E27FC236}">
                    <a16:creationId xmlns:a16="http://schemas.microsoft.com/office/drawing/2014/main" id="{B5F8F855-D189-245E-70C9-6515FFDFB118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8001000" y="868680"/>
              <a:ext cx="3840480" cy="3840480"/>
            </p:xfrm>
            <a:graphic>
              <a:graphicData uri="http://schemas.microsoft.com/office/drawing/2017/model3d">
                <am3d:model3d r:embed="rIdM3d45">
                  <am3d:spPr>
                    <a:xfrm>
                      <a:off x="0" y="0"/>
                      <a:ext cx="3840480" cy="3840480"/>
                    </a:xfrm>
                    <a:prstGeom prst="rect">
                      <a:avLst/>
                    </a:prstGeom>
                  </am3d:spPr>
                  <am3d:camera>
                    <am3d:pos x="0" y="0" z="63290777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04225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720000" ay="-1320000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5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8404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6" name="!!m-hourglass_c">
                <a:extLst>
                  <a:ext uri="{FF2B5EF4-FFF2-40B4-BE49-F238E27FC236}">
                    <a16:creationId xmlns:a16="http://schemas.microsoft.com/office/drawing/2014/main" id="{B5F8F855-D189-245E-70C9-6515FFDFB11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001000" y="868680"/>
                <a:ext cx="3840480" cy="3840480"/>
              </a:xfrm>
              <a:prstGeom prst="rect">
                <a:avLst/>
              </a:prstGeom>
            </p:spPr>
          </p:pic>
        </mc:Fallback>
      </mc:AlternateContent>
      <p:sp>
        <p:nvSpPr>
          <p:cNvPr id="17" name="fx12_9_0"/>
          <p:cNvSpPr/>
          <p:nvPr/>
        </p:nvSpPr>
        <p:spPr>
          <a:xfrm>
            <a:off x="8138160" y="4440326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spc="25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ЭКСПОНАТ 12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 временем: песок бежит — часы переворачиваются</a:t>
            </a:r>
            <a:endParaRPr lang="en-US" sz="900" dirty="0"/>
          </a:p>
        </p:txBody>
      </p:sp>
      <p:sp>
        <p:nvSpPr>
          <p:cNvPr id="18" name="!!title"/>
          <p:cNvSpPr/>
          <p:nvPr/>
        </p:nvSpPr>
        <p:spPr>
          <a:xfrm>
            <a:off x="685800" y="98755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2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Сильные и слабые стороны</a:t>
            </a:r>
            <a:endParaRPr lang="en-US" sz="3200" dirty="0"/>
          </a:p>
        </p:txBody>
      </p:sp>
      <p:sp>
        <p:nvSpPr>
          <p:cNvPr id="19" name="fx12_1_1"/>
          <p:cNvSpPr/>
          <p:nvPr/>
        </p:nvSpPr>
        <p:spPr>
          <a:xfrm>
            <a:off x="685800" y="1783080"/>
            <a:ext cx="3291840" cy="3429000"/>
          </a:xfrm>
          <a:prstGeom prst="roundRect">
            <a:avLst>
              <a:gd name="adj" fmla="val 2222"/>
            </a:avLst>
          </a:prstGeom>
          <a:solidFill>
            <a:srgbClr val="22121A">
              <a:alpha val="88000"/>
            </a:srgbClr>
          </a:solidFill>
          <a:ln w="9525">
            <a:solidFill>
              <a:srgbClr val="E3B663">
                <a:alpha val="45000"/>
              </a:srgbClr>
            </a:solidFill>
            <a:prstDash val="solid"/>
          </a:ln>
        </p:spPr>
      </p:sp>
      <p:sp>
        <p:nvSpPr>
          <p:cNvPr id="20" name="fx12_1_2"/>
          <p:cNvSpPr/>
          <p:nvPr/>
        </p:nvSpPr>
        <p:spPr>
          <a:xfrm>
            <a:off x="886968" y="191109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2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 СИЛЬНЫЕ</a:t>
            </a:r>
            <a:endParaRPr lang="en-US" sz="1100" dirty="0"/>
          </a:p>
        </p:txBody>
      </p:sp>
      <p:sp>
        <p:nvSpPr>
          <p:cNvPr id="21" name="fx12_1_3"/>
          <p:cNvSpPr/>
          <p:nvPr/>
        </p:nvSpPr>
        <p:spPr>
          <a:xfrm>
            <a:off x="886968" y="2258568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функции, а не по сословию</a:t>
            </a:r>
            <a:endParaRPr lang="en-US" sz="1200" dirty="0"/>
          </a:p>
        </p:txBody>
      </p:sp>
      <p:sp>
        <p:nvSpPr>
          <p:cNvPr id="22" name="fx12_1_4"/>
          <p:cNvSpPr/>
          <p:nvPr/>
        </p:nvSpPr>
        <p:spPr>
          <a:xfrm>
            <a:off x="886968" y="250545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Определение работает и для трубочиста, и для банкира.</a:t>
            </a:r>
            <a:endParaRPr lang="en-US" sz="1000" dirty="0"/>
          </a:p>
        </p:txBody>
      </p:sp>
      <p:sp>
        <p:nvSpPr>
          <p:cNvPr id="23" name="fx12_1_5"/>
          <p:cNvSpPr/>
          <p:nvPr/>
        </p:nvSpPr>
        <p:spPr>
          <a:xfrm>
            <a:off x="886968" y="2990088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Экономика как система</a:t>
            </a:r>
            <a:endParaRPr lang="en-US" sz="1200" dirty="0"/>
          </a:p>
        </p:txBody>
      </p:sp>
      <p:sp>
        <p:nvSpPr>
          <p:cNvPr id="24" name="fx12_1_6"/>
          <p:cNvSpPr/>
          <p:nvPr/>
        </p:nvSpPr>
        <p:spPr>
          <a:xfrm>
            <a:off x="886968" y="323697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Рынок сам согласует спрос и предложение — раньше физиократов и Смита.</a:t>
            </a:r>
            <a:endParaRPr lang="en-US" sz="1000" dirty="0"/>
          </a:p>
        </p:txBody>
      </p:sp>
      <p:sp>
        <p:nvSpPr>
          <p:cNvPr id="25" name="fx12_2_7"/>
          <p:cNvSpPr/>
          <p:nvPr/>
        </p:nvSpPr>
        <p:spPr>
          <a:xfrm>
            <a:off x="886968" y="3721608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Деньги не нейтральны</a:t>
            </a:r>
            <a:endParaRPr lang="en-US" sz="1200" dirty="0"/>
          </a:p>
        </p:txBody>
      </p:sp>
      <p:sp>
        <p:nvSpPr>
          <p:cNvPr id="26" name="fx12_2_8"/>
          <p:cNvSpPr/>
          <p:nvPr/>
        </p:nvSpPr>
        <p:spPr>
          <a:xfrm>
            <a:off x="886968" y="396849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Эффект Кантильона объясняет последствия печатания денег и сегодня.</a:t>
            </a:r>
            <a:endParaRPr lang="en-US" sz="1000" dirty="0"/>
          </a:p>
        </p:txBody>
      </p:sp>
      <p:sp>
        <p:nvSpPr>
          <p:cNvPr id="27" name="fx12_2_9"/>
          <p:cNvSpPr/>
          <p:nvPr/>
        </p:nvSpPr>
        <p:spPr>
          <a:xfrm>
            <a:off x="886968" y="4453128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Взгляд практика</a:t>
            </a:r>
            <a:endParaRPr lang="en-US" sz="1200" dirty="0"/>
          </a:p>
        </p:txBody>
      </p:sp>
      <p:sp>
        <p:nvSpPr>
          <p:cNvPr id="28" name="fx12_2_10"/>
          <p:cNvSpPr/>
          <p:nvPr/>
        </p:nvSpPr>
        <p:spPr>
          <a:xfrm>
            <a:off x="886968" y="470001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Автор сам был предпринимателем: теория выросла из сделок.</a:t>
            </a:r>
            <a:endParaRPr lang="en-US" sz="1000" dirty="0"/>
          </a:p>
        </p:txBody>
      </p:sp>
      <p:sp>
        <p:nvSpPr>
          <p:cNvPr id="29" name="fx12_3_11"/>
          <p:cNvSpPr/>
          <p:nvPr/>
        </p:nvSpPr>
        <p:spPr>
          <a:xfrm>
            <a:off x="4114800" y="1783080"/>
            <a:ext cx="3291840" cy="3429000"/>
          </a:xfrm>
          <a:prstGeom prst="roundRect">
            <a:avLst>
              <a:gd name="adj" fmla="val 2222"/>
            </a:avLst>
          </a:prstGeom>
          <a:solidFill>
            <a:srgbClr val="22121A">
              <a:alpha val="88000"/>
            </a:srgbClr>
          </a:solidFill>
          <a:ln w="9525">
            <a:solidFill>
              <a:srgbClr val="E8866A">
                <a:alpha val="45000"/>
              </a:srgbClr>
            </a:solidFill>
            <a:prstDash val="solid"/>
          </a:ln>
        </p:spPr>
      </p:sp>
      <p:sp>
        <p:nvSpPr>
          <p:cNvPr id="30" name="fx12_3_12"/>
          <p:cNvSpPr/>
          <p:nvPr/>
        </p:nvSpPr>
        <p:spPr>
          <a:xfrm>
            <a:off x="4315968" y="191109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200" kern="0" dirty="0">
                <a:solidFill>
                  <a:srgbClr val="E8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✘  СЛАБЫЕ</a:t>
            </a:r>
            <a:endParaRPr lang="en-US" sz="1100" dirty="0"/>
          </a:p>
        </p:txBody>
      </p:sp>
      <p:sp>
        <p:nvSpPr>
          <p:cNvPr id="31" name="fx12_3_13"/>
          <p:cNvSpPr/>
          <p:nvPr/>
        </p:nvSpPr>
        <p:spPr>
          <a:xfrm>
            <a:off x="4315968" y="2258568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Пассивный предприниматель</a:t>
            </a:r>
            <a:endParaRPr lang="en-US" sz="1200" dirty="0"/>
          </a:p>
        </p:txBody>
      </p:sp>
      <p:sp>
        <p:nvSpPr>
          <p:cNvPr id="32" name="fx12_3_14"/>
          <p:cNvSpPr/>
          <p:nvPr/>
        </p:nvSpPr>
        <p:spPr>
          <a:xfrm>
            <a:off x="4315968" y="250545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Приспосабливается к рынку, но не создаёт нового — это добавит Шумпетер.</a:t>
            </a:r>
            <a:endParaRPr lang="en-US" sz="1000" dirty="0"/>
          </a:p>
        </p:txBody>
      </p:sp>
      <p:sp>
        <p:nvSpPr>
          <p:cNvPr id="33" name="fx12_3_15"/>
          <p:cNvSpPr/>
          <p:nvPr/>
        </p:nvSpPr>
        <p:spPr>
          <a:xfrm>
            <a:off x="4315968" y="2990088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Риск дела = риск капитала?</a:t>
            </a:r>
            <a:endParaRPr lang="en-US" sz="1200" dirty="0"/>
          </a:p>
        </p:txBody>
      </p:sp>
      <p:sp>
        <p:nvSpPr>
          <p:cNvPr id="34" name="fx12_3_16"/>
          <p:cNvSpPr/>
          <p:nvPr/>
        </p:nvSpPr>
        <p:spPr>
          <a:xfrm>
            <a:off x="4315968" y="323697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разделяет предпринимателя и капиталиста — это сделают Сэй и Найт.</a:t>
            </a:r>
            <a:endParaRPr lang="en-US" sz="1000" dirty="0"/>
          </a:p>
        </p:txBody>
      </p:sp>
      <p:sp>
        <p:nvSpPr>
          <p:cNvPr id="35" name="fx12_4_17"/>
          <p:cNvSpPr/>
          <p:nvPr/>
        </p:nvSpPr>
        <p:spPr>
          <a:xfrm>
            <a:off x="4315968" y="3721608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Слишком широко</a:t>
            </a:r>
            <a:endParaRPr lang="en-US" sz="1200" dirty="0"/>
          </a:p>
        </p:txBody>
      </p:sp>
      <p:sp>
        <p:nvSpPr>
          <p:cNvPr id="36" name="fx12_4_18"/>
          <p:cNvSpPr/>
          <p:nvPr/>
        </p:nvSpPr>
        <p:spPr>
          <a:xfrm>
            <a:off x="4315968" y="396849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Даже «грабители» — предприниматели: созидание не отделено от разрушения (Баумоль).</a:t>
            </a:r>
            <a:endParaRPr lang="en-US" sz="1000" dirty="0"/>
          </a:p>
        </p:txBody>
      </p:sp>
      <p:sp>
        <p:nvSpPr>
          <p:cNvPr id="37" name="fx12_4_19"/>
          <p:cNvSpPr/>
          <p:nvPr/>
        </p:nvSpPr>
        <p:spPr>
          <a:xfrm>
            <a:off x="4315968" y="4453128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Аграрная картина мира</a:t>
            </a:r>
            <a:endParaRPr lang="en-US" sz="1200" dirty="0"/>
          </a:p>
        </p:txBody>
      </p:sp>
      <p:sp>
        <p:nvSpPr>
          <p:cNvPr id="38" name="fx12_4_20"/>
          <p:cNvSpPr/>
          <p:nvPr/>
        </p:nvSpPr>
        <p:spPr>
          <a:xfrm>
            <a:off x="4315968" y="470001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Независимы только землевладельцы, стоимость — через землю.</a:t>
            </a:r>
            <a:endParaRPr lang="en-US" sz="1000" dirty="0"/>
          </a:p>
        </p:txBody>
      </p:sp>
      <p:sp>
        <p:nvSpPr>
          <p:cNvPr id="39" name="fx12_5_21"/>
          <p:cNvSpPr/>
          <p:nvPr/>
        </p:nvSpPr>
        <p:spPr>
          <a:xfrm>
            <a:off x="685800" y="5468112"/>
            <a:ext cx="6720840" cy="749808"/>
          </a:xfrm>
          <a:prstGeom prst="roundRect">
            <a:avLst>
              <a:gd name="adj" fmla="val 9756"/>
            </a:avLst>
          </a:prstGeom>
          <a:solidFill>
            <a:srgbClr val="22170B">
              <a:alpha val="92000"/>
            </a:srgbClr>
          </a:solidFill>
          <a:ln w="12700">
            <a:solidFill>
              <a:srgbClr val="E3B663">
                <a:alpha val="55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40" name="fx12_5_22"/>
          <p:cNvSpPr/>
          <p:nvPr/>
        </p:nvSpPr>
        <p:spPr>
          <a:xfrm>
            <a:off x="685800" y="5614416"/>
            <a:ext cx="50292" cy="457200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41" name="fx12_5_23"/>
          <p:cNvSpPr/>
          <p:nvPr/>
        </p:nvSpPr>
        <p:spPr>
          <a:xfrm>
            <a:off x="941832" y="5330952"/>
            <a:ext cx="1513332" cy="274320"/>
          </a:xfrm>
          <a:prstGeom prst="roundRect">
            <a:avLst>
              <a:gd name="adj" fmla="val 50000"/>
            </a:avLst>
          </a:prstGeom>
          <a:solidFill>
            <a:srgbClr val="E3B663"/>
          </a:solidFill>
          <a:ln/>
        </p:spPr>
      </p:sp>
      <p:sp>
        <p:nvSpPr>
          <p:cNvPr id="42" name="fx12_5_24"/>
          <p:cNvSpPr/>
          <p:nvPr/>
        </p:nvSpPr>
        <p:spPr>
          <a:xfrm>
            <a:off x="941832" y="5330952"/>
            <a:ext cx="15133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spc="150" kern="0" dirty="0">
                <a:solidFill>
                  <a:srgbClr val="0D0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 НАША ОЦЕНКА</a:t>
            </a:r>
            <a:endParaRPr lang="en-US" sz="850" dirty="0"/>
          </a:p>
        </p:txBody>
      </p:sp>
      <p:sp>
        <p:nvSpPr>
          <p:cNvPr id="43" name="fx12_5_25"/>
          <p:cNvSpPr/>
          <p:nvPr/>
        </p:nvSpPr>
        <p:spPr>
          <a:xfrm>
            <a:off x="960120" y="5650992"/>
            <a:ext cx="6263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Каркас верен и через 300 лет. </a:t>
            </a:r>
            <a:pPr algn="l" indent="0" marL="0">
              <a:lnSpc>
                <a:spcPct val="105000"/>
              </a:lnSpc>
              <a:buNone/>
            </a:pPr>
            <a:r>
              <a:rPr lang="en-US" sz="1250" b="1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Но для XXI века нужны инновации (Шумпетер) и различие риска и неопределённости (Найт).</a:t>
            </a:r>
            <a:endParaRPr lang="en-US" sz="125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4" name="!!m-compass">
                <a:extLst>
                  <a:ext uri="{FF2B5EF4-FFF2-40B4-BE49-F238E27FC236}">
                    <a16:creationId xmlns:a16="http://schemas.microsoft.com/office/drawing/2014/main" id="{2818AB2C-D7E5-A3BC-B72E-1101EEEDB8F3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3246120" y="502920"/>
              <a:ext cx="2697480" cy="2697480"/>
            </p:xfrm>
            <a:graphic>
              <a:graphicData uri="http://schemas.microsoft.com/office/drawing/2017/model3d">
                <am3d:model3d r:embed="rIdM3d46">
                  <am3d:spPr>
                    <a:xfrm>
                      <a:off x="0" y="0"/>
                      <a:ext cx="2697480" cy="2697480"/>
                    </a:xfrm>
                    <a:prstGeom prst="rect">
                      <a:avLst/>
                    </a:prstGeom>
                  </am3d:spPr>
                  <am3d:camera>
                    <am3d:pos x="0" y="0" z="69237137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863215" d="1000000"/>
                    <am3d:preTrans dx="0" dy="-3113734" dz="1498900"/>
                    <am3d:scale>
                      <am3d:sx n="1000000" d="1000000"/>
                      <am3d:sy n="1000000" d="1000000"/>
                      <am3d:sz n="1000000" d="1000000"/>
                    </am3d:scale>
                    <am3d:rot ax="360000" ay="-6000000" az="0"/>
                    <am3d:postTrans dx="0" dy="0" dz="0"/>
                  </am3d:trans>
                  <am3d:raster rName="Office3DRenderer" rVer="16.0.8326">
                    <am3d:blip r:embed="rId6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26974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4" name="!!m-compass">
                <a:extLst>
                  <a:ext uri="{FF2B5EF4-FFF2-40B4-BE49-F238E27FC236}">
                    <a16:creationId xmlns:a16="http://schemas.microsoft.com/office/drawing/2014/main" id="{2818AB2C-D7E5-A3BC-B72E-1101EEEDB8F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-3246120" y="502920"/>
                <a:ext cx="2697480" cy="2697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5" name="!!m-candle">
                <a:extLst>
                  <a:ext uri="{FF2B5EF4-FFF2-40B4-BE49-F238E27FC236}">
                    <a16:creationId xmlns:a16="http://schemas.microsoft.com/office/drawing/2014/main" id="{1CA673A7-C4D4-9475-55A8-D0E685161FB6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740335" y="1188720"/>
              <a:ext cx="4206240" cy="4206240"/>
            </p:xfrm>
            <a:graphic>
              <a:graphicData uri="http://schemas.microsoft.com/office/drawing/2017/model3d">
                <am3d:model3d r:embed="rIdM3d47">
                  <am3d:spPr>
                    <a:xfrm>
                      <a:off x="0" y="0"/>
                      <a:ext cx="4206240" cy="4206240"/>
                    </a:xfrm>
                    <a:prstGeom prst="rect">
                      <a:avLst/>
                    </a:prstGeom>
                  </am3d:spPr>
                  <am3d:camera>
                    <am3d:pos x="0" y="0" z="6435736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869716" d="1000000"/>
                    <am3d:preTrans dx="-2363889" dy="-2345104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600000" ay="3600000" az="0"/>
                    <am3d:postTrans dx="0" dy="0" dz="0"/>
                  </am3d:trans>
                  <am3d:raster rName="Office3DRenderer" rVer="16.0.8326">
                    <am3d:blip r:embed="rId7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2062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5" name="!!m-candle">
                <a:extLst>
                  <a:ext uri="{FF2B5EF4-FFF2-40B4-BE49-F238E27FC236}">
                    <a16:creationId xmlns:a16="http://schemas.microsoft.com/office/drawing/2014/main" id="{1CA673A7-C4D4-9475-55A8-D0E685161FB6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2740335" y="1188720"/>
                <a:ext cx="4206240" cy="420624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7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7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7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7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70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70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7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70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70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7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70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70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7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700" decel="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700" decel="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3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5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36" dur="5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1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13">
    <p:bg>
      <p:bgPr>
        <a:solidFill>
          <a:srgbClr val="0E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home/user/omgGame/presentations/cantillon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rack"/>
          <p:cNvSpPr/>
          <p:nvPr/>
        </p:nvSpPr>
        <p:spPr>
          <a:xfrm>
            <a:off x="685800" y="402336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4" name="!!progress"/>
          <p:cNvSpPr/>
          <p:nvPr/>
        </p:nvSpPr>
        <p:spPr>
          <a:xfrm>
            <a:off x="685800" y="391363"/>
            <a:ext cx="8656076" cy="21946"/>
          </a:xfrm>
          <a:prstGeom prst="rect">
            <a:avLst/>
          </a:prstGeom>
          <a:solidFill>
            <a:srgbClr val="E3B663"/>
          </a:solidFill>
          <a:ln/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!!coin">
                <a:extLst>
                  <a:ext uri="{FF2B5EF4-FFF2-40B4-BE49-F238E27FC236}">
                    <a16:creationId xmlns:a16="http://schemas.microsoft.com/office/drawing/2014/main" id="{F9FDCE8E-B503-134F-8B5E-39055B303903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9067556" y="98755"/>
              <a:ext cx="548640" cy="548640"/>
            </p:xfrm>
            <a:graphic>
              <a:graphicData uri="http://schemas.microsoft.com/office/drawing/2017/model3d">
                <am3d:model3d r:embed="rIdM3d48">
                  <am3d:spPr>
                    <a:xfrm>
                      <a:off x="0" y="0"/>
                      <a:ext cx="548640" cy="548640"/>
                    </a:xfrm>
                    <a:prstGeom prst="rect">
                      <a:avLst/>
                    </a:prstGeom>
                  </am3d:spPr>
                  <am3d:camera>
                    <am3d:pos x="0" y="0" z="6662303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00000" d="1000000"/>
                    <am3d:preTrans dx="0" dy="0" dz="-162000"/>
                    <am3d:scale>
                      <am3d:sx n="1000000" d="1000000"/>
                      <am3d:sy n="1000000" d="1000000"/>
                      <am3d:sz n="1000000" d="1000000"/>
                    </am3d:scale>
                    <am3d:rot ax="0" ay="-720000" az="-105120000"/>
                    <am3d:postTrans dx="0" dy="0" dz="0"/>
                  </am3d:trans>
                  <am3d:raster rName="Office3DRenderer" rVer="16.0.8326">
                    <am3d:blip r:embed="rId2"/>
                  </am3d:raster>
                  <am3d:objViewport viewportSz="5486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!!coin">
                <a:extLst>
                  <a:ext uri="{FF2B5EF4-FFF2-40B4-BE49-F238E27FC236}">
                    <a16:creationId xmlns:a16="http://schemas.microsoft.com/office/drawing/2014/main" id="{F9FDCE8E-B503-134F-8B5E-39055B30390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9067556" y="98755"/>
                <a:ext cx="548640" cy="54864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!!kickerbar"/>
          <p:cNvSpPr/>
          <p:nvPr/>
        </p:nvSpPr>
        <p:spPr>
          <a:xfrm>
            <a:off x="685800" y="713232"/>
            <a:ext cx="310896" cy="3200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7" name="!!kicker"/>
          <p:cNvSpPr/>
          <p:nvPr/>
        </p:nvSpPr>
        <p:spPr>
          <a:xfrm>
            <a:off x="1124712" y="594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3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— ЗАГАДКА СМЕРТИ</a:t>
            </a:r>
            <a:endParaRPr lang="en-US" sz="1100" dirty="0"/>
          </a:p>
        </p:txBody>
      </p:sp>
      <p:sp>
        <p:nvSpPr>
          <p:cNvPr id="8" name="!!footline"/>
          <p:cNvSpPr/>
          <p:nvPr/>
        </p:nvSpPr>
        <p:spPr>
          <a:xfrm>
            <a:off x="685800" y="6400800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9" name="!!footer"/>
          <p:cNvSpPr/>
          <p:nvPr/>
        </p:nvSpPr>
        <p:spPr>
          <a:xfrm>
            <a:off x="68580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РИЧАРД КАНТИЛЬОН  ·  1680-е – 1734</a:t>
            </a:r>
            <a:endParaRPr lang="en-US" sz="900" dirty="0"/>
          </a:p>
        </p:txBody>
      </p:sp>
      <p:sp>
        <p:nvSpPr>
          <p:cNvPr id="10" name="!!src"/>
          <p:cNvSpPr/>
          <p:nvPr/>
        </p:nvSpPr>
        <p:spPr>
          <a:xfrm>
            <a:off x="3566160" y="6492240"/>
            <a:ext cx="6492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Источники: </a:t>
            </a:r>
            <a:pPr algn="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Murphy (1986); Gentleman’s Magazine (1734); DIB</a:t>
            </a:r>
            <a:endParaRPr lang="en-US" sz="850" dirty="0"/>
          </a:p>
        </p:txBody>
      </p:sp>
      <p:sp>
        <p:nvSpPr>
          <p:cNvPr id="11" name="!!pagenum"/>
          <p:cNvSpPr/>
          <p:nvPr/>
        </p:nvSpPr>
        <p:spPr>
          <a:xfrm>
            <a:off x="10134295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16</a:t>
            </a:r>
            <a:endParaRPr lang="en-US" sz="900" dirty="0"/>
          </a:p>
        </p:txBody>
      </p:sp>
      <p:pic>
        <p:nvPicPr>
          <p:cNvPr id="12" name="!!glow" descr="/home/user/omgGame/presentations/cantillon/assets/gl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0276" y="-123444"/>
            <a:ext cx="6099048" cy="6099048"/>
          </a:xfrm>
          <a:prstGeom prst="rect">
            <a:avLst/>
          </a:prstGeom>
        </p:spPr>
      </p:pic>
      <p:sp>
        <p:nvSpPr>
          <p:cNvPr id="13" name="!!ring1"/>
          <p:cNvSpPr/>
          <p:nvPr/>
        </p:nvSpPr>
        <p:spPr>
          <a:xfrm>
            <a:off x="7852867" y="949147"/>
            <a:ext cx="3953866" cy="3953866"/>
          </a:xfrm>
          <a:prstGeom prst="ellipse">
            <a:avLst/>
          </a:prstGeom>
          <a:ln w="9525">
            <a:solidFill>
              <a:srgbClr val="E3B663">
                <a:alpha val="18000"/>
              </a:srgbClr>
            </a:solidFill>
            <a:prstDash val="solid"/>
          </a:ln>
        </p:spPr>
      </p:sp>
      <p:sp>
        <p:nvSpPr>
          <p:cNvPr id="14" name="!!ring2"/>
          <p:cNvSpPr/>
          <p:nvPr/>
        </p:nvSpPr>
        <p:spPr>
          <a:xfrm>
            <a:off x="7306056" y="402336"/>
            <a:ext cx="5047488" cy="5047488"/>
          </a:xfrm>
          <a:prstGeom prst="ellipse">
            <a:avLst/>
          </a:prstGeom>
          <a:ln w="9525">
            <a:solidFill>
              <a:srgbClr val="E3B663">
                <a:alpha val="12000"/>
              </a:srgbClr>
            </a:solidFill>
            <a:prstDash val="dash"/>
          </a:ln>
        </p:spPr>
      </p:sp>
      <p:pic>
        <p:nvPicPr>
          <p:cNvPr id="15" name="!!shadow" descr="/home/user/omgGame/presentations/cantillon/assets/shad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73084" y="4151147"/>
            <a:ext cx="2313432" cy="578358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6" name="!!m-candle">
                <a:extLst>
                  <a:ext uri="{FF2B5EF4-FFF2-40B4-BE49-F238E27FC236}">
                    <a16:creationId xmlns:a16="http://schemas.microsoft.com/office/drawing/2014/main" id="{945B8C10-B77F-EADA-1AE9-F6CA55C4A76D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7726680" y="822960"/>
              <a:ext cx="4206240" cy="4206240"/>
            </p:xfrm>
            <a:graphic>
              <a:graphicData uri="http://schemas.microsoft.com/office/drawing/2017/model3d">
                <am3d:model3d r:embed="rIdM3d49">
                  <am3d:spPr>
                    <a:xfrm>
                      <a:off x="0" y="0"/>
                      <a:ext cx="4206240" cy="4206240"/>
                    </a:xfrm>
                    <a:prstGeom prst="rect">
                      <a:avLst/>
                    </a:prstGeom>
                  </am3d:spPr>
                  <am3d:camera>
                    <am3d:pos x="0" y="0" z="6435736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869716" d="1000000"/>
                    <am3d:preTrans dx="-2363889" dy="-2345104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600000" ay="-1200000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2062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6" name="!!m-candle">
                <a:extLst>
                  <a:ext uri="{FF2B5EF4-FFF2-40B4-BE49-F238E27FC236}">
                    <a16:creationId xmlns:a16="http://schemas.microsoft.com/office/drawing/2014/main" id="{945B8C10-B77F-EADA-1AE9-F6CA55C4A76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726680" y="822960"/>
                <a:ext cx="4206240" cy="4206240"/>
              </a:xfrm>
              <a:prstGeom prst="rect">
                <a:avLst/>
              </a:prstGeom>
            </p:spPr>
          </p:pic>
        </mc:Fallback>
      </mc:AlternateContent>
      <p:sp>
        <p:nvSpPr>
          <p:cNvPr id="17" name="fx13_9_0"/>
          <p:cNvSpPr/>
          <p:nvPr/>
        </p:nvSpPr>
        <p:spPr>
          <a:xfrm>
            <a:off x="8183880" y="4734763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spc="25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ЭКСПОНАТ 13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Свеча мерцает, мотылёк летит на свет · 14 мая 1734</a:t>
            </a:r>
            <a:endParaRPr lang="en-US" sz="900" dirty="0"/>
          </a:p>
        </p:txBody>
      </p:sp>
      <p:sp>
        <p:nvSpPr>
          <p:cNvPr id="18" name="!!title"/>
          <p:cNvSpPr/>
          <p:nvPr/>
        </p:nvSpPr>
        <p:spPr>
          <a:xfrm>
            <a:off x="685800" y="98755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6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Убит — или сбежал?</a:t>
            </a:r>
            <a:endParaRPr lang="en-US" sz="3600" dirty="0"/>
          </a:p>
        </p:txBody>
      </p:sp>
      <p:sp>
        <p:nvSpPr>
          <p:cNvPr id="19" name="fx13_1_1"/>
          <p:cNvSpPr/>
          <p:nvPr/>
        </p:nvSpPr>
        <p:spPr>
          <a:xfrm>
            <a:off x="685800" y="1792224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03:00</a:t>
            </a:r>
            <a:endParaRPr lang="en-US" sz="1800" dirty="0"/>
          </a:p>
        </p:txBody>
      </p:sp>
      <p:sp>
        <p:nvSpPr>
          <p:cNvPr id="20" name="fx13_1_2"/>
          <p:cNvSpPr/>
          <p:nvPr/>
        </p:nvSpPr>
        <p:spPr>
          <a:xfrm>
            <a:off x="1737360" y="182880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Пожар на Албемарл-стрит</a:t>
            </a:r>
            <a:endParaRPr lang="en-US" sz="1350" dirty="0"/>
          </a:p>
        </p:txBody>
      </p:sp>
      <p:sp>
        <p:nvSpPr>
          <p:cNvPr id="21" name="fx13_1_3"/>
          <p:cNvSpPr/>
          <p:nvPr/>
        </p:nvSpPr>
        <p:spPr>
          <a:xfrm>
            <a:off x="1737360" y="210312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Около 3 часов ночи сгорели его дом и два соседних; в постели — тело.</a:t>
            </a:r>
            <a:endParaRPr lang="en-US" sz="1100" dirty="0"/>
          </a:p>
        </p:txBody>
      </p:sp>
      <p:sp>
        <p:nvSpPr>
          <p:cNvPr id="22" name="fx13_2_4"/>
          <p:cNvSpPr/>
          <p:nvPr/>
        </p:nvSpPr>
        <p:spPr>
          <a:xfrm>
            <a:off x="685800" y="2432304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Улики</a:t>
            </a:r>
            <a:endParaRPr lang="en-US" sz="1800" dirty="0"/>
          </a:p>
        </p:txBody>
      </p:sp>
      <p:sp>
        <p:nvSpPr>
          <p:cNvPr id="23" name="fx13_2_5"/>
          <p:cNvSpPr/>
          <p:nvPr/>
        </p:nvSpPr>
        <p:spPr>
          <a:xfrm>
            <a:off x="1737360" y="246888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Пропали ценности, сбежал повар</a:t>
            </a:r>
            <a:endParaRPr lang="en-US" sz="1350" dirty="0"/>
          </a:p>
        </p:txBody>
      </p:sp>
      <p:sp>
        <p:nvSpPr>
          <p:cNvPr id="24" name="fx13_2_6"/>
          <p:cNvSpPr/>
          <p:nvPr/>
        </p:nvSpPr>
        <p:spPr>
          <a:xfrm>
            <a:off x="1737360" y="274320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Ценностей на £200 000. Уволенный повар бежал за море под чужим именем.</a:t>
            </a:r>
            <a:endParaRPr lang="en-US" sz="1100" dirty="0"/>
          </a:p>
        </p:txBody>
      </p:sp>
      <p:sp>
        <p:nvSpPr>
          <p:cNvPr id="25" name="fx13_3_7"/>
          <p:cNvSpPr/>
          <p:nvPr/>
        </p:nvSpPr>
        <p:spPr>
          <a:xfrm>
            <a:off x="685800" y="3072384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Суд</a:t>
            </a:r>
            <a:endParaRPr lang="en-US" sz="1800" dirty="0"/>
          </a:p>
        </p:txBody>
      </p:sp>
      <p:sp>
        <p:nvSpPr>
          <p:cNvPr id="26" name="fx13_3_8"/>
          <p:cNvSpPr/>
          <p:nvPr/>
        </p:nvSpPr>
        <p:spPr>
          <a:xfrm>
            <a:off x="1737360" y="310896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Слуг оправдали</a:t>
            </a:r>
            <a:endParaRPr lang="en-US" sz="1350" dirty="0"/>
          </a:p>
        </p:txBody>
      </p:sp>
      <p:sp>
        <p:nvSpPr>
          <p:cNvPr id="27" name="fx13_3_9"/>
          <p:cNvSpPr/>
          <p:nvPr/>
        </p:nvSpPr>
        <p:spPr>
          <a:xfrm>
            <a:off x="1737360" y="338328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Трёх слуг судили за убийство и поджог — и в декабре 1734-го отпустили.</a:t>
            </a:r>
            <a:endParaRPr lang="en-US" sz="1100" dirty="0"/>
          </a:p>
        </p:txBody>
      </p:sp>
      <p:sp>
        <p:nvSpPr>
          <p:cNvPr id="28" name="fx13_3_10"/>
          <p:cNvSpPr/>
          <p:nvPr/>
        </p:nvSpPr>
        <p:spPr>
          <a:xfrm>
            <a:off x="685800" y="3840480"/>
            <a:ext cx="3291840" cy="1005840"/>
          </a:xfrm>
          <a:prstGeom prst="roundRect">
            <a:avLst>
              <a:gd name="adj" fmla="val 7273"/>
            </a:avLst>
          </a:prstGeom>
          <a:solidFill>
            <a:srgbClr val="22121A">
              <a:alpha val="90000"/>
            </a:srgbClr>
          </a:solidFill>
          <a:ln w="9525">
            <a:solidFill>
              <a:srgbClr val="9A8C86">
                <a:alpha val="35000"/>
              </a:srgbClr>
            </a:solidFill>
            <a:prstDash val="solid"/>
          </a:ln>
        </p:spPr>
      </p:sp>
      <p:sp>
        <p:nvSpPr>
          <p:cNvPr id="29" name="fx13_3_11"/>
          <p:cNvSpPr/>
          <p:nvPr/>
        </p:nvSpPr>
        <p:spPr>
          <a:xfrm>
            <a:off x="886968" y="3968496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ВЕРСИЯ 1 · УБИЙСТВО</a:t>
            </a:r>
            <a:endParaRPr lang="en-US" sz="950" dirty="0"/>
          </a:p>
        </p:txBody>
      </p:sp>
      <p:sp>
        <p:nvSpPr>
          <p:cNvPr id="30" name="fx13_3_12"/>
          <p:cNvSpPr/>
          <p:nvPr/>
        </p:nvSpPr>
        <p:spPr>
          <a:xfrm>
            <a:off x="886968" y="420624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Повар ограбил и убил хозяина, а пожаром скрыл следы.</a:t>
            </a:r>
            <a:endParaRPr lang="en-US" sz="1300" dirty="0"/>
          </a:p>
        </p:txBody>
      </p:sp>
      <p:sp>
        <p:nvSpPr>
          <p:cNvPr id="31" name="fx13_4_13"/>
          <p:cNvSpPr/>
          <p:nvPr/>
        </p:nvSpPr>
        <p:spPr>
          <a:xfrm>
            <a:off x="4160520" y="3840480"/>
            <a:ext cx="3291840" cy="1005840"/>
          </a:xfrm>
          <a:prstGeom prst="roundRect">
            <a:avLst>
              <a:gd name="adj" fmla="val 7273"/>
            </a:avLst>
          </a:prstGeom>
          <a:solidFill>
            <a:srgbClr val="22121A">
              <a:alpha val="90000"/>
            </a:srgbClr>
          </a:solidFill>
          <a:ln w="9525">
            <a:solidFill>
              <a:srgbClr val="E8866A">
                <a:alpha val="65000"/>
              </a:srgbClr>
            </a:solidFill>
            <a:prstDash val="solid"/>
          </a:ln>
        </p:spPr>
      </p:sp>
      <p:sp>
        <p:nvSpPr>
          <p:cNvPr id="32" name="fx13_4_14"/>
          <p:cNvSpPr/>
          <p:nvPr/>
        </p:nvSpPr>
        <p:spPr>
          <a:xfrm>
            <a:off x="4361688" y="3968496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00" kern="0" dirty="0">
                <a:solidFill>
                  <a:srgbClr val="E8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ВЕРСИЯ 2 · ПОБЕГ</a:t>
            </a:r>
            <a:endParaRPr lang="en-US" sz="950" dirty="0"/>
          </a:p>
        </p:txBody>
      </p:sp>
      <p:sp>
        <p:nvSpPr>
          <p:cNvPr id="33" name="fx13_4_15"/>
          <p:cNvSpPr/>
          <p:nvPr/>
        </p:nvSpPr>
        <p:spPr>
          <a:xfrm>
            <a:off x="4361688" y="420624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Сам инсценировал смерть и уплыл в Суринам (А. Мёрфи).</a:t>
            </a:r>
            <a:endParaRPr lang="en-US" sz="1300" dirty="0"/>
          </a:p>
        </p:txBody>
      </p:sp>
      <p:sp>
        <p:nvSpPr>
          <p:cNvPr id="34" name="fx13_5_16"/>
          <p:cNvSpPr/>
          <p:nvPr/>
        </p:nvSpPr>
        <p:spPr>
          <a:xfrm>
            <a:off x="685800" y="5166360"/>
            <a:ext cx="6766560" cy="960120"/>
          </a:xfrm>
          <a:prstGeom prst="roundRect">
            <a:avLst>
              <a:gd name="adj" fmla="val 7619"/>
            </a:avLst>
          </a:prstGeom>
          <a:solidFill>
            <a:srgbClr val="22170B">
              <a:alpha val="92000"/>
            </a:srgbClr>
          </a:solidFill>
          <a:ln w="12700">
            <a:solidFill>
              <a:srgbClr val="E3B663">
                <a:alpha val="55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35" name="fx13_5_17"/>
          <p:cNvSpPr/>
          <p:nvPr/>
        </p:nvSpPr>
        <p:spPr>
          <a:xfrm>
            <a:off x="685800" y="5312664"/>
            <a:ext cx="50292" cy="667512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36" name="fx13_5_18"/>
          <p:cNvSpPr/>
          <p:nvPr/>
        </p:nvSpPr>
        <p:spPr>
          <a:xfrm>
            <a:off x="941832" y="5029200"/>
            <a:ext cx="1897380" cy="274320"/>
          </a:xfrm>
          <a:prstGeom prst="roundRect">
            <a:avLst>
              <a:gd name="adj" fmla="val 50000"/>
            </a:avLst>
          </a:prstGeom>
          <a:solidFill>
            <a:srgbClr val="E3B663"/>
          </a:solidFill>
          <a:ln/>
        </p:spPr>
      </p:sp>
      <p:sp>
        <p:nvSpPr>
          <p:cNvPr id="37" name="fx13_5_19"/>
          <p:cNvSpPr/>
          <p:nvPr/>
        </p:nvSpPr>
        <p:spPr>
          <a:xfrm>
            <a:off x="941832" y="5029200"/>
            <a:ext cx="18973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spc="150" kern="0" dirty="0">
                <a:solidFill>
                  <a:srgbClr val="0D0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 ГЛАВНАЯ ЗАГАДКА</a:t>
            </a:r>
            <a:endParaRPr lang="en-US" sz="850" dirty="0"/>
          </a:p>
        </p:txBody>
      </p:sp>
      <p:sp>
        <p:nvSpPr>
          <p:cNvPr id="38" name="fx13_5_20"/>
          <p:cNvSpPr/>
          <p:nvPr/>
        </p:nvSpPr>
        <p:spPr>
          <a:xfrm>
            <a:off x="960120" y="5349240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 Суринаме «шевалье де Лувиньи» имел при себе </a:t>
            </a:r>
            <a:pPr algn="l" indent="0" marL="0">
              <a:lnSpc>
                <a:spcPct val="105000"/>
              </a:lnSpc>
              <a:buNone/>
            </a:pPr>
            <a:r>
              <a:rPr lang="en-US" sz="1250" b="1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новое завещание Кантильона от 11 апреля 1734 года</a:t>
            </a:r>
            <a:pPr algn="l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за месяц до пожара.</a:t>
            </a:r>
            <a:endParaRPr lang="en-US" sz="125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9" name="!!m-hourglass_c">
                <a:extLst>
                  <a:ext uri="{FF2B5EF4-FFF2-40B4-BE49-F238E27FC236}">
                    <a16:creationId xmlns:a16="http://schemas.microsoft.com/office/drawing/2014/main" id="{A4878D05-A33F-51C2-16F3-FC30BE9C11E6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4389120" y="1234440"/>
              <a:ext cx="3840480" cy="3840480"/>
            </p:xfrm>
            <a:graphic>
              <a:graphicData uri="http://schemas.microsoft.com/office/drawing/2017/model3d">
                <am3d:model3d r:embed="rIdM3d50">
                  <am3d:spPr>
                    <a:xfrm>
                      <a:off x="0" y="0"/>
                      <a:ext cx="3840480" cy="3840480"/>
                    </a:xfrm>
                    <a:prstGeom prst="rect">
                      <a:avLst/>
                    </a:prstGeom>
                  </am3d:spPr>
                  <am3d:camera>
                    <am3d:pos x="0" y="0" z="63290777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04225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720000" ay="-6120000" az="0"/>
                    <am3d:postTrans dx="0" dy="0" dz="0"/>
                  </am3d:trans>
                  <am3d:raster rName="Office3DRenderer" rVer="16.0.8326">
                    <am3d:blip r:embed="rId6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5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8404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9" name="!!m-hourglass_c">
                <a:extLst>
                  <a:ext uri="{FF2B5EF4-FFF2-40B4-BE49-F238E27FC236}">
                    <a16:creationId xmlns:a16="http://schemas.microsoft.com/office/drawing/2014/main" id="{A4878D05-A33F-51C2-16F3-FC30BE9C11E6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-4389120" y="1234440"/>
                <a:ext cx="3840480" cy="3840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0" name="!!m-jack">
                <a:extLst>
                  <a:ext uri="{FF2B5EF4-FFF2-40B4-BE49-F238E27FC236}">
                    <a16:creationId xmlns:a16="http://schemas.microsoft.com/office/drawing/2014/main" id="{D9677D52-6EEF-A75F-4940-3B6AB41536B0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740335" y="1234440"/>
              <a:ext cx="3931920" cy="3931920"/>
            </p:xfrm>
            <a:graphic>
              <a:graphicData uri="http://schemas.microsoft.com/office/drawing/2017/model3d">
                <am3d:model3d r:embed="rIdM3d51">
                  <am3d:spPr>
                    <a:xfrm>
                      <a:off x="0" y="0"/>
                      <a:ext cx="3931920" cy="3931920"/>
                    </a:xfrm>
                    <a:prstGeom prst="rect">
                      <a:avLst/>
                    </a:prstGeom>
                  </am3d:spPr>
                  <am3d:camera>
                    <am3d:pos x="0" y="0" z="6026996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88870" d="1000000"/>
                    <am3d:preTrans dx="-1598396" dy="-2096383" dz="340792"/>
                    <am3d:scale>
                      <am3d:sx n="1000000" d="1000000"/>
                      <am3d:sy n="1000000" d="1000000"/>
                      <am3d:sz n="1000000" d="1000000"/>
                    </am3d:scale>
                    <am3d:rot ax="840000" ay="3240000" az="0"/>
                    <am3d:postTrans dx="0" dy="0" dz="0"/>
                  </am3d:trans>
                  <am3d:raster rName="Office3DRenderer" rVer="16.0.8326">
                    <am3d:blip r:embed="rId7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5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93192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0" name="!!m-jack">
                <a:extLst>
                  <a:ext uri="{FF2B5EF4-FFF2-40B4-BE49-F238E27FC236}">
                    <a16:creationId xmlns:a16="http://schemas.microsoft.com/office/drawing/2014/main" id="{D9677D52-6EEF-A75F-4940-3B6AB41536B0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2740335" y="1234440"/>
                <a:ext cx="3931920" cy="393192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11" dur="4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1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14">
    <p:bg>
      <p:bgPr>
        <a:solidFill>
          <a:srgbClr val="0E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home/user/omgGame/presentations/cantillon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rack"/>
          <p:cNvSpPr/>
          <p:nvPr/>
        </p:nvSpPr>
        <p:spPr>
          <a:xfrm>
            <a:off x="685800" y="402336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4" name="!!progress"/>
          <p:cNvSpPr/>
          <p:nvPr/>
        </p:nvSpPr>
        <p:spPr>
          <a:xfrm>
            <a:off x="685800" y="391363"/>
            <a:ext cx="9377416" cy="21946"/>
          </a:xfrm>
          <a:prstGeom prst="rect">
            <a:avLst/>
          </a:prstGeom>
          <a:solidFill>
            <a:srgbClr val="E3B663"/>
          </a:solidFill>
          <a:ln/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!!coin">
                <a:extLst>
                  <a:ext uri="{FF2B5EF4-FFF2-40B4-BE49-F238E27FC236}">
                    <a16:creationId xmlns:a16="http://schemas.microsoft.com/office/drawing/2014/main" id="{E489371D-3E06-9DF7-FE71-7DD4746760F4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9788896" y="98755"/>
              <a:ext cx="548640" cy="548640"/>
            </p:xfrm>
            <a:graphic>
              <a:graphicData uri="http://schemas.microsoft.com/office/drawing/2017/model3d">
                <am3d:model3d r:embed="rIdM3d52">
                  <am3d:spPr>
                    <a:xfrm>
                      <a:off x="0" y="0"/>
                      <a:ext cx="548640" cy="548640"/>
                    </a:xfrm>
                    <a:prstGeom prst="rect">
                      <a:avLst/>
                    </a:prstGeom>
                  </am3d:spPr>
                  <am3d:camera>
                    <am3d:pos x="0" y="0" z="6662303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00000" d="1000000"/>
                    <am3d:preTrans dx="0" dy="0" dz="-162000"/>
                    <am3d:scale>
                      <am3d:sx n="1000000" d="1000000"/>
                      <am3d:sy n="1000000" d="1000000"/>
                      <am3d:sz n="1000000" d="1000000"/>
                    </am3d:scale>
                    <am3d:rot ax="0" ay="-720000" az="-113880000"/>
                    <am3d:postTrans dx="0" dy="0" dz="0"/>
                  </am3d:trans>
                  <am3d:raster rName="Office3DRenderer" rVer="16.0.8326">
                    <am3d:blip r:embed="rId2"/>
                  </am3d:raster>
                  <am3d:objViewport viewportSz="5486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!!coin">
                <a:extLst>
                  <a:ext uri="{FF2B5EF4-FFF2-40B4-BE49-F238E27FC236}">
                    <a16:creationId xmlns:a16="http://schemas.microsoft.com/office/drawing/2014/main" id="{E489371D-3E06-9DF7-FE71-7DD4746760F4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9788896" y="98755"/>
                <a:ext cx="548640" cy="54864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!!kickerbar"/>
          <p:cNvSpPr/>
          <p:nvPr/>
        </p:nvSpPr>
        <p:spPr>
          <a:xfrm>
            <a:off x="685800" y="713232"/>
            <a:ext cx="310896" cy="3200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7" name="!!kicker"/>
          <p:cNvSpPr/>
          <p:nvPr/>
        </p:nvSpPr>
        <p:spPr>
          <a:xfrm>
            <a:off x="1124712" y="594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3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— ЗАБАВНЫЕ ФАКТЫ</a:t>
            </a:r>
            <a:endParaRPr lang="en-US" sz="1100" dirty="0"/>
          </a:p>
        </p:txBody>
      </p:sp>
      <p:sp>
        <p:nvSpPr>
          <p:cNvPr id="8" name="!!footline"/>
          <p:cNvSpPr/>
          <p:nvPr/>
        </p:nvSpPr>
        <p:spPr>
          <a:xfrm>
            <a:off x="685800" y="6400800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9" name="!!footer"/>
          <p:cNvSpPr/>
          <p:nvPr/>
        </p:nvSpPr>
        <p:spPr>
          <a:xfrm>
            <a:off x="68580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РИЧАРД КАНТИЛЬОН  ·  1680-е – 1734</a:t>
            </a:r>
            <a:endParaRPr lang="en-US" sz="900" dirty="0"/>
          </a:p>
        </p:txBody>
      </p:sp>
      <p:sp>
        <p:nvSpPr>
          <p:cNvPr id="10" name="!!src"/>
          <p:cNvSpPr/>
          <p:nvPr/>
        </p:nvSpPr>
        <p:spPr>
          <a:xfrm>
            <a:off x="3566160" y="6492240"/>
            <a:ext cx="6492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Источники: </a:t>
            </a:r>
            <a:pPr algn="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Higgs (1931); Irish Independent (2013); Hayek (1931); Murphy (1985)</a:t>
            </a:r>
            <a:endParaRPr lang="en-US" sz="850" dirty="0"/>
          </a:p>
        </p:txBody>
      </p:sp>
      <p:sp>
        <p:nvSpPr>
          <p:cNvPr id="11" name="!!pagenum"/>
          <p:cNvSpPr/>
          <p:nvPr/>
        </p:nvSpPr>
        <p:spPr>
          <a:xfrm>
            <a:off x="10134295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16</a:t>
            </a:r>
            <a:endParaRPr lang="en-US" sz="900" dirty="0"/>
          </a:p>
        </p:txBody>
      </p:sp>
      <p:pic>
        <p:nvPicPr>
          <p:cNvPr id="12" name="!!glow" descr="/home/user/omgGame/presentations/cantillon/assets/gl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4878" y="-16002"/>
            <a:ext cx="5701284" cy="5701284"/>
          </a:xfrm>
          <a:prstGeom prst="rect">
            <a:avLst/>
          </a:prstGeom>
        </p:spPr>
      </p:pic>
      <p:sp>
        <p:nvSpPr>
          <p:cNvPr id="13" name="!!ring1"/>
          <p:cNvSpPr/>
          <p:nvPr/>
        </p:nvSpPr>
        <p:spPr>
          <a:xfrm>
            <a:off x="8027518" y="986638"/>
            <a:ext cx="3696005" cy="3696005"/>
          </a:xfrm>
          <a:prstGeom prst="ellipse">
            <a:avLst/>
          </a:prstGeom>
          <a:ln w="9525">
            <a:solidFill>
              <a:srgbClr val="E3B663">
                <a:alpha val="18000"/>
              </a:srgbClr>
            </a:solidFill>
            <a:prstDash val="solid"/>
          </a:ln>
        </p:spPr>
      </p:sp>
      <p:sp>
        <p:nvSpPr>
          <p:cNvPr id="14" name="!!ring2"/>
          <p:cNvSpPr/>
          <p:nvPr/>
        </p:nvSpPr>
        <p:spPr>
          <a:xfrm>
            <a:off x="7516368" y="475488"/>
            <a:ext cx="4718304" cy="4718304"/>
          </a:xfrm>
          <a:prstGeom prst="ellipse">
            <a:avLst/>
          </a:prstGeom>
          <a:ln w="9525">
            <a:solidFill>
              <a:srgbClr val="E3B663">
                <a:alpha val="12000"/>
              </a:srgbClr>
            </a:solidFill>
            <a:prstDash val="dash"/>
          </a:ln>
        </p:spPr>
      </p:sp>
      <p:pic>
        <p:nvPicPr>
          <p:cNvPr id="15" name="!!shadow" descr="/home/user/omgGame/presentations/cantillon/assets/shad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56625" y="3945407"/>
            <a:ext cx="2437790" cy="609448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6" name="!!m-jack">
                <a:extLst>
                  <a:ext uri="{FF2B5EF4-FFF2-40B4-BE49-F238E27FC236}">
                    <a16:creationId xmlns:a16="http://schemas.microsoft.com/office/drawing/2014/main" id="{73F67B32-0A5C-01F2-00FD-5C12675AB26F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7909560" y="868680"/>
              <a:ext cx="3931920" cy="3931920"/>
            </p:xfrm>
            <a:graphic>
              <a:graphicData uri="http://schemas.microsoft.com/office/drawing/2017/model3d">
                <am3d:model3d r:embed="rIdM3d53">
                  <am3d:spPr>
                    <a:xfrm>
                      <a:off x="0" y="0"/>
                      <a:ext cx="3931920" cy="3931920"/>
                    </a:xfrm>
                    <a:prstGeom prst="rect">
                      <a:avLst/>
                    </a:prstGeom>
                  </am3d:spPr>
                  <am3d:camera>
                    <am3d:pos x="0" y="0" z="6026996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88870" d="1000000"/>
                    <am3d:preTrans dx="-1598396" dy="-2096383" dz="340792"/>
                    <am3d:scale>
                      <am3d:sx n="1000000" d="1000000"/>
                      <am3d:sy n="1000000" d="1000000"/>
                      <am3d:sz n="1000000" d="1000000"/>
                    </am3d:scale>
                    <am3d:rot ax="840000" ay="-1560000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5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93192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6" name="!!m-jack">
                <a:extLst>
                  <a:ext uri="{FF2B5EF4-FFF2-40B4-BE49-F238E27FC236}">
                    <a16:creationId xmlns:a16="http://schemas.microsoft.com/office/drawing/2014/main" id="{73F67B32-0A5C-01F2-00FD-5C12675AB26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909560" y="868680"/>
                <a:ext cx="3931920" cy="3931920"/>
              </a:xfrm>
              <a:prstGeom prst="rect">
                <a:avLst/>
              </a:prstGeom>
            </p:spPr>
          </p:pic>
        </mc:Fallback>
      </mc:AlternateContent>
      <p:sp>
        <p:nvSpPr>
          <p:cNvPr id="17" name="fx14_9_0"/>
          <p:cNvSpPr/>
          <p:nvPr/>
        </p:nvSpPr>
        <p:spPr>
          <a:xfrm>
            <a:off x="8229600" y="4525366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spc="25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ЭКСПОНАТ 14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Ручка крутится — и выскакивает шут</a:t>
            </a:r>
            <a:endParaRPr lang="en-US" sz="900" dirty="0"/>
          </a:p>
        </p:txBody>
      </p:sp>
      <p:sp>
        <p:nvSpPr>
          <p:cNvPr id="18" name="!!title"/>
          <p:cNvSpPr/>
          <p:nvPr/>
        </p:nvSpPr>
        <p:spPr>
          <a:xfrm>
            <a:off x="685800" y="98755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2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Забавные факты о Кантильоне</a:t>
            </a:r>
            <a:endParaRPr lang="en-US" sz="3200" dirty="0"/>
          </a:p>
        </p:txBody>
      </p:sp>
      <p:sp>
        <p:nvSpPr>
          <p:cNvPr id="19" name="fx14_1_1"/>
          <p:cNvSpPr/>
          <p:nvPr/>
        </p:nvSpPr>
        <p:spPr>
          <a:xfrm>
            <a:off x="685800" y="1783080"/>
            <a:ext cx="2179320" cy="1572768"/>
          </a:xfrm>
          <a:prstGeom prst="roundRect">
            <a:avLst>
              <a:gd name="adj" fmla="val 4651"/>
            </a:avLst>
          </a:prstGeom>
          <a:solidFill>
            <a:srgbClr val="22121A">
              <a:alpha val="88000"/>
            </a:srgbClr>
          </a:solidFill>
          <a:ln w="9525">
            <a:solidFill>
              <a:srgbClr val="E3B663">
                <a:alpha val="28000"/>
              </a:srgbClr>
            </a:solidFill>
            <a:prstDash val="solid"/>
          </a:ln>
        </p:spPr>
      </p:sp>
      <p:sp>
        <p:nvSpPr>
          <p:cNvPr id="20" name="fx14_1_2"/>
          <p:cNvSpPr/>
          <p:nvPr/>
        </p:nvSpPr>
        <p:spPr>
          <a:xfrm>
            <a:off x="850392" y="1874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800" dirty="0"/>
          </a:p>
        </p:txBody>
      </p:sp>
      <p:sp>
        <p:nvSpPr>
          <p:cNvPr id="21" name="fx14_1_3"/>
          <p:cNvSpPr/>
          <p:nvPr/>
        </p:nvSpPr>
        <p:spPr>
          <a:xfrm>
            <a:off x="850392" y="2240280"/>
            <a:ext cx="1905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Ирландец из Шербура?</a:t>
            </a:r>
            <a:endParaRPr lang="en-US" sz="1150" dirty="0"/>
          </a:p>
        </p:txBody>
      </p:sp>
      <p:sp>
        <p:nvSpPr>
          <p:cNvPr id="22" name="fx14_1_4"/>
          <p:cNvSpPr/>
          <p:nvPr/>
        </p:nvSpPr>
        <p:spPr>
          <a:xfrm>
            <a:off x="850392" y="2514600"/>
            <a:ext cx="1905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8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Враги в суде уверяли: в 1716 году в купеческой бумаге он назвался уроженцем Нормандии.</a:t>
            </a:r>
            <a:endParaRPr lang="en-US" sz="980" dirty="0"/>
          </a:p>
        </p:txBody>
      </p:sp>
      <p:sp>
        <p:nvSpPr>
          <p:cNvPr id="23" name="fx14_2_5"/>
          <p:cNvSpPr/>
          <p:nvPr/>
        </p:nvSpPr>
        <p:spPr>
          <a:xfrm>
            <a:off x="3002280" y="1783080"/>
            <a:ext cx="2179320" cy="1572768"/>
          </a:xfrm>
          <a:prstGeom prst="roundRect">
            <a:avLst>
              <a:gd name="adj" fmla="val 4651"/>
            </a:avLst>
          </a:prstGeom>
          <a:solidFill>
            <a:srgbClr val="22121A">
              <a:alpha val="88000"/>
            </a:srgbClr>
          </a:solidFill>
          <a:ln w="9525">
            <a:solidFill>
              <a:srgbClr val="E3B663">
                <a:alpha val="28000"/>
              </a:srgbClr>
            </a:solidFill>
            <a:prstDash val="solid"/>
          </a:ln>
        </p:spPr>
      </p:sp>
      <p:sp>
        <p:nvSpPr>
          <p:cNvPr id="24" name="fx14_2_6"/>
          <p:cNvSpPr/>
          <p:nvPr/>
        </p:nvSpPr>
        <p:spPr>
          <a:xfrm>
            <a:off x="3166872" y="1874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800" dirty="0"/>
          </a:p>
        </p:txBody>
      </p:sp>
      <p:sp>
        <p:nvSpPr>
          <p:cNvPr id="25" name="fx14_2_7"/>
          <p:cNvSpPr/>
          <p:nvPr/>
        </p:nvSpPr>
        <p:spPr>
          <a:xfrm>
            <a:off x="3166872" y="2240280"/>
            <a:ext cx="1905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Арест посреди улицы</a:t>
            </a:r>
            <a:endParaRPr lang="en-US" sz="1150" dirty="0"/>
          </a:p>
        </p:txBody>
      </p:sp>
      <p:sp>
        <p:nvSpPr>
          <p:cNvPr id="26" name="fx14_2_8"/>
          <p:cNvSpPr/>
          <p:nvPr/>
        </p:nvSpPr>
        <p:spPr>
          <a:xfrm>
            <a:off x="3166872" y="2514600"/>
            <a:ext cx="1905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8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Декабрь 1728: парижского миллионера схватили прямо на улице — и отпустили через несколько часов.</a:t>
            </a:r>
            <a:endParaRPr lang="en-US" sz="980" dirty="0"/>
          </a:p>
        </p:txBody>
      </p:sp>
      <p:sp>
        <p:nvSpPr>
          <p:cNvPr id="27" name="fx14_3_9"/>
          <p:cNvSpPr/>
          <p:nvPr/>
        </p:nvSpPr>
        <p:spPr>
          <a:xfrm>
            <a:off x="5318760" y="1783080"/>
            <a:ext cx="2179320" cy="1572768"/>
          </a:xfrm>
          <a:prstGeom prst="roundRect">
            <a:avLst>
              <a:gd name="adj" fmla="val 4651"/>
            </a:avLst>
          </a:prstGeom>
          <a:solidFill>
            <a:srgbClr val="22121A">
              <a:alpha val="88000"/>
            </a:srgbClr>
          </a:solidFill>
          <a:ln w="9525">
            <a:solidFill>
              <a:srgbClr val="E3B663">
                <a:alpha val="28000"/>
              </a:srgbClr>
            </a:solidFill>
            <a:prstDash val="solid"/>
          </a:ln>
        </p:spPr>
      </p:sp>
      <p:sp>
        <p:nvSpPr>
          <p:cNvPr id="28" name="fx14_3_10"/>
          <p:cNvSpPr/>
          <p:nvPr/>
        </p:nvSpPr>
        <p:spPr>
          <a:xfrm>
            <a:off x="5483352" y="1874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800" dirty="0"/>
          </a:p>
        </p:txBody>
      </p:sp>
      <p:sp>
        <p:nvSpPr>
          <p:cNvPr id="29" name="fx14_3_11"/>
          <p:cNvSpPr/>
          <p:nvPr/>
        </p:nvSpPr>
        <p:spPr>
          <a:xfrm>
            <a:off x="5483352" y="2240280"/>
            <a:ext cx="1905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Вечный подсудимый</a:t>
            </a:r>
            <a:endParaRPr lang="en-US" sz="1150" dirty="0"/>
          </a:p>
        </p:txBody>
      </p:sp>
      <p:sp>
        <p:nvSpPr>
          <p:cNvPr id="30" name="fx14_3_12"/>
          <p:cNvSpPr/>
          <p:nvPr/>
        </p:nvSpPr>
        <p:spPr>
          <a:xfrm>
            <a:off x="5483352" y="2514600"/>
            <a:ext cx="1905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8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Ростовщичество, кража, даже покушение на убийство — суды шли все 1720-е. Приговоров — ноль.</a:t>
            </a:r>
            <a:endParaRPr lang="en-US" sz="980" dirty="0"/>
          </a:p>
        </p:txBody>
      </p:sp>
      <p:sp>
        <p:nvSpPr>
          <p:cNvPr id="31" name="fx14_4_13"/>
          <p:cNvSpPr/>
          <p:nvPr/>
        </p:nvSpPr>
        <p:spPr>
          <a:xfrm>
            <a:off x="685800" y="3493008"/>
            <a:ext cx="2179320" cy="1572768"/>
          </a:xfrm>
          <a:prstGeom prst="roundRect">
            <a:avLst>
              <a:gd name="adj" fmla="val 4651"/>
            </a:avLst>
          </a:prstGeom>
          <a:solidFill>
            <a:srgbClr val="22121A">
              <a:alpha val="88000"/>
            </a:srgbClr>
          </a:solidFill>
          <a:ln w="9525">
            <a:solidFill>
              <a:srgbClr val="E3B663">
                <a:alpha val="28000"/>
              </a:srgbClr>
            </a:solidFill>
            <a:prstDash val="solid"/>
          </a:ln>
        </p:spPr>
      </p:sp>
      <p:sp>
        <p:nvSpPr>
          <p:cNvPr id="32" name="fx14_4_14"/>
          <p:cNvSpPr/>
          <p:nvPr/>
        </p:nvSpPr>
        <p:spPr>
          <a:xfrm>
            <a:off x="850392" y="35844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800" dirty="0"/>
          </a:p>
        </p:txBody>
      </p:sp>
      <p:sp>
        <p:nvSpPr>
          <p:cNvPr id="33" name="fx14_4_15"/>
          <p:cNvSpPr/>
          <p:nvPr/>
        </p:nvSpPr>
        <p:spPr>
          <a:xfrm>
            <a:off x="850392" y="3950208"/>
            <a:ext cx="1905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Книгу украли до выхода</a:t>
            </a:r>
            <a:endParaRPr lang="en-US" sz="1150" dirty="0"/>
          </a:p>
        </p:txBody>
      </p:sp>
      <p:sp>
        <p:nvSpPr>
          <p:cNvPr id="34" name="fx14_4_16"/>
          <p:cNvSpPr/>
          <p:nvPr/>
        </p:nvSpPr>
        <p:spPr>
          <a:xfrm>
            <a:off x="850392" y="4224528"/>
            <a:ext cx="1905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8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Постлтуэйт переписал целые страницы в свой «Словарь торговли» (1751) — за 4 года до издания.</a:t>
            </a:r>
            <a:endParaRPr lang="en-US" sz="980" dirty="0"/>
          </a:p>
        </p:txBody>
      </p:sp>
      <p:sp>
        <p:nvSpPr>
          <p:cNvPr id="35" name="fx14_5_17"/>
          <p:cNvSpPr/>
          <p:nvPr/>
        </p:nvSpPr>
        <p:spPr>
          <a:xfrm>
            <a:off x="3002280" y="3493008"/>
            <a:ext cx="2179320" cy="1572768"/>
          </a:xfrm>
          <a:prstGeom prst="roundRect">
            <a:avLst>
              <a:gd name="adj" fmla="val 4651"/>
            </a:avLst>
          </a:prstGeom>
          <a:solidFill>
            <a:srgbClr val="22121A">
              <a:alpha val="88000"/>
            </a:srgbClr>
          </a:solidFill>
          <a:ln w="9525">
            <a:solidFill>
              <a:srgbClr val="E3B663">
                <a:alpha val="28000"/>
              </a:srgbClr>
            </a:solidFill>
            <a:prstDash val="solid"/>
          </a:ln>
        </p:spPr>
      </p:sp>
      <p:sp>
        <p:nvSpPr>
          <p:cNvPr id="36" name="fx14_5_18"/>
          <p:cNvSpPr/>
          <p:nvPr/>
        </p:nvSpPr>
        <p:spPr>
          <a:xfrm>
            <a:off x="3166872" y="35844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800" dirty="0"/>
          </a:p>
        </p:txBody>
      </p:sp>
      <p:sp>
        <p:nvSpPr>
          <p:cNvPr id="37" name="fx14_5_19"/>
          <p:cNvSpPr/>
          <p:nvPr/>
        </p:nvSpPr>
        <p:spPr>
          <a:xfrm>
            <a:off x="3166872" y="3950208"/>
            <a:ext cx="1905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…и после выхода</a:t>
            </a:r>
            <a:endParaRPr lang="en-US" sz="1150" dirty="0"/>
          </a:p>
        </p:txBody>
      </p:sp>
      <p:sp>
        <p:nvSpPr>
          <p:cNvPr id="38" name="fx14_5_20"/>
          <p:cNvSpPr/>
          <p:nvPr/>
        </p:nvSpPr>
        <p:spPr>
          <a:xfrm>
            <a:off x="3166872" y="4224528"/>
            <a:ext cx="1905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8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Родственник Филип Кантильон в 1759-м издал переделку «по рукописи остроумного покойного джентльмена».</a:t>
            </a:r>
            <a:endParaRPr lang="en-US" sz="980" dirty="0"/>
          </a:p>
        </p:txBody>
      </p:sp>
      <p:sp>
        <p:nvSpPr>
          <p:cNvPr id="39" name="fx14_6_21"/>
          <p:cNvSpPr/>
          <p:nvPr/>
        </p:nvSpPr>
        <p:spPr>
          <a:xfrm>
            <a:off x="5318760" y="3493008"/>
            <a:ext cx="2179320" cy="1572768"/>
          </a:xfrm>
          <a:prstGeom prst="roundRect">
            <a:avLst>
              <a:gd name="adj" fmla="val 4651"/>
            </a:avLst>
          </a:prstGeom>
          <a:solidFill>
            <a:srgbClr val="22121A">
              <a:alpha val="88000"/>
            </a:srgbClr>
          </a:solidFill>
          <a:ln w="9525">
            <a:solidFill>
              <a:srgbClr val="E3B663">
                <a:alpha val="28000"/>
              </a:srgbClr>
            </a:solidFill>
            <a:prstDash val="solid"/>
          </a:ln>
        </p:spPr>
      </p:sp>
      <p:sp>
        <p:nvSpPr>
          <p:cNvPr id="40" name="fx14_6_22"/>
          <p:cNvSpPr/>
          <p:nvPr/>
        </p:nvSpPr>
        <p:spPr>
          <a:xfrm>
            <a:off x="5483352" y="35844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800" dirty="0"/>
          </a:p>
        </p:txBody>
      </p:sp>
      <p:sp>
        <p:nvSpPr>
          <p:cNvPr id="41" name="fx14_6_23"/>
          <p:cNvSpPr/>
          <p:nvPr/>
        </p:nvSpPr>
        <p:spPr>
          <a:xfrm>
            <a:off x="5483352" y="3950208"/>
            <a:ext cx="1905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Пиво — не его</a:t>
            </a:r>
            <a:endParaRPr lang="en-US" sz="1150" dirty="0"/>
          </a:p>
        </p:txBody>
      </p:sp>
      <p:sp>
        <p:nvSpPr>
          <p:cNvPr id="42" name="fx14_6_24"/>
          <p:cNvSpPr/>
          <p:nvPr/>
        </p:nvSpPr>
        <p:spPr>
          <a:xfrm>
            <a:off x="5483352" y="4224528"/>
            <a:ext cx="1905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8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Знаменитая брюссельская пивоварня Cantillon (1900) — просто однофамилец. Гуглите осторожно.</a:t>
            </a:r>
            <a:endParaRPr lang="en-US" sz="980" dirty="0"/>
          </a:p>
        </p:txBody>
      </p:sp>
      <p:sp>
        <p:nvSpPr>
          <p:cNvPr id="43" name="fx14_7_25"/>
          <p:cNvSpPr/>
          <p:nvPr/>
        </p:nvSpPr>
        <p:spPr>
          <a:xfrm>
            <a:off x="685800" y="5468112"/>
            <a:ext cx="6812280" cy="749808"/>
          </a:xfrm>
          <a:prstGeom prst="roundRect">
            <a:avLst>
              <a:gd name="adj" fmla="val 9756"/>
            </a:avLst>
          </a:prstGeom>
          <a:solidFill>
            <a:srgbClr val="22170B">
              <a:alpha val="92000"/>
            </a:srgbClr>
          </a:solidFill>
          <a:ln w="12700">
            <a:solidFill>
              <a:srgbClr val="E3B663">
                <a:alpha val="55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44" name="fx14_7_26"/>
          <p:cNvSpPr/>
          <p:nvPr/>
        </p:nvSpPr>
        <p:spPr>
          <a:xfrm>
            <a:off x="685800" y="5614416"/>
            <a:ext cx="50292" cy="457200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45" name="fx14_7_27"/>
          <p:cNvSpPr/>
          <p:nvPr/>
        </p:nvSpPr>
        <p:spPr>
          <a:xfrm>
            <a:off x="941832" y="5330952"/>
            <a:ext cx="1609344" cy="274320"/>
          </a:xfrm>
          <a:prstGeom prst="roundRect">
            <a:avLst>
              <a:gd name="adj" fmla="val 50000"/>
            </a:avLst>
          </a:prstGeom>
          <a:solidFill>
            <a:srgbClr val="E3B663"/>
          </a:solidFill>
          <a:ln/>
        </p:spPr>
      </p:sp>
      <p:sp>
        <p:nvSpPr>
          <p:cNvPr id="46" name="fx14_7_28"/>
          <p:cNvSpPr/>
          <p:nvPr/>
        </p:nvSpPr>
        <p:spPr>
          <a:xfrm>
            <a:off x="941832" y="5330952"/>
            <a:ext cx="1609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spc="150" kern="0" dirty="0">
                <a:solidFill>
                  <a:srgbClr val="0D0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 ЮМОР БАНКИРА</a:t>
            </a:r>
            <a:endParaRPr lang="en-US" sz="850" dirty="0"/>
          </a:p>
        </p:txBody>
      </p:sp>
      <p:sp>
        <p:nvSpPr>
          <p:cNvPr id="47" name="fx14_7_29"/>
          <p:cNvSpPr/>
          <p:nvPr/>
        </p:nvSpPr>
        <p:spPr>
          <a:xfrm>
            <a:off x="960120" y="5650992"/>
            <a:ext cx="6355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b="1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«Нет ничего забавнее множества законов о проценте, которые издают в каждом веке»</a:t>
            </a:r>
            <a:pPr algn="l" indent="0" marL="0">
              <a:lnSpc>
                <a:spcPct val="105000"/>
              </a:lnSpc>
              <a:buNone/>
            </a:pPr>
            <a:r>
              <a:rPr lang="en-US" sz="11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банкир, которого всю жизнь обвиняли в ростовщичестве («Essai», ч. II)</a:t>
            </a:r>
            <a:endParaRPr lang="en-US" sz="115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8" name="!!m-candle">
                <a:extLst>
                  <a:ext uri="{FF2B5EF4-FFF2-40B4-BE49-F238E27FC236}">
                    <a16:creationId xmlns:a16="http://schemas.microsoft.com/office/drawing/2014/main" id="{7FFC71A6-9EC5-FC56-1A02-80CFCF8D361A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4754880" y="1188720"/>
              <a:ext cx="4206240" cy="4206240"/>
            </p:xfrm>
            <a:graphic>
              <a:graphicData uri="http://schemas.microsoft.com/office/drawing/2017/model3d">
                <am3d:model3d r:embed="rIdM3d54">
                  <am3d:spPr>
                    <a:xfrm>
                      <a:off x="0" y="0"/>
                      <a:ext cx="4206240" cy="4206240"/>
                    </a:xfrm>
                    <a:prstGeom prst="rect">
                      <a:avLst/>
                    </a:prstGeom>
                  </am3d:spPr>
                  <am3d:camera>
                    <am3d:pos x="0" y="0" z="6435736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869716" d="1000000"/>
                    <am3d:preTrans dx="-2363889" dy="-2345104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600000" ay="-6000000" az="0"/>
                    <am3d:postTrans dx="0" dy="0" dz="0"/>
                  </am3d:trans>
                  <am3d:raster rName="Office3DRenderer" rVer="16.0.8326">
                    <am3d:blip r:embed="rId6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2062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8" name="!!m-candle">
                <a:extLst>
                  <a:ext uri="{FF2B5EF4-FFF2-40B4-BE49-F238E27FC236}">
                    <a16:creationId xmlns:a16="http://schemas.microsoft.com/office/drawing/2014/main" id="{7FFC71A6-9EC5-FC56-1A02-80CFCF8D361A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-4754880" y="1188720"/>
                <a:ext cx="4206240" cy="4206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9" name="!!m-padlock">
                <a:extLst>
                  <a:ext uri="{FF2B5EF4-FFF2-40B4-BE49-F238E27FC236}">
                    <a16:creationId xmlns:a16="http://schemas.microsoft.com/office/drawing/2014/main" id="{47C1FC7A-506B-214C-4163-CF0EE9E222F8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740335" y="1188720"/>
              <a:ext cx="3749040" cy="3749040"/>
            </p:xfrm>
            <a:graphic>
              <a:graphicData uri="http://schemas.microsoft.com/office/drawing/2017/model3d">
                <am3d:model3d r:embed="rIdM3d55">
                  <am3d:spPr>
                    <a:xfrm>
                      <a:off x="0" y="0"/>
                      <a:ext cx="3749040" cy="3749040"/>
                    </a:xfrm>
                    <a:prstGeom prst="rect">
                      <a:avLst/>
                    </a:prstGeom>
                  </am3d:spPr>
                  <am3d:camera>
                    <am3d:pos x="0" y="0" z="69265185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126126" d="1000000"/>
                    <am3d:preTrans dx="0" dy="-972973" dz="-9989702"/>
                    <am3d:scale>
                      <am3d:sx n="1000000" d="1000000"/>
                      <am3d:sy n="1000000" d="1000000"/>
                      <am3d:sz n="1000000" d="1000000"/>
                    </am3d:scale>
                    <am3d:rot ax="720000" ay="3360000" az="0"/>
                    <am3d:postTrans dx="0" dy="0" dz="0"/>
                  </am3d:trans>
                  <am3d:raster rName="Office3DRenderer" rVer="16.0.8326">
                    <am3d:blip r:embed="rId7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5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7490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9" name="!!m-padlock">
                <a:extLst>
                  <a:ext uri="{FF2B5EF4-FFF2-40B4-BE49-F238E27FC236}">
                    <a16:creationId xmlns:a16="http://schemas.microsoft.com/office/drawing/2014/main" id="{47C1FC7A-506B-214C-4163-CF0EE9E222F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2740335" y="1188720"/>
                <a:ext cx="3749040" cy="374904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7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7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7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7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70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70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7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70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70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7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70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70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42" presetClass="entr" presetSubtype="0" fill="hold" grpId="0" nodeType="withEffect">
                                  <p:stCondLst>
                                    <p:cond delay="171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7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700" decel="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700" decel="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42" presetClass="entr" presetSubtype="0" fill="hold" grpId="0" nodeType="withEffect">
                                  <p:stCondLst>
                                    <p:cond delay="171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7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3" dur="700" decel="10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700" decel="10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7" presetID="42" presetClass="entr" presetSubtype="0" fill="hold" grpId="0" nodeType="withEffect">
                                  <p:stCondLst>
                                    <p:cond delay="171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7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700" decel="100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700" decel="100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42" presetClass="entr" presetSubtype="0" fill="hold" grpId="0" nodeType="withEffect">
                                  <p:stCondLst>
                                    <p:cond delay="171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7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3" dur="700" decel="100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4" dur="700" decel="100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7" presetID="42" presetClass="entr" presetSubtype="0" fill="hold" grpId="0" nodeType="withEffect">
                                  <p:stCondLst>
                                    <p:cond delay="171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7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8" dur="700" decel="100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9" dur="700" decel="100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2" presetID="42" presetClass="entr" presetSubtype="0" fill="hold" grpId="0" nodeType="withEffect">
                                  <p:stCondLst>
                                    <p:cond delay="197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3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4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5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56" dur="4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1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15">
    <p:bg>
      <p:bgPr>
        <a:solidFill>
          <a:srgbClr val="0E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home/user/omgGame/presentations/cantillon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rack"/>
          <p:cNvSpPr/>
          <p:nvPr/>
        </p:nvSpPr>
        <p:spPr>
          <a:xfrm>
            <a:off x="685800" y="402336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4" name="!!progress"/>
          <p:cNvSpPr/>
          <p:nvPr/>
        </p:nvSpPr>
        <p:spPr>
          <a:xfrm>
            <a:off x="685800" y="391363"/>
            <a:ext cx="10098756" cy="21946"/>
          </a:xfrm>
          <a:prstGeom prst="rect">
            <a:avLst/>
          </a:prstGeom>
          <a:solidFill>
            <a:srgbClr val="E3B663"/>
          </a:solidFill>
          <a:ln/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!!coin">
                <a:extLst>
                  <a:ext uri="{FF2B5EF4-FFF2-40B4-BE49-F238E27FC236}">
                    <a16:creationId xmlns:a16="http://schemas.microsoft.com/office/drawing/2014/main" id="{CB74C61A-BA55-D308-355C-987FAB4E1A3A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0510236" y="98755"/>
              <a:ext cx="548640" cy="548640"/>
            </p:xfrm>
            <a:graphic>
              <a:graphicData uri="http://schemas.microsoft.com/office/drawing/2017/model3d">
                <am3d:model3d r:embed="rIdM3d56">
                  <am3d:spPr>
                    <a:xfrm>
                      <a:off x="0" y="0"/>
                      <a:ext cx="548640" cy="548640"/>
                    </a:xfrm>
                    <a:prstGeom prst="rect">
                      <a:avLst/>
                    </a:prstGeom>
                  </am3d:spPr>
                  <am3d:camera>
                    <am3d:pos x="0" y="0" z="6662303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00000" d="1000000"/>
                    <am3d:preTrans dx="0" dy="0" dz="-162000"/>
                    <am3d:scale>
                      <am3d:sx n="1000000" d="1000000"/>
                      <am3d:sy n="1000000" d="1000000"/>
                      <am3d:sz n="1000000" d="1000000"/>
                    </am3d:scale>
                    <am3d:rot ax="0" ay="-720000" az="-122640000"/>
                    <am3d:postTrans dx="0" dy="0" dz="0"/>
                  </am3d:trans>
                  <am3d:raster rName="Office3DRenderer" rVer="16.0.8326">
                    <am3d:blip r:embed="rId2"/>
                  </am3d:raster>
                  <am3d:objViewport viewportSz="5486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!!coin">
                <a:extLst>
                  <a:ext uri="{FF2B5EF4-FFF2-40B4-BE49-F238E27FC236}">
                    <a16:creationId xmlns:a16="http://schemas.microsoft.com/office/drawing/2014/main" id="{CB74C61A-BA55-D308-355C-987FAB4E1A3A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0510236" y="98755"/>
                <a:ext cx="548640" cy="54864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!!kickerbar"/>
          <p:cNvSpPr/>
          <p:nvPr/>
        </p:nvSpPr>
        <p:spPr>
          <a:xfrm>
            <a:off x="685800" y="713232"/>
            <a:ext cx="310896" cy="3200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7" name="!!kicker"/>
          <p:cNvSpPr/>
          <p:nvPr/>
        </p:nvSpPr>
        <p:spPr>
          <a:xfrm>
            <a:off x="1124712" y="594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3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— НАШИ ВЫВОДЫ</a:t>
            </a:r>
            <a:endParaRPr lang="en-US" sz="1100" dirty="0"/>
          </a:p>
        </p:txBody>
      </p:sp>
      <p:sp>
        <p:nvSpPr>
          <p:cNvPr id="8" name="!!footline"/>
          <p:cNvSpPr/>
          <p:nvPr/>
        </p:nvSpPr>
        <p:spPr>
          <a:xfrm>
            <a:off x="685800" y="6400800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9" name="!!footer"/>
          <p:cNvSpPr/>
          <p:nvPr/>
        </p:nvSpPr>
        <p:spPr>
          <a:xfrm>
            <a:off x="68580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РИЧАРД КАНТИЛЬОН  ·  1680-е – 1734</a:t>
            </a:r>
            <a:endParaRPr lang="en-US" sz="900" dirty="0"/>
          </a:p>
        </p:txBody>
      </p:sp>
      <p:sp>
        <p:nvSpPr>
          <p:cNvPr id="10" name="!!src"/>
          <p:cNvSpPr/>
          <p:nvPr/>
        </p:nvSpPr>
        <p:spPr>
          <a:xfrm>
            <a:off x="3566160" y="6492240"/>
            <a:ext cx="6492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Источники: </a:t>
            </a:r>
            <a:pPr algn="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собственный анализ по Murphy (1986), Hébert &amp; Link (2009)</a:t>
            </a:r>
            <a:endParaRPr lang="en-US" sz="850" dirty="0"/>
          </a:p>
        </p:txBody>
      </p:sp>
      <p:sp>
        <p:nvSpPr>
          <p:cNvPr id="11" name="!!pagenum"/>
          <p:cNvSpPr/>
          <p:nvPr/>
        </p:nvSpPr>
        <p:spPr>
          <a:xfrm>
            <a:off x="10134295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16</a:t>
            </a:r>
            <a:endParaRPr lang="en-US" sz="900" dirty="0"/>
          </a:p>
        </p:txBody>
      </p:sp>
      <p:pic>
        <p:nvPicPr>
          <p:cNvPr id="12" name="!!glow" descr="/home/user/omgGame/presentations/cantillon/assets/gl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1746" y="-20574"/>
            <a:ext cx="5436108" cy="5436108"/>
          </a:xfrm>
          <a:prstGeom prst="rect">
            <a:avLst/>
          </a:prstGeom>
        </p:spPr>
      </p:pic>
      <p:sp>
        <p:nvSpPr>
          <p:cNvPr id="13" name="!!ring1"/>
          <p:cNvSpPr/>
          <p:nvPr/>
        </p:nvSpPr>
        <p:spPr>
          <a:xfrm>
            <a:off x="8067751" y="935431"/>
            <a:ext cx="3524098" cy="3524098"/>
          </a:xfrm>
          <a:prstGeom prst="ellipse">
            <a:avLst/>
          </a:prstGeom>
          <a:ln w="9525">
            <a:solidFill>
              <a:srgbClr val="E3B663">
                <a:alpha val="18000"/>
              </a:srgbClr>
            </a:solidFill>
            <a:prstDash val="solid"/>
          </a:ln>
        </p:spPr>
      </p:sp>
      <p:sp>
        <p:nvSpPr>
          <p:cNvPr id="14" name="!!ring2"/>
          <p:cNvSpPr/>
          <p:nvPr/>
        </p:nvSpPr>
        <p:spPr>
          <a:xfrm>
            <a:off x="7580376" y="448056"/>
            <a:ext cx="4498848" cy="4498848"/>
          </a:xfrm>
          <a:prstGeom prst="ellipse">
            <a:avLst/>
          </a:prstGeom>
          <a:ln w="9525">
            <a:solidFill>
              <a:srgbClr val="E3B663">
                <a:alpha val="12000"/>
              </a:srgbClr>
            </a:solidFill>
            <a:prstDash val="dash"/>
          </a:ln>
        </p:spPr>
      </p:sp>
      <p:pic>
        <p:nvPicPr>
          <p:cNvPr id="15" name="!!shadow" descr="/home/user/omgGame/presentations/cantillon/assets/shad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05088" y="3690976"/>
            <a:ext cx="2249424" cy="562356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6" name="!!m-padlock">
                <a:extLst>
                  <a:ext uri="{FF2B5EF4-FFF2-40B4-BE49-F238E27FC236}">
                    <a16:creationId xmlns:a16="http://schemas.microsoft.com/office/drawing/2014/main" id="{893FB4A9-1F2E-5051-4874-1535EF6DB010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7955280" y="822960"/>
              <a:ext cx="3749040" cy="3749040"/>
            </p:xfrm>
            <a:graphic>
              <a:graphicData uri="http://schemas.microsoft.com/office/drawing/2017/model3d">
                <am3d:model3d r:embed="rIdM3d57">
                  <am3d:spPr>
                    <a:xfrm>
                      <a:off x="0" y="0"/>
                      <a:ext cx="3749040" cy="3749040"/>
                    </a:xfrm>
                    <a:prstGeom prst="rect">
                      <a:avLst/>
                    </a:prstGeom>
                  </am3d:spPr>
                  <am3d:camera>
                    <am3d:pos x="0" y="0" z="69265185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126126" d="1000000"/>
                    <am3d:preTrans dx="0" dy="-972973" dz="-9989702"/>
                    <am3d:scale>
                      <am3d:sx n="1000000" d="1000000"/>
                      <am3d:sy n="1000000" d="1000000"/>
                      <am3d:sz n="1000000" d="1000000"/>
                    </am3d:scale>
                    <am3d:rot ax="720000" ay="-1440000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5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7490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6" name="!!m-padlock">
                <a:extLst>
                  <a:ext uri="{FF2B5EF4-FFF2-40B4-BE49-F238E27FC236}">
                    <a16:creationId xmlns:a16="http://schemas.microsoft.com/office/drawing/2014/main" id="{893FB4A9-1F2E-5051-4874-1535EF6DB010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955280" y="822960"/>
                <a:ext cx="3749040" cy="3749040"/>
              </a:xfrm>
              <a:prstGeom prst="rect">
                <a:avLst/>
              </a:prstGeom>
            </p:spPr>
          </p:pic>
        </mc:Fallback>
      </mc:AlternateContent>
      <p:sp>
        <p:nvSpPr>
          <p:cNvPr id="17" name="fx15_9_0"/>
          <p:cNvSpPr/>
          <p:nvPr/>
        </p:nvSpPr>
        <p:spPr>
          <a:xfrm>
            <a:off x="8275320" y="4309567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spc="25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ЭКСПОНАТ 15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Ключ поворачивается — замок открыт</a:t>
            </a:r>
            <a:endParaRPr lang="en-US" sz="900" dirty="0"/>
          </a:p>
        </p:txBody>
      </p:sp>
      <p:sp>
        <p:nvSpPr>
          <p:cNvPr id="18" name="!!title"/>
          <p:cNvSpPr/>
          <p:nvPr/>
        </p:nvSpPr>
        <p:spPr>
          <a:xfrm>
            <a:off x="685800" y="987552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4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Наши выводы</a:t>
            </a:r>
            <a:endParaRPr lang="en-US" sz="3400" dirty="0"/>
          </a:p>
        </p:txBody>
      </p:sp>
      <p:sp>
        <p:nvSpPr>
          <p:cNvPr id="19" name="fx15_1_1"/>
          <p:cNvSpPr/>
          <p:nvPr/>
        </p:nvSpPr>
        <p:spPr>
          <a:xfrm>
            <a:off x="685800" y="1746504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800" dirty="0"/>
          </a:p>
        </p:txBody>
      </p:sp>
      <p:sp>
        <p:nvSpPr>
          <p:cNvPr id="20" name="fx15_1_2"/>
          <p:cNvSpPr/>
          <p:nvPr/>
        </p:nvSpPr>
        <p:spPr>
          <a:xfrm>
            <a:off x="1280160" y="1783080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Кантильон — первый теоретик предпринимателя</a:t>
            </a:r>
            <a:endParaRPr lang="en-US" sz="1350" dirty="0"/>
          </a:p>
        </p:txBody>
      </p:sp>
      <p:sp>
        <p:nvSpPr>
          <p:cNvPr id="21" name="fx15_1_3"/>
          <p:cNvSpPr/>
          <p:nvPr/>
        </p:nvSpPr>
        <p:spPr>
          <a:xfrm>
            <a:off x="1280160" y="2057400"/>
            <a:ext cx="6126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Перевёл слово entrepreneur из быта в экономическую теорию — примерно за 70 лет до Сэя.</a:t>
            </a:r>
            <a:endParaRPr lang="en-US" sz="1100" dirty="0"/>
          </a:p>
        </p:txBody>
      </p:sp>
      <p:sp>
        <p:nvSpPr>
          <p:cNvPr id="22" name="fx15_2_4"/>
          <p:cNvSpPr/>
          <p:nvPr/>
        </p:nvSpPr>
        <p:spPr>
          <a:xfrm>
            <a:off x="685800" y="2532888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800" dirty="0"/>
          </a:p>
        </p:txBody>
      </p:sp>
      <p:sp>
        <p:nvSpPr>
          <p:cNvPr id="23" name="fx15_2_5"/>
          <p:cNvSpPr/>
          <p:nvPr/>
        </p:nvSpPr>
        <p:spPr>
          <a:xfrm>
            <a:off x="1280160" y="2569464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Суть предпринимательства — неопределённость</a:t>
            </a:r>
            <a:endParaRPr lang="en-US" sz="1350" dirty="0"/>
          </a:p>
        </p:txBody>
      </p:sp>
      <p:sp>
        <p:nvSpPr>
          <p:cNvPr id="24" name="fx15_2_6"/>
          <p:cNvSpPr/>
          <p:nvPr/>
        </p:nvSpPr>
        <p:spPr>
          <a:xfrm>
            <a:off x="1280160" y="2843784"/>
            <a:ext cx="6126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капитал, не профессия и не статус: «купить по известной цене, продать по неизвестной».</a:t>
            </a:r>
            <a:endParaRPr lang="en-US" sz="1100" dirty="0"/>
          </a:p>
        </p:txBody>
      </p:sp>
      <p:sp>
        <p:nvSpPr>
          <p:cNvPr id="25" name="fx15_3_7"/>
          <p:cNvSpPr/>
          <p:nvPr/>
        </p:nvSpPr>
        <p:spPr>
          <a:xfrm>
            <a:off x="685800" y="3319272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800" dirty="0"/>
          </a:p>
        </p:txBody>
      </p:sp>
      <p:sp>
        <p:nvSpPr>
          <p:cNvPr id="26" name="fx15_3_8"/>
          <p:cNvSpPr/>
          <p:nvPr/>
        </p:nvSpPr>
        <p:spPr>
          <a:xfrm>
            <a:off x="1280160" y="3355848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Теорию породили эпоха и опыт</a:t>
            </a:r>
            <a:endParaRPr lang="en-US" sz="1350" dirty="0"/>
          </a:p>
        </p:txBody>
      </p:sp>
      <p:sp>
        <p:nvSpPr>
          <p:cNvPr id="27" name="fx15_3_9"/>
          <p:cNvSpPr/>
          <p:nvPr/>
        </p:nvSpPr>
        <p:spPr>
          <a:xfrm>
            <a:off x="1280160" y="3630168"/>
            <a:ext cx="6126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Пузыри, колониальная торговля и своя игра против системы Ло показали ему риск в чистом виде.</a:t>
            </a:r>
            <a:endParaRPr lang="en-US" sz="1100" dirty="0"/>
          </a:p>
        </p:txBody>
      </p:sp>
      <p:sp>
        <p:nvSpPr>
          <p:cNvPr id="28" name="fx15_4_10"/>
          <p:cNvSpPr/>
          <p:nvPr/>
        </p:nvSpPr>
        <p:spPr>
          <a:xfrm>
            <a:off x="685800" y="4105656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800" dirty="0"/>
          </a:p>
        </p:txBody>
      </p:sp>
      <p:sp>
        <p:nvSpPr>
          <p:cNvPr id="29" name="fx15_4_11"/>
          <p:cNvSpPr/>
          <p:nvPr/>
        </p:nvSpPr>
        <p:spPr>
          <a:xfrm>
            <a:off x="1280160" y="4142232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Неполная, но фундаментальная</a:t>
            </a:r>
            <a:endParaRPr lang="en-US" sz="1350" dirty="0"/>
          </a:p>
        </p:txBody>
      </p:sp>
      <p:sp>
        <p:nvSpPr>
          <p:cNvPr id="30" name="fx15_4_12"/>
          <p:cNvSpPr/>
          <p:nvPr/>
        </p:nvSpPr>
        <p:spPr>
          <a:xfrm>
            <a:off x="1280160" y="4416552"/>
            <a:ext cx="6126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Нет инноваций и различия риска и капитала — но на ней строили Сэй, Шумпетер, Найт, Кирцнер.</a:t>
            </a:r>
            <a:endParaRPr lang="en-US" sz="1100" dirty="0"/>
          </a:p>
        </p:txBody>
      </p:sp>
      <p:sp>
        <p:nvSpPr>
          <p:cNvPr id="31" name="fx15_5_13"/>
          <p:cNvSpPr/>
          <p:nvPr/>
        </p:nvSpPr>
        <p:spPr>
          <a:xfrm>
            <a:off x="685800" y="5138928"/>
            <a:ext cx="6766560" cy="1051560"/>
          </a:xfrm>
          <a:prstGeom prst="roundRect">
            <a:avLst>
              <a:gd name="adj" fmla="val 6957"/>
            </a:avLst>
          </a:prstGeom>
          <a:solidFill>
            <a:srgbClr val="22170B">
              <a:alpha val="92000"/>
            </a:srgbClr>
          </a:solidFill>
          <a:ln w="12700">
            <a:solidFill>
              <a:srgbClr val="E3B663">
                <a:alpha val="55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32" name="fx15_5_14"/>
          <p:cNvSpPr/>
          <p:nvPr/>
        </p:nvSpPr>
        <p:spPr>
          <a:xfrm>
            <a:off x="685800" y="5285232"/>
            <a:ext cx="50292" cy="758952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33" name="fx15_5_15"/>
          <p:cNvSpPr/>
          <p:nvPr/>
        </p:nvSpPr>
        <p:spPr>
          <a:xfrm>
            <a:off x="941832" y="5001768"/>
            <a:ext cx="2569464" cy="274320"/>
          </a:xfrm>
          <a:prstGeom prst="roundRect">
            <a:avLst>
              <a:gd name="adj" fmla="val 50000"/>
            </a:avLst>
          </a:prstGeom>
          <a:solidFill>
            <a:srgbClr val="E3B663"/>
          </a:solidFill>
          <a:ln/>
        </p:spPr>
      </p:sp>
      <p:sp>
        <p:nvSpPr>
          <p:cNvPr id="34" name="fx15_5_16"/>
          <p:cNvSpPr/>
          <p:nvPr/>
        </p:nvSpPr>
        <p:spPr>
          <a:xfrm>
            <a:off x="941832" y="5001768"/>
            <a:ext cx="2569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spc="150" kern="0" dirty="0">
                <a:solidFill>
                  <a:srgbClr val="0D0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 ЧТО ЭТО ЗНАЧИТ СЕГОДНЯ</a:t>
            </a:r>
            <a:endParaRPr lang="en-US" sz="850" dirty="0"/>
          </a:p>
        </p:txBody>
      </p:sp>
      <p:sp>
        <p:nvSpPr>
          <p:cNvPr id="35" name="fx15_5_17"/>
          <p:cNvSpPr/>
          <p:nvPr/>
        </p:nvSpPr>
        <p:spPr>
          <a:xfrm>
            <a:off x="960120" y="5321808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Курьер-самозанятый, фермер, продавец на маркетплейсе, основатель стартапа платят «сегодня» и не знают выручки «завтра». </a:t>
            </a:r>
            <a:pPr algn="l" indent="0" marL="0">
              <a:lnSpc>
                <a:spcPct val="105000"/>
              </a:lnSpc>
              <a:buNone/>
            </a:pPr>
            <a:r>
              <a:rPr lang="en-US" sz="1250" b="1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Их прибыль — плата за неопределённость.</a:t>
            </a:r>
            <a:endParaRPr lang="en-US" sz="1250" dirty="0"/>
          </a:p>
        </p:txBody>
      </p:sp>
      <p:sp>
        <p:nvSpPr>
          <p:cNvPr id="36" name="fx15_6_18"/>
          <p:cNvSpPr/>
          <p:nvPr/>
        </p:nvSpPr>
        <p:spPr>
          <a:xfrm>
            <a:off x="7498080" y="5440680"/>
            <a:ext cx="4005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2600" i="1" dirty="0">
                <a:solidFill>
                  <a:srgbClr val="F3DDA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Спасибо за внимание!</a:t>
            </a:r>
            <a:endParaRPr lang="en-US" sz="260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7" name="!!m-jack">
                <a:extLst>
                  <a:ext uri="{FF2B5EF4-FFF2-40B4-BE49-F238E27FC236}">
                    <a16:creationId xmlns:a16="http://schemas.microsoft.com/office/drawing/2014/main" id="{B4FAD655-FD05-5D25-D420-73A34D736232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4480560" y="1234440"/>
              <a:ext cx="3931920" cy="3931920"/>
            </p:xfrm>
            <a:graphic>
              <a:graphicData uri="http://schemas.microsoft.com/office/drawing/2017/model3d">
                <am3d:model3d r:embed="rIdM3d58">
                  <am3d:spPr>
                    <a:xfrm>
                      <a:off x="0" y="0"/>
                      <a:ext cx="3931920" cy="3931920"/>
                    </a:xfrm>
                    <a:prstGeom prst="rect">
                      <a:avLst/>
                    </a:prstGeom>
                  </am3d:spPr>
                  <am3d:camera>
                    <am3d:pos x="0" y="0" z="6026996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88870" d="1000000"/>
                    <am3d:preTrans dx="-1598396" dy="-2096383" dz="340792"/>
                    <am3d:scale>
                      <am3d:sx n="1000000" d="1000000"/>
                      <am3d:sy n="1000000" d="1000000"/>
                      <am3d:sz n="1000000" d="1000000"/>
                    </am3d:scale>
                    <am3d:rot ax="840000" ay="-6360000" az="0"/>
                    <am3d:postTrans dx="0" dy="0" dz="0"/>
                  </am3d:trans>
                  <am3d:raster rName="Office3DRenderer" rVer="16.0.8326">
                    <am3d:blip r:embed="rId6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5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93192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7" name="!!m-jack">
                <a:extLst>
                  <a:ext uri="{FF2B5EF4-FFF2-40B4-BE49-F238E27FC236}">
                    <a16:creationId xmlns:a16="http://schemas.microsoft.com/office/drawing/2014/main" id="{B4FAD655-FD05-5D25-D420-73A34D736232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-4480560" y="1234440"/>
                <a:ext cx="3931920" cy="393192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171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01" dur="5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17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16">
    <p:bg>
      <p:bgPr>
        <a:solidFill>
          <a:srgbClr val="0E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home/user/omgGame/presentations/cantillon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rack"/>
          <p:cNvSpPr/>
          <p:nvPr/>
        </p:nvSpPr>
        <p:spPr>
          <a:xfrm>
            <a:off x="685800" y="402336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4" name="!!progress"/>
          <p:cNvSpPr/>
          <p:nvPr/>
        </p:nvSpPr>
        <p:spPr>
          <a:xfrm>
            <a:off x="685800" y="391363"/>
            <a:ext cx="10820095" cy="21946"/>
          </a:xfrm>
          <a:prstGeom prst="rect">
            <a:avLst/>
          </a:prstGeom>
          <a:solidFill>
            <a:srgbClr val="E3B663"/>
          </a:solidFill>
          <a:ln/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!!coin">
                <a:extLst>
                  <a:ext uri="{FF2B5EF4-FFF2-40B4-BE49-F238E27FC236}">
                    <a16:creationId xmlns:a16="http://schemas.microsoft.com/office/drawing/2014/main" id="{1BB4DC81-403E-A546-5CEF-D3FB43819ACB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1231575" y="98755"/>
              <a:ext cx="548640" cy="548640"/>
            </p:xfrm>
            <a:graphic>
              <a:graphicData uri="http://schemas.microsoft.com/office/drawing/2017/model3d">
                <am3d:model3d r:embed="rIdM3d59">
                  <am3d:spPr>
                    <a:xfrm>
                      <a:off x="0" y="0"/>
                      <a:ext cx="548640" cy="548640"/>
                    </a:xfrm>
                    <a:prstGeom prst="rect">
                      <a:avLst/>
                    </a:prstGeom>
                  </am3d:spPr>
                  <am3d:camera>
                    <am3d:pos x="0" y="0" z="6662303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00000" d="1000000"/>
                    <am3d:preTrans dx="0" dy="0" dz="-162000"/>
                    <am3d:scale>
                      <am3d:sx n="1000000" d="1000000"/>
                      <am3d:sy n="1000000" d="1000000"/>
                      <am3d:sz n="1000000" d="1000000"/>
                    </am3d:scale>
                    <am3d:rot ax="0" ay="-720000" az="-131400000"/>
                    <am3d:postTrans dx="0" dy="0" dz="0"/>
                  </am3d:trans>
                  <am3d:raster rName="Office3DRenderer" rVer="16.0.8326">
                    <am3d:blip r:embed="rId2"/>
                  </am3d:raster>
                  <am3d:objViewport viewportSz="5486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!!coin">
                <a:extLst>
                  <a:ext uri="{FF2B5EF4-FFF2-40B4-BE49-F238E27FC236}">
                    <a16:creationId xmlns:a16="http://schemas.microsoft.com/office/drawing/2014/main" id="{1BB4DC81-403E-A546-5CEF-D3FB43819AC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1231575" y="98755"/>
                <a:ext cx="548640" cy="54864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!!kickerbar"/>
          <p:cNvSpPr/>
          <p:nvPr/>
        </p:nvSpPr>
        <p:spPr>
          <a:xfrm>
            <a:off x="685800" y="713232"/>
            <a:ext cx="310896" cy="3200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7" name="!!kicker"/>
          <p:cNvSpPr/>
          <p:nvPr/>
        </p:nvSpPr>
        <p:spPr>
          <a:xfrm>
            <a:off x="1124712" y="594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3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ИСТОЧНИКИ И ЛИТЕРАТУРА</a:t>
            </a:r>
            <a:endParaRPr lang="en-US" sz="1100" dirty="0"/>
          </a:p>
        </p:txBody>
      </p:sp>
      <p:sp>
        <p:nvSpPr>
          <p:cNvPr id="8" name="!!footline"/>
          <p:cNvSpPr/>
          <p:nvPr/>
        </p:nvSpPr>
        <p:spPr>
          <a:xfrm>
            <a:off x="685800" y="6400800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9" name="!!footer"/>
          <p:cNvSpPr/>
          <p:nvPr/>
        </p:nvSpPr>
        <p:spPr>
          <a:xfrm>
            <a:off x="68580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РИЧАРД КАНТИЛЬОН  ·  1680-е – 1734</a:t>
            </a:r>
            <a:endParaRPr lang="en-US" sz="900" dirty="0"/>
          </a:p>
        </p:txBody>
      </p:sp>
      <p:sp>
        <p:nvSpPr>
          <p:cNvPr id="10" name="!!pagenum"/>
          <p:cNvSpPr/>
          <p:nvPr/>
        </p:nvSpPr>
        <p:spPr>
          <a:xfrm>
            <a:off x="10134295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16</a:t>
            </a:r>
            <a:endParaRPr lang="en-US" sz="900" dirty="0"/>
          </a:p>
        </p:txBody>
      </p:sp>
      <p:sp>
        <p:nvSpPr>
          <p:cNvPr id="11" name="!!title"/>
          <p:cNvSpPr/>
          <p:nvPr/>
        </p:nvSpPr>
        <p:spPr>
          <a:xfrm>
            <a:off x="685800" y="987552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4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Источники</a:t>
            </a:r>
            <a:endParaRPr lang="en-US" sz="3400" dirty="0"/>
          </a:p>
        </p:txBody>
      </p:sp>
      <p:sp>
        <p:nvSpPr>
          <p:cNvPr id="12" name="fx16_1_0"/>
          <p:cNvSpPr/>
          <p:nvPr/>
        </p:nvSpPr>
        <p:spPr>
          <a:xfrm>
            <a:off x="685800" y="1828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fx16_1_1"/>
          <p:cNvSpPr/>
          <p:nvPr/>
        </p:nvSpPr>
        <p:spPr>
          <a:xfrm>
            <a:off x="1069848" y="1847088"/>
            <a:ext cx="48156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0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Cantillon R. </a:t>
            </a:r>
            <a:pPr algn="l"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Essai sur la nature du commerce en général. — Londres [Paris]: Fletcher Gyles, 1755; англ. пер. H. Higgs, 1931.</a:t>
            </a:r>
            <a:endParaRPr lang="en-US" sz="1050" dirty="0"/>
          </a:p>
        </p:txBody>
      </p:sp>
      <p:sp>
        <p:nvSpPr>
          <p:cNvPr id="14" name="fx16_1_2"/>
          <p:cNvSpPr/>
          <p:nvPr/>
        </p:nvSpPr>
        <p:spPr>
          <a:xfrm>
            <a:off x="685800" y="248716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fx16_1_3"/>
          <p:cNvSpPr/>
          <p:nvPr/>
        </p:nvSpPr>
        <p:spPr>
          <a:xfrm>
            <a:off x="1069848" y="2505456"/>
            <a:ext cx="48156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0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Murphy A. E. </a:t>
            </a:r>
            <a:pPr algn="l"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Richard Cantillon: Entrepreneur and Economist. — Oxford: Clarendon Press, 1986.</a:t>
            </a:r>
            <a:endParaRPr lang="en-US" sz="1050" dirty="0"/>
          </a:p>
        </p:txBody>
      </p:sp>
      <p:sp>
        <p:nvSpPr>
          <p:cNvPr id="16" name="fx16_1_4"/>
          <p:cNvSpPr/>
          <p:nvPr/>
        </p:nvSpPr>
        <p:spPr>
          <a:xfrm>
            <a:off x="685800" y="314553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fx16_1_5"/>
          <p:cNvSpPr/>
          <p:nvPr/>
        </p:nvSpPr>
        <p:spPr>
          <a:xfrm>
            <a:off x="1069848" y="3163824"/>
            <a:ext cx="48156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0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Murphy A. E. </a:t>
            </a:r>
            <a:pPr algn="l"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Richard Cantillon — Banker and Economist // Journal of Libertarian Studies. 1985. Vol. 7, № 2.</a:t>
            </a:r>
            <a:endParaRPr lang="en-US" sz="1050" dirty="0"/>
          </a:p>
        </p:txBody>
      </p:sp>
      <p:sp>
        <p:nvSpPr>
          <p:cNvPr id="18" name="fx16_1_6"/>
          <p:cNvSpPr/>
          <p:nvPr/>
        </p:nvSpPr>
        <p:spPr>
          <a:xfrm>
            <a:off x="685800" y="380390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fx16_1_7"/>
          <p:cNvSpPr/>
          <p:nvPr/>
        </p:nvSpPr>
        <p:spPr>
          <a:xfrm>
            <a:off x="1069848" y="3822192"/>
            <a:ext cx="48156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0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Hayek F. A. </a:t>
            </a:r>
            <a:pPr algn="l"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Richard Cantillon (1931) // Journal of Libertarian Studies. 1985. Vol. 7, № 2.</a:t>
            </a:r>
            <a:endParaRPr lang="en-US" sz="1050" dirty="0"/>
          </a:p>
        </p:txBody>
      </p:sp>
      <p:sp>
        <p:nvSpPr>
          <p:cNvPr id="20" name="fx16_1_8"/>
          <p:cNvSpPr/>
          <p:nvPr/>
        </p:nvSpPr>
        <p:spPr>
          <a:xfrm>
            <a:off x="685800" y="446227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500" dirty="0"/>
          </a:p>
        </p:txBody>
      </p:sp>
      <p:sp>
        <p:nvSpPr>
          <p:cNvPr id="21" name="fx16_1_9"/>
          <p:cNvSpPr/>
          <p:nvPr/>
        </p:nvSpPr>
        <p:spPr>
          <a:xfrm>
            <a:off x="1069848" y="4480560"/>
            <a:ext cx="48156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0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Higgs H. </a:t>
            </a:r>
            <a:pPr algn="l"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 and Work of Richard Cantillon // Essai, ed. Higgs. — London: Macmillan, 1931.</a:t>
            </a:r>
            <a:endParaRPr lang="en-US" sz="1050" dirty="0"/>
          </a:p>
        </p:txBody>
      </p:sp>
      <p:sp>
        <p:nvSpPr>
          <p:cNvPr id="22" name="fx16_1_10"/>
          <p:cNvSpPr/>
          <p:nvPr/>
        </p:nvSpPr>
        <p:spPr>
          <a:xfrm>
            <a:off x="685800" y="51206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500" dirty="0"/>
          </a:p>
        </p:txBody>
      </p:sp>
      <p:sp>
        <p:nvSpPr>
          <p:cNvPr id="23" name="fx16_1_11"/>
          <p:cNvSpPr/>
          <p:nvPr/>
        </p:nvSpPr>
        <p:spPr>
          <a:xfrm>
            <a:off x="1069848" y="5138928"/>
            <a:ext cx="48156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0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Jevons W. S. </a:t>
            </a:r>
            <a:pPr algn="l"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Richard Cantillon and the Nationality of Political Economy // Contemporary Review. 1881.</a:t>
            </a:r>
            <a:endParaRPr lang="en-US" sz="1050" dirty="0"/>
          </a:p>
        </p:txBody>
      </p:sp>
      <p:sp>
        <p:nvSpPr>
          <p:cNvPr id="24" name="fx16_2_12"/>
          <p:cNvSpPr/>
          <p:nvPr/>
        </p:nvSpPr>
        <p:spPr>
          <a:xfrm>
            <a:off x="6278728" y="1828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1500" dirty="0"/>
          </a:p>
        </p:txBody>
      </p:sp>
      <p:sp>
        <p:nvSpPr>
          <p:cNvPr id="25" name="fx16_2_13"/>
          <p:cNvSpPr/>
          <p:nvPr/>
        </p:nvSpPr>
        <p:spPr>
          <a:xfrm>
            <a:off x="6662776" y="1847088"/>
            <a:ext cx="48156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0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Rothbard M. N. </a:t>
            </a:r>
            <a:pPr algn="l"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Richard Cantillon: The Founding Father of Modern Economics // An Austrian Perspective on the History of Economic Thought. 1995.</a:t>
            </a:r>
            <a:endParaRPr lang="en-US" sz="1050" dirty="0"/>
          </a:p>
        </p:txBody>
      </p:sp>
      <p:sp>
        <p:nvSpPr>
          <p:cNvPr id="26" name="fx16_2_14"/>
          <p:cNvSpPr/>
          <p:nvPr/>
        </p:nvSpPr>
        <p:spPr>
          <a:xfrm>
            <a:off x="6278728" y="248716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1500" dirty="0"/>
          </a:p>
        </p:txBody>
      </p:sp>
      <p:sp>
        <p:nvSpPr>
          <p:cNvPr id="27" name="fx16_2_15"/>
          <p:cNvSpPr/>
          <p:nvPr/>
        </p:nvSpPr>
        <p:spPr>
          <a:xfrm>
            <a:off x="6662776" y="2505456"/>
            <a:ext cx="48156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0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Hébert R. F., Link A. N. </a:t>
            </a:r>
            <a:pPr algn="l"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History of Entrepreneurship. — London: Routledge, 2009.</a:t>
            </a:r>
            <a:endParaRPr lang="en-US" sz="1050" dirty="0"/>
          </a:p>
        </p:txBody>
      </p:sp>
      <p:sp>
        <p:nvSpPr>
          <p:cNvPr id="28" name="fx16_2_16"/>
          <p:cNvSpPr/>
          <p:nvPr/>
        </p:nvSpPr>
        <p:spPr>
          <a:xfrm>
            <a:off x="6278728" y="314553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endParaRPr lang="en-US" sz="1500" dirty="0"/>
          </a:p>
        </p:txBody>
      </p:sp>
      <p:sp>
        <p:nvSpPr>
          <p:cNvPr id="29" name="fx16_2_17"/>
          <p:cNvSpPr/>
          <p:nvPr/>
        </p:nvSpPr>
        <p:spPr>
          <a:xfrm>
            <a:off x="6662776" y="3163824"/>
            <a:ext cx="48156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0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Knight F. H. </a:t>
            </a:r>
            <a:pPr algn="l"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Risk, Uncertainty and Profit. — Boston, 1921.</a:t>
            </a:r>
            <a:endParaRPr lang="en-US" sz="1050" dirty="0"/>
          </a:p>
        </p:txBody>
      </p:sp>
      <p:sp>
        <p:nvSpPr>
          <p:cNvPr id="30" name="fx16_2_18"/>
          <p:cNvSpPr/>
          <p:nvPr/>
        </p:nvSpPr>
        <p:spPr>
          <a:xfrm>
            <a:off x="6278728" y="380390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500" dirty="0"/>
          </a:p>
        </p:txBody>
      </p:sp>
      <p:sp>
        <p:nvSpPr>
          <p:cNvPr id="31" name="fx16_2_19"/>
          <p:cNvSpPr/>
          <p:nvPr/>
        </p:nvSpPr>
        <p:spPr>
          <a:xfrm>
            <a:off x="6662776" y="3822192"/>
            <a:ext cx="48156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0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Baumol W. J. </a:t>
            </a:r>
            <a:pPr algn="l"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Entrepreneurship: Productive, Unproductive, and Destructive // Journal of Political Economy. 1990. Vol. 98, № 5.</a:t>
            </a:r>
            <a:endParaRPr lang="en-US" sz="1050" dirty="0"/>
          </a:p>
        </p:txBody>
      </p:sp>
      <p:sp>
        <p:nvSpPr>
          <p:cNvPr id="32" name="fx16_2_20"/>
          <p:cNvSpPr/>
          <p:nvPr/>
        </p:nvSpPr>
        <p:spPr>
          <a:xfrm>
            <a:off x="6278728" y="446227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1500" dirty="0"/>
          </a:p>
        </p:txBody>
      </p:sp>
      <p:sp>
        <p:nvSpPr>
          <p:cNvPr id="33" name="fx16_2_21"/>
          <p:cNvSpPr/>
          <p:nvPr/>
        </p:nvSpPr>
        <p:spPr>
          <a:xfrm>
            <a:off x="6662776" y="4480560"/>
            <a:ext cx="48156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0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Thornton M. </a:t>
            </a:r>
            <a:pPr algn="l"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Incorporating Cantillon: A Face and a Family for the First Modern Economist? — 2018.</a:t>
            </a:r>
            <a:endParaRPr lang="en-US" sz="1050" dirty="0"/>
          </a:p>
        </p:txBody>
      </p:sp>
      <p:sp>
        <p:nvSpPr>
          <p:cNvPr id="34" name="fx16_2_22"/>
          <p:cNvSpPr/>
          <p:nvPr/>
        </p:nvSpPr>
        <p:spPr>
          <a:xfrm>
            <a:off x="6278728" y="51206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1500" dirty="0"/>
          </a:p>
        </p:txBody>
      </p:sp>
      <p:sp>
        <p:nvSpPr>
          <p:cNvPr id="35" name="fx16_2_23"/>
          <p:cNvSpPr/>
          <p:nvPr/>
        </p:nvSpPr>
        <p:spPr>
          <a:xfrm>
            <a:off x="6662776" y="5138928"/>
            <a:ext cx="48156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0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Dictionary of Irish Biography; </a:t>
            </a:r>
            <a:pPr algn="l"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MacMahon B. A millionaire, a market crash and a murder // Irish Independent. 2013.</a:t>
            </a:r>
            <a:endParaRPr lang="en-US" sz="1050" dirty="0"/>
          </a:p>
        </p:txBody>
      </p:sp>
      <p:sp>
        <p:nvSpPr>
          <p:cNvPr id="36" name="fx16_3_24"/>
          <p:cNvSpPr/>
          <p:nvPr/>
        </p:nvSpPr>
        <p:spPr>
          <a:xfrm>
            <a:off x="685800" y="5852160"/>
            <a:ext cx="108200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i="1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3D-экспонаты и их анимации смоделированы в Blender специально для этой презентации. Портрет: Н. де Ларжильер, ок. 1710 (общественное достояние). Подробная таблица «факт → источник» — в файле cantillon-presentation-sources.md.</a:t>
            </a:r>
            <a:endParaRPr lang="en-US" sz="95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7" name="!!m-padlock">
                <a:extLst>
                  <a:ext uri="{FF2B5EF4-FFF2-40B4-BE49-F238E27FC236}">
                    <a16:creationId xmlns:a16="http://schemas.microsoft.com/office/drawing/2014/main" id="{1A932DF3-7B2B-87D9-3377-C17BBDA7483A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4297680" y="1188720"/>
              <a:ext cx="3749040" cy="3749040"/>
            </p:xfrm>
            <a:graphic>
              <a:graphicData uri="http://schemas.microsoft.com/office/drawing/2017/model3d">
                <am3d:model3d r:embed="rIdM3d60">
                  <am3d:spPr>
                    <a:xfrm>
                      <a:off x="0" y="0"/>
                      <a:ext cx="3749040" cy="3749040"/>
                    </a:xfrm>
                    <a:prstGeom prst="rect">
                      <a:avLst/>
                    </a:prstGeom>
                  </am3d:spPr>
                  <am3d:camera>
                    <am3d:pos x="0" y="0" z="69265185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126126" d="1000000"/>
                    <am3d:preTrans dx="0" dy="-972973" dz="-9989702"/>
                    <am3d:scale>
                      <am3d:sx n="1000000" d="1000000"/>
                      <am3d:sy n="1000000" d="1000000"/>
                      <am3d:sz n="1000000" d="1000000"/>
                    </am3d:scale>
                    <am3d:rot ax="720000" ay="-6240000" az="0"/>
                    <am3d:postTrans dx="0" dy="0" dz="0"/>
                  </am3d:trans>
                  <am3d:raster rName="Office3DRenderer" rVer="16.0.8326">
                    <am3d:blip r:embed="rId3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5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7490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7" name="!!m-padlock">
                <a:extLst>
                  <a:ext uri="{FF2B5EF4-FFF2-40B4-BE49-F238E27FC236}">
                    <a16:creationId xmlns:a16="http://schemas.microsoft.com/office/drawing/2014/main" id="{1A932DF3-7B2B-87D9-3377-C17BBDA7483A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-4297680" y="1188720"/>
                <a:ext cx="3749040" cy="374904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Ричард Кантильон — 3D-презентация</dc:title>
  <dc:subject>Биография, главная мысль и вклад в теорию предпринимательства</dc:subject>
  <dc:creator>omgGame</dc:creator>
  <cp:lastModifiedBy>omgGame</cp:lastModifiedBy>
  <cp:revision>1</cp:revision>
  <dcterms:created xsi:type="dcterms:W3CDTF">2026-10-07T13:09:21Z</dcterms:created>
  <dcterms:modified xsi:type="dcterms:W3CDTF">2026-10-07T13:09:21Z</dcterms:modified>
</cp:coreProperties>
</file>