
<file path=[Content_Types].xml><?xml version="1.0" encoding="utf-8"?>
<Types xmlns="http://schemas.openxmlformats.org/package/2006/content-types">
  <Default Extension="glb" ContentType="model/gltf.binary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Сегодня я расскажу о Ричарде Кантильоне — ирландско-французском банкире XVIII века. Его имя знают меньше, чем имя Адама Смита, но именно он первым описал в экономической теории фигуру предпринимателя.
Самое интересное: само французское слово entrepreneur существовало и раньше, но именно Кантильон, примерно в 1730 году, первым сделал предпринимателя центральной фигурой экономической теории. Это часто приписывают Жан-Батисту Сэю, но Сэй писал на семьдесят лет позже.
А ещё его жизнь — готовый сюжет для сериала: миллионы на финансовом пузыре, угроза Бастилией и загадочная смерть, которую до сих пор не могут объяснить.
Каждый слайд сопровождает «экспонат» — 3D-предмет, связанный с его жизнью или идеями. Первый — торговый корабль: риск, морская торговля и, возможно, бегство за океан.
План: где он родился, чем занимался, его главная мысль и что он дал теории предпринимательства.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Ричард Кантильон родился в 1680-х годах в графстве Керри на юго-западе Ирландии, в католической дворянской семье. Его род потерял земли при конфискациях Кромвеля и Вильгельма Оранского — и, как многие ирландские католики, молодой Кантильон уехал во Францию. В 1708 году он получил французское подданство.
В семье были банкиры: двоюродный брат вёл банк в Париже — позже это станет стартом его карьеры. Он свободно жил между английским и французским мирами, а главную книгу написал по-французски.
Экспонат — ирландская арфа, символ его родины.
А вот самое интересное: мы не знаем ни точной даты его рождения, ни даже того, как он выглядел. Достоверных портретов нет. Есть лишь гипотеза экономиста Марка Торнтона, что Кантильон — мужчина слева на семейном портрете кисти Николя де Ларжильера, около 1710 года. Атрибуция спорная, поэтому я показываю его со знаком вопроса.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он занимался? Если коротко — деньгами. Около 1711 года он работает в Испании, во время войны за испанское наследство, на британского генерального казначея Джеймса Бриджеса: организует выплаты британским военнопленным. Так он получает связи и покровителя.
В 1714 году он возвращается в Париж и начинает работать в банке своего двоюродного брата, а в 1716-м — при финансовой поддержке Бриджеса — выкупает банк и становится хозяином. Его клиенты — двор изгнанных Стюартов, ирландские и британские эмигранты, поэт Александр Поуп, политик Болингброк.
И наконец — спекулянт: на пузыре Миссисипской компании он заработает огромное состояние; об этом следующий слайд.
Экспонат — окованный сундук. Самое интересное: уезжая из Парижа, Кантильон запер все бумаги в сундук и оставил его на хранение английским монахам-бенедиктинцам — переждать «финансовую бурю», которую он предвидел.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Его путь — это карта финансовой Европы XVIII века. 1708 год — французское подданство. 1711-й — Испания и работа на британское казначейство. 1714-й — Париж, банк кузена; 1716-й — собственный банк. 1719-й — пик пузыря Джона Ло: Кантильон продаёт бумаги и уезжает из Парижа. 1722-й — женится на Мэри Энн О’Махони, дочери ирландского генерала на французской службе, и много путешествует по Европе. Около 1730 года пишет свою главную книгу. 1734-й — Лондон и загадочный пожар.
Экспонат — глобус с его финансовой сетью.
Самое интересное: по завещанию 1732 года видно, насколько он был богат и осторожен — деньги на депозитах в банках Лондона, Амстердама, Брюсселя, Вены и Кадиса, а поместья — в английском Линкольншире и… во французской Луизиане, в Америке.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финансовая история его жизни — пузырь Миссисипи. В 1716 году шотландец Джон Ло убеждает регента Франции, что бумажные деньги решат проблему огромного государственного долга, и открывает банк. Затем появляется Миссисипская компания — монополия на освоение французской Луизианы. Её акции за пару лет взлетают примерно в двадцать раз, вся Франция сходит с ума.
Кантильон считал систему Ло нездоровой и обречённой — и именно поэтому заработал на ней: купил акции рано, продал дорого, а клиентам давал кредиты под залог акций. Когда в 1720 году пузырь лопнул, он требовал возврата долгов с процентами — и потом годами судился с бывшими клиентами.
Экспонат — пузырь над стопкой акций и золотом.
Самое интересное: Кантильон стал одним из так называемых «миссисипских миллионеров» — около двадцати миллионов ливров; по оценке ирландской прессы, это порядка шестидесяти миллионов евро сегодня.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Отношения с Джоном Ло — отдельный сюжет. Успех и влияние Кантильона раздражали Ло. По рассказу барона Гримма, Ло вызвал его и сказал: «Будь мы в Англии, нам пришлось бы договариваться. Но мы во Франции — и я могу сегодня же вечером отправить вас в Бастилию, если вы не дадите слово покинуть королевство».
Кантильон подумал и ответил: «Хорошо. Я не уеду — и помогу вашей системе преуспеть». Он взял у Ло огромное количество новых бумаг, через своих агентов разместил их на рынке с большой выгодой, обменял выручку на золото — и всё-таки уехал, потому что Ло не доверял.
Экспонат — ладья, шахматная крепость: та самая Бастилия, которой ему грозили. Важно: этот диалог дошёл до нас как рассказ современника, его стоит подавать как легенду.
Чем закончилась «дуэль»? Ло умер в 1729 году в Венеции, разорённым, а Кантильон остался мультимиллионером.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труд Кантильона — «Опыт о природе торговли вообще», по-французски «Essai sur la nature du commerce en général». Он написан примерно в 1730 году и считается первым систематическим трактатом, который охватывает экономику целиком: производство, деньги, цены, процент, международную торговлю.
История книги — сама по себе детектив. Она вышла только в 1755 году, через двадцать один год после смерти автора, анонимно, с фальшивым адресом «Лондон, у Флетчера Джайлса» и пометкой «переведено с английского». В рукописи её успели прочитать французские экономисты — физиократы.
Адам Смит в «Богатстве народов» 1776 года ссылается на Кантильона — это один из немногих авторов, которых Смит вообще цитирует. Потом книгу забыли почти на сто лет, пока в 1881 году Стэнли Джевонс не открыл её заново и не назвал «колыбелью политической экономии».
Экспонат — книга, чернильница и перо.
Самое интересное: Шумпетер — тот самый, про которого другая презентация, — назвал «Essai» «первым систематическим проникновением в область экономики». А статистическое приложение к книге потеряно до сих пор.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 Кантильона: экономика — это система, которая сама себя регулирует через рынки, цены и деньги. Не государство и не казна, а миллионы решений людей определяют, что производится и по какой цене.
В этой системе он выделил три группы. Землевладельцы — независимы, их расходы задают спрос. Наёмные работники живут на фиксированном доходе. И предприниматели — все, чей доход заранее неизвестен: они покупают по известной цене, а продают по неизвестной. Именно они подстраивают производство под спрос.
Экспонат — игральные кости: доход «по неизвестной цене».
Самое парадоксальное: у Кантильона генерал на жалованье — наёмный работник, а трубочист и водонос — предприниматели. Важен не размер дохода и не статус, а то, известен ли доход заранее.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главное для нашей темы — кто такой предприниматель у Кантильона. Его определение очень простое: предприниматель платит известную цену сегодня, чтобы продать по неизвестной цене завтра. Между этими двумя ценами — неопределённость: никто не знает, каким будет спрос, сколько продержатся клиенты и что сделают конкуренты. Если угадал — прибыль, если нет — банкротство.
Экспонат — весы: на одной чаше монеты, известная цена; на другой — игральная кость, неизвестная.
Отсюда очень широкий список: фермер, оптовик, пекарь, мясник, трактирщик, купец, а ещё — трубочист, водонос, швея, художник, врач, адвокат. Все, кто живёт «в неопределённости».
И самая удивительная фраза из книги: «…даже нищие и грабители — предприниматели этого класса». Для Кантильона важна не мораль и не размер дела, а только одно — неопределённость дохода.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Зачем экономике такие люди? Кантильон показывает это на простых примерах — и экспонат здесь буханка хлеба. Пекарь закупает муку по сегодняшней цене, но не знает, сколько хлеба купят завтра и не уйдут ли клиенты к соседу. Значит, риск несёт он, а не покупатель.
Второе: рынок сам соразмеряет число предпринимателей со спросом. Если пекарей в городе слишком много, часть разоряется; если мало — появляются новые. Никто этим не командует.
Третье: купцы покупают там, где дешевле, и везут туда, где дороже, — так они связывают рынки разных городов и выравнивают цены. Сегодня это назвали бы арбитражем.
Прибыль — плата за то, что человек взял на себя неопределённость, а убыток — её цена. И Кантильон честно пишет об обратной стороне: «Всё это порождает такую неопределённость, что каждый день видишь, как кто-то из них становится банкротом».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Вторая большая идея Кантильона — его именем её и назвали: эффект Кантильона. Он наблюдал пузырь Ло изнутри и понял: новые деньги не распределяются по экономике равномерно, как вода в ванне. Они входят в конкретной точке — и расходятся кругами. Экспонат — монета, падающая в воду.
Механизм такой. Появляются новые деньги — от нового рудника, печатного станка или кредита. Первые получатели тратят их по старым ценам и выигрывают. Цены растут на то, что покупают именно они. А те, к кому деньги приходят последними, — получают их уже после роста цен и проигрывают.
Пример самого Кантильона: если открыли новые серебряные рудники, разбогатевшие шахтёры начинают есть больше мяса и пить вино вместо пива — мясо и вино дорожают, и фермеры переводят землю под скот и виноградники. Деньги меняют не только уровень цен, но и структуру всей экономики.
Самое интересное: термин жив и сегодня. Эффектом Кантильона объясняют, почему от печатания денег центробанками раньше всех выигрывают банки и владельцы активов, а люди с фиксированным доходом — проигрывают.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Итак, что Кантильон дал теории предпринимательства. Первое: он ввёл само понятие и сделал предпринимателя центральной фигурой экономики, а не просто «торговцем». Второе: определил его функцию — нести неопределённость; это не капитал и не профессия, а доход «по неизвестной цене». Третье: показал, что предприниматели координируют рынок — подстраивают предложение под спрос и связывают рынки разных мест.
С этого начинается эстафета идей, которую можно проследить до наших дней. Кантильон, около 1730 года: предприниматель несёт риск. Сэй, 1803: предприниматель — организатор производства. Шумпетер, 1911: предприниматель — новатор, который осуществляет новые комбинации. Найт, 1921: прибыль — награда за неизмеримую неопределённость. Кирцнер, 1973: предприниматель — тот, кто первым замечает возможность.
Экспонат — компас: инструмент для движения в неопределённости.
Самое интересное: американский экономист Мюррей Ротбард назвал Кантильона «отцом-основателем современной экономики» — то есть поставил его раньше Адама Смита.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 теперь — самая загадочная часть. 14 мая 1734 года, около трёх часов ночи, в лондонском доме Кантильона на Албемарл-стрит начинается пожар. Сгорает его дом и два соседних. В постели находят обгоревшее тело; лондонский журнал пишет, что голова «почти сгорела или была отрублена».
Детали подозрительные. В доме, по сообщениям, было ценностей на двести тысяч фунтов. Повар-француз, уволенный за три недели до этого, бежал за море под чужим именем; за его поимку назначили награду в двести фунтов. Трёх слуг судили за убийство и поджог — и в декабре оправдали.
Экспонат — подсвечник со свечой.
Самое интересное — дневник графа Эгмонта, чей брат жил по соседству и тоже погорел. Он записал сразу три версии, которые ходили по городу: Кантильон пришёл домой пьяным и поджёг полог кровати; заснул за чтением со свечой; или слуги убили его и подожгли дом, чтобы скрыть преступление.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 на этом история не заканчивается. Самая распространённая версия — убийство: повар ограбил хозяина, убил его и поджёг дом, чтобы скрыть следы.
Однако главный биограф Кантильона, ирландский экономист Антуан Мёрфи, предложил другую версию: Кантильон мог инсценировать собственную смерть. У него было много причин исчезнуть — бесконечные суды и даже покушения со стороны бывших клиентов, проигравших на пузыре.
Улика такая. В декабре 1734 года в голландской колонии Суринам, в Южной Америке, появился подозрительный иностранец, называвший себя «шевалье де Лувиньи». При нём были документы Кантильона — выписки по его облигациям и новое завещание, датированное 11 апреля 1734 года, то есть за месяц до пожара. И вскоре этот человек исчез.
Экспонат — снова корабль, с первого слайда: возможно, именно так он и покинул Европу. Мы не знаем точно, и это делает Кантильона самым загадочным экономистом в истории.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итог. Кто он: ирландско-французский банкир, родившийся в 1680-х в графстве Керри, миллионер пузыря Миссисипи и автор первого систематического трактата по экономике.
Главная мысль: экономика — саморегулирующаяся система, где цены и предприниматели связывают рынки, а деньги не нейтральны: важно, кто получает их первым — это эффект Кантильона.
Вклад в предпринимательство: он первым описал предпринимателя как человека, который покупает по известной цене и продаёт по неизвестной, то есть берёт на себя неопределённость. От этой идеи идёт линия к Сэю, Найту, Шумпетеру и Кирцнеру.
И последний факт: его книгу читали и использовали Кенэ, Тюрго и Адам Смит, но на обложке первого издания имени автора так и не было. Последний экспонат — золотой луидор с датой 1720, годом краха пузыря: это он всю презентацию катился по шкале вверху.
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с источниками — вслух не читается.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Relationship Id="rIdM3d1" Type="http://schemas.microsoft.com/office/2017/06/relationships/model3d" Target="../media/model3d1.glb"/><Relationship Id="rIdM3d2" Type="http://schemas.microsoft.com/office/2017/06/relationships/model3d" Target="../media/model3d2.glb"/><Relationship Id="rIdM3d3" Type="http://schemas.microsoft.com/office/2017/06/relationships/model3d" Target="../media/model3d3.glb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g"/><Relationship Id="rId7" Type="http://schemas.openxmlformats.org/officeDocument/2006/relationships/image" Target="../media/image-1-6.png"/><Relationship Id="rId8" Type="http://schemas.openxmlformats.org/officeDocument/2006/relationships/image" Target="../media/image-1-6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Relationship Id="rIdM3d4" Type="http://schemas.microsoft.com/office/2017/06/relationships/model3d" Target="../media/model3d4.glb"/><Relationship Id="rIdM3d5" Type="http://schemas.microsoft.com/office/2017/06/relationships/model3d" Target="../media/model3d5.glb"/><Relationship Id="rIdM3d6" Type="http://schemas.microsoft.com/office/2017/06/relationships/model3d" Target="../media/model3d6.glb"/><Relationship Id="rIdM3d7" Type="http://schemas.microsoft.com/office/2017/06/relationships/model3d" Target="../media/model3d7.glb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3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Relationship Id="rIdM3d8" Type="http://schemas.microsoft.com/office/2017/06/relationships/model3d" Target="../media/model3d8.glb"/><Relationship Id="rIdM3d9" Type="http://schemas.microsoft.com/office/2017/06/relationships/model3d" Target="../media/model3d9.glb"/><Relationship Id="rIdM3d10" Type="http://schemas.microsoft.com/office/2017/06/relationships/model3d" Target="../media/model3d10.glb"/><Relationship Id="rIdM3d11" Type="http://schemas.microsoft.com/office/2017/06/relationships/model3d" Target="../media/model3d11.glb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4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M3d12" Type="http://schemas.microsoft.com/office/2017/06/relationships/model3d" Target="../media/model3d12.glb"/><Relationship Id="rIdM3d13" Type="http://schemas.microsoft.com/office/2017/06/relationships/model3d" Target="../media/model3d13.glb"/><Relationship Id="rIdM3d14" Type="http://schemas.microsoft.com/office/2017/06/relationships/model3d" Target="../media/model3d14.glb"/><Relationship Id="rIdM3d15" Type="http://schemas.microsoft.com/office/2017/06/relationships/model3d" Target="../media/model3d15.glb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5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Relationship Id="rIdM3d16" Type="http://schemas.microsoft.com/office/2017/06/relationships/model3d" Target="../media/model3d16.glb"/><Relationship Id="rIdM3d17" Type="http://schemas.microsoft.com/office/2017/06/relationships/model3d" Target="../media/model3d17.glb"/><Relationship Id="rIdM3d18" Type="http://schemas.microsoft.com/office/2017/06/relationships/model3d" Target="../media/model3d18.glb"/><Relationship Id="rIdM3d19" Type="http://schemas.microsoft.com/office/2017/06/relationships/model3d" Target="../media/model3d19.glb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6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Relationship Id="rIdM3d20" Type="http://schemas.microsoft.com/office/2017/06/relationships/model3d" Target="../media/model3d20.glb"/><Relationship Id="rIdM3d21" Type="http://schemas.microsoft.com/office/2017/06/relationships/model3d" Target="../media/model3d21.glb"/><Relationship Id="rIdM3d22" Type="http://schemas.microsoft.com/office/2017/06/relationships/model3d" Target="../media/model3d22.glb"/><Relationship Id="rIdM3d23" Type="http://schemas.microsoft.com/office/2017/06/relationships/model3d" Target="../media/model3d23.glb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7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Relationship Id="rIdM3d24" Type="http://schemas.microsoft.com/office/2017/06/relationships/model3d" Target="../media/model3d24.glb"/><Relationship Id="rIdM3d25" Type="http://schemas.microsoft.com/office/2017/06/relationships/model3d" Target="../media/model3d25.glb"/><Relationship Id="rIdM3d26" Type="http://schemas.microsoft.com/office/2017/06/relationships/model3d" Target="../media/model3d26.glb"/><Relationship Id="rIdM3d27" Type="http://schemas.microsoft.com/office/2017/06/relationships/model3d" Target="../media/model3d27.glb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8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Relationship Id="rIdM3d28" Type="http://schemas.microsoft.com/office/2017/06/relationships/model3d" Target="../media/model3d28.glb"/><Relationship Id="rIdM3d29" Type="http://schemas.microsoft.com/office/2017/06/relationships/model3d" Target="../media/model3d29.glb"/><Relationship Id="rIdM3d30" Type="http://schemas.microsoft.com/office/2017/06/relationships/model3d" Target="../media/model3d30.glb"/><Relationship Id="rIdM3d31" Type="http://schemas.microsoft.com/office/2017/06/relationships/model3d" Target="../media/model3d31.glb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9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9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Relationship Id="rIdM3d32" Type="http://schemas.microsoft.com/office/2017/06/relationships/model3d" Target="../media/model3d32.glb"/><Relationship Id="rIdM3d33" Type="http://schemas.microsoft.com/office/2017/06/relationships/model3d" Target="../media/model3d33.glb"/><Relationship Id="rIdM3d34" Type="http://schemas.microsoft.com/office/2017/06/relationships/model3d" Target="../media/model3d34.glb"/><Relationship Id="rIdM3d35" Type="http://schemas.microsoft.com/office/2017/06/relationships/model3d" Target="../media/model3d35.glb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0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0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Relationship Id="rIdM3d36" Type="http://schemas.microsoft.com/office/2017/06/relationships/model3d" Target="../media/model3d36.glb"/><Relationship Id="rIdM3d37" Type="http://schemas.microsoft.com/office/2017/06/relationships/model3d" Target="../media/model3d37.glb"/><Relationship Id="rIdM3d38" Type="http://schemas.microsoft.com/office/2017/06/relationships/model3d" Target="../media/model3d38.glb"/><Relationship Id="rIdM3d39" Type="http://schemas.microsoft.com/office/2017/06/relationships/model3d" Target="../media/model3d39.glb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1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Relationship Id="rIdM3d40" Type="http://schemas.microsoft.com/office/2017/06/relationships/model3d" Target="../media/model3d40.glb"/><Relationship Id="rIdM3d41" Type="http://schemas.microsoft.com/office/2017/06/relationships/model3d" Target="../media/model3d41.glb"/><Relationship Id="rIdM3d42" Type="http://schemas.microsoft.com/office/2017/06/relationships/model3d" Target="../media/model3d42.glb"/><Relationship Id="rIdM3d43" Type="http://schemas.microsoft.com/office/2017/06/relationships/model3d" Target="../media/model3d43.glb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2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2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Relationship Id="rIdM3d44" Type="http://schemas.microsoft.com/office/2017/06/relationships/model3d" Target="../media/model3d44.glb"/><Relationship Id="rIdM3d45" Type="http://schemas.microsoft.com/office/2017/06/relationships/model3d" Target="../media/model3d45.glb"/><Relationship Id="rIdM3d46" Type="http://schemas.microsoft.com/office/2017/06/relationships/model3d" Target="../media/model3d46.glb"/><Relationship Id="rIdM3d47" Type="http://schemas.microsoft.com/office/2017/06/relationships/model3d" Target="../media/model3d47.glb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3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Relationship Id="rIdM3d48" Type="http://schemas.microsoft.com/office/2017/06/relationships/model3d" Target="../media/model3d48.glb"/><Relationship Id="rIdM3d49" Type="http://schemas.microsoft.com/office/2017/06/relationships/model3d" Target="../media/model3d49.glb"/><Relationship Id="rIdM3d50" Type="http://schemas.microsoft.com/office/2017/06/relationships/model3d" Target="../media/model3d50.glb"/><Relationship Id="rIdM3d51" Type="http://schemas.microsoft.com/office/2017/06/relationships/model3d" Target="../media/model3d51.glb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4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4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Relationship Id="rIdM3d52" Type="http://schemas.microsoft.com/office/2017/06/relationships/model3d" Target="../media/model3d52.glb"/><Relationship Id="rIdM3d53" Type="http://schemas.microsoft.com/office/2017/06/relationships/model3d" Target="../media/model3d53.glb"/><Relationship Id="rIdM3d54" Type="http://schemas.microsoft.com/office/2017/06/relationships/model3d" Target="../media/model3d54.glb"/><Relationship Id="rIdM3d55" Type="http://schemas.microsoft.com/office/2017/06/relationships/model3d" Target="../media/model3d55.glb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5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5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Relationship Id="rIdM3d56" Type="http://schemas.microsoft.com/office/2017/06/relationships/model3d" Target="../media/model3d56.glb"/><Relationship Id="rIdM3d57" Type="http://schemas.microsoft.com/office/2017/06/relationships/model3d" Target="../media/model3d57.glb"/><Relationship Id="rIdM3d58" Type="http://schemas.microsoft.com/office/2017/06/relationships/model3d" Target="../media/model3d58.glb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6-2.png"/><Relationship Id="rId3" Type="http://schemas.openxmlformats.org/officeDocument/2006/relationships/image" Target="../media/image-1-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M3d59" Type="http://schemas.microsoft.com/office/2017/06/relationships/model3d" Target="../media/model3d59.glb"/><Relationship Id="rIdM3d60" Type="http://schemas.microsoft.com/office/2017/06/relationships/model3d" Target="../media/model3d60.glb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coin">
                <a:extLst>
                  <a:ext uri="{FF2B5EF4-FFF2-40B4-BE49-F238E27FC236}">
                    <a16:creationId xmlns:a16="http://schemas.microsoft.com/office/drawing/2014/main" id="{9A1E02E9-F241-D40B-F581-53B1510117D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11480" y="98755"/>
              <a:ext cx="548640" cy="548640"/>
            </p:xfrm>
            <a:graphic>
              <a:graphicData uri="http://schemas.microsoft.com/office/drawing/2017/model3d">
                <am3d:model3d r:embed="rIdM3d1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coin">
                <a:extLst>
                  <a:ext uri="{FF2B5EF4-FFF2-40B4-BE49-F238E27FC236}">
                    <a16:creationId xmlns:a16="http://schemas.microsoft.com/office/drawing/2014/main" id="{9A1E02E9-F241-D40B-F581-53B1510117D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11480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6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  ·  РИСК  ·  ПРЕДПРИНИМАТЕЛЬСТВО</a:t>
            </a:r>
            <a:endParaRPr lang="en-US" sz="1100" dirty="0"/>
          </a:p>
        </p:txBody>
      </p:sp>
      <p:sp>
        <p:nvSpPr>
          <p:cNvPr id="7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9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16</a:t>
            </a:r>
            <a:endParaRPr lang="en-US" sz="900" dirty="0"/>
          </a:p>
        </p:txBody>
      </p:sp>
      <p:pic>
        <p:nvPicPr>
          <p:cNvPr id="10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7338" y="-907542"/>
            <a:ext cx="9678924" cy="9678924"/>
          </a:xfrm>
          <a:prstGeom prst="rect">
            <a:avLst/>
          </a:prstGeom>
        </p:spPr>
      </p:pic>
      <p:sp>
        <p:nvSpPr>
          <p:cNvPr id="11" name="!!ring1"/>
          <p:cNvSpPr/>
          <p:nvPr/>
        </p:nvSpPr>
        <p:spPr>
          <a:xfrm>
            <a:off x="5549494" y="794614"/>
            <a:ext cx="6274613" cy="627461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2" name="!!ring2"/>
          <p:cNvSpPr/>
          <p:nvPr/>
        </p:nvSpPr>
        <p:spPr>
          <a:xfrm>
            <a:off x="4681728" y="-73152"/>
            <a:ext cx="8010144" cy="80101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3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5667451"/>
            <a:ext cx="5340096" cy="133502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4" name="!!m-ship">
                <a:extLst>
                  <a:ext uri="{FF2B5EF4-FFF2-40B4-BE49-F238E27FC236}">
                    <a16:creationId xmlns:a16="http://schemas.microsoft.com/office/drawing/2014/main" id="{0B4DA675-D15B-28B5-04DA-001D1432889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349240" y="594360"/>
              <a:ext cx="6675120" cy="6675120"/>
            </p:xfrm>
            <a:graphic>
              <a:graphicData uri="http://schemas.microsoft.com/office/drawing/2017/model3d">
                <am3d:model3d r:embed="rIdM3d2">
                  <am3d:spPr>
                    <a:xfrm>
                      <a:off x="0" y="0"/>
                      <a:ext cx="6675120" cy="6675120"/>
                    </a:xfrm>
                    <a:prstGeom prst="rect">
                      <a:avLst/>
                    </a:prstGeom>
                  </am3d:spPr>
                  <am3d:camera>
                    <am3d:pos x="0" y="0" z="6351749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24382" d="1000000"/>
                    <am3d:preTrans dx="-3791686" dy="-1210762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20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6675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4" name="!!m-ship">
                <a:extLst>
                  <a:ext uri="{FF2B5EF4-FFF2-40B4-BE49-F238E27FC236}">
                    <a16:creationId xmlns:a16="http://schemas.microsoft.com/office/drawing/2014/main" id="{0B4DA675-D15B-28B5-04DA-001D1432889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49240" y="594360"/>
                <a:ext cx="6675120" cy="667512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fx1_9_0"/>
          <p:cNvSpPr/>
          <p:nvPr/>
        </p:nvSpPr>
        <p:spPr>
          <a:xfrm>
            <a:off x="786384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01</a:t>
            </a:r>
            <a:endParaRPr lang="en-US" sz="9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Торговый корабль: риск, море и бегство за океан</a:t>
            </a:r>
            <a:endParaRPr lang="en-US" sz="900" dirty="0"/>
          </a:p>
        </p:txBody>
      </p:sp>
      <p:sp>
        <p:nvSpPr>
          <p:cNvPr id="16" name="!!title"/>
          <p:cNvSpPr/>
          <p:nvPr/>
        </p:nvSpPr>
        <p:spPr>
          <a:xfrm>
            <a:off x="685800" y="114300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0" dirty="0">
                <a:solidFill>
                  <a:srgbClr val="F3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Ричард</a:t>
            </a:r>
            <a:endParaRPr lang="en-US" sz="52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Кантильон</a:t>
            </a:r>
            <a:endParaRPr lang="en-US" sz="5200" dirty="0"/>
          </a:p>
        </p:txBody>
      </p:sp>
      <p:sp>
        <p:nvSpPr>
          <p:cNvPr id="17" name="fx1_1_1"/>
          <p:cNvSpPr/>
          <p:nvPr/>
        </p:nvSpPr>
        <p:spPr>
          <a:xfrm>
            <a:off x="685800" y="3584448"/>
            <a:ext cx="1005840" cy="36576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18" name="fx1_1_2"/>
          <p:cNvSpPr/>
          <p:nvPr/>
        </p:nvSpPr>
        <p:spPr>
          <a:xfrm>
            <a:off x="685800" y="37490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Банкир-миллионер, который первым описал предпринимателя — и исчез при загадочных обстоятельствах</a:t>
            </a:r>
            <a:endParaRPr lang="en-US" sz="1800" dirty="0"/>
          </a:p>
        </p:txBody>
      </p:sp>
      <p:sp>
        <p:nvSpPr>
          <p:cNvPr id="19" name="fx1_2_3"/>
          <p:cNvSpPr/>
          <p:nvPr/>
        </p:nvSpPr>
        <p:spPr>
          <a:xfrm>
            <a:off x="685800" y="4773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5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1680-е — 1734   ·   ИРЛАНДИЯ → ПАРИЖ → ЛОНДОН</a:t>
            </a:r>
            <a:endParaRPr lang="en-US" sz="1200" dirty="0"/>
          </a:p>
        </p:txBody>
      </p:sp>
      <p:sp>
        <p:nvSpPr>
          <p:cNvPr id="20" name="fx1_8_4"/>
          <p:cNvSpPr/>
          <p:nvPr/>
        </p:nvSpPr>
        <p:spPr>
          <a:xfrm>
            <a:off x="685800" y="5349240"/>
            <a:ext cx="5120640" cy="841248"/>
          </a:xfrm>
          <a:prstGeom prst="roundRect">
            <a:avLst>
              <a:gd name="adj" fmla="val 8696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1" name="fx1_8_5"/>
          <p:cNvSpPr/>
          <p:nvPr/>
        </p:nvSpPr>
        <p:spPr>
          <a:xfrm>
            <a:off x="685800" y="5495544"/>
            <a:ext cx="50292" cy="54864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2" name="fx1_8_6"/>
          <p:cNvSpPr/>
          <p:nvPr/>
        </p:nvSpPr>
        <p:spPr>
          <a:xfrm>
            <a:off x="941832" y="521208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23" name="fx1_8_7"/>
          <p:cNvSpPr/>
          <p:nvPr/>
        </p:nvSpPr>
        <p:spPr>
          <a:xfrm>
            <a:off x="941832" y="521208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24" name="fx1_8_8"/>
          <p:cNvSpPr/>
          <p:nvPr/>
        </p:nvSpPr>
        <p:spPr>
          <a:xfrm>
            <a:off x="960120" y="55321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Предпринимателя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центральной фигурой экономики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первым сделал он — примерно за 70 лет до Сэя, которому это часто приписывают.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5" name="!!m-harp">
                <a:extLst>
                  <a:ext uri="{FF2B5EF4-FFF2-40B4-BE49-F238E27FC236}">
                    <a16:creationId xmlns:a16="http://schemas.microsoft.com/office/drawing/2014/main" id="{8730512D-E292-9DE0-9E62-E7B81FAE94D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4389120" cy="4389120"/>
            </p:xfrm>
            <a:graphic>
              <a:graphicData uri="http://schemas.microsoft.com/office/drawing/2017/model3d">
                <am3d:model3d r:embed="rIdM3d3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050329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49480" d="1000000"/>
                    <am3d:preTrans dx="-39544" dy="-462164" dz="-168783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3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5" name="!!m-harp">
                <a:extLst>
                  <a:ext uri="{FF2B5EF4-FFF2-40B4-BE49-F238E27FC236}">
                    <a16:creationId xmlns:a16="http://schemas.microsoft.com/office/drawing/2014/main" id="{8730512D-E292-9DE0-9E62-E7B81FAE94D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740335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1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2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721340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5BA6A588-A434-5FF5-30AE-B471887C719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132820" y="98755"/>
              <a:ext cx="548640" cy="548640"/>
            </p:xfrm>
            <a:graphic>
              <a:graphicData uri="http://schemas.microsoft.com/office/drawing/2017/model3d">
                <am3d:model3d r:embed="rIdM3d4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876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5BA6A588-A434-5FF5-30AE-B471887C719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132820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ГДЕ РОДИЛСЯ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16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-118872"/>
            <a:ext cx="6364224" cy="6364224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629754" y="1000354"/>
            <a:ext cx="4125773" cy="412577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059168" y="429768"/>
            <a:ext cx="5266944" cy="52669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2013" y="4303166"/>
            <a:ext cx="2721254" cy="68031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harp">
                <a:extLst>
                  <a:ext uri="{FF2B5EF4-FFF2-40B4-BE49-F238E27FC236}">
                    <a16:creationId xmlns:a16="http://schemas.microsoft.com/office/drawing/2014/main" id="{368BF625-03F1-3E96-D7FB-50150A6A522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98080" y="868680"/>
              <a:ext cx="4389120" cy="4389120"/>
            </p:xfrm>
            <a:graphic>
              <a:graphicData uri="http://schemas.microsoft.com/office/drawing/2017/model3d">
                <am3d:model3d r:embed="rIdM3d5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050329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49480" d="1000000"/>
                    <am3d:preTrans dx="-39544" dy="-462164" dz="-168783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156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harp">
                <a:extLst>
                  <a:ext uri="{FF2B5EF4-FFF2-40B4-BE49-F238E27FC236}">
                    <a16:creationId xmlns:a16="http://schemas.microsoft.com/office/drawing/2014/main" id="{368BF625-03F1-3E96-D7FB-50150A6A522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98080" y="868680"/>
                <a:ext cx="4389120" cy="43891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2_9_0"/>
          <p:cNvSpPr/>
          <p:nvPr/>
        </p:nvSpPr>
        <p:spPr>
          <a:xfrm>
            <a:off x="7909560" y="495056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02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Ирландская арфа: он родом из графства Керри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Ирландец из графства Керри</a:t>
            </a:r>
            <a:endParaRPr lang="en-US" sz="3300" dirty="0"/>
          </a:p>
        </p:txBody>
      </p:sp>
      <p:sp>
        <p:nvSpPr>
          <p:cNvPr id="18" name="fx2_1_1"/>
          <p:cNvSpPr/>
          <p:nvPr/>
        </p:nvSpPr>
        <p:spPr>
          <a:xfrm>
            <a:off x="685800" y="210312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19" name="fx2_1_2"/>
          <p:cNvSpPr/>
          <p:nvPr/>
        </p:nvSpPr>
        <p:spPr>
          <a:xfrm>
            <a:off x="685800" y="226771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0" name="fx2_1_3"/>
          <p:cNvSpPr/>
          <p:nvPr/>
        </p:nvSpPr>
        <p:spPr>
          <a:xfrm>
            <a:off x="914400" y="22219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РОДИЛСЯ</a:t>
            </a:r>
            <a:endParaRPr lang="en-US" sz="950" dirty="0"/>
          </a:p>
        </p:txBody>
      </p:sp>
      <p:sp>
        <p:nvSpPr>
          <p:cNvPr id="21" name="fx2_1_4"/>
          <p:cNvSpPr/>
          <p:nvPr/>
        </p:nvSpPr>
        <p:spPr>
          <a:xfrm>
            <a:off x="914400" y="243230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1680-е годы</a:t>
            </a:r>
            <a:endParaRPr lang="en-US" sz="1650" dirty="0"/>
          </a:p>
        </p:txBody>
      </p:sp>
      <p:sp>
        <p:nvSpPr>
          <p:cNvPr id="22" name="fx2_1_5"/>
          <p:cNvSpPr/>
          <p:nvPr/>
        </p:nvSpPr>
        <p:spPr>
          <a:xfrm>
            <a:off x="914400" y="272491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графство Керри, Ирландия</a:t>
            </a:r>
            <a:endParaRPr lang="en-US" sz="1050" dirty="0"/>
          </a:p>
        </p:txBody>
      </p:sp>
      <p:sp>
        <p:nvSpPr>
          <p:cNvPr id="23" name="fx2_1_6"/>
          <p:cNvSpPr/>
          <p:nvPr/>
        </p:nvSpPr>
        <p:spPr>
          <a:xfrm>
            <a:off x="3703320" y="210312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4" name="fx2_1_7"/>
          <p:cNvSpPr/>
          <p:nvPr/>
        </p:nvSpPr>
        <p:spPr>
          <a:xfrm>
            <a:off x="3703320" y="226771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5" name="fx2_1_8"/>
          <p:cNvSpPr/>
          <p:nvPr/>
        </p:nvSpPr>
        <p:spPr>
          <a:xfrm>
            <a:off x="3931920" y="22219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СЕМЬЯ</a:t>
            </a:r>
            <a:endParaRPr lang="en-US" sz="950" dirty="0"/>
          </a:p>
        </p:txBody>
      </p:sp>
      <p:sp>
        <p:nvSpPr>
          <p:cNvPr id="26" name="fx2_1_9"/>
          <p:cNvSpPr/>
          <p:nvPr/>
        </p:nvSpPr>
        <p:spPr>
          <a:xfrm>
            <a:off x="3931920" y="243230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Католики-дворяне</a:t>
            </a:r>
            <a:endParaRPr lang="en-US" sz="1650" dirty="0"/>
          </a:p>
        </p:txBody>
      </p:sp>
      <p:sp>
        <p:nvSpPr>
          <p:cNvPr id="27" name="fx2_1_10"/>
          <p:cNvSpPr/>
          <p:nvPr/>
        </p:nvSpPr>
        <p:spPr>
          <a:xfrm>
            <a:off x="3931920" y="272491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лишились земель при Кромвеле</a:t>
            </a:r>
            <a:endParaRPr lang="en-US" sz="1050" dirty="0"/>
          </a:p>
        </p:txBody>
      </p:sp>
      <p:sp>
        <p:nvSpPr>
          <p:cNvPr id="28" name="fx2_2_11"/>
          <p:cNvSpPr/>
          <p:nvPr/>
        </p:nvSpPr>
        <p:spPr>
          <a:xfrm>
            <a:off x="685800" y="310896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9" name="fx2_2_12"/>
          <p:cNvSpPr/>
          <p:nvPr/>
        </p:nvSpPr>
        <p:spPr>
          <a:xfrm>
            <a:off x="685800" y="327355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0" name="fx2_2_13"/>
          <p:cNvSpPr/>
          <p:nvPr/>
        </p:nvSpPr>
        <p:spPr>
          <a:xfrm>
            <a:off x="914400" y="32278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ПЕРЕЕЗД</a:t>
            </a:r>
            <a:endParaRPr lang="en-US" sz="950" dirty="0"/>
          </a:p>
        </p:txBody>
      </p:sp>
      <p:sp>
        <p:nvSpPr>
          <p:cNvPr id="31" name="fx2_2_14"/>
          <p:cNvSpPr/>
          <p:nvPr/>
        </p:nvSpPr>
        <p:spPr>
          <a:xfrm>
            <a:off x="914400" y="3438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Франция</a:t>
            </a:r>
            <a:endParaRPr lang="en-US" sz="1650" dirty="0"/>
          </a:p>
        </p:txBody>
      </p:sp>
      <p:sp>
        <p:nvSpPr>
          <p:cNvPr id="32" name="fx2_2_15"/>
          <p:cNvSpPr/>
          <p:nvPr/>
        </p:nvSpPr>
        <p:spPr>
          <a:xfrm>
            <a:off x="914400" y="3730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французское подданство — 1708</a:t>
            </a:r>
            <a:endParaRPr lang="en-US" sz="1050" dirty="0"/>
          </a:p>
        </p:txBody>
      </p:sp>
      <p:sp>
        <p:nvSpPr>
          <p:cNvPr id="33" name="fx2_2_16"/>
          <p:cNvSpPr/>
          <p:nvPr/>
        </p:nvSpPr>
        <p:spPr>
          <a:xfrm>
            <a:off x="3703320" y="310896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4" name="fx2_2_17"/>
          <p:cNvSpPr/>
          <p:nvPr/>
        </p:nvSpPr>
        <p:spPr>
          <a:xfrm>
            <a:off x="3703320" y="327355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5" name="fx2_2_18"/>
          <p:cNvSpPr/>
          <p:nvPr/>
        </p:nvSpPr>
        <p:spPr>
          <a:xfrm>
            <a:off x="3931920" y="32278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РОДНЯ</a:t>
            </a:r>
            <a:endParaRPr lang="en-US" sz="950" dirty="0"/>
          </a:p>
        </p:txBody>
      </p:sp>
      <p:sp>
        <p:nvSpPr>
          <p:cNvPr id="36" name="fx2_2_19"/>
          <p:cNvSpPr/>
          <p:nvPr/>
        </p:nvSpPr>
        <p:spPr>
          <a:xfrm>
            <a:off x="3931920" y="3438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Банкиры</a:t>
            </a:r>
            <a:endParaRPr lang="en-US" sz="1650" dirty="0"/>
          </a:p>
        </p:txBody>
      </p:sp>
      <p:sp>
        <p:nvSpPr>
          <p:cNvPr id="37" name="fx2_2_20"/>
          <p:cNvSpPr/>
          <p:nvPr/>
        </p:nvSpPr>
        <p:spPr>
          <a:xfrm>
            <a:off x="3931920" y="3730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двоюродный брат вёл банк в Париже</a:t>
            </a:r>
            <a:endParaRPr lang="en-US" sz="1050" dirty="0"/>
          </a:p>
        </p:txBody>
      </p:sp>
      <p:sp>
        <p:nvSpPr>
          <p:cNvPr id="38" name="fx2_3_21"/>
          <p:cNvSpPr/>
          <p:nvPr/>
        </p:nvSpPr>
        <p:spPr>
          <a:xfrm>
            <a:off x="621792" y="4142232"/>
            <a:ext cx="2368296" cy="1764451"/>
          </a:xfrm>
          <a:prstGeom prst="rect">
            <a:avLst/>
          </a:prstGeom>
          <a:solidFill>
            <a:srgbClr val="2A1A0C"/>
          </a:solidFill>
          <a:ln w="19050">
            <a:solidFill>
              <a:srgbClr val="E3B663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39" name="fx2_3_22" descr="/home/user/omgGame/presentations/cantillon/assets/largilliere-family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206240"/>
            <a:ext cx="2240280" cy="1636435"/>
          </a:xfrm>
          <a:prstGeom prst="rect">
            <a:avLst/>
          </a:prstGeom>
        </p:spPr>
      </p:pic>
      <p:sp>
        <p:nvSpPr>
          <p:cNvPr id="40" name="fx2_3_23"/>
          <p:cNvSpPr/>
          <p:nvPr/>
        </p:nvSpPr>
        <p:spPr>
          <a:xfrm>
            <a:off x="621792" y="5934115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Н. де Ларжильер, ок. 1710. 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Кантильон слева?</a:t>
            </a:r>
            <a:endParaRPr lang="en-US" sz="900" dirty="0"/>
          </a:p>
        </p:txBody>
      </p:sp>
      <p:sp>
        <p:nvSpPr>
          <p:cNvPr id="41" name="fx2_4_24"/>
          <p:cNvSpPr/>
          <p:nvPr/>
        </p:nvSpPr>
        <p:spPr>
          <a:xfrm>
            <a:off x="3200400" y="4279392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2" name="fx2_4_25"/>
          <p:cNvSpPr/>
          <p:nvPr/>
        </p:nvSpPr>
        <p:spPr>
          <a:xfrm>
            <a:off x="3200400" y="4425696"/>
            <a:ext cx="50292" cy="149047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3" name="fx2_4_26"/>
          <p:cNvSpPr/>
          <p:nvPr/>
        </p:nvSpPr>
        <p:spPr>
          <a:xfrm>
            <a:off x="3456432" y="4142232"/>
            <a:ext cx="151333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4" name="fx2_4_27"/>
          <p:cNvSpPr/>
          <p:nvPr/>
        </p:nvSpPr>
        <p:spPr>
          <a:xfrm>
            <a:off x="3456432" y="4142232"/>
            <a:ext cx="15133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ЗАГАДКА № 1</a:t>
            </a:r>
            <a:endParaRPr lang="en-US" sz="850" dirty="0"/>
          </a:p>
        </p:txBody>
      </p:sp>
      <p:sp>
        <p:nvSpPr>
          <p:cNvPr id="45" name="fx2_4_28"/>
          <p:cNvSpPr/>
          <p:nvPr/>
        </p:nvSpPr>
        <p:spPr>
          <a:xfrm>
            <a:off x="3474720" y="4462272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Мы не знаем ни точной даты его рождения, ни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он выглядел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достоверных портретов нет. Есть лишь гипотеза (М. Торнтон, 2018), что он — мужчина на семейном портрете Ларжильера.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6" name="!!m-ship">
                <a:extLst>
                  <a:ext uri="{FF2B5EF4-FFF2-40B4-BE49-F238E27FC236}">
                    <a16:creationId xmlns:a16="http://schemas.microsoft.com/office/drawing/2014/main" id="{DB10A92F-6A5A-C6D1-89E5-7D2A4B27A5E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7223760" y="960120"/>
              <a:ext cx="6675120" cy="6675120"/>
            </p:xfrm>
            <a:graphic>
              <a:graphicData uri="http://schemas.microsoft.com/office/drawing/2017/model3d">
                <am3d:model3d r:embed="rIdM3d6">
                  <am3d:spPr>
                    <a:xfrm>
                      <a:off x="0" y="0"/>
                      <a:ext cx="6675120" cy="6675120"/>
                    </a:xfrm>
                    <a:prstGeom prst="rect">
                      <a:avLst/>
                    </a:prstGeom>
                  </am3d:spPr>
                  <am3d:camera>
                    <am3d:pos x="0" y="0" z="6351749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24382" d="1000000"/>
                    <am3d:preTrans dx="-3791686" dy="-1210762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84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6675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6" name="!!m-ship">
                <a:extLst>
                  <a:ext uri="{FF2B5EF4-FFF2-40B4-BE49-F238E27FC236}">
                    <a16:creationId xmlns:a16="http://schemas.microsoft.com/office/drawing/2014/main" id="{DB10A92F-6A5A-C6D1-89E5-7D2A4B27A5E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-7223760" y="960120"/>
                <a:ext cx="6675120" cy="667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7" name="!!m-chest">
                <a:extLst>
                  <a:ext uri="{FF2B5EF4-FFF2-40B4-BE49-F238E27FC236}">
                    <a16:creationId xmlns:a16="http://schemas.microsoft.com/office/drawing/2014/main" id="{222C6A6D-25C3-06F0-B176-13C2ACA393A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463040"/>
              <a:ext cx="4480560" cy="4480560"/>
            </p:xfrm>
            <a:graphic>
              <a:graphicData uri="http://schemas.microsoft.com/office/drawing/2017/model3d">
                <am3d:model3d r:embed="rIdM3d7">
                  <am3d:spPr>
                    <a:xfrm>
                      <a:off x="0" y="0"/>
                      <a:ext cx="4480560" cy="4480560"/>
                    </a:xfrm>
                    <a:prstGeom prst="rect">
                      <a:avLst/>
                    </a:prstGeom>
                  </am3d:spPr>
                  <am3d:camera>
                    <am3d:pos x="0" y="0" z="6750417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0" dy="1813409" dz="-4843575"/>
                    <am3d:scale>
                      <am3d:sx n="1000000" d="1000000"/>
                      <am3d:sy n="1000000" d="1000000"/>
                      <am3d:sz n="1000000" d="1000000"/>
                    </am3d:scale>
                    <am3d:rot ax="960000" ay="312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44805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7" name="!!m-chest">
                <a:extLst>
                  <a:ext uri="{FF2B5EF4-FFF2-40B4-BE49-F238E27FC236}">
                    <a16:creationId xmlns:a16="http://schemas.microsoft.com/office/drawing/2014/main" id="{222C6A6D-25C3-06F0-B176-13C2ACA393A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740335" y="1463040"/>
                <a:ext cx="4480560" cy="44805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3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1442679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12A0E007-ECA8-02A4-EC24-107FC5338DD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854159" y="98755"/>
              <a:ext cx="548640" cy="548640"/>
            </p:xfrm>
            <a:graphic>
              <a:graphicData uri="http://schemas.microsoft.com/office/drawing/2017/model3d">
                <am3d:model3d r:embed="rIdM3d8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752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12A0E007-ECA8-02A4-EC24-107FC5338DD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854159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ЧЕМ ЗАНИМАЛСЯ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16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514" y="89154"/>
            <a:ext cx="6496812" cy="6496812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541057" y="1231697"/>
            <a:ext cx="4211726" cy="4211726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6958584" y="649224"/>
            <a:ext cx="5376672" cy="5376672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9502" y="3976040"/>
            <a:ext cx="3494837" cy="873709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chest">
                <a:extLst>
                  <a:ext uri="{FF2B5EF4-FFF2-40B4-BE49-F238E27FC236}">
                    <a16:creationId xmlns:a16="http://schemas.microsoft.com/office/drawing/2014/main" id="{CAD9263C-E57F-D433-D6A4-FEDBD93F5EE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06640" y="1097280"/>
              <a:ext cx="4480560" cy="4480560"/>
            </p:xfrm>
            <a:graphic>
              <a:graphicData uri="http://schemas.microsoft.com/office/drawing/2017/model3d">
                <am3d:model3d r:embed="rIdM3d9">
                  <am3d:spPr>
                    <a:xfrm>
                      <a:off x="0" y="0"/>
                      <a:ext cx="4480560" cy="4480560"/>
                    </a:xfrm>
                    <a:prstGeom prst="rect">
                      <a:avLst/>
                    </a:prstGeom>
                  </am3d:spPr>
                  <am3d:camera>
                    <am3d:pos x="0" y="0" z="6750417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0" dy="1813409" dz="-4843575"/>
                    <am3d:scale>
                      <am3d:sx n="1000000" d="1000000"/>
                      <am3d:sy n="1000000" d="1000000"/>
                      <am3d:sz n="1000000" d="1000000"/>
                    </am3d:scale>
                    <am3d:rot ax="960000" ay="-16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44805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chest">
                <a:extLst>
                  <a:ext uri="{FF2B5EF4-FFF2-40B4-BE49-F238E27FC236}">
                    <a16:creationId xmlns:a16="http://schemas.microsoft.com/office/drawing/2014/main" id="{CAD9263C-E57F-D433-D6A4-FEDBD93F5EE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06640" y="1097280"/>
                <a:ext cx="4480560" cy="448056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3_9_0"/>
          <p:cNvSpPr/>
          <p:nvPr/>
        </p:nvSpPr>
        <p:spPr>
          <a:xfrm>
            <a:off x="7863840" y="5264201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03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Окованный сундук для бумаг и векселей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Банкир, финансист, спекулянт</a:t>
            </a:r>
            <a:endParaRPr lang="en-US" sz="3200" dirty="0"/>
          </a:p>
        </p:txBody>
      </p:sp>
      <p:sp>
        <p:nvSpPr>
          <p:cNvPr id="18" name="fx3_1_1"/>
          <p:cNvSpPr/>
          <p:nvPr/>
        </p:nvSpPr>
        <p:spPr>
          <a:xfrm>
            <a:off x="685800" y="1965960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19" name="fx3_1_2"/>
          <p:cNvSpPr/>
          <p:nvPr/>
        </p:nvSpPr>
        <p:spPr>
          <a:xfrm>
            <a:off x="886968" y="20939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2200" dirty="0"/>
          </a:p>
        </p:txBody>
      </p:sp>
      <p:sp>
        <p:nvSpPr>
          <p:cNvPr id="20" name="fx3_1_3"/>
          <p:cNvSpPr/>
          <p:nvPr/>
        </p:nvSpPr>
        <p:spPr>
          <a:xfrm>
            <a:off x="1417320" y="2148840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казначейства · 1711</a:t>
            </a:r>
            <a:endParaRPr lang="en-US" sz="1300" dirty="0"/>
          </a:p>
        </p:txBody>
      </p:sp>
      <p:sp>
        <p:nvSpPr>
          <p:cNvPr id="21" name="fx3_1_4"/>
          <p:cNvSpPr/>
          <p:nvPr/>
        </p:nvSpPr>
        <p:spPr>
          <a:xfrm>
            <a:off x="886968" y="2569464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Испании организует выплаты британским пленным. Покровитель — казначей Джеймс Бриджес.</a:t>
            </a:r>
            <a:endParaRPr lang="en-US" sz="1100" dirty="0"/>
          </a:p>
        </p:txBody>
      </p:sp>
      <p:sp>
        <p:nvSpPr>
          <p:cNvPr id="22" name="fx3_2_5"/>
          <p:cNvSpPr/>
          <p:nvPr/>
        </p:nvSpPr>
        <p:spPr>
          <a:xfrm>
            <a:off x="4050792" y="1965960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3" name="fx3_2_6"/>
          <p:cNvSpPr/>
          <p:nvPr/>
        </p:nvSpPr>
        <p:spPr>
          <a:xfrm>
            <a:off x="4251960" y="20939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2200" dirty="0"/>
          </a:p>
        </p:txBody>
      </p:sp>
      <p:sp>
        <p:nvSpPr>
          <p:cNvPr id="24" name="fx3_2_7"/>
          <p:cNvSpPr/>
          <p:nvPr/>
        </p:nvSpPr>
        <p:spPr>
          <a:xfrm>
            <a:off x="4782312" y="2148840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Парижский банкир · 1714–1716</a:t>
            </a:r>
            <a:endParaRPr lang="en-US" sz="1300" dirty="0"/>
          </a:p>
        </p:txBody>
      </p:sp>
      <p:sp>
        <p:nvSpPr>
          <p:cNvPr id="25" name="fx3_2_8"/>
          <p:cNvSpPr/>
          <p:nvPr/>
        </p:nvSpPr>
        <p:spPr>
          <a:xfrm>
            <a:off x="4251960" y="2569464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Начинает в банке кузена, а в 1716-м выкупает его и становится хозяином.</a:t>
            </a:r>
            <a:endParaRPr lang="en-US" sz="1100" dirty="0"/>
          </a:p>
        </p:txBody>
      </p:sp>
      <p:sp>
        <p:nvSpPr>
          <p:cNvPr id="26" name="fx3_3_9"/>
          <p:cNvSpPr/>
          <p:nvPr/>
        </p:nvSpPr>
        <p:spPr>
          <a:xfrm>
            <a:off x="685800" y="3502152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7" name="fx3_3_10"/>
          <p:cNvSpPr/>
          <p:nvPr/>
        </p:nvSpPr>
        <p:spPr>
          <a:xfrm>
            <a:off x="886968" y="36301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2200" dirty="0"/>
          </a:p>
        </p:txBody>
      </p:sp>
      <p:sp>
        <p:nvSpPr>
          <p:cNvPr id="28" name="fx3_3_11"/>
          <p:cNvSpPr/>
          <p:nvPr/>
        </p:nvSpPr>
        <p:spPr>
          <a:xfrm>
            <a:off x="1417320" y="368503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Банкир изгнанников</a:t>
            </a:r>
            <a:endParaRPr lang="en-US" sz="1300" dirty="0"/>
          </a:p>
        </p:txBody>
      </p:sp>
      <p:sp>
        <p:nvSpPr>
          <p:cNvPr id="29" name="fx3_3_12"/>
          <p:cNvSpPr/>
          <p:nvPr/>
        </p:nvSpPr>
        <p:spPr>
          <a:xfrm>
            <a:off x="886968" y="4105656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Двор Стюартов, ирландские эмигранты, поэт Поуп, политик Болингброк.</a:t>
            </a:r>
            <a:endParaRPr lang="en-US" sz="1100" dirty="0"/>
          </a:p>
        </p:txBody>
      </p:sp>
      <p:sp>
        <p:nvSpPr>
          <p:cNvPr id="30" name="fx3_4_13"/>
          <p:cNvSpPr/>
          <p:nvPr/>
        </p:nvSpPr>
        <p:spPr>
          <a:xfrm>
            <a:off x="4050792" y="3502152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1" name="fx3_4_14"/>
          <p:cNvSpPr/>
          <p:nvPr/>
        </p:nvSpPr>
        <p:spPr>
          <a:xfrm>
            <a:off x="4251960" y="36301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2200" dirty="0"/>
          </a:p>
        </p:txBody>
      </p:sp>
      <p:sp>
        <p:nvSpPr>
          <p:cNvPr id="32" name="fx3_4_15"/>
          <p:cNvSpPr/>
          <p:nvPr/>
        </p:nvSpPr>
        <p:spPr>
          <a:xfrm>
            <a:off x="4782312" y="368503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Спекулянт · 1719–1720</a:t>
            </a:r>
            <a:endParaRPr lang="en-US" sz="1300" dirty="0"/>
          </a:p>
        </p:txBody>
      </p:sp>
      <p:sp>
        <p:nvSpPr>
          <p:cNvPr id="33" name="fx3_4_16"/>
          <p:cNvSpPr/>
          <p:nvPr/>
        </p:nvSpPr>
        <p:spPr>
          <a:xfrm>
            <a:off x="4251960" y="4105656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Сколачивает состояние на пузыре Миссисипской компании.</a:t>
            </a:r>
            <a:endParaRPr lang="en-US" sz="1100" dirty="0"/>
          </a:p>
        </p:txBody>
      </p:sp>
      <p:sp>
        <p:nvSpPr>
          <p:cNvPr id="34" name="fx3_8_17"/>
          <p:cNvSpPr/>
          <p:nvPr/>
        </p:nvSpPr>
        <p:spPr>
          <a:xfrm>
            <a:off x="685800" y="5257800"/>
            <a:ext cx="6592824" cy="932688"/>
          </a:xfrm>
          <a:prstGeom prst="roundRect">
            <a:avLst>
              <a:gd name="adj" fmla="val 784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5" name="fx3_8_18"/>
          <p:cNvSpPr/>
          <p:nvPr/>
        </p:nvSpPr>
        <p:spPr>
          <a:xfrm>
            <a:off x="685800" y="5404104"/>
            <a:ext cx="50292" cy="64008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6" name="fx3_8_19"/>
          <p:cNvSpPr/>
          <p:nvPr/>
        </p:nvSpPr>
        <p:spPr>
          <a:xfrm>
            <a:off x="941832" y="512064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7" name="fx3_8_20"/>
          <p:cNvSpPr/>
          <p:nvPr/>
        </p:nvSpPr>
        <p:spPr>
          <a:xfrm>
            <a:off x="941832" y="512064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38" name="fx3_8_21"/>
          <p:cNvSpPr/>
          <p:nvPr/>
        </p:nvSpPr>
        <p:spPr>
          <a:xfrm>
            <a:off x="960120" y="5440680"/>
            <a:ext cx="6135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Уезжая из Парижа, он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запер все бумаги в сундук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и оставил его на хранение английским монахам-бенедиктинцам — переждать «финансовую бурю».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harp">
                <a:extLst>
                  <a:ext uri="{FF2B5EF4-FFF2-40B4-BE49-F238E27FC236}">
                    <a16:creationId xmlns:a16="http://schemas.microsoft.com/office/drawing/2014/main" id="{79D0796F-7FCC-E305-7BD7-4FF0DCFBA2A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937760" y="1234440"/>
              <a:ext cx="4389120" cy="4389120"/>
            </p:xfrm>
            <a:graphic>
              <a:graphicData uri="http://schemas.microsoft.com/office/drawing/2017/model3d">
                <am3d:model3d r:embed="rIdM3d10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050329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49480" d="1000000"/>
                    <am3d:preTrans dx="-39544" dy="-462164" dz="-168783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36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harp">
                <a:extLst>
                  <a:ext uri="{FF2B5EF4-FFF2-40B4-BE49-F238E27FC236}">
                    <a16:creationId xmlns:a16="http://schemas.microsoft.com/office/drawing/2014/main" id="{79D0796F-7FCC-E305-7BD7-4FF0DCFBA2A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937760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globe_c">
                <a:extLst>
                  <a:ext uri="{FF2B5EF4-FFF2-40B4-BE49-F238E27FC236}">
                    <a16:creationId xmlns:a16="http://schemas.microsoft.com/office/drawing/2014/main" id="{BD23D071-389F-AE16-F123-D72A1ECF261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685800"/>
              <a:ext cx="3886200" cy="3886200"/>
            </p:xfrm>
            <a:graphic>
              <a:graphicData uri="http://schemas.microsoft.com/office/drawing/2017/model3d">
                <am3d:model3d r:embed="rIdM3d11">
                  <am3d:spPr>
                    <a:xfrm>
                      <a:off x="0" y="0"/>
                      <a:ext cx="3886200" cy="3886200"/>
                    </a:xfrm>
                    <a:prstGeom prst="rect">
                      <a:avLst/>
                    </a:prstGeom>
                  </am3d:spPr>
                  <am3d:camera>
                    <am3d:pos x="0" y="0" z="710703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1790" d="1000000"/>
                    <am3d:preTrans dx="1056947" dy="-773652" dz="3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48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38862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globe_c">
                <a:extLst>
                  <a:ext uri="{FF2B5EF4-FFF2-40B4-BE49-F238E27FC236}">
                    <a16:creationId xmlns:a16="http://schemas.microsoft.com/office/drawing/2014/main" id="{BD23D071-389F-AE16-F123-D72A1ECF261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685800"/>
                <a:ext cx="3886200" cy="3886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4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2164019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A0CD095D-703B-44BD-CB3A-97BF8DFA782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575499" y="98755"/>
              <a:ext cx="548640" cy="548640"/>
            </p:xfrm>
            <a:graphic>
              <a:graphicData uri="http://schemas.microsoft.com/office/drawing/2017/model3d">
                <am3d:model3d r:embed="rIdM3d12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2628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A0CD095D-703B-44BD-CB3A-97BF8DFA782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575499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ЧЕМ ЗАНИМАЛСЯ: ПУТЬ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16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9445" y="-554355"/>
            <a:ext cx="5634990" cy="5634990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980426" y="436626"/>
            <a:ext cx="3653028" cy="3653028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475220" y="-68580"/>
            <a:ext cx="4663440" cy="4663440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0" y="3370707"/>
            <a:ext cx="2331720" cy="58293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globe_c">
                <a:extLst>
                  <a:ext uri="{FF2B5EF4-FFF2-40B4-BE49-F238E27FC236}">
                    <a16:creationId xmlns:a16="http://schemas.microsoft.com/office/drawing/2014/main" id="{C8B6A9B7-00B2-9465-CD23-DE25D12587A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863840" y="320040"/>
              <a:ext cx="3886200" cy="3886200"/>
            </p:xfrm>
            <a:graphic>
              <a:graphicData uri="http://schemas.microsoft.com/office/drawing/2017/model3d">
                <am3d:model3d r:embed="rIdM3d13">
                  <am3d:spPr>
                    <a:xfrm>
                      <a:off x="0" y="0"/>
                      <a:ext cx="3886200" cy="3886200"/>
                    </a:xfrm>
                    <a:prstGeom prst="rect">
                      <a:avLst/>
                    </a:prstGeom>
                  </am3d:spPr>
                  <am3d:camera>
                    <am3d:pos x="0" y="0" z="710703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1790" d="1000000"/>
                    <am3d:preTrans dx="1056947" dy="-773652" dz="3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38862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globe_c">
                <a:extLst>
                  <a:ext uri="{FF2B5EF4-FFF2-40B4-BE49-F238E27FC236}">
                    <a16:creationId xmlns:a16="http://schemas.microsoft.com/office/drawing/2014/main" id="{C8B6A9B7-00B2-9465-CD23-DE25D12587A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63840" y="320040"/>
                <a:ext cx="3886200" cy="388620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4_9_0"/>
          <p:cNvSpPr/>
          <p:nvPr/>
        </p:nvSpPr>
        <p:spPr>
          <a:xfrm>
            <a:off x="5074920" y="3291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04</a:t>
            </a:r>
            <a:endParaRPr lang="en-US" sz="9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Сеть: Керри · Париж · Лондон · Амстердам · Вена · Кадис · Луизиана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Путь: от Керри до Лондона</a:t>
            </a:r>
            <a:endParaRPr lang="en-US" sz="3600" dirty="0"/>
          </a:p>
        </p:txBody>
      </p:sp>
      <p:sp>
        <p:nvSpPr>
          <p:cNvPr id="18" name="fx4_1_1"/>
          <p:cNvSpPr/>
          <p:nvPr/>
        </p:nvSpPr>
        <p:spPr>
          <a:xfrm>
            <a:off x="685800" y="1965960"/>
            <a:ext cx="6675120" cy="1097280"/>
          </a:xfrm>
          <a:prstGeom prst="roundRect">
            <a:avLst>
              <a:gd name="adj" fmla="val 6667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9" name="fx4_1_2"/>
          <p:cNvSpPr/>
          <p:nvPr/>
        </p:nvSpPr>
        <p:spPr>
          <a:xfrm>
            <a:off x="685800" y="2112264"/>
            <a:ext cx="50292" cy="80467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0" name="fx4_1_3"/>
          <p:cNvSpPr/>
          <p:nvPr/>
        </p:nvSpPr>
        <p:spPr>
          <a:xfrm>
            <a:off x="941832" y="182880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21" name="fx4_1_4"/>
          <p:cNvSpPr/>
          <p:nvPr/>
        </p:nvSpPr>
        <p:spPr>
          <a:xfrm>
            <a:off x="941832" y="18288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22" name="fx4_1_5"/>
          <p:cNvSpPr/>
          <p:nvPr/>
        </p:nvSpPr>
        <p:spPr>
          <a:xfrm>
            <a:off x="960120" y="21488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 1732 году его деньги лежали в банках </a:t>
            </a:r>
            <a:pPr algn="l" indent="0" marL="0">
              <a:lnSpc>
                <a:spcPct val="105000"/>
              </a:lnSpc>
              <a:buNone/>
            </a:pPr>
            <a:r>
              <a:rPr lang="en-US" sz="13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Лондона, Амстердама, Брюсселя, Вены и Кадиса</a:t>
            </a:r>
            <a:pPr algn="l" indent="0" marL="0">
              <a:lnSpc>
                <a:spcPct val="105000"/>
              </a:lnSpc>
              <a:buNone/>
            </a:pPr>
            <a:r>
              <a:rPr lang="en-US" sz="13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а поместья были в Англии и… в Луизиане.</a:t>
            </a:r>
            <a:endParaRPr lang="en-US" sz="1350" dirty="0"/>
          </a:p>
        </p:txBody>
      </p:sp>
      <p:sp>
        <p:nvSpPr>
          <p:cNvPr id="23" name="fx4_2_6"/>
          <p:cNvSpPr/>
          <p:nvPr/>
        </p:nvSpPr>
        <p:spPr>
          <a:xfrm>
            <a:off x="1362056" y="4206240"/>
            <a:ext cx="9467583" cy="91"/>
          </a:xfrm>
          <a:prstGeom prst="line">
            <a:avLst/>
          </a:prstGeom>
          <a:noFill/>
          <a:ln w="19050">
            <a:solidFill>
              <a:srgbClr val="E3B663">
                <a:alpha val="65000"/>
              </a:srgbClr>
            </a:solidFill>
            <a:prstDash val="solid"/>
          </a:ln>
        </p:spPr>
      </p:sp>
      <p:sp>
        <p:nvSpPr>
          <p:cNvPr id="24" name="fx4_2_7"/>
          <p:cNvSpPr/>
          <p:nvPr/>
        </p:nvSpPr>
        <p:spPr>
          <a:xfrm>
            <a:off x="1270616" y="4114800"/>
            <a:ext cx="182880" cy="182880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25" name="fx4_2_8"/>
          <p:cNvSpPr/>
          <p:nvPr/>
        </p:nvSpPr>
        <p:spPr>
          <a:xfrm>
            <a:off x="740664" y="4389120"/>
            <a:ext cx="1242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1708</a:t>
            </a:r>
            <a:endParaRPr lang="en-US" sz="2000" dirty="0"/>
          </a:p>
        </p:txBody>
      </p:sp>
      <p:sp>
        <p:nvSpPr>
          <p:cNvPr id="26" name="fx4_2_9"/>
          <p:cNvSpPr/>
          <p:nvPr/>
        </p:nvSpPr>
        <p:spPr>
          <a:xfrm>
            <a:off x="740664" y="4791456"/>
            <a:ext cx="1242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Франция</a:t>
            </a:r>
            <a:endParaRPr lang="en-US" sz="1250" dirty="0"/>
          </a:p>
        </p:txBody>
      </p:sp>
      <p:sp>
        <p:nvSpPr>
          <p:cNvPr id="27" name="fx4_2_10"/>
          <p:cNvSpPr/>
          <p:nvPr/>
        </p:nvSpPr>
        <p:spPr>
          <a:xfrm>
            <a:off x="740664" y="5084064"/>
            <a:ext cx="1242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Получает французское подданство</a:t>
            </a:r>
            <a:endParaRPr lang="en-US" sz="1000" dirty="0"/>
          </a:p>
        </p:txBody>
      </p:sp>
      <p:sp>
        <p:nvSpPr>
          <p:cNvPr id="28" name="fx4_2_11"/>
          <p:cNvSpPr/>
          <p:nvPr/>
        </p:nvSpPr>
        <p:spPr>
          <a:xfrm>
            <a:off x="2623128" y="4114800"/>
            <a:ext cx="182880" cy="182880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29" name="fx4_2_12"/>
          <p:cNvSpPr/>
          <p:nvPr/>
        </p:nvSpPr>
        <p:spPr>
          <a:xfrm>
            <a:off x="2093176" y="4389120"/>
            <a:ext cx="1242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1711</a:t>
            </a:r>
            <a:endParaRPr lang="en-US" sz="2000" dirty="0"/>
          </a:p>
        </p:txBody>
      </p:sp>
      <p:sp>
        <p:nvSpPr>
          <p:cNvPr id="30" name="fx4_2_13"/>
          <p:cNvSpPr/>
          <p:nvPr/>
        </p:nvSpPr>
        <p:spPr>
          <a:xfrm>
            <a:off x="2093176" y="4791456"/>
            <a:ext cx="1242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Испания</a:t>
            </a:r>
            <a:endParaRPr lang="en-US" sz="1250" dirty="0"/>
          </a:p>
        </p:txBody>
      </p:sp>
      <p:sp>
        <p:nvSpPr>
          <p:cNvPr id="31" name="fx4_2_14"/>
          <p:cNvSpPr/>
          <p:nvPr/>
        </p:nvSpPr>
        <p:spPr>
          <a:xfrm>
            <a:off x="2093176" y="5084064"/>
            <a:ext cx="1242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Выплаты британским пленным; связи с Бриджесом</a:t>
            </a:r>
            <a:endParaRPr lang="en-US" sz="1000" dirty="0"/>
          </a:p>
        </p:txBody>
      </p:sp>
      <p:sp>
        <p:nvSpPr>
          <p:cNvPr id="32" name="fx4_3_15"/>
          <p:cNvSpPr/>
          <p:nvPr/>
        </p:nvSpPr>
        <p:spPr>
          <a:xfrm>
            <a:off x="3975640" y="4114800"/>
            <a:ext cx="182880" cy="182880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3" name="fx4_3_16"/>
          <p:cNvSpPr/>
          <p:nvPr/>
        </p:nvSpPr>
        <p:spPr>
          <a:xfrm>
            <a:off x="3445688" y="4389120"/>
            <a:ext cx="1242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1714</a:t>
            </a:r>
            <a:endParaRPr lang="en-US" sz="2000" dirty="0"/>
          </a:p>
        </p:txBody>
      </p:sp>
      <p:sp>
        <p:nvSpPr>
          <p:cNvPr id="34" name="fx4_3_17"/>
          <p:cNvSpPr/>
          <p:nvPr/>
        </p:nvSpPr>
        <p:spPr>
          <a:xfrm>
            <a:off x="3445688" y="4791456"/>
            <a:ext cx="1242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Париж</a:t>
            </a:r>
            <a:endParaRPr lang="en-US" sz="1250" dirty="0"/>
          </a:p>
        </p:txBody>
      </p:sp>
      <p:sp>
        <p:nvSpPr>
          <p:cNvPr id="35" name="fx4_3_18"/>
          <p:cNvSpPr/>
          <p:nvPr/>
        </p:nvSpPr>
        <p:spPr>
          <a:xfrm>
            <a:off x="3445688" y="5084064"/>
            <a:ext cx="1242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Работает в банке двоюродного брата</a:t>
            </a:r>
            <a:endParaRPr lang="en-US" sz="1000" dirty="0"/>
          </a:p>
        </p:txBody>
      </p:sp>
      <p:sp>
        <p:nvSpPr>
          <p:cNvPr id="36" name="fx4_3_19"/>
          <p:cNvSpPr/>
          <p:nvPr/>
        </p:nvSpPr>
        <p:spPr>
          <a:xfrm>
            <a:off x="5328152" y="4114800"/>
            <a:ext cx="182880" cy="182880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7" name="fx4_3_20"/>
          <p:cNvSpPr/>
          <p:nvPr/>
        </p:nvSpPr>
        <p:spPr>
          <a:xfrm>
            <a:off x="4798200" y="4389120"/>
            <a:ext cx="1242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1716</a:t>
            </a:r>
            <a:endParaRPr lang="en-US" sz="2000" dirty="0"/>
          </a:p>
        </p:txBody>
      </p:sp>
      <p:sp>
        <p:nvSpPr>
          <p:cNvPr id="38" name="fx4_3_21"/>
          <p:cNvSpPr/>
          <p:nvPr/>
        </p:nvSpPr>
        <p:spPr>
          <a:xfrm>
            <a:off x="4798200" y="4791456"/>
            <a:ext cx="1242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Свой банк</a:t>
            </a:r>
            <a:endParaRPr lang="en-US" sz="1250" dirty="0"/>
          </a:p>
        </p:txBody>
      </p:sp>
      <p:sp>
        <p:nvSpPr>
          <p:cNvPr id="39" name="fx4_3_22"/>
          <p:cNvSpPr/>
          <p:nvPr/>
        </p:nvSpPr>
        <p:spPr>
          <a:xfrm>
            <a:off x="4798200" y="5084064"/>
            <a:ext cx="1242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Выкупает банк при поддержке Бриджеса</a:t>
            </a:r>
            <a:endParaRPr lang="en-US" sz="1000" dirty="0"/>
          </a:p>
        </p:txBody>
      </p:sp>
      <p:sp>
        <p:nvSpPr>
          <p:cNvPr id="40" name="fx4_4_23"/>
          <p:cNvSpPr/>
          <p:nvPr/>
        </p:nvSpPr>
        <p:spPr>
          <a:xfrm>
            <a:off x="6680664" y="4114800"/>
            <a:ext cx="182880" cy="182880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41" name="fx4_4_24"/>
          <p:cNvSpPr/>
          <p:nvPr/>
        </p:nvSpPr>
        <p:spPr>
          <a:xfrm>
            <a:off x="6150712" y="4389120"/>
            <a:ext cx="1242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1719</a:t>
            </a:r>
            <a:endParaRPr lang="en-US" sz="2000" dirty="0"/>
          </a:p>
        </p:txBody>
      </p:sp>
      <p:sp>
        <p:nvSpPr>
          <p:cNvPr id="42" name="fx4_4_25"/>
          <p:cNvSpPr/>
          <p:nvPr/>
        </p:nvSpPr>
        <p:spPr>
          <a:xfrm>
            <a:off x="6150712" y="4791456"/>
            <a:ext cx="1242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Пузырь</a:t>
            </a:r>
            <a:endParaRPr lang="en-US" sz="1250" dirty="0"/>
          </a:p>
        </p:txBody>
      </p:sp>
      <p:sp>
        <p:nvSpPr>
          <p:cNvPr id="43" name="fx4_4_26"/>
          <p:cNvSpPr/>
          <p:nvPr/>
        </p:nvSpPr>
        <p:spPr>
          <a:xfrm>
            <a:off x="6150712" y="5084064"/>
            <a:ext cx="1242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Продаёт бумаги Ло и уезжает из Парижа</a:t>
            </a:r>
            <a:endParaRPr lang="en-US" sz="1000" dirty="0"/>
          </a:p>
        </p:txBody>
      </p:sp>
      <p:sp>
        <p:nvSpPr>
          <p:cNvPr id="44" name="fx4_4_27"/>
          <p:cNvSpPr/>
          <p:nvPr/>
        </p:nvSpPr>
        <p:spPr>
          <a:xfrm>
            <a:off x="8033175" y="4114800"/>
            <a:ext cx="182880" cy="182880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45" name="fx4_4_28"/>
          <p:cNvSpPr/>
          <p:nvPr/>
        </p:nvSpPr>
        <p:spPr>
          <a:xfrm>
            <a:off x="7503224" y="4389120"/>
            <a:ext cx="1242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1722</a:t>
            </a:r>
            <a:endParaRPr lang="en-US" sz="2000" dirty="0"/>
          </a:p>
        </p:txBody>
      </p:sp>
      <p:sp>
        <p:nvSpPr>
          <p:cNvPr id="46" name="fx4_4_29"/>
          <p:cNvSpPr/>
          <p:nvPr/>
        </p:nvSpPr>
        <p:spPr>
          <a:xfrm>
            <a:off x="7503224" y="4791456"/>
            <a:ext cx="1242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Брак</a:t>
            </a:r>
            <a:endParaRPr lang="en-US" sz="1250" dirty="0"/>
          </a:p>
        </p:txBody>
      </p:sp>
      <p:sp>
        <p:nvSpPr>
          <p:cNvPr id="47" name="fx4_4_30"/>
          <p:cNvSpPr/>
          <p:nvPr/>
        </p:nvSpPr>
        <p:spPr>
          <a:xfrm>
            <a:off x="7503224" y="5084064"/>
            <a:ext cx="1242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Женится на Мэри Энн О’Махони</a:t>
            </a:r>
            <a:endParaRPr lang="en-US" sz="1000" dirty="0"/>
          </a:p>
        </p:txBody>
      </p:sp>
      <p:sp>
        <p:nvSpPr>
          <p:cNvPr id="48" name="fx4_5_31"/>
          <p:cNvSpPr/>
          <p:nvPr/>
        </p:nvSpPr>
        <p:spPr>
          <a:xfrm>
            <a:off x="9385687" y="4114800"/>
            <a:ext cx="182880" cy="182880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49" name="fx4_5_32"/>
          <p:cNvSpPr/>
          <p:nvPr/>
        </p:nvSpPr>
        <p:spPr>
          <a:xfrm>
            <a:off x="8855735" y="4389120"/>
            <a:ext cx="1242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≈1730</a:t>
            </a:r>
            <a:endParaRPr lang="en-US" sz="2000" dirty="0"/>
          </a:p>
        </p:txBody>
      </p:sp>
      <p:sp>
        <p:nvSpPr>
          <p:cNvPr id="50" name="fx4_5_33"/>
          <p:cNvSpPr/>
          <p:nvPr/>
        </p:nvSpPr>
        <p:spPr>
          <a:xfrm>
            <a:off x="8855735" y="4791456"/>
            <a:ext cx="1242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«Essai»</a:t>
            </a:r>
            <a:endParaRPr lang="en-US" sz="1250" dirty="0"/>
          </a:p>
        </p:txBody>
      </p:sp>
      <p:sp>
        <p:nvSpPr>
          <p:cNvPr id="51" name="fx4_5_34"/>
          <p:cNvSpPr/>
          <p:nvPr/>
        </p:nvSpPr>
        <p:spPr>
          <a:xfrm>
            <a:off x="8855735" y="5084064"/>
            <a:ext cx="1242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Пишет главную книгу</a:t>
            </a:r>
            <a:endParaRPr lang="en-US" sz="1000" dirty="0"/>
          </a:p>
        </p:txBody>
      </p:sp>
      <p:sp>
        <p:nvSpPr>
          <p:cNvPr id="52" name="fx4_5_35"/>
          <p:cNvSpPr/>
          <p:nvPr/>
        </p:nvSpPr>
        <p:spPr>
          <a:xfrm>
            <a:off x="10738199" y="4114800"/>
            <a:ext cx="182880" cy="182880"/>
          </a:xfrm>
          <a:prstGeom prst="ellipse">
            <a:avLst/>
          </a:prstGeom>
          <a:solidFill>
            <a:srgbClr val="E8866A"/>
          </a:solidFill>
          <a:ln w="25400">
            <a:solidFill>
              <a:srgbClr val="E8866A"/>
            </a:solidFill>
            <a:prstDash val="solid"/>
          </a:ln>
        </p:spPr>
      </p:sp>
      <p:sp>
        <p:nvSpPr>
          <p:cNvPr id="53" name="fx4_5_36"/>
          <p:cNvSpPr/>
          <p:nvPr/>
        </p:nvSpPr>
        <p:spPr>
          <a:xfrm>
            <a:off x="10208247" y="4389120"/>
            <a:ext cx="1242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88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1734</a:t>
            </a:r>
            <a:endParaRPr lang="en-US" sz="2000" dirty="0"/>
          </a:p>
        </p:txBody>
      </p:sp>
      <p:sp>
        <p:nvSpPr>
          <p:cNvPr id="54" name="fx4_5_37"/>
          <p:cNvSpPr/>
          <p:nvPr/>
        </p:nvSpPr>
        <p:spPr>
          <a:xfrm>
            <a:off x="10208247" y="4791456"/>
            <a:ext cx="1242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Лондон</a:t>
            </a:r>
            <a:endParaRPr lang="en-US" sz="1250" dirty="0"/>
          </a:p>
        </p:txBody>
      </p:sp>
      <p:sp>
        <p:nvSpPr>
          <p:cNvPr id="55" name="fx4_5_38"/>
          <p:cNvSpPr/>
          <p:nvPr/>
        </p:nvSpPr>
        <p:spPr>
          <a:xfrm>
            <a:off x="10208247" y="5084064"/>
            <a:ext cx="1242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Пожар на Албемарл-стрит</a:t>
            </a:r>
            <a:endParaRPr lang="en-US" sz="10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6" name="!!m-chest">
                <a:extLst>
                  <a:ext uri="{FF2B5EF4-FFF2-40B4-BE49-F238E27FC236}">
                    <a16:creationId xmlns:a16="http://schemas.microsoft.com/office/drawing/2014/main" id="{2B4801D0-587A-65D8-F7F2-C417DD2DF55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5029200" y="1463040"/>
              <a:ext cx="4480560" cy="4480560"/>
            </p:xfrm>
            <a:graphic>
              <a:graphicData uri="http://schemas.microsoft.com/office/drawing/2017/model3d">
                <am3d:model3d r:embed="rIdM3d14">
                  <am3d:spPr>
                    <a:xfrm>
                      <a:off x="0" y="0"/>
                      <a:ext cx="4480560" cy="4480560"/>
                    </a:xfrm>
                    <a:prstGeom prst="rect">
                      <a:avLst/>
                    </a:prstGeom>
                  </am3d:spPr>
                  <am3d:camera>
                    <am3d:pos x="0" y="0" z="6750417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0" dy="1813409" dz="-4843575"/>
                    <am3d:scale>
                      <am3d:sx n="1000000" d="1000000"/>
                      <am3d:sy n="1000000" d="1000000"/>
                      <am3d:sz n="1000000" d="1000000"/>
                    </am3d:scale>
                    <am3d:rot ax="960000" ay="-648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44805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6" name="!!m-chest">
                <a:extLst>
                  <a:ext uri="{FF2B5EF4-FFF2-40B4-BE49-F238E27FC236}">
                    <a16:creationId xmlns:a16="http://schemas.microsoft.com/office/drawing/2014/main" id="{2B4801D0-587A-65D8-F7F2-C417DD2DF55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5029200" y="1463040"/>
                <a:ext cx="4480560" cy="448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7" name="!!m-bubble">
                <a:extLst>
                  <a:ext uri="{FF2B5EF4-FFF2-40B4-BE49-F238E27FC236}">
                    <a16:creationId xmlns:a16="http://schemas.microsoft.com/office/drawing/2014/main" id="{E68BADBA-591E-4E9D-BE61-57BBBA9E633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4297680" cy="4297680"/>
            </p:xfrm>
            <a:graphic>
              <a:graphicData uri="http://schemas.microsoft.com/office/drawing/2017/model3d">
                <am3d:model3d r:embed="rIdM3d15">
                  <am3d:spPr>
                    <a:xfrm>
                      <a:off x="0" y="0"/>
                      <a:ext cx="4297680" cy="4297680"/>
                    </a:xfrm>
                    <a:prstGeom prst="rect">
                      <a:avLst/>
                    </a:prstGeom>
                  </am3d:spPr>
                  <am3d:camera>
                    <am3d:pos x="0" y="0" z="7469258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96292" d="1000000"/>
                    <am3d:preTrans dx="963413" dy="2600320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336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4297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7" name="!!m-bubble">
                <a:extLst>
                  <a:ext uri="{FF2B5EF4-FFF2-40B4-BE49-F238E27FC236}">
                    <a16:creationId xmlns:a16="http://schemas.microsoft.com/office/drawing/2014/main" id="{E68BADBA-591E-4E9D-BE61-57BBBA9E633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34440"/>
                <a:ext cx="4297680" cy="4297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4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1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5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2885359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85BAE302-4A0A-9AF0-301C-95BD8D2D970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296839" y="98755"/>
              <a:ext cx="548640" cy="548640"/>
            </p:xfrm>
            <a:graphic>
              <a:graphicData uri="http://schemas.microsoft.com/office/drawing/2017/model3d">
                <am3d:model3d r:embed="rIdM3d16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3504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85BAE302-4A0A-9AF0-301C-95BD8D2D970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296839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— ЧЕМ ЗАНИМАЛСЯ: ПУЗЫРЬ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16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822" y="-98298"/>
            <a:ext cx="6231636" cy="6231636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672730" y="997610"/>
            <a:ext cx="4039819" cy="4039819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114032" y="438912"/>
            <a:ext cx="5157216" cy="515721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8452" y="4016731"/>
            <a:ext cx="3008376" cy="75209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bubble">
                <a:extLst>
                  <a:ext uri="{FF2B5EF4-FFF2-40B4-BE49-F238E27FC236}">
                    <a16:creationId xmlns:a16="http://schemas.microsoft.com/office/drawing/2014/main" id="{6F5AAA51-2F49-D8F9-7082-28E5955D672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543800" y="868680"/>
              <a:ext cx="4297680" cy="4297680"/>
            </p:xfrm>
            <a:graphic>
              <a:graphicData uri="http://schemas.microsoft.com/office/drawing/2017/model3d">
                <am3d:model3d r:embed="rIdM3d17">
                  <am3d:spPr>
                    <a:xfrm>
                      <a:off x="0" y="0"/>
                      <a:ext cx="4297680" cy="4297680"/>
                    </a:xfrm>
                    <a:prstGeom prst="rect">
                      <a:avLst/>
                    </a:prstGeom>
                  </am3d:spPr>
                  <am3d:camera>
                    <am3d:pos x="0" y="0" z="7469258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96292" d="1000000"/>
                    <am3d:preTrans dx="963413" dy="2600320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-14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4297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bubble">
                <a:extLst>
                  <a:ext uri="{FF2B5EF4-FFF2-40B4-BE49-F238E27FC236}">
                    <a16:creationId xmlns:a16="http://schemas.microsoft.com/office/drawing/2014/main" id="{6F5AAA51-2F49-D8F9-7082-28E5955D672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43800" y="868680"/>
                <a:ext cx="4297680" cy="429768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5_9_0"/>
          <p:cNvSpPr/>
          <p:nvPr/>
        </p:nvSpPr>
        <p:spPr>
          <a:xfrm>
            <a:off x="8046720" y="486552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05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Пузырь над акциями и золотом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Пузырь Миссисипи: как он разбогател</a:t>
            </a:r>
            <a:endParaRPr lang="en-US" sz="3200" dirty="0"/>
          </a:p>
        </p:txBody>
      </p:sp>
      <p:sp>
        <p:nvSpPr>
          <p:cNvPr id="18" name="fx5_1_1"/>
          <p:cNvSpPr/>
          <p:nvPr/>
        </p:nvSpPr>
        <p:spPr>
          <a:xfrm>
            <a:off x="685800" y="217627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800" dirty="0"/>
          </a:p>
        </p:txBody>
      </p:sp>
      <p:sp>
        <p:nvSpPr>
          <p:cNvPr id="19" name="fx5_1_2"/>
          <p:cNvSpPr/>
          <p:nvPr/>
        </p:nvSpPr>
        <p:spPr>
          <a:xfrm>
            <a:off x="1280160" y="221284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 Джона Ло · 1716</a:t>
            </a:r>
            <a:endParaRPr lang="en-US" sz="1400" dirty="0"/>
          </a:p>
        </p:txBody>
      </p:sp>
      <p:sp>
        <p:nvSpPr>
          <p:cNvPr id="20" name="fx5_1_3"/>
          <p:cNvSpPr/>
          <p:nvPr/>
        </p:nvSpPr>
        <p:spPr>
          <a:xfrm>
            <a:off x="1280160" y="2487168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Шотландец убеждает регента Франции: бумажные деньги спасут от долгов.</a:t>
            </a:r>
            <a:endParaRPr lang="en-US" sz="1150" dirty="0"/>
          </a:p>
        </p:txBody>
      </p:sp>
      <p:sp>
        <p:nvSpPr>
          <p:cNvPr id="21" name="fx5_2_4"/>
          <p:cNvSpPr/>
          <p:nvPr/>
        </p:nvSpPr>
        <p:spPr>
          <a:xfrm>
            <a:off x="685800" y="294436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1800" dirty="0"/>
          </a:p>
        </p:txBody>
      </p:sp>
      <p:sp>
        <p:nvSpPr>
          <p:cNvPr id="22" name="fx5_2_5"/>
          <p:cNvSpPr/>
          <p:nvPr/>
        </p:nvSpPr>
        <p:spPr>
          <a:xfrm>
            <a:off x="1280160" y="29809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Миссисипская компания · 1717–1719</a:t>
            </a:r>
            <a:endParaRPr lang="en-US" sz="1400" dirty="0"/>
          </a:p>
        </p:txBody>
      </p:sp>
      <p:sp>
        <p:nvSpPr>
          <p:cNvPr id="23" name="fx5_2_6"/>
          <p:cNvSpPr/>
          <p:nvPr/>
        </p:nvSpPr>
        <p:spPr>
          <a:xfrm>
            <a:off x="1280160" y="3255264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Монополия на Луизиану; акции дорожают примерно в 20 раз.</a:t>
            </a:r>
            <a:endParaRPr lang="en-US" sz="1150" dirty="0"/>
          </a:p>
        </p:txBody>
      </p:sp>
      <p:sp>
        <p:nvSpPr>
          <p:cNvPr id="24" name="fx5_3_7"/>
          <p:cNvSpPr/>
          <p:nvPr/>
        </p:nvSpPr>
        <p:spPr>
          <a:xfrm>
            <a:off x="685800" y="371246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1800" dirty="0"/>
          </a:p>
        </p:txBody>
      </p:sp>
      <p:sp>
        <p:nvSpPr>
          <p:cNvPr id="25" name="fx5_3_8"/>
          <p:cNvSpPr/>
          <p:nvPr/>
        </p:nvSpPr>
        <p:spPr>
          <a:xfrm>
            <a:off x="1280160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Ход Кантильона</a:t>
            </a:r>
            <a:endParaRPr lang="en-US" sz="1400" dirty="0"/>
          </a:p>
        </p:txBody>
      </p:sp>
      <p:sp>
        <p:nvSpPr>
          <p:cNvPr id="26" name="fx5_3_9"/>
          <p:cNvSpPr/>
          <p:nvPr/>
        </p:nvSpPr>
        <p:spPr>
          <a:xfrm>
            <a:off x="1280160" y="4023360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Считает систему обречённой: покупает рано, продаёт дорого, кредитует под залог акций.</a:t>
            </a:r>
            <a:endParaRPr lang="en-US" sz="1150" dirty="0"/>
          </a:p>
        </p:txBody>
      </p:sp>
      <p:sp>
        <p:nvSpPr>
          <p:cNvPr id="27" name="fx5_4_10"/>
          <p:cNvSpPr/>
          <p:nvPr/>
        </p:nvSpPr>
        <p:spPr>
          <a:xfrm>
            <a:off x="685800" y="448056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1800" dirty="0"/>
          </a:p>
        </p:txBody>
      </p:sp>
      <p:sp>
        <p:nvSpPr>
          <p:cNvPr id="28" name="fx5_4_11"/>
          <p:cNvSpPr/>
          <p:nvPr/>
        </p:nvSpPr>
        <p:spPr>
          <a:xfrm>
            <a:off x="1280160" y="451713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Крах · 1720</a:t>
            </a:r>
            <a:endParaRPr lang="en-US" sz="1400" dirty="0"/>
          </a:p>
        </p:txBody>
      </p:sp>
      <p:sp>
        <p:nvSpPr>
          <p:cNvPr id="29" name="fx5_4_12"/>
          <p:cNvSpPr/>
          <p:nvPr/>
        </p:nvSpPr>
        <p:spPr>
          <a:xfrm>
            <a:off x="1280160" y="4791456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Пузырь лопается; он взыскивает долги с процентами и годами судится.</a:t>
            </a:r>
            <a:endParaRPr lang="en-US" sz="1150" dirty="0"/>
          </a:p>
        </p:txBody>
      </p:sp>
      <p:sp>
        <p:nvSpPr>
          <p:cNvPr id="30" name="fx5_8_13"/>
          <p:cNvSpPr/>
          <p:nvPr/>
        </p:nvSpPr>
        <p:spPr>
          <a:xfrm>
            <a:off x="685800" y="5394960"/>
            <a:ext cx="6355080" cy="804672"/>
          </a:xfrm>
          <a:prstGeom prst="roundRect">
            <a:avLst>
              <a:gd name="adj" fmla="val 9091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1" name="fx5_8_14"/>
          <p:cNvSpPr/>
          <p:nvPr/>
        </p:nvSpPr>
        <p:spPr>
          <a:xfrm>
            <a:off x="685800" y="5541264"/>
            <a:ext cx="50292" cy="51206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2" name="fx5_8_15"/>
          <p:cNvSpPr/>
          <p:nvPr/>
        </p:nvSpPr>
        <p:spPr>
          <a:xfrm>
            <a:off x="941832" y="525780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3" name="fx5_8_16"/>
          <p:cNvSpPr/>
          <p:nvPr/>
        </p:nvSpPr>
        <p:spPr>
          <a:xfrm>
            <a:off x="941832" y="52578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34" name="fx5_8_17"/>
          <p:cNvSpPr/>
          <p:nvPr/>
        </p:nvSpPr>
        <p:spPr>
          <a:xfrm>
            <a:off x="960120" y="5577840"/>
            <a:ext cx="5897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Он стал одним из «миссисипских миллионеров»: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20 млн ливров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порядка €60 млн сегодняшними деньгами.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5" name="!!m-globe_c">
                <a:extLst>
                  <a:ext uri="{FF2B5EF4-FFF2-40B4-BE49-F238E27FC236}">
                    <a16:creationId xmlns:a16="http://schemas.microsoft.com/office/drawing/2014/main" id="{18570E05-CB35-95A3-4DB0-21236B11193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434840" y="685800"/>
              <a:ext cx="3886200" cy="3886200"/>
            </p:xfrm>
            <a:graphic>
              <a:graphicData uri="http://schemas.microsoft.com/office/drawing/2017/model3d">
                <am3d:model3d r:embed="rIdM3d18">
                  <am3d:spPr>
                    <a:xfrm>
                      <a:off x="0" y="0"/>
                      <a:ext cx="3886200" cy="3886200"/>
                    </a:xfrm>
                    <a:prstGeom prst="rect">
                      <a:avLst/>
                    </a:prstGeom>
                  </am3d:spPr>
                  <am3d:camera>
                    <am3d:pos x="0" y="0" z="710703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1790" d="1000000"/>
                    <am3d:preTrans dx="1056947" dy="-773652" dz="3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48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38862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5" name="!!m-globe_c">
                <a:extLst>
                  <a:ext uri="{FF2B5EF4-FFF2-40B4-BE49-F238E27FC236}">
                    <a16:creationId xmlns:a16="http://schemas.microsoft.com/office/drawing/2014/main" id="{18570E05-CB35-95A3-4DB0-21236B11193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434840" y="685800"/>
                <a:ext cx="3886200" cy="388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rook">
                <a:extLst>
                  <a:ext uri="{FF2B5EF4-FFF2-40B4-BE49-F238E27FC236}">
                    <a16:creationId xmlns:a16="http://schemas.microsoft.com/office/drawing/2014/main" id="{C1DC5C73-FEBC-F325-4A3A-AA820CEF11C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80160"/>
              <a:ext cx="4114800" cy="4114800"/>
            </p:xfrm>
            <a:graphic>
              <a:graphicData uri="http://schemas.microsoft.com/office/drawing/2017/model3d">
                <am3d:model3d r:embed="rIdM3d19">
                  <am3d:spPr>
                    <a:xfrm>
                      <a:off x="0" y="0"/>
                      <a:ext cx="4114800" cy="4114800"/>
                    </a:xfrm>
                    <a:prstGeom prst="rect">
                      <a:avLst/>
                    </a:prstGeom>
                  </am3d:spPr>
                  <am3d:camera>
                    <am3d:pos x="0" y="0" z="7067676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8078" d="1000000"/>
                    <am3d:preTrans dx="-6968465" dy="-12500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348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41148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rook">
                <a:extLst>
                  <a:ext uri="{FF2B5EF4-FFF2-40B4-BE49-F238E27FC236}">
                    <a16:creationId xmlns:a16="http://schemas.microsoft.com/office/drawing/2014/main" id="{C1DC5C73-FEBC-F325-4A3A-AA820CEF11C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80160"/>
                <a:ext cx="4114800" cy="4114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1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6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3606698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2211B53C-6482-5629-C2C3-EC7D7354B01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18178" y="98755"/>
              <a:ext cx="548640" cy="548640"/>
            </p:xfrm>
            <a:graphic>
              <a:graphicData uri="http://schemas.microsoft.com/office/drawing/2017/model3d">
                <am3d:model3d r:embed="rIdM3d20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4380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2211B53C-6482-5629-C2C3-EC7D7354B01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18178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— ДУЭЛЬ С ДЖОНОМ ЛО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16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2290" y="-11430"/>
            <a:ext cx="5966460" cy="5966460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941564" y="1037844"/>
            <a:ext cx="3867912" cy="3867912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406640" y="502920"/>
            <a:ext cx="4937760" cy="4937760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0" y="4144518"/>
            <a:ext cx="2468880" cy="61722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rook">
                <a:extLst>
                  <a:ext uri="{FF2B5EF4-FFF2-40B4-BE49-F238E27FC236}">
                    <a16:creationId xmlns:a16="http://schemas.microsoft.com/office/drawing/2014/main" id="{172D9851-4BC9-3C1D-F4F1-0432D89F7E4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818120" y="914400"/>
              <a:ext cx="4114800" cy="4114800"/>
            </p:xfrm>
            <a:graphic>
              <a:graphicData uri="http://schemas.microsoft.com/office/drawing/2017/model3d">
                <am3d:model3d r:embed="rIdM3d21">
                  <am3d:spPr>
                    <a:xfrm>
                      <a:off x="0" y="0"/>
                      <a:ext cx="4114800" cy="4114800"/>
                    </a:xfrm>
                    <a:prstGeom prst="rect">
                      <a:avLst/>
                    </a:prstGeom>
                  </am3d:spPr>
                  <am3d:camera>
                    <am3d:pos x="0" y="0" z="7067676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8078" d="1000000"/>
                    <am3d:preTrans dx="-6968465" dy="-12500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132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41148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rook">
                <a:extLst>
                  <a:ext uri="{FF2B5EF4-FFF2-40B4-BE49-F238E27FC236}">
                    <a16:creationId xmlns:a16="http://schemas.microsoft.com/office/drawing/2014/main" id="{172D9851-4BC9-3C1D-F4F1-0432D89F7E4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18120" y="914400"/>
                <a:ext cx="4114800" cy="411480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6_9_0"/>
          <p:cNvSpPr/>
          <p:nvPr/>
        </p:nvSpPr>
        <p:spPr>
          <a:xfrm>
            <a:off x="8229600" y="47411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06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Ладья — Бастилия, которой ему грозили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«Я не уеду — и помогу вашей системе»</a:t>
            </a:r>
            <a:endParaRPr lang="en-US" sz="3000" dirty="0"/>
          </a:p>
        </p:txBody>
      </p:sp>
      <p:sp>
        <p:nvSpPr>
          <p:cNvPr id="18" name="fx6_1_1"/>
          <p:cNvSpPr/>
          <p:nvPr/>
        </p:nvSpPr>
        <p:spPr>
          <a:xfrm>
            <a:off x="685800" y="2121408"/>
            <a:ext cx="6675120" cy="1097280"/>
          </a:xfrm>
          <a:prstGeom prst="roundRect">
            <a:avLst>
              <a:gd name="adj" fmla="val 6667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9A8C86">
                <a:alpha val="30000"/>
              </a:srgbClr>
            </a:solidFill>
            <a:prstDash val="solid"/>
          </a:ln>
        </p:spPr>
      </p:sp>
      <p:sp>
        <p:nvSpPr>
          <p:cNvPr id="19" name="fx6_1_2"/>
          <p:cNvSpPr/>
          <p:nvPr/>
        </p:nvSpPr>
        <p:spPr>
          <a:xfrm>
            <a:off x="914400" y="2258568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ДЖОН ЛО</a:t>
            </a:r>
            <a:endParaRPr lang="en-US" sz="950" dirty="0"/>
          </a:p>
        </p:txBody>
      </p:sp>
      <p:sp>
        <p:nvSpPr>
          <p:cNvPr id="20" name="fx6_1_3"/>
          <p:cNvSpPr/>
          <p:nvPr/>
        </p:nvSpPr>
        <p:spPr>
          <a:xfrm>
            <a:off x="914400" y="2505456"/>
            <a:ext cx="6263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«Будь мы в Англии, пришлось бы договариваться. Но мы во Франции — и я могу сегодня же вечером отправить вас в Бастилию, если не дадите слово покинуть королевство».</a:t>
            </a:r>
            <a:endParaRPr lang="en-US" sz="1350" dirty="0"/>
          </a:p>
        </p:txBody>
      </p:sp>
      <p:sp>
        <p:nvSpPr>
          <p:cNvPr id="21" name="fx6_2_4"/>
          <p:cNvSpPr/>
          <p:nvPr/>
        </p:nvSpPr>
        <p:spPr>
          <a:xfrm>
            <a:off x="1508760" y="3337560"/>
            <a:ext cx="5852160" cy="868680"/>
          </a:xfrm>
          <a:prstGeom prst="roundRect">
            <a:avLst>
              <a:gd name="adj" fmla="val 8421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E3B663">
                <a:alpha val="60000"/>
              </a:srgbClr>
            </a:solidFill>
            <a:prstDash val="solid"/>
          </a:ln>
        </p:spPr>
      </p:sp>
      <p:sp>
        <p:nvSpPr>
          <p:cNvPr id="22" name="fx6_2_5"/>
          <p:cNvSpPr/>
          <p:nvPr/>
        </p:nvSpPr>
        <p:spPr>
          <a:xfrm>
            <a:off x="1737360" y="3474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КАНТИЛЬОН, ПОДУМАВ</a:t>
            </a:r>
            <a:endParaRPr lang="en-US" sz="950" dirty="0"/>
          </a:p>
        </p:txBody>
      </p:sp>
      <p:sp>
        <p:nvSpPr>
          <p:cNvPr id="23" name="fx6_2_6"/>
          <p:cNvSpPr/>
          <p:nvPr/>
        </p:nvSpPr>
        <p:spPr>
          <a:xfrm>
            <a:off x="1737360" y="3721608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«Хорошо. Я не уеду — и помогу вашей системе преуспеть».</a:t>
            </a:r>
            <a:endParaRPr lang="en-US" sz="1350" dirty="0"/>
          </a:p>
        </p:txBody>
      </p:sp>
      <p:sp>
        <p:nvSpPr>
          <p:cNvPr id="24" name="fx6_3_7"/>
          <p:cNvSpPr/>
          <p:nvPr/>
        </p:nvSpPr>
        <p:spPr>
          <a:xfrm>
            <a:off x="685800" y="43434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дальше: 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взял массу бумаг Ло, выгодно разместил их через агентов, обменял на золото — и уехал. </a:t>
            </a:r>
            <a:pPr algn="l"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(по рассказу барона Гримма)</a:t>
            </a:r>
            <a:endParaRPr lang="en-US" sz="1200" dirty="0"/>
          </a:p>
        </p:txBody>
      </p:sp>
      <p:sp>
        <p:nvSpPr>
          <p:cNvPr id="25" name="fx6_8_8"/>
          <p:cNvSpPr/>
          <p:nvPr/>
        </p:nvSpPr>
        <p:spPr>
          <a:xfrm>
            <a:off x="685800" y="5349240"/>
            <a:ext cx="6675120" cy="841248"/>
          </a:xfrm>
          <a:prstGeom prst="roundRect">
            <a:avLst>
              <a:gd name="adj" fmla="val 8696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6" name="fx6_8_9"/>
          <p:cNvSpPr/>
          <p:nvPr/>
        </p:nvSpPr>
        <p:spPr>
          <a:xfrm>
            <a:off x="685800" y="5495544"/>
            <a:ext cx="50292" cy="54864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7" name="fx6_8_10"/>
          <p:cNvSpPr/>
          <p:nvPr/>
        </p:nvSpPr>
        <p:spPr>
          <a:xfrm>
            <a:off x="941832" y="5212080"/>
            <a:ext cx="2089404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28" name="fx6_8_11"/>
          <p:cNvSpPr/>
          <p:nvPr/>
        </p:nvSpPr>
        <p:spPr>
          <a:xfrm>
            <a:off x="941832" y="5212080"/>
            <a:ext cx="2089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ЧЕМ ВСЁ КОНЧИЛОСЬ</a:t>
            </a:r>
            <a:endParaRPr lang="en-US" sz="850" dirty="0"/>
          </a:p>
        </p:txBody>
      </p:sp>
      <p:sp>
        <p:nvSpPr>
          <p:cNvPr id="29" name="fx6_8_12"/>
          <p:cNvSpPr/>
          <p:nvPr/>
        </p:nvSpPr>
        <p:spPr>
          <a:xfrm>
            <a:off x="960120" y="553212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Итог «дуэли»: </a:t>
            </a:r>
            <a:pPr algn="l" indent="0" marL="0">
              <a:lnSpc>
                <a:spcPct val="105000"/>
              </a:lnSpc>
              <a:buNone/>
            </a:pPr>
            <a:r>
              <a:rPr lang="en-US" sz="130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Ло умер в 1729 году в Венеции разорённым</a:t>
            </a:r>
            <a:pPr algn="l"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а Кантильон остался мультимиллионером.</a:t>
            </a:r>
            <a:endParaRPr lang="en-US" sz="13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0" name="!!m-bubble">
                <a:extLst>
                  <a:ext uri="{FF2B5EF4-FFF2-40B4-BE49-F238E27FC236}">
                    <a16:creationId xmlns:a16="http://schemas.microsoft.com/office/drawing/2014/main" id="{D0524948-514C-A1DC-2417-4B218930B5E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846320" y="1234440"/>
              <a:ext cx="4297680" cy="4297680"/>
            </p:xfrm>
            <a:graphic>
              <a:graphicData uri="http://schemas.microsoft.com/office/drawing/2017/model3d">
                <am3d:model3d r:embed="rIdM3d22">
                  <am3d:spPr>
                    <a:xfrm>
                      <a:off x="0" y="0"/>
                      <a:ext cx="4297680" cy="4297680"/>
                    </a:xfrm>
                    <a:prstGeom prst="rect">
                      <a:avLst/>
                    </a:prstGeom>
                  </am3d:spPr>
                  <am3d:camera>
                    <am3d:pos x="0" y="0" z="7469258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96292" d="1000000"/>
                    <am3d:preTrans dx="963413" dy="2600320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-6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4297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0" name="!!m-bubble">
                <a:extLst>
                  <a:ext uri="{FF2B5EF4-FFF2-40B4-BE49-F238E27FC236}">
                    <a16:creationId xmlns:a16="http://schemas.microsoft.com/office/drawing/2014/main" id="{D0524948-514C-A1DC-2417-4B218930B5E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846320" y="1234440"/>
                <a:ext cx="4297680" cy="429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1" name="!!m-quill">
                <a:extLst>
                  <a:ext uri="{FF2B5EF4-FFF2-40B4-BE49-F238E27FC236}">
                    <a16:creationId xmlns:a16="http://schemas.microsoft.com/office/drawing/2014/main" id="{C34E2800-099B-406B-8E39-2E986D19F1D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325880"/>
              <a:ext cx="4572000" cy="4572000"/>
            </p:xfrm>
            <a:graphic>
              <a:graphicData uri="http://schemas.microsoft.com/office/drawing/2017/model3d">
                <am3d:model3d r:embed="rIdM3d23">
                  <am3d:spPr>
                    <a:xfrm>
                      <a:off x="0" y="0"/>
                      <a:ext cx="4572000" cy="4572000"/>
                    </a:xfrm>
                    <a:prstGeom prst="rect">
                      <a:avLst/>
                    </a:prstGeom>
                  </am3d:spPr>
                  <am3d:camera>
                    <am3d:pos x="0" y="0" z="7709957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55986" d="1000000"/>
                    <am3d:preTrans dx="551121" dy="-3924055" dz="-1185376"/>
                    <am3d:scale>
                      <am3d:sx n="1000000" d="1000000"/>
                      <am3d:sy n="1000000" d="1000000"/>
                      <am3d:sz n="1000000" d="1000000"/>
                    </am3d:scale>
                    <am3d:rot ax="1200000" ay="336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4572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1" name="!!m-quill">
                <a:extLst>
                  <a:ext uri="{FF2B5EF4-FFF2-40B4-BE49-F238E27FC236}">
                    <a16:creationId xmlns:a16="http://schemas.microsoft.com/office/drawing/2014/main" id="{C34E2800-099B-406B-8E39-2E986D19F1D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325880"/>
                <a:ext cx="4572000" cy="4572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7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4328038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475BC4AB-5B80-D192-9BBB-7708C1D3B09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739518" y="98755"/>
              <a:ext cx="548640" cy="548640"/>
            </p:xfrm>
            <a:graphic>
              <a:graphicData uri="http://schemas.microsoft.com/office/drawing/2017/model3d">
                <am3d:model3d r:embed="rIdM3d24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5256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475BC4AB-5B80-D192-9BBB-7708C1D3B09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39518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— ГЛАВНЫЙ ТРУД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16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620" y="-68580"/>
            <a:ext cx="6629400" cy="6629400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269480" y="1097280"/>
            <a:ext cx="4297680" cy="4297680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6675120" y="502920"/>
            <a:ext cx="5486400" cy="5486400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4080510"/>
            <a:ext cx="3566160" cy="89154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quill">
                <a:extLst>
                  <a:ext uri="{FF2B5EF4-FFF2-40B4-BE49-F238E27FC236}">
                    <a16:creationId xmlns:a16="http://schemas.microsoft.com/office/drawing/2014/main" id="{DEA61CDC-95DA-2798-2773-CA25547C982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132320" y="960120"/>
              <a:ext cx="4572000" cy="4572000"/>
            </p:xfrm>
            <a:graphic>
              <a:graphicData uri="http://schemas.microsoft.com/office/drawing/2017/model3d">
                <am3d:model3d r:embed="rIdM3d25">
                  <am3d:spPr>
                    <a:xfrm>
                      <a:off x="0" y="0"/>
                      <a:ext cx="4572000" cy="4572000"/>
                    </a:xfrm>
                    <a:prstGeom prst="rect">
                      <a:avLst/>
                    </a:prstGeom>
                  </am3d:spPr>
                  <am3d:camera>
                    <am3d:pos x="0" y="0" z="7709957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55986" d="1000000"/>
                    <am3d:preTrans dx="551121" dy="-3924055" dz="-1185376"/>
                    <am3d:scale>
                      <am3d:sx n="1000000" d="1000000"/>
                      <am3d:sy n="1000000" d="1000000"/>
                      <am3d:sz n="1000000" d="1000000"/>
                    </am3d:scale>
                    <am3d:rot ax="1200000" ay="-14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4572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quill">
                <a:extLst>
                  <a:ext uri="{FF2B5EF4-FFF2-40B4-BE49-F238E27FC236}">
                    <a16:creationId xmlns:a16="http://schemas.microsoft.com/office/drawing/2014/main" id="{DEA61CDC-95DA-2798-2773-CA25547C98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32320" y="960120"/>
                <a:ext cx="4572000" cy="457200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7_9_0"/>
          <p:cNvSpPr/>
          <p:nvPr/>
        </p:nvSpPr>
        <p:spPr>
          <a:xfrm>
            <a:off x="7772400" y="5212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07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«Essai», чернильница и гусиное перо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Книга, опередившая Адама Смита</a:t>
            </a:r>
            <a:endParaRPr lang="en-US" sz="3600" dirty="0"/>
          </a:p>
        </p:txBody>
      </p:sp>
      <p:sp>
        <p:nvSpPr>
          <p:cNvPr id="18" name="fx7_1_1"/>
          <p:cNvSpPr/>
          <p:nvPr/>
        </p:nvSpPr>
        <p:spPr>
          <a:xfrm>
            <a:off x="685800" y="222199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≈1730</a:t>
            </a:r>
            <a:endParaRPr lang="en-US" sz="2100" dirty="0"/>
          </a:p>
        </p:txBody>
      </p:sp>
      <p:sp>
        <p:nvSpPr>
          <p:cNvPr id="19" name="fx7_1_2"/>
          <p:cNvSpPr/>
          <p:nvPr/>
        </p:nvSpPr>
        <p:spPr>
          <a:xfrm>
            <a:off x="1965960" y="22402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Написан «Essai sur la nature du commerce»</a:t>
            </a:r>
            <a:endParaRPr lang="en-US" sz="1450" dirty="0"/>
          </a:p>
        </p:txBody>
      </p:sp>
      <p:sp>
        <p:nvSpPr>
          <p:cNvPr id="20" name="fx7_1_3"/>
          <p:cNvSpPr/>
          <p:nvPr/>
        </p:nvSpPr>
        <p:spPr>
          <a:xfrm>
            <a:off x="1965960" y="25786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трактат об экономике целиком: цены, деньги, процент, торговля.</a:t>
            </a:r>
            <a:endParaRPr lang="en-US" sz="1100" dirty="0"/>
          </a:p>
        </p:txBody>
      </p:sp>
      <p:sp>
        <p:nvSpPr>
          <p:cNvPr id="21" name="fx7_2_4"/>
          <p:cNvSpPr/>
          <p:nvPr/>
        </p:nvSpPr>
        <p:spPr>
          <a:xfrm>
            <a:off x="685800" y="2898648"/>
            <a:ext cx="603504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2" name="fx7_2_5"/>
          <p:cNvSpPr/>
          <p:nvPr/>
        </p:nvSpPr>
        <p:spPr>
          <a:xfrm>
            <a:off x="685800" y="299008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1755</a:t>
            </a:r>
            <a:endParaRPr lang="en-US" sz="2100" dirty="0"/>
          </a:p>
        </p:txBody>
      </p:sp>
      <p:sp>
        <p:nvSpPr>
          <p:cNvPr id="23" name="fx7_2_6"/>
          <p:cNvSpPr/>
          <p:nvPr/>
        </p:nvSpPr>
        <p:spPr>
          <a:xfrm>
            <a:off x="1965960" y="300837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Издан через 21 год после смерти автора</a:t>
            </a:r>
            <a:endParaRPr lang="en-US" sz="1450" dirty="0"/>
          </a:p>
        </p:txBody>
      </p:sp>
      <p:sp>
        <p:nvSpPr>
          <p:cNvPr id="24" name="fx7_2_7"/>
          <p:cNvSpPr/>
          <p:nvPr/>
        </p:nvSpPr>
        <p:spPr>
          <a:xfrm>
            <a:off x="1965960" y="334670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Анонимно, с фальшивым адресом «Лондон» и пометкой «перевод с английского».</a:t>
            </a:r>
            <a:endParaRPr lang="en-US" sz="1100" dirty="0"/>
          </a:p>
        </p:txBody>
      </p:sp>
      <p:sp>
        <p:nvSpPr>
          <p:cNvPr id="25" name="fx7_3_8"/>
          <p:cNvSpPr/>
          <p:nvPr/>
        </p:nvSpPr>
        <p:spPr>
          <a:xfrm>
            <a:off x="685800" y="3666744"/>
            <a:ext cx="603504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6" name="fx7_3_9"/>
          <p:cNvSpPr/>
          <p:nvPr/>
        </p:nvSpPr>
        <p:spPr>
          <a:xfrm>
            <a:off x="685800" y="3758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1776</a:t>
            </a:r>
            <a:endParaRPr lang="en-US" sz="2100" dirty="0"/>
          </a:p>
        </p:txBody>
      </p:sp>
      <p:sp>
        <p:nvSpPr>
          <p:cNvPr id="27" name="fx7_3_10"/>
          <p:cNvSpPr/>
          <p:nvPr/>
        </p:nvSpPr>
        <p:spPr>
          <a:xfrm>
            <a:off x="1965960" y="377647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Адам Смит ссылается на Кантильона</a:t>
            </a:r>
            <a:endParaRPr lang="en-US" sz="1450" dirty="0"/>
          </a:p>
        </p:txBody>
      </p:sp>
      <p:sp>
        <p:nvSpPr>
          <p:cNvPr id="28" name="fx7_3_11"/>
          <p:cNvSpPr/>
          <p:nvPr/>
        </p:nvSpPr>
        <p:spPr>
          <a:xfrm>
            <a:off x="1965960" y="4114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из немногих авторов, которых цитирует «Богатство народов».</a:t>
            </a:r>
            <a:endParaRPr lang="en-US" sz="1100" dirty="0"/>
          </a:p>
        </p:txBody>
      </p:sp>
      <p:sp>
        <p:nvSpPr>
          <p:cNvPr id="29" name="fx7_4_12"/>
          <p:cNvSpPr/>
          <p:nvPr/>
        </p:nvSpPr>
        <p:spPr>
          <a:xfrm>
            <a:off x="685800" y="4434840"/>
            <a:ext cx="603504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0" name="fx7_4_13"/>
          <p:cNvSpPr/>
          <p:nvPr/>
        </p:nvSpPr>
        <p:spPr>
          <a:xfrm>
            <a:off x="685800" y="452628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1881</a:t>
            </a:r>
            <a:endParaRPr lang="en-US" sz="2100" dirty="0"/>
          </a:p>
        </p:txBody>
      </p:sp>
      <p:sp>
        <p:nvSpPr>
          <p:cNvPr id="31" name="fx7_4_14"/>
          <p:cNvSpPr/>
          <p:nvPr/>
        </p:nvSpPr>
        <p:spPr>
          <a:xfrm>
            <a:off x="1965960" y="454456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Джевонс открывает книгу заново</a:t>
            </a:r>
            <a:endParaRPr lang="en-US" sz="1450" dirty="0"/>
          </a:p>
        </p:txBody>
      </p:sp>
      <p:sp>
        <p:nvSpPr>
          <p:cNvPr id="32" name="fx7_4_15"/>
          <p:cNvSpPr/>
          <p:nvPr/>
        </p:nvSpPr>
        <p:spPr>
          <a:xfrm>
            <a:off x="1965960" y="488289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называет её «колыбелью политической экономии».</a:t>
            </a:r>
            <a:endParaRPr lang="en-US" sz="1100" dirty="0"/>
          </a:p>
        </p:txBody>
      </p:sp>
      <p:sp>
        <p:nvSpPr>
          <p:cNvPr id="33" name="fx7_8_16"/>
          <p:cNvSpPr/>
          <p:nvPr/>
        </p:nvSpPr>
        <p:spPr>
          <a:xfrm>
            <a:off x="685800" y="5394960"/>
            <a:ext cx="6126480" cy="804672"/>
          </a:xfrm>
          <a:prstGeom prst="roundRect">
            <a:avLst>
              <a:gd name="adj" fmla="val 9091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4" name="fx7_8_17"/>
          <p:cNvSpPr/>
          <p:nvPr/>
        </p:nvSpPr>
        <p:spPr>
          <a:xfrm>
            <a:off x="685800" y="5541264"/>
            <a:ext cx="50292" cy="51206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5" name="fx7_8_18"/>
          <p:cNvSpPr/>
          <p:nvPr/>
        </p:nvSpPr>
        <p:spPr>
          <a:xfrm>
            <a:off x="941832" y="525780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6" name="fx7_8_19"/>
          <p:cNvSpPr/>
          <p:nvPr/>
        </p:nvSpPr>
        <p:spPr>
          <a:xfrm>
            <a:off x="941832" y="52578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37" name="fx7_8_20"/>
          <p:cNvSpPr/>
          <p:nvPr/>
        </p:nvSpPr>
        <p:spPr>
          <a:xfrm>
            <a:off x="960120" y="557784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Шумпетер назвал «Essai»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«первым систематическим проникновением в область экономики»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А статистическое приложение к книге потеряно.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8" name="!!m-rook">
                <a:extLst>
                  <a:ext uri="{FF2B5EF4-FFF2-40B4-BE49-F238E27FC236}">
                    <a16:creationId xmlns:a16="http://schemas.microsoft.com/office/drawing/2014/main" id="{37FB7957-AE31-F906-2C49-2BCF245E04F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663440" y="1280160"/>
              <a:ext cx="4114800" cy="4114800"/>
            </p:xfrm>
            <a:graphic>
              <a:graphicData uri="http://schemas.microsoft.com/office/drawing/2017/model3d">
                <am3d:model3d r:embed="rIdM3d26">
                  <am3d:spPr>
                    <a:xfrm>
                      <a:off x="0" y="0"/>
                      <a:ext cx="4114800" cy="4114800"/>
                    </a:xfrm>
                    <a:prstGeom prst="rect">
                      <a:avLst/>
                    </a:prstGeom>
                  </am3d:spPr>
                  <am3d:camera>
                    <am3d:pos x="0" y="0" z="7067676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8078" d="1000000"/>
                    <am3d:preTrans dx="-6968465" dy="-12500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612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41148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8" name="!!m-rook">
                <a:extLst>
                  <a:ext uri="{FF2B5EF4-FFF2-40B4-BE49-F238E27FC236}">
                    <a16:creationId xmlns:a16="http://schemas.microsoft.com/office/drawing/2014/main" id="{37FB7957-AE31-F906-2C49-2BCF245E04F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663440" y="1280160"/>
                <a:ext cx="4114800" cy="411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dice">
                <a:extLst>
                  <a:ext uri="{FF2B5EF4-FFF2-40B4-BE49-F238E27FC236}">
                    <a16:creationId xmlns:a16="http://schemas.microsoft.com/office/drawing/2014/main" id="{710BAEDC-A36A-0577-FD79-70099F5D3EA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463040"/>
              <a:ext cx="3840480" cy="3840480"/>
            </p:xfrm>
            <a:graphic>
              <a:graphicData uri="http://schemas.microsoft.com/office/drawing/2017/model3d">
                <am3d:model3d r:embed="rIdM3d27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6415063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47870" d="1000000"/>
                    <am3d:preTrans dx="-1630043" dy="266515" dz="-2192077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336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dice">
                <a:extLst>
                  <a:ext uri="{FF2B5EF4-FFF2-40B4-BE49-F238E27FC236}">
                    <a16:creationId xmlns:a16="http://schemas.microsoft.com/office/drawing/2014/main" id="{710BAEDC-A36A-0577-FD79-70099F5D3EA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463040"/>
                <a:ext cx="3840480" cy="3840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8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5049378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85914BAC-DE10-4720-A199-79F92D00755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460858" y="98755"/>
              <a:ext cx="548640" cy="548640"/>
            </p:xfrm>
            <a:graphic>
              <a:graphicData uri="http://schemas.microsoft.com/office/drawing/2017/model3d">
                <am3d:model3d r:embed="rIdM3d28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6132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85914BAC-DE10-4720-A199-79F92D00755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460858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— ГЛАВНАЯ МЫСЛЬ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16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732" y="233172"/>
            <a:ext cx="5568696" cy="5568696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979054" y="1212494"/>
            <a:ext cx="3610051" cy="3610051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479792" y="713232"/>
            <a:ext cx="4608576" cy="460857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9912" y="3680003"/>
            <a:ext cx="2688336" cy="67208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dice">
                <a:extLst>
                  <a:ext uri="{FF2B5EF4-FFF2-40B4-BE49-F238E27FC236}">
                    <a16:creationId xmlns:a16="http://schemas.microsoft.com/office/drawing/2014/main" id="{71E76775-B682-F49B-DB62-1D5C509DE03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863840" y="1097280"/>
              <a:ext cx="3840480" cy="3840480"/>
            </p:xfrm>
            <a:graphic>
              <a:graphicData uri="http://schemas.microsoft.com/office/drawing/2017/model3d">
                <am3d:model3d r:embed="rIdM3d29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6415063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47870" d="1000000"/>
                    <am3d:preTrans dx="-1630043" dy="266515" dz="-2192077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14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dice">
                <a:extLst>
                  <a:ext uri="{FF2B5EF4-FFF2-40B4-BE49-F238E27FC236}">
                    <a16:creationId xmlns:a16="http://schemas.microsoft.com/office/drawing/2014/main" id="{71E76775-B682-F49B-DB62-1D5C509DE03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63840" y="1097280"/>
                <a:ext cx="3840480" cy="384048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8_9_0"/>
          <p:cNvSpPr/>
          <p:nvPr/>
        </p:nvSpPr>
        <p:spPr>
          <a:xfrm>
            <a:off x="8138160" y="466892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08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Кости: доход по неизвестной цене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1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Экономика — система, а не казна</a:t>
            </a:r>
            <a:endParaRPr lang="en-US" sz="3100" dirty="0"/>
          </a:p>
        </p:txBody>
      </p:sp>
      <p:sp>
        <p:nvSpPr>
          <p:cNvPr id="18" name="fx8_1_1"/>
          <p:cNvSpPr/>
          <p:nvPr/>
        </p:nvSpPr>
        <p:spPr>
          <a:xfrm>
            <a:off x="685800" y="17373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Рынки, цены и деньги регулируют хозяйство сами. Всё общество — три группы:</a:t>
            </a:r>
            <a:endParaRPr lang="en-US" sz="1300" dirty="0"/>
          </a:p>
        </p:txBody>
      </p:sp>
      <p:sp>
        <p:nvSpPr>
          <p:cNvPr id="19" name="fx8_2_2"/>
          <p:cNvSpPr/>
          <p:nvPr/>
        </p:nvSpPr>
        <p:spPr>
          <a:xfrm>
            <a:off x="68580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9A8C86">
                <a:alpha val="30000"/>
              </a:srgbClr>
            </a:solidFill>
            <a:prstDash val="solid"/>
          </a:ln>
        </p:spPr>
      </p:sp>
      <p:sp>
        <p:nvSpPr>
          <p:cNvPr id="20" name="fx8_2_3"/>
          <p:cNvSpPr/>
          <p:nvPr/>
        </p:nvSpPr>
        <p:spPr>
          <a:xfrm>
            <a:off x="868680" y="24231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ЗЕМЛЕВЛАДЕЛЬЦЫ</a:t>
            </a:r>
            <a:endParaRPr lang="en-US" sz="950" dirty="0"/>
          </a:p>
        </p:txBody>
      </p:sp>
      <p:sp>
        <p:nvSpPr>
          <p:cNvPr id="21" name="fx8_2_4"/>
          <p:cNvSpPr/>
          <p:nvPr/>
        </p:nvSpPr>
        <p:spPr>
          <a:xfrm>
            <a:off x="868680" y="2697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Независимы</a:t>
            </a:r>
            <a:endParaRPr lang="en-US" sz="1800" dirty="0"/>
          </a:p>
        </p:txBody>
      </p:sp>
      <p:sp>
        <p:nvSpPr>
          <p:cNvPr id="22" name="fx8_2_5"/>
          <p:cNvSpPr/>
          <p:nvPr/>
        </p:nvSpPr>
        <p:spPr>
          <a:xfrm>
            <a:off x="86868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Их расходы задают спрос всей экономики.</a:t>
            </a:r>
            <a:endParaRPr lang="en-US" sz="1150" dirty="0"/>
          </a:p>
        </p:txBody>
      </p:sp>
      <p:sp>
        <p:nvSpPr>
          <p:cNvPr id="23" name="fx8_3_6"/>
          <p:cNvSpPr/>
          <p:nvPr/>
        </p:nvSpPr>
        <p:spPr>
          <a:xfrm>
            <a:off x="297180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9A8C86">
                <a:alpha val="30000"/>
              </a:srgbClr>
            </a:solidFill>
            <a:prstDash val="solid"/>
          </a:ln>
        </p:spPr>
      </p:sp>
      <p:sp>
        <p:nvSpPr>
          <p:cNvPr id="24" name="fx8_3_7"/>
          <p:cNvSpPr/>
          <p:nvPr/>
        </p:nvSpPr>
        <p:spPr>
          <a:xfrm>
            <a:off x="3154680" y="24231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НАЁМНЫЕ</a:t>
            </a:r>
            <a:endParaRPr lang="en-US" sz="950" dirty="0"/>
          </a:p>
        </p:txBody>
      </p:sp>
      <p:sp>
        <p:nvSpPr>
          <p:cNvPr id="25" name="fx8_3_8"/>
          <p:cNvSpPr/>
          <p:nvPr/>
        </p:nvSpPr>
        <p:spPr>
          <a:xfrm>
            <a:off x="3154680" y="2697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Фиксированный доход</a:t>
            </a:r>
            <a:endParaRPr lang="en-US" sz="1800" dirty="0"/>
          </a:p>
        </p:txBody>
      </p:sp>
      <p:sp>
        <p:nvSpPr>
          <p:cNvPr id="26" name="fx8_3_9"/>
          <p:cNvSpPr/>
          <p:nvPr/>
        </p:nvSpPr>
        <p:spPr>
          <a:xfrm>
            <a:off x="315468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 на жалованье, придворный с пенсией, слуга с зарплатой.</a:t>
            </a:r>
            <a:endParaRPr lang="en-US" sz="1150" dirty="0"/>
          </a:p>
        </p:txBody>
      </p:sp>
      <p:sp>
        <p:nvSpPr>
          <p:cNvPr id="27" name="fx8_4_10"/>
          <p:cNvSpPr/>
          <p:nvPr/>
        </p:nvSpPr>
        <p:spPr>
          <a:xfrm>
            <a:off x="525780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2E1E10"/>
          </a:solidFill>
          <a:ln w="9525">
            <a:solidFill>
              <a:srgbClr val="E3B663">
                <a:alpha val="70000"/>
              </a:srgbClr>
            </a:solidFill>
            <a:prstDash val="solid"/>
          </a:ln>
        </p:spPr>
      </p:sp>
      <p:sp>
        <p:nvSpPr>
          <p:cNvPr id="28" name="fx8_4_11"/>
          <p:cNvSpPr/>
          <p:nvPr/>
        </p:nvSpPr>
        <p:spPr>
          <a:xfrm>
            <a:off x="5440680" y="24231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ПРЕДПРИНИМАТЕЛИ</a:t>
            </a:r>
            <a:endParaRPr lang="en-US" sz="950" dirty="0"/>
          </a:p>
        </p:txBody>
      </p:sp>
      <p:sp>
        <p:nvSpPr>
          <p:cNvPr id="29" name="fx8_4_12"/>
          <p:cNvSpPr/>
          <p:nvPr/>
        </p:nvSpPr>
        <p:spPr>
          <a:xfrm>
            <a:off x="5440680" y="2697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Неизвестный доход</a:t>
            </a:r>
            <a:endParaRPr lang="en-US" sz="1800" dirty="0"/>
          </a:p>
        </p:txBody>
      </p:sp>
      <p:sp>
        <p:nvSpPr>
          <p:cNvPr id="30" name="fx8_4_13"/>
          <p:cNvSpPr/>
          <p:nvPr/>
        </p:nvSpPr>
        <p:spPr>
          <a:xfrm>
            <a:off x="544068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Покупают по известной цене, продают по неизвестной.</a:t>
            </a:r>
            <a:endParaRPr lang="en-US" sz="1150" dirty="0"/>
          </a:p>
        </p:txBody>
      </p:sp>
      <p:sp>
        <p:nvSpPr>
          <p:cNvPr id="31" name="fx8_8_14"/>
          <p:cNvSpPr/>
          <p:nvPr/>
        </p:nvSpPr>
        <p:spPr>
          <a:xfrm>
            <a:off x="685800" y="5166360"/>
            <a:ext cx="6720840" cy="1005840"/>
          </a:xfrm>
          <a:prstGeom prst="roundRect">
            <a:avLst>
              <a:gd name="adj" fmla="val 727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2" name="fx8_8_15"/>
          <p:cNvSpPr/>
          <p:nvPr/>
        </p:nvSpPr>
        <p:spPr>
          <a:xfrm>
            <a:off x="685800" y="5312664"/>
            <a:ext cx="50292" cy="7132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3" name="fx8_8_16"/>
          <p:cNvSpPr/>
          <p:nvPr/>
        </p:nvSpPr>
        <p:spPr>
          <a:xfrm>
            <a:off x="941832" y="5029200"/>
            <a:ext cx="1225296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4" name="fx8_8_17"/>
          <p:cNvSpPr/>
          <p:nvPr/>
        </p:nvSpPr>
        <p:spPr>
          <a:xfrm>
            <a:off x="941832" y="5029200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ПАРАДОКС</a:t>
            </a:r>
            <a:endParaRPr lang="en-US" sz="850" dirty="0"/>
          </a:p>
        </p:txBody>
      </p:sp>
      <p:sp>
        <p:nvSpPr>
          <p:cNvPr id="35" name="fx8_8_18"/>
          <p:cNvSpPr/>
          <p:nvPr/>
        </p:nvSpPr>
        <p:spPr>
          <a:xfrm>
            <a:off x="960120" y="5349240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Парадокс Кантильона: </a:t>
            </a:r>
            <a:pPr algn="l" indent="0" marL="0">
              <a:lnSpc>
                <a:spcPct val="105000"/>
              </a:lnSpc>
              <a:buNone/>
            </a:pPr>
            <a:r>
              <a:rPr lang="en-US" sz="130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генерал на жалованье — наёмный работник, а трубочист и водонос — предприниматели</a:t>
            </a:r>
            <a:pPr algn="l"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Важно лишь, известен ли доход заранее.</a:t>
            </a:r>
            <a:endParaRPr lang="en-US" sz="13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quill">
                <a:extLst>
                  <a:ext uri="{FF2B5EF4-FFF2-40B4-BE49-F238E27FC236}">
                    <a16:creationId xmlns:a16="http://schemas.microsoft.com/office/drawing/2014/main" id="{1DC40023-7999-BEF5-527E-A8263B1B057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5120640" y="1325880"/>
              <a:ext cx="4572000" cy="4572000"/>
            </p:xfrm>
            <a:graphic>
              <a:graphicData uri="http://schemas.microsoft.com/office/drawing/2017/model3d">
                <am3d:model3d r:embed="rIdM3d30">
                  <am3d:spPr>
                    <a:xfrm>
                      <a:off x="0" y="0"/>
                      <a:ext cx="4572000" cy="4572000"/>
                    </a:xfrm>
                    <a:prstGeom prst="rect">
                      <a:avLst/>
                    </a:prstGeom>
                  </am3d:spPr>
                  <am3d:camera>
                    <am3d:pos x="0" y="0" z="7709957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55986" d="1000000"/>
                    <am3d:preTrans dx="551121" dy="-3924055" dz="-1185376"/>
                    <am3d:scale>
                      <am3d:sx n="1000000" d="1000000"/>
                      <am3d:sy n="1000000" d="1000000"/>
                      <am3d:sz n="1000000" d="1000000"/>
                    </am3d:scale>
                    <am3d:rot ax="1200000" ay="-6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4572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quill">
                <a:extLst>
                  <a:ext uri="{FF2B5EF4-FFF2-40B4-BE49-F238E27FC236}">
                    <a16:creationId xmlns:a16="http://schemas.microsoft.com/office/drawing/2014/main" id="{1DC40023-7999-BEF5-527E-A8263B1B057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5120640" y="1325880"/>
                <a:ext cx="4572000" cy="45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scales">
                <a:extLst>
                  <a:ext uri="{FF2B5EF4-FFF2-40B4-BE49-F238E27FC236}">
                    <a16:creationId xmlns:a16="http://schemas.microsoft.com/office/drawing/2014/main" id="{C839E49A-3C06-3FA6-01A7-F6CCD776B92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4389120" cy="4389120"/>
            </p:xfrm>
            <a:graphic>
              <a:graphicData uri="http://schemas.microsoft.com/office/drawing/2017/model3d">
                <am3d:model3d r:embed="rIdM3d31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109883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00697" d="1000000"/>
                    <am3d:preTrans dx="0" dy="-70281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372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scales">
                <a:extLst>
                  <a:ext uri="{FF2B5EF4-FFF2-40B4-BE49-F238E27FC236}">
                    <a16:creationId xmlns:a16="http://schemas.microsoft.com/office/drawing/2014/main" id="{C839E49A-3C06-3FA6-01A7-F6CCD776B92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9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5770717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7B1FC48D-2562-AAC4-6EEF-A6442D96278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182197" y="98755"/>
              <a:ext cx="548640" cy="548640"/>
            </p:xfrm>
            <a:graphic>
              <a:graphicData uri="http://schemas.microsoft.com/office/drawing/2017/model3d">
                <am3d:model3d r:embed="rIdM3d32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7008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7B1FC48D-2562-AAC4-6EEF-A6442D96278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182197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— ПРЕДПРИНИМАТЕЛЬ ПО КАНТИЛЬОНУ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16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-118872"/>
            <a:ext cx="6364224" cy="6364224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766914" y="1000354"/>
            <a:ext cx="4125773" cy="412577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196328" y="429768"/>
            <a:ext cx="5266944" cy="52669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064" y="4314139"/>
            <a:ext cx="2633472" cy="65836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scales">
                <a:extLst>
                  <a:ext uri="{FF2B5EF4-FFF2-40B4-BE49-F238E27FC236}">
                    <a16:creationId xmlns:a16="http://schemas.microsoft.com/office/drawing/2014/main" id="{1F067611-CC07-18E3-24F7-147062A59D6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635240" y="868680"/>
              <a:ext cx="4389120" cy="4389120"/>
            </p:xfrm>
            <a:graphic>
              <a:graphicData uri="http://schemas.microsoft.com/office/drawing/2017/model3d">
                <am3d:model3d r:embed="rIdM3d33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109883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00697" d="1000000"/>
                    <am3d:preTrans dx="0" dy="-70281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10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scales">
                <a:extLst>
                  <a:ext uri="{FF2B5EF4-FFF2-40B4-BE49-F238E27FC236}">
                    <a16:creationId xmlns:a16="http://schemas.microsoft.com/office/drawing/2014/main" id="{1F067611-CC07-18E3-24F7-147062A59D6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635240" y="868680"/>
                <a:ext cx="4389120" cy="43891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9_9_0"/>
          <p:cNvSpPr/>
          <p:nvPr/>
        </p:nvSpPr>
        <p:spPr>
          <a:xfrm>
            <a:off x="8183880" y="495056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09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Известная цена против неизвестной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1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Купить по известной цене, продать — по неизвестной</a:t>
            </a:r>
            <a:endParaRPr lang="en-US" sz="3100" dirty="0"/>
          </a:p>
        </p:txBody>
      </p:sp>
      <p:sp>
        <p:nvSpPr>
          <p:cNvPr id="18" name="fx9_1_1"/>
          <p:cNvSpPr/>
          <p:nvPr/>
        </p:nvSpPr>
        <p:spPr>
          <a:xfrm>
            <a:off x="685800" y="217627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35000"/>
              </a:srgbClr>
            </a:solidFill>
            <a:prstDash val="solid"/>
          </a:ln>
        </p:spPr>
      </p:sp>
      <p:sp>
        <p:nvSpPr>
          <p:cNvPr id="19" name="fx9_1_2"/>
          <p:cNvSpPr/>
          <p:nvPr/>
        </p:nvSpPr>
        <p:spPr>
          <a:xfrm>
            <a:off x="868680" y="23042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СЕГОДНЯ</a:t>
            </a:r>
            <a:endParaRPr lang="en-US" sz="950" dirty="0"/>
          </a:p>
        </p:txBody>
      </p:sp>
      <p:sp>
        <p:nvSpPr>
          <p:cNvPr id="20" name="fx9_1_3"/>
          <p:cNvSpPr/>
          <p:nvPr/>
        </p:nvSpPr>
        <p:spPr>
          <a:xfrm>
            <a:off x="86868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Известная цена</a:t>
            </a:r>
            <a:endParaRPr lang="en-US" sz="1350" dirty="0"/>
          </a:p>
        </p:txBody>
      </p:sp>
      <p:sp>
        <p:nvSpPr>
          <p:cNvPr id="21" name="fx9_1_4"/>
          <p:cNvSpPr/>
          <p:nvPr/>
        </p:nvSpPr>
        <p:spPr>
          <a:xfrm>
            <a:off x="868680" y="2944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платит за сырьё, товар, труд</a:t>
            </a:r>
            <a:endParaRPr lang="en-US" sz="1050" dirty="0"/>
          </a:p>
        </p:txBody>
      </p:sp>
      <p:sp>
        <p:nvSpPr>
          <p:cNvPr id="22" name="fx9_1_5"/>
          <p:cNvSpPr/>
          <p:nvPr/>
        </p:nvSpPr>
        <p:spPr>
          <a:xfrm>
            <a:off x="2743200" y="252374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fx9_2_6"/>
          <p:cNvSpPr/>
          <p:nvPr/>
        </p:nvSpPr>
        <p:spPr>
          <a:xfrm>
            <a:off x="3017520" y="217627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8866A">
                <a:alpha val="65000"/>
              </a:srgbClr>
            </a:solidFill>
            <a:prstDash val="solid"/>
          </a:ln>
        </p:spPr>
      </p:sp>
      <p:sp>
        <p:nvSpPr>
          <p:cNvPr id="24" name="fx9_2_7"/>
          <p:cNvSpPr/>
          <p:nvPr/>
        </p:nvSpPr>
        <p:spPr>
          <a:xfrm>
            <a:off x="3200400" y="23042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8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МЕЖДУ НИМИ</a:t>
            </a:r>
            <a:endParaRPr lang="en-US" sz="950" dirty="0"/>
          </a:p>
        </p:txBody>
      </p:sp>
      <p:sp>
        <p:nvSpPr>
          <p:cNvPr id="25" name="fx9_2_8"/>
          <p:cNvSpPr/>
          <p:nvPr/>
        </p:nvSpPr>
        <p:spPr>
          <a:xfrm>
            <a:off x="320040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Неопределённость</a:t>
            </a:r>
            <a:endParaRPr lang="en-US" sz="1350" dirty="0"/>
          </a:p>
        </p:txBody>
      </p:sp>
      <p:sp>
        <p:nvSpPr>
          <p:cNvPr id="26" name="fx9_2_9"/>
          <p:cNvSpPr/>
          <p:nvPr/>
        </p:nvSpPr>
        <p:spPr>
          <a:xfrm>
            <a:off x="3200400" y="2944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спрос, клиенты, конкуренты</a:t>
            </a:r>
            <a:endParaRPr lang="en-US" sz="1050" dirty="0"/>
          </a:p>
        </p:txBody>
      </p:sp>
      <p:sp>
        <p:nvSpPr>
          <p:cNvPr id="27" name="fx9_2_10"/>
          <p:cNvSpPr/>
          <p:nvPr/>
        </p:nvSpPr>
        <p:spPr>
          <a:xfrm>
            <a:off x="5074920" y="252374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fx9_3_11"/>
          <p:cNvSpPr/>
          <p:nvPr/>
        </p:nvSpPr>
        <p:spPr>
          <a:xfrm>
            <a:off x="5349240" y="217627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35000"/>
              </a:srgbClr>
            </a:solidFill>
            <a:prstDash val="solid"/>
          </a:ln>
        </p:spPr>
      </p:sp>
      <p:sp>
        <p:nvSpPr>
          <p:cNvPr id="29" name="fx9_3_12"/>
          <p:cNvSpPr/>
          <p:nvPr/>
        </p:nvSpPr>
        <p:spPr>
          <a:xfrm>
            <a:off x="5532120" y="23042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ЗАВТРА</a:t>
            </a:r>
            <a:endParaRPr lang="en-US" sz="950" dirty="0"/>
          </a:p>
        </p:txBody>
      </p:sp>
      <p:sp>
        <p:nvSpPr>
          <p:cNvPr id="30" name="fx9_3_13"/>
          <p:cNvSpPr/>
          <p:nvPr/>
        </p:nvSpPr>
        <p:spPr>
          <a:xfrm>
            <a:off x="553212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Неизвестная цена</a:t>
            </a:r>
            <a:endParaRPr lang="en-US" sz="1350" dirty="0"/>
          </a:p>
        </p:txBody>
      </p:sp>
      <p:sp>
        <p:nvSpPr>
          <p:cNvPr id="31" name="fx9_3_14"/>
          <p:cNvSpPr/>
          <p:nvPr/>
        </p:nvSpPr>
        <p:spPr>
          <a:xfrm>
            <a:off x="5532120" y="2944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 — или банкротство</a:t>
            </a:r>
            <a:endParaRPr lang="en-US" sz="1050" dirty="0"/>
          </a:p>
        </p:txBody>
      </p:sp>
      <p:sp>
        <p:nvSpPr>
          <p:cNvPr id="32" name="fx9_4_15"/>
          <p:cNvSpPr/>
          <p:nvPr/>
        </p:nvSpPr>
        <p:spPr>
          <a:xfrm>
            <a:off x="685800" y="3584448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ЖИВЁТ «В НЕОПРЕДЕЛЁННОСТИ» — ПРИМЕРЫ ИЗ КНИГИ</a:t>
            </a:r>
            <a:endParaRPr lang="en-US" sz="950" dirty="0"/>
          </a:p>
        </p:txBody>
      </p:sp>
      <p:sp>
        <p:nvSpPr>
          <p:cNvPr id="33" name="fx9_4_16"/>
          <p:cNvSpPr/>
          <p:nvPr/>
        </p:nvSpPr>
        <p:spPr>
          <a:xfrm>
            <a:off x="685800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34" name="fx9_4_17"/>
          <p:cNvSpPr/>
          <p:nvPr/>
        </p:nvSpPr>
        <p:spPr>
          <a:xfrm>
            <a:off x="685800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фермер</a:t>
            </a:r>
            <a:endParaRPr lang="en-US" sz="1100" dirty="0"/>
          </a:p>
        </p:txBody>
      </p:sp>
      <p:sp>
        <p:nvSpPr>
          <p:cNvPr id="35" name="fx9_4_18"/>
          <p:cNvSpPr/>
          <p:nvPr/>
        </p:nvSpPr>
        <p:spPr>
          <a:xfrm>
            <a:off x="1792224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36" name="fx9_4_19"/>
          <p:cNvSpPr/>
          <p:nvPr/>
        </p:nvSpPr>
        <p:spPr>
          <a:xfrm>
            <a:off x="1792224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оптовик</a:t>
            </a:r>
            <a:endParaRPr lang="en-US" sz="1100" dirty="0"/>
          </a:p>
        </p:txBody>
      </p:sp>
      <p:sp>
        <p:nvSpPr>
          <p:cNvPr id="37" name="fx9_4_20"/>
          <p:cNvSpPr/>
          <p:nvPr/>
        </p:nvSpPr>
        <p:spPr>
          <a:xfrm>
            <a:off x="2898648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38" name="fx9_4_21"/>
          <p:cNvSpPr/>
          <p:nvPr/>
        </p:nvSpPr>
        <p:spPr>
          <a:xfrm>
            <a:off x="2898648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пекарь</a:t>
            </a:r>
            <a:endParaRPr lang="en-US" sz="1100" dirty="0"/>
          </a:p>
        </p:txBody>
      </p:sp>
      <p:sp>
        <p:nvSpPr>
          <p:cNvPr id="39" name="fx9_4_22"/>
          <p:cNvSpPr/>
          <p:nvPr/>
        </p:nvSpPr>
        <p:spPr>
          <a:xfrm>
            <a:off x="4005072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0" name="fx9_4_23"/>
          <p:cNvSpPr/>
          <p:nvPr/>
        </p:nvSpPr>
        <p:spPr>
          <a:xfrm>
            <a:off x="4005072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мясник</a:t>
            </a:r>
            <a:endParaRPr lang="en-US" sz="1100" dirty="0"/>
          </a:p>
        </p:txBody>
      </p:sp>
      <p:sp>
        <p:nvSpPr>
          <p:cNvPr id="41" name="fx9_4_24"/>
          <p:cNvSpPr/>
          <p:nvPr/>
        </p:nvSpPr>
        <p:spPr>
          <a:xfrm>
            <a:off x="5111496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2" name="fx9_4_25"/>
          <p:cNvSpPr/>
          <p:nvPr/>
        </p:nvSpPr>
        <p:spPr>
          <a:xfrm>
            <a:off x="5111496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трактирщик</a:t>
            </a:r>
            <a:endParaRPr lang="en-US" sz="1100" dirty="0"/>
          </a:p>
        </p:txBody>
      </p:sp>
      <p:sp>
        <p:nvSpPr>
          <p:cNvPr id="43" name="fx9_4_26"/>
          <p:cNvSpPr/>
          <p:nvPr/>
        </p:nvSpPr>
        <p:spPr>
          <a:xfrm>
            <a:off x="6217920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4" name="fx9_4_27"/>
          <p:cNvSpPr/>
          <p:nvPr/>
        </p:nvSpPr>
        <p:spPr>
          <a:xfrm>
            <a:off x="6217920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купец</a:t>
            </a:r>
            <a:endParaRPr lang="en-US" sz="1100" dirty="0"/>
          </a:p>
        </p:txBody>
      </p:sp>
      <p:sp>
        <p:nvSpPr>
          <p:cNvPr id="45" name="fx9_5_28"/>
          <p:cNvSpPr/>
          <p:nvPr/>
        </p:nvSpPr>
        <p:spPr>
          <a:xfrm>
            <a:off x="685800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6" name="fx9_5_29"/>
          <p:cNvSpPr/>
          <p:nvPr/>
        </p:nvSpPr>
        <p:spPr>
          <a:xfrm>
            <a:off x="685800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трубочист</a:t>
            </a:r>
            <a:endParaRPr lang="en-US" sz="1100" dirty="0"/>
          </a:p>
        </p:txBody>
      </p:sp>
      <p:sp>
        <p:nvSpPr>
          <p:cNvPr id="47" name="fx9_5_30"/>
          <p:cNvSpPr/>
          <p:nvPr/>
        </p:nvSpPr>
        <p:spPr>
          <a:xfrm>
            <a:off x="1792224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8" name="fx9_5_31"/>
          <p:cNvSpPr/>
          <p:nvPr/>
        </p:nvSpPr>
        <p:spPr>
          <a:xfrm>
            <a:off x="1792224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водонос</a:t>
            </a:r>
            <a:endParaRPr lang="en-US" sz="1100" dirty="0"/>
          </a:p>
        </p:txBody>
      </p:sp>
      <p:sp>
        <p:nvSpPr>
          <p:cNvPr id="49" name="fx9_5_32"/>
          <p:cNvSpPr/>
          <p:nvPr/>
        </p:nvSpPr>
        <p:spPr>
          <a:xfrm>
            <a:off x="2898648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0" name="fx9_5_33"/>
          <p:cNvSpPr/>
          <p:nvPr/>
        </p:nvSpPr>
        <p:spPr>
          <a:xfrm>
            <a:off x="2898648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швея</a:t>
            </a:r>
            <a:endParaRPr lang="en-US" sz="1100" dirty="0"/>
          </a:p>
        </p:txBody>
      </p:sp>
      <p:sp>
        <p:nvSpPr>
          <p:cNvPr id="51" name="fx9_5_34"/>
          <p:cNvSpPr/>
          <p:nvPr/>
        </p:nvSpPr>
        <p:spPr>
          <a:xfrm>
            <a:off x="4005072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2" name="fx9_5_35"/>
          <p:cNvSpPr/>
          <p:nvPr/>
        </p:nvSpPr>
        <p:spPr>
          <a:xfrm>
            <a:off x="4005072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художник</a:t>
            </a:r>
            <a:endParaRPr lang="en-US" sz="1100" dirty="0"/>
          </a:p>
        </p:txBody>
      </p:sp>
      <p:sp>
        <p:nvSpPr>
          <p:cNvPr id="53" name="fx9_5_36"/>
          <p:cNvSpPr/>
          <p:nvPr/>
        </p:nvSpPr>
        <p:spPr>
          <a:xfrm>
            <a:off x="5111496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4" name="fx9_5_37"/>
          <p:cNvSpPr/>
          <p:nvPr/>
        </p:nvSpPr>
        <p:spPr>
          <a:xfrm>
            <a:off x="5111496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врач</a:t>
            </a:r>
            <a:endParaRPr lang="en-US" sz="1100" dirty="0"/>
          </a:p>
        </p:txBody>
      </p:sp>
      <p:sp>
        <p:nvSpPr>
          <p:cNvPr id="55" name="fx9_5_38"/>
          <p:cNvSpPr/>
          <p:nvPr/>
        </p:nvSpPr>
        <p:spPr>
          <a:xfrm>
            <a:off x="6217920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6" name="fx9_5_39"/>
          <p:cNvSpPr/>
          <p:nvPr/>
        </p:nvSpPr>
        <p:spPr>
          <a:xfrm>
            <a:off x="6217920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адвокат</a:t>
            </a:r>
            <a:endParaRPr lang="en-US" sz="1100" dirty="0"/>
          </a:p>
        </p:txBody>
      </p:sp>
      <p:sp>
        <p:nvSpPr>
          <p:cNvPr id="57" name="fx9_8_40"/>
          <p:cNvSpPr/>
          <p:nvPr/>
        </p:nvSpPr>
        <p:spPr>
          <a:xfrm>
            <a:off x="685800" y="5166360"/>
            <a:ext cx="6675120" cy="1024128"/>
          </a:xfrm>
          <a:prstGeom prst="roundRect">
            <a:avLst>
              <a:gd name="adj" fmla="val 714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58" name="fx9_8_41"/>
          <p:cNvSpPr/>
          <p:nvPr/>
        </p:nvSpPr>
        <p:spPr>
          <a:xfrm>
            <a:off x="685800" y="5312664"/>
            <a:ext cx="50292" cy="73152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59" name="fx9_8_42"/>
          <p:cNvSpPr/>
          <p:nvPr/>
        </p:nvSpPr>
        <p:spPr>
          <a:xfrm>
            <a:off x="941832" y="5029200"/>
            <a:ext cx="2761488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60" name="fx9_8_43"/>
          <p:cNvSpPr/>
          <p:nvPr/>
        </p:nvSpPr>
        <p:spPr>
          <a:xfrm>
            <a:off x="941832" y="5029200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ЦИТАТА, КОТОРАЯ УДИВЛЯЕТ</a:t>
            </a:r>
            <a:endParaRPr lang="en-US" sz="850" dirty="0"/>
          </a:p>
        </p:txBody>
      </p:sp>
      <p:sp>
        <p:nvSpPr>
          <p:cNvPr id="61" name="fx9_8_44"/>
          <p:cNvSpPr/>
          <p:nvPr/>
        </p:nvSpPr>
        <p:spPr>
          <a:xfrm>
            <a:off x="960120" y="5349240"/>
            <a:ext cx="6217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«…даже нищие и грабители — предприниматели этого класса».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«Essai», ч. I, гл. XIII</a:t>
            </a:r>
            <a:endParaRPr lang="en-US" sz="16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2" name="!!m-dice">
                <a:extLst>
                  <a:ext uri="{FF2B5EF4-FFF2-40B4-BE49-F238E27FC236}">
                    <a16:creationId xmlns:a16="http://schemas.microsoft.com/office/drawing/2014/main" id="{2E78879A-6DE6-15AB-3B2C-23F303251D7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389120" y="1463040"/>
              <a:ext cx="3840480" cy="3840480"/>
            </p:xfrm>
            <a:graphic>
              <a:graphicData uri="http://schemas.microsoft.com/office/drawing/2017/model3d">
                <am3d:model3d r:embed="rIdM3d34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6415063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47870" d="1000000"/>
                    <am3d:preTrans dx="-1630043" dy="266515" dz="-2192077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6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2" name="!!m-dice">
                <a:extLst>
                  <a:ext uri="{FF2B5EF4-FFF2-40B4-BE49-F238E27FC236}">
                    <a16:creationId xmlns:a16="http://schemas.microsoft.com/office/drawing/2014/main" id="{2E78879A-6DE6-15AB-3B2C-23F303251D7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389120" y="1463040"/>
                <a:ext cx="3840480" cy="384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3" name="!!m-bread">
                <a:extLst>
                  <a:ext uri="{FF2B5EF4-FFF2-40B4-BE49-F238E27FC236}">
                    <a16:creationId xmlns:a16="http://schemas.microsoft.com/office/drawing/2014/main" id="{04E0429B-EE34-A9BA-EEDE-E104F1CC73B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508760"/>
              <a:ext cx="4206240" cy="4206240"/>
            </p:xfrm>
            <a:graphic>
              <a:graphicData uri="http://schemas.microsoft.com/office/drawing/2017/model3d">
                <am3d:model3d r:embed="rIdM3d35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6854675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1250" d="1000000"/>
                    <am3d:preTrans dx="-1406250" dy="97984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440000" ay="36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3" name="!!m-bread">
                <a:extLst>
                  <a:ext uri="{FF2B5EF4-FFF2-40B4-BE49-F238E27FC236}">
                    <a16:creationId xmlns:a16="http://schemas.microsoft.com/office/drawing/2014/main" id="{04E0429B-EE34-A9BA-EEDE-E104F1CC73B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508760"/>
                <a:ext cx="4206240" cy="4206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4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8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3" dur="7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4" dur="7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8" dur="7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9" dur="7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3" dur="70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4" dur="70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0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6492057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C3CF7894-BBB3-3850-CE8B-EADC98FC2A7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903537" y="98755"/>
              <a:ext cx="548640" cy="548640"/>
            </p:xfrm>
            <a:graphic>
              <a:graphicData uri="http://schemas.microsoft.com/office/drawing/2017/model3d">
                <am3d:model3d r:embed="rIdM3d36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7884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C3CF7894-BBB3-3850-CE8B-EADC98FC2A7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903537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— ЗАЧЕМ НУЖНЫ ПРЕДПРИНИМАТЕЛИ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836" y="196596"/>
            <a:ext cx="6099048" cy="6099048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761427" y="1269187"/>
            <a:ext cx="3953866" cy="3953866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214616" y="722376"/>
            <a:ext cx="5047488" cy="5047488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864" y="3750869"/>
            <a:ext cx="3364992" cy="84124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bread">
                <a:extLst>
                  <a:ext uri="{FF2B5EF4-FFF2-40B4-BE49-F238E27FC236}">
                    <a16:creationId xmlns:a16="http://schemas.microsoft.com/office/drawing/2014/main" id="{57796A55-D72B-AD61-FE5D-83EAAF3FDB1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635240" y="1143000"/>
              <a:ext cx="4206240" cy="4206240"/>
            </p:xfrm>
            <a:graphic>
              <a:graphicData uri="http://schemas.microsoft.com/office/drawing/2017/model3d">
                <am3d:model3d r:embed="rIdM3d37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6854675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1250" d="1000000"/>
                    <am3d:preTrans dx="-1406250" dy="97984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440000" ay="-12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bread">
                <a:extLst>
                  <a:ext uri="{FF2B5EF4-FFF2-40B4-BE49-F238E27FC236}">
                    <a16:creationId xmlns:a16="http://schemas.microsoft.com/office/drawing/2014/main" id="{57796A55-D72B-AD61-FE5D-83EAAF3FDB1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635240" y="1143000"/>
                <a:ext cx="4206240" cy="420624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10_9_0"/>
          <p:cNvSpPr/>
          <p:nvPr/>
        </p:nvSpPr>
        <p:spPr>
          <a:xfrm>
            <a:off x="7818120" y="5054803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10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Хлеб пекаря: мука по известной цене, продажи — по неизвестной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Риск — это и есть их работа</a:t>
            </a:r>
            <a:endParaRPr lang="en-US" sz="3600" dirty="0"/>
          </a:p>
        </p:txBody>
      </p:sp>
      <p:sp>
        <p:nvSpPr>
          <p:cNvPr id="18" name="fx10_1_1"/>
          <p:cNvSpPr/>
          <p:nvPr/>
        </p:nvSpPr>
        <p:spPr>
          <a:xfrm>
            <a:off x="685800" y="2011680"/>
            <a:ext cx="2148840" cy="2240280"/>
          </a:xfrm>
          <a:prstGeom prst="roundRect">
            <a:avLst>
              <a:gd name="adj" fmla="val 34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9" name="fx10_1_2"/>
          <p:cNvSpPr/>
          <p:nvPr/>
        </p:nvSpPr>
        <p:spPr>
          <a:xfrm>
            <a:off x="685800" y="2011680"/>
            <a:ext cx="2148840" cy="4572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0" name="fx10_1_3"/>
          <p:cNvSpPr/>
          <p:nvPr/>
        </p:nvSpPr>
        <p:spPr>
          <a:xfrm>
            <a:off x="850392" y="215798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21" name="fx10_1_4"/>
          <p:cNvSpPr/>
          <p:nvPr/>
        </p:nvSpPr>
        <p:spPr>
          <a:xfrm>
            <a:off x="850392" y="26517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Несут неизвестный спрос</a:t>
            </a:r>
            <a:endParaRPr lang="en-US" sz="1300" dirty="0"/>
          </a:p>
        </p:txBody>
      </p:sp>
      <p:sp>
        <p:nvSpPr>
          <p:cNvPr id="22" name="fx10_1_5"/>
          <p:cNvSpPr/>
          <p:nvPr/>
        </p:nvSpPr>
        <p:spPr>
          <a:xfrm>
            <a:off x="850392" y="3172968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Пекарь не знает, сколько хлеба купят завтра и не уйдут ли клиенты к соседу.</a:t>
            </a:r>
            <a:endParaRPr lang="en-US" sz="1050" dirty="0"/>
          </a:p>
        </p:txBody>
      </p:sp>
      <p:sp>
        <p:nvSpPr>
          <p:cNvPr id="23" name="fx10_2_6"/>
          <p:cNvSpPr/>
          <p:nvPr/>
        </p:nvSpPr>
        <p:spPr>
          <a:xfrm>
            <a:off x="2971800" y="2011680"/>
            <a:ext cx="2148840" cy="2240280"/>
          </a:xfrm>
          <a:prstGeom prst="roundRect">
            <a:avLst>
              <a:gd name="adj" fmla="val 34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4" name="fx10_2_7"/>
          <p:cNvSpPr/>
          <p:nvPr/>
        </p:nvSpPr>
        <p:spPr>
          <a:xfrm>
            <a:off x="2971800" y="2011680"/>
            <a:ext cx="2148840" cy="4572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5" name="fx10_2_8"/>
          <p:cNvSpPr/>
          <p:nvPr/>
        </p:nvSpPr>
        <p:spPr>
          <a:xfrm>
            <a:off x="3136392" y="215798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26" name="fx10_2_9"/>
          <p:cNvSpPr/>
          <p:nvPr/>
        </p:nvSpPr>
        <p:spPr>
          <a:xfrm>
            <a:off x="3136392" y="26517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Подстраивают рынок</a:t>
            </a:r>
            <a:endParaRPr lang="en-US" sz="1300" dirty="0"/>
          </a:p>
        </p:txBody>
      </p:sp>
      <p:sp>
        <p:nvSpPr>
          <p:cNvPr id="27" name="fx10_2_10"/>
          <p:cNvSpPr/>
          <p:nvPr/>
        </p:nvSpPr>
        <p:spPr>
          <a:xfrm>
            <a:off x="3136392" y="3172968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Пекарей слишком много — часть разоряется; мало — приходят новые. Никто не командует.</a:t>
            </a:r>
            <a:endParaRPr lang="en-US" sz="1050" dirty="0"/>
          </a:p>
        </p:txBody>
      </p:sp>
      <p:sp>
        <p:nvSpPr>
          <p:cNvPr id="28" name="fx10_3_11"/>
          <p:cNvSpPr/>
          <p:nvPr/>
        </p:nvSpPr>
        <p:spPr>
          <a:xfrm>
            <a:off x="5257800" y="2011680"/>
            <a:ext cx="2148840" cy="2240280"/>
          </a:xfrm>
          <a:prstGeom prst="roundRect">
            <a:avLst>
              <a:gd name="adj" fmla="val 34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9" name="fx10_3_12"/>
          <p:cNvSpPr/>
          <p:nvPr/>
        </p:nvSpPr>
        <p:spPr>
          <a:xfrm>
            <a:off x="5257800" y="2011680"/>
            <a:ext cx="2148840" cy="4572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0" name="fx10_3_13"/>
          <p:cNvSpPr/>
          <p:nvPr/>
        </p:nvSpPr>
        <p:spPr>
          <a:xfrm>
            <a:off x="5422392" y="215798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31" name="fx10_3_14"/>
          <p:cNvSpPr/>
          <p:nvPr/>
        </p:nvSpPr>
        <p:spPr>
          <a:xfrm>
            <a:off x="5422392" y="26517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Связывают рынки</a:t>
            </a:r>
            <a:endParaRPr lang="en-US" sz="1300" dirty="0"/>
          </a:p>
        </p:txBody>
      </p:sp>
      <p:sp>
        <p:nvSpPr>
          <p:cNvPr id="32" name="fx10_3_15"/>
          <p:cNvSpPr/>
          <p:nvPr/>
        </p:nvSpPr>
        <p:spPr>
          <a:xfrm>
            <a:off x="5422392" y="3172968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Купец покупает, где дешевле, и везёт, где дороже — цены выравниваются (арбитраж).</a:t>
            </a:r>
            <a:endParaRPr lang="en-US" sz="1050" dirty="0"/>
          </a:p>
        </p:txBody>
      </p:sp>
      <p:sp>
        <p:nvSpPr>
          <p:cNvPr id="33" name="fx10_4_16"/>
          <p:cNvSpPr/>
          <p:nvPr/>
        </p:nvSpPr>
        <p:spPr>
          <a:xfrm>
            <a:off x="685800" y="4434840"/>
            <a:ext cx="6720840" cy="566928"/>
          </a:xfrm>
          <a:prstGeom prst="roundRect">
            <a:avLst>
              <a:gd name="adj" fmla="val 12903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8866A">
                <a:alpha val="50000"/>
              </a:srgbClr>
            </a:solidFill>
            <a:prstDash val="solid"/>
          </a:ln>
        </p:spPr>
      </p:sp>
      <p:sp>
        <p:nvSpPr>
          <p:cNvPr id="34" name="fx10_4_17"/>
          <p:cNvSpPr/>
          <p:nvPr/>
        </p:nvSpPr>
        <p:spPr>
          <a:xfrm>
            <a:off x="914400" y="4434840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плата за взятую неопределённость.  </a:t>
            </a:r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8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Убыток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её цена.</a:t>
            </a:r>
            <a:endParaRPr lang="en-US" sz="1250" dirty="0"/>
          </a:p>
        </p:txBody>
      </p:sp>
      <p:sp>
        <p:nvSpPr>
          <p:cNvPr id="35" name="fx10_8_18"/>
          <p:cNvSpPr/>
          <p:nvPr/>
        </p:nvSpPr>
        <p:spPr>
          <a:xfrm>
            <a:off x="685800" y="5303520"/>
            <a:ext cx="6720840" cy="886968"/>
          </a:xfrm>
          <a:prstGeom prst="roundRect">
            <a:avLst>
              <a:gd name="adj" fmla="val 8247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6" name="fx10_8_19"/>
          <p:cNvSpPr/>
          <p:nvPr/>
        </p:nvSpPr>
        <p:spPr>
          <a:xfrm>
            <a:off x="685800" y="5449824"/>
            <a:ext cx="50292" cy="59436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7" name="fx10_8_20"/>
          <p:cNvSpPr/>
          <p:nvPr/>
        </p:nvSpPr>
        <p:spPr>
          <a:xfrm>
            <a:off x="941832" y="5166360"/>
            <a:ext cx="1609344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8" name="fx10_8_21"/>
          <p:cNvSpPr/>
          <p:nvPr/>
        </p:nvSpPr>
        <p:spPr>
          <a:xfrm>
            <a:off x="941832" y="5166360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ЧЕСТНЫЙ ФАКТ</a:t>
            </a:r>
            <a:endParaRPr lang="en-US" sz="850" dirty="0"/>
          </a:p>
        </p:txBody>
      </p:sp>
      <p:sp>
        <p:nvSpPr>
          <p:cNvPr id="39" name="fx10_8_22"/>
          <p:cNvSpPr/>
          <p:nvPr/>
        </p:nvSpPr>
        <p:spPr>
          <a:xfrm>
            <a:off x="960120" y="5486400"/>
            <a:ext cx="62636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«Всё это порождает такую неопределённость, что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каждый день видишь, как кто-то из них становится банкротом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». — «Essai», ч. I, гл. XIII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scales">
                <a:extLst>
                  <a:ext uri="{FF2B5EF4-FFF2-40B4-BE49-F238E27FC236}">
                    <a16:creationId xmlns:a16="http://schemas.microsoft.com/office/drawing/2014/main" id="{D7DFE3C7-C227-3959-DBA2-5AD8C5518B4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937760" y="1234440"/>
              <a:ext cx="4389120" cy="4389120"/>
            </p:xfrm>
            <a:graphic>
              <a:graphicData uri="http://schemas.microsoft.com/office/drawing/2017/model3d">
                <am3d:model3d r:embed="rIdM3d38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109883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00697" d="1000000"/>
                    <am3d:preTrans dx="0" dy="-70281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588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scales">
                <a:extLst>
                  <a:ext uri="{FF2B5EF4-FFF2-40B4-BE49-F238E27FC236}">
                    <a16:creationId xmlns:a16="http://schemas.microsoft.com/office/drawing/2014/main" id="{D7DFE3C7-C227-3959-DBA2-5AD8C5518B4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937760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!!m-ripple">
                <a:extLst>
                  <a:ext uri="{FF2B5EF4-FFF2-40B4-BE49-F238E27FC236}">
                    <a16:creationId xmlns:a16="http://schemas.microsoft.com/office/drawing/2014/main" id="{1D799EC4-9A0A-92CE-BD8E-07FDB1664E7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371600"/>
              <a:ext cx="4206240" cy="4206240"/>
            </p:xfrm>
            <a:graphic>
              <a:graphicData uri="http://schemas.microsoft.com/office/drawing/2017/model3d">
                <am3d:model3d r:embed="rIdM3d39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6925985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5294" d="1000000"/>
                    <am3d:preTrans dx="0" dy="-1558459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60000" ay="42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!!m-ripple">
                <a:extLst>
                  <a:ext uri="{FF2B5EF4-FFF2-40B4-BE49-F238E27FC236}">
                    <a16:creationId xmlns:a16="http://schemas.microsoft.com/office/drawing/2014/main" id="{1D799EC4-9A0A-92CE-BD8E-07FDB1664E7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371600"/>
                <a:ext cx="4206240" cy="4206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1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7213397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125583AA-71F4-D095-59C0-5E18035892A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624877" y="98755"/>
              <a:ext cx="548640" cy="548640"/>
            </p:xfrm>
            <a:graphic>
              <a:graphicData uri="http://schemas.microsoft.com/office/drawing/2017/model3d">
                <am3d:model3d r:embed="rIdM3d40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8760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125583AA-71F4-D095-59C0-5E18035892A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624877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— ЭФФЕКТ КАНТИЛЬОНА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116" y="59436"/>
            <a:ext cx="6099048" cy="6099048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715707" y="1132027"/>
            <a:ext cx="3953866" cy="3953866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168896" y="585216"/>
            <a:ext cx="5047488" cy="5047488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4988" y="3671545"/>
            <a:ext cx="3575304" cy="893826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ripple">
                <a:extLst>
                  <a:ext uri="{FF2B5EF4-FFF2-40B4-BE49-F238E27FC236}">
                    <a16:creationId xmlns:a16="http://schemas.microsoft.com/office/drawing/2014/main" id="{838F234F-62A7-7B60-F3AC-C3FFEA0B46F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589520" y="1005840"/>
              <a:ext cx="4206240" cy="4206240"/>
            </p:xfrm>
            <a:graphic>
              <a:graphicData uri="http://schemas.microsoft.com/office/drawing/2017/model3d">
                <am3d:model3d r:embed="rIdM3d41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6925985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5294" d="1000000"/>
                    <am3d:preTrans dx="0" dy="-1558459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60000" ay="-6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ripple">
                <a:extLst>
                  <a:ext uri="{FF2B5EF4-FFF2-40B4-BE49-F238E27FC236}">
                    <a16:creationId xmlns:a16="http://schemas.microsoft.com/office/drawing/2014/main" id="{838F234F-62A7-7B60-F3AC-C3FFEA0B46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89520" y="1005840"/>
                <a:ext cx="4206240" cy="420624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11_9_0"/>
          <p:cNvSpPr/>
          <p:nvPr/>
        </p:nvSpPr>
        <p:spPr>
          <a:xfrm>
            <a:off x="8046720" y="4917643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11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Монета в воде: деньги расходятся кругами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Кто первым получает новые деньги — выигрывает</a:t>
            </a:r>
            <a:endParaRPr lang="en-US" sz="3200" dirty="0"/>
          </a:p>
        </p:txBody>
      </p:sp>
      <p:sp>
        <p:nvSpPr>
          <p:cNvPr id="18" name="fx11_1_1"/>
          <p:cNvSpPr/>
          <p:nvPr/>
        </p:nvSpPr>
        <p:spPr>
          <a:xfrm>
            <a:off x="68580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9" name="fx11_1_2"/>
          <p:cNvSpPr/>
          <p:nvPr/>
        </p:nvSpPr>
        <p:spPr>
          <a:xfrm>
            <a:off x="127901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20" name="fx11_1_3"/>
          <p:cNvSpPr/>
          <p:nvPr/>
        </p:nvSpPr>
        <p:spPr>
          <a:xfrm>
            <a:off x="127901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fx11_1_4"/>
          <p:cNvSpPr/>
          <p:nvPr/>
        </p:nvSpPr>
        <p:spPr>
          <a:xfrm>
            <a:off x="79552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деньги</a:t>
            </a:r>
            <a:endParaRPr lang="en-US" sz="1250" dirty="0"/>
          </a:p>
        </p:txBody>
      </p:sp>
      <p:sp>
        <p:nvSpPr>
          <p:cNvPr id="22" name="fx11_1_5"/>
          <p:cNvSpPr/>
          <p:nvPr/>
        </p:nvSpPr>
        <p:spPr>
          <a:xfrm>
            <a:off x="79552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рудник, печатный станок, кредит</a:t>
            </a:r>
            <a:endParaRPr lang="en-US" sz="1000" dirty="0"/>
          </a:p>
        </p:txBody>
      </p:sp>
      <p:sp>
        <p:nvSpPr>
          <p:cNvPr id="23" name="fx11_2_6"/>
          <p:cNvSpPr/>
          <p:nvPr/>
        </p:nvSpPr>
        <p:spPr>
          <a:xfrm>
            <a:off x="241173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4" name="fx11_2_7"/>
          <p:cNvSpPr/>
          <p:nvPr/>
        </p:nvSpPr>
        <p:spPr>
          <a:xfrm>
            <a:off x="300494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25" name="fx11_2_8"/>
          <p:cNvSpPr/>
          <p:nvPr/>
        </p:nvSpPr>
        <p:spPr>
          <a:xfrm>
            <a:off x="300494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fx11_2_9"/>
          <p:cNvSpPr/>
          <p:nvPr/>
        </p:nvSpPr>
        <p:spPr>
          <a:xfrm>
            <a:off x="252145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</a:t>
            </a:r>
            <a:endParaRPr lang="en-US" sz="1250" dirty="0"/>
          </a:p>
        </p:txBody>
      </p:sp>
      <p:sp>
        <p:nvSpPr>
          <p:cNvPr id="27" name="fx11_2_10"/>
          <p:cNvSpPr/>
          <p:nvPr/>
        </p:nvSpPr>
        <p:spPr>
          <a:xfrm>
            <a:off x="252145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получатели тратят по старым ценам — выигрывают</a:t>
            </a:r>
            <a:endParaRPr lang="en-US" sz="1000" dirty="0"/>
          </a:p>
        </p:txBody>
      </p:sp>
      <p:sp>
        <p:nvSpPr>
          <p:cNvPr id="28" name="fx11_3_11"/>
          <p:cNvSpPr/>
          <p:nvPr/>
        </p:nvSpPr>
        <p:spPr>
          <a:xfrm>
            <a:off x="413766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9" name="fx11_3_12"/>
          <p:cNvSpPr/>
          <p:nvPr/>
        </p:nvSpPr>
        <p:spPr>
          <a:xfrm>
            <a:off x="473087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30" name="fx11_3_13"/>
          <p:cNvSpPr/>
          <p:nvPr/>
        </p:nvSpPr>
        <p:spPr>
          <a:xfrm>
            <a:off x="473087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fx11_3_14"/>
          <p:cNvSpPr/>
          <p:nvPr/>
        </p:nvSpPr>
        <p:spPr>
          <a:xfrm>
            <a:off x="424738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цен</a:t>
            </a:r>
            <a:endParaRPr lang="en-US" sz="1250" dirty="0"/>
          </a:p>
        </p:txBody>
      </p:sp>
      <p:sp>
        <p:nvSpPr>
          <p:cNvPr id="32" name="fx11_3_15"/>
          <p:cNvSpPr/>
          <p:nvPr/>
        </p:nvSpPr>
        <p:spPr>
          <a:xfrm>
            <a:off x="424738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дорожает то, что покупают именно они</a:t>
            </a:r>
            <a:endParaRPr lang="en-US" sz="1000" dirty="0"/>
          </a:p>
        </p:txBody>
      </p:sp>
      <p:sp>
        <p:nvSpPr>
          <p:cNvPr id="33" name="fx11_4_16"/>
          <p:cNvSpPr/>
          <p:nvPr/>
        </p:nvSpPr>
        <p:spPr>
          <a:xfrm>
            <a:off x="586359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A1210">
              <a:alpha val="95000"/>
            </a:srgbClr>
          </a:solidFill>
          <a:ln w="9525">
            <a:solidFill>
              <a:srgbClr val="E8866A">
                <a:alpha val="6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4" name="fx11_4_17"/>
          <p:cNvSpPr/>
          <p:nvPr/>
        </p:nvSpPr>
        <p:spPr>
          <a:xfrm>
            <a:off x="645680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8866A"/>
            </a:solidFill>
            <a:prstDash val="solid"/>
          </a:ln>
        </p:spPr>
      </p:sp>
      <p:sp>
        <p:nvSpPr>
          <p:cNvPr id="35" name="fx11_4_18"/>
          <p:cNvSpPr/>
          <p:nvPr/>
        </p:nvSpPr>
        <p:spPr>
          <a:xfrm>
            <a:off x="645680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8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fx11_4_19"/>
          <p:cNvSpPr/>
          <p:nvPr/>
        </p:nvSpPr>
        <p:spPr>
          <a:xfrm>
            <a:off x="597331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Последние</a:t>
            </a:r>
            <a:endParaRPr lang="en-US" sz="1250" dirty="0"/>
          </a:p>
        </p:txBody>
      </p:sp>
      <p:sp>
        <p:nvSpPr>
          <p:cNvPr id="37" name="fx11_4_20"/>
          <p:cNvSpPr/>
          <p:nvPr/>
        </p:nvSpPr>
        <p:spPr>
          <a:xfrm>
            <a:off x="597331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получают деньги после роста цен — проигрывают</a:t>
            </a:r>
            <a:endParaRPr lang="en-US" sz="1000" dirty="0"/>
          </a:p>
        </p:txBody>
      </p:sp>
      <p:sp>
        <p:nvSpPr>
          <p:cNvPr id="38" name="fx11_5_21"/>
          <p:cNvSpPr/>
          <p:nvPr/>
        </p:nvSpPr>
        <p:spPr>
          <a:xfrm>
            <a:off x="685800" y="40050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 из «Essai»: 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новое серебро → шахтёры едят больше мяса и пьют вино → фермеры переводят землю под скот и виноградники.</a:t>
            </a:r>
            <a:endParaRPr lang="en-US" sz="1200" dirty="0"/>
          </a:p>
        </p:txBody>
      </p:sp>
      <p:sp>
        <p:nvSpPr>
          <p:cNvPr id="39" name="fx11_8_22"/>
          <p:cNvSpPr/>
          <p:nvPr/>
        </p:nvSpPr>
        <p:spPr>
          <a:xfrm>
            <a:off x="685800" y="5166360"/>
            <a:ext cx="6766560" cy="1005840"/>
          </a:xfrm>
          <a:prstGeom prst="roundRect">
            <a:avLst>
              <a:gd name="adj" fmla="val 727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0" name="fx11_8_23"/>
          <p:cNvSpPr/>
          <p:nvPr/>
        </p:nvSpPr>
        <p:spPr>
          <a:xfrm>
            <a:off x="685800" y="5312664"/>
            <a:ext cx="50292" cy="7132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1" name="fx11_8_24"/>
          <p:cNvSpPr/>
          <p:nvPr/>
        </p:nvSpPr>
        <p:spPr>
          <a:xfrm>
            <a:off x="941832" y="502920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2" name="fx11_8_25"/>
          <p:cNvSpPr/>
          <p:nvPr/>
        </p:nvSpPr>
        <p:spPr>
          <a:xfrm>
            <a:off x="941832" y="50292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43" name="fx11_8_26"/>
          <p:cNvSpPr/>
          <p:nvPr/>
        </p:nvSpPr>
        <p:spPr>
          <a:xfrm>
            <a:off x="960120" y="53492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Термин жив и сегодня: «эффектом Кантильона» объясняют, почему от печатания денег центробанками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раньше всех выигрывают банки и владельцы активов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4" name="!!m-bread">
                <a:extLst>
                  <a:ext uri="{FF2B5EF4-FFF2-40B4-BE49-F238E27FC236}">
                    <a16:creationId xmlns:a16="http://schemas.microsoft.com/office/drawing/2014/main" id="{03C5442D-7473-AAE2-2545-CAAB04B8D11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754880" y="1508760"/>
              <a:ext cx="4206240" cy="4206240"/>
            </p:xfrm>
            <a:graphic>
              <a:graphicData uri="http://schemas.microsoft.com/office/drawing/2017/model3d">
                <am3d:model3d r:embed="rIdM3d42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6854675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81250" d="1000000"/>
                    <am3d:preTrans dx="-1406250" dy="97984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440000" ay="-60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4" name="!!m-bread">
                <a:extLst>
                  <a:ext uri="{FF2B5EF4-FFF2-40B4-BE49-F238E27FC236}">
                    <a16:creationId xmlns:a16="http://schemas.microsoft.com/office/drawing/2014/main" id="{03C5442D-7473-AAE2-2545-CAAB04B8D11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754880" y="1508760"/>
                <a:ext cx="4206240" cy="420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5" name="!!m-compass">
                <a:extLst>
                  <a:ext uri="{FF2B5EF4-FFF2-40B4-BE49-F238E27FC236}">
                    <a16:creationId xmlns:a16="http://schemas.microsoft.com/office/drawing/2014/main" id="{7A11D05A-5BD5-61F4-749A-AA708BE53BB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502920"/>
              <a:ext cx="2697480" cy="2697480"/>
            </p:xfrm>
            <a:graphic>
              <a:graphicData uri="http://schemas.microsoft.com/office/drawing/2017/model3d">
                <am3d:model3d r:embed="rIdM3d43">
                  <am3d:spPr>
                    <a:xfrm>
                      <a:off x="0" y="0"/>
                      <a:ext cx="2697480" cy="2697480"/>
                    </a:xfrm>
                    <a:prstGeom prst="rect">
                      <a:avLst/>
                    </a:prstGeom>
                  </am3d:spPr>
                  <am3d:camera>
                    <am3d:pos x="0" y="0" z="6923713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3215" d="1000000"/>
                    <am3d:preTrans dx="0" dy="-3113734" dz="14989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36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2697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5" name="!!m-compass">
                <a:extLst>
                  <a:ext uri="{FF2B5EF4-FFF2-40B4-BE49-F238E27FC236}">
                    <a16:creationId xmlns:a16="http://schemas.microsoft.com/office/drawing/2014/main" id="{7A11D05A-5BD5-61F4-749A-AA708BE53BB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502920"/>
                <a:ext cx="2697480" cy="2697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2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7934736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F1FFD5E0-2589-B9B2-D25D-C250CE14C2C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346216" y="98755"/>
              <a:ext cx="548640" cy="548640"/>
            </p:xfrm>
            <a:graphic>
              <a:graphicData uri="http://schemas.microsoft.com/office/drawing/2017/model3d">
                <am3d:model3d r:embed="rIdM3d44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9636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F1FFD5E0-2589-B9B2-D25D-C250CE14C2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346216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— ВКЛАД В ПРЕДПРИНИМАТЕЛЬСТВО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0778" y="-267462"/>
            <a:ext cx="3506724" cy="3506724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8996324" y="218084"/>
            <a:ext cx="2535631" cy="2535631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8645652" y="-132588"/>
            <a:ext cx="3236976" cy="323697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4896" y="2254682"/>
            <a:ext cx="1618488" cy="404622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compass">
                <a:extLst>
                  <a:ext uri="{FF2B5EF4-FFF2-40B4-BE49-F238E27FC236}">
                    <a16:creationId xmlns:a16="http://schemas.microsoft.com/office/drawing/2014/main" id="{34C2390D-ABED-4E3C-1428-5550ABA5BD4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915400" y="137160"/>
              <a:ext cx="2697480" cy="2697480"/>
            </p:xfrm>
            <a:graphic>
              <a:graphicData uri="http://schemas.microsoft.com/office/drawing/2017/model3d">
                <am3d:model3d r:embed="rIdM3d45">
                  <am3d:spPr>
                    <a:xfrm>
                      <a:off x="0" y="0"/>
                      <a:ext cx="2697480" cy="2697480"/>
                    </a:xfrm>
                    <a:prstGeom prst="rect">
                      <a:avLst/>
                    </a:prstGeom>
                  </am3d:spPr>
                  <am3d:camera>
                    <am3d:pos x="0" y="0" z="6923713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3215" d="1000000"/>
                    <am3d:preTrans dx="0" dy="-3113734" dz="14989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12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697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compass">
                <a:extLst>
                  <a:ext uri="{FF2B5EF4-FFF2-40B4-BE49-F238E27FC236}">
                    <a16:creationId xmlns:a16="http://schemas.microsoft.com/office/drawing/2014/main" id="{34C2390D-ABED-4E3C-1428-5550ABA5BD4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915400" y="137160"/>
                <a:ext cx="2697480" cy="269748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12_9_0"/>
          <p:cNvSpPr/>
          <p:nvPr/>
        </p:nvSpPr>
        <p:spPr>
          <a:xfrm>
            <a:off x="6400800" y="914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12</a:t>
            </a:r>
            <a:endParaRPr lang="en-US" sz="9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Компас — ориентир в неопределённости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 него началась теория предпринимателя</a:t>
            </a:r>
            <a:endParaRPr lang="en-US" sz="3300" dirty="0"/>
          </a:p>
        </p:txBody>
      </p:sp>
      <p:sp>
        <p:nvSpPr>
          <p:cNvPr id="18" name="fx12_1_1"/>
          <p:cNvSpPr/>
          <p:nvPr/>
        </p:nvSpPr>
        <p:spPr>
          <a:xfrm>
            <a:off x="685800" y="217627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9" name="fx12_1_2"/>
          <p:cNvSpPr/>
          <p:nvPr/>
        </p:nvSpPr>
        <p:spPr>
          <a:xfrm>
            <a:off x="1280160" y="221284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Ввёл само понятие</a:t>
            </a:r>
            <a:endParaRPr lang="en-US" sz="1400" dirty="0"/>
          </a:p>
        </p:txBody>
      </p:sp>
      <p:sp>
        <p:nvSpPr>
          <p:cNvPr id="20" name="fx12_1_3"/>
          <p:cNvSpPr/>
          <p:nvPr/>
        </p:nvSpPr>
        <p:spPr>
          <a:xfrm>
            <a:off x="1280160" y="24871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— центральная фигура экономики.</a:t>
            </a:r>
            <a:endParaRPr lang="en-US" sz="1150" dirty="0"/>
          </a:p>
        </p:txBody>
      </p:sp>
      <p:sp>
        <p:nvSpPr>
          <p:cNvPr id="21" name="fx12_2_4"/>
          <p:cNvSpPr/>
          <p:nvPr/>
        </p:nvSpPr>
        <p:spPr>
          <a:xfrm>
            <a:off x="685800" y="281635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2" name="fx12_2_5"/>
          <p:cNvSpPr/>
          <p:nvPr/>
        </p:nvSpPr>
        <p:spPr>
          <a:xfrm>
            <a:off x="1280160" y="28529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Функция — нести неопределённость</a:t>
            </a:r>
            <a:endParaRPr lang="en-US" sz="1400" dirty="0"/>
          </a:p>
        </p:txBody>
      </p:sp>
      <p:sp>
        <p:nvSpPr>
          <p:cNvPr id="23" name="fx12_2_6"/>
          <p:cNvSpPr/>
          <p:nvPr/>
        </p:nvSpPr>
        <p:spPr>
          <a:xfrm>
            <a:off x="1280160" y="31272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капитал и не профессия, а доход «по неизвестной цене».</a:t>
            </a:r>
            <a:endParaRPr lang="en-US" sz="1150" dirty="0"/>
          </a:p>
        </p:txBody>
      </p:sp>
      <p:sp>
        <p:nvSpPr>
          <p:cNvPr id="24" name="fx12_3_7"/>
          <p:cNvSpPr/>
          <p:nvPr/>
        </p:nvSpPr>
        <p:spPr>
          <a:xfrm>
            <a:off x="685800" y="345643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5" name="fx12_3_8"/>
          <p:cNvSpPr/>
          <p:nvPr/>
        </p:nvSpPr>
        <p:spPr>
          <a:xfrm>
            <a:off x="1280160" y="349300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координирует рынок</a:t>
            </a:r>
            <a:endParaRPr lang="en-US" sz="1400" dirty="0"/>
          </a:p>
        </p:txBody>
      </p:sp>
      <p:sp>
        <p:nvSpPr>
          <p:cNvPr id="26" name="fx12_3_9"/>
          <p:cNvSpPr/>
          <p:nvPr/>
        </p:nvSpPr>
        <p:spPr>
          <a:xfrm>
            <a:off x="1280160" y="37673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Подстраивает предложение под спрос и связывает рынки.</a:t>
            </a:r>
            <a:endParaRPr lang="en-US" sz="1150" dirty="0"/>
          </a:p>
        </p:txBody>
      </p:sp>
      <p:sp>
        <p:nvSpPr>
          <p:cNvPr id="27" name="fx12_4_10"/>
          <p:cNvSpPr/>
          <p:nvPr/>
        </p:nvSpPr>
        <p:spPr>
          <a:xfrm>
            <a:off x="685800" y="4224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ЭСТАФЕТА ИДЕЙ</a:t>
            </a:r>
            <a:endParaRPr lang="en-US" sz="950" dirty="0"/>
          </a:p>
        </p:txBody>
      </p:sp>
      <p:sp>
        <p:nvSpPr>
          <p:cNvPr id="28" name="fx12_4_11"/>
          <p:cNvSpPr/>
          <p:nvPr/>
        </p:nvSpPr>
        <p:spPr>
          <a:xfrm>
            <a:off x="1767810" y="4645152"/>
            <a:ext cx="8656076" cy="91"/>
          </a:xfrm>
          <a:prstGeom prst="line">
            <a:avLst/>
          </a:prstGeom>
          <a:noFill/>
          <a:ln w="19050">
            <a:solidFill>
              <a:srgbClr val="E3B663">
                <a:alpha val="60000"/>
              </a:srgbClr>
            </a:solidFill>
            <a:prstDash val="solid"/>
          </a:ln>
        </p:spPr>
      </p:sp>
      <p:sp>
        <p:nvSpPr>
          <p:cNvPr id="29" name="fx12_4_12"/>
          <p:cNvSpPr/>
          <p:nvPr/>
        </p:nvSpPr>
        <p:spPr>
          <a:xfrm>
            <a:off x="1667226" y="4544568"/>
            <a:ext cx="201168" cy="201168"/>
          </a:xfrm>
          <a:prstGeom prst="ellipse">
            <a:avLst/>
          </a:prstGeom>
          <a:solidFill>
            <a:srgbClr val="E3B663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0" name="fx12_4_13"/>
          <p:cNvSpPr/>
          <p:nvPr/>
        </p:nvSpPr>
        <p:spPr>
          <a:xfrm>
            <a:off x="685800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Кантильон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≈1730</a:t>
            </a:r>
            <a:endParaRPr lang="en-US" sz="1300" dirty="0"/>
          </a:p>
        </p:txBody>
      </p:sp>
      <p:sp>
        <p:nvSpPr>
          <p:cNvPr id="31" name="fx12_4_14"/>
          <p:cNvSpPr/>
          <p:nvPr/>
        </p:nvSpPr>
        <p:spPr>
          <a:xfrm>
            <a:off x="777240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несёт риск</a:t>
            </a:r>
            <a:endParaRPr lang="en-US" sz="1050" dirty="0"/>
          </a:p>
        </p:txBody>
      </p:sp>
      <p:sp>
        <p:nvSpPr>
          <p:cNvPr id="32" name="fx12_4_15"/>
          <p:cNvSpPr/>
          <p:nvPr/>
        </p:nvSpPr>
        <p:spPr>
          <a:xfrm>
            <a:off x="3831245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3" name="fx12_4_16"/>
          <p:cNvSpPr/>
          <p:nvPr/>
        </p:nvSpPr>
        <p:spPr>
          <a:xfrm>
            <a:off x="2849819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Сэй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1803</a:t>
            </a:r>
            <a:endParaRPr lang="en-US" sz="1300" dirty="0"/>
          </a:p>
        </p:txBody>
      </p:sp>
      <p:sp>
        <p:nvSpPr>
          <p:cNvPr id="34" name="fx12_4_17"/>
          <p:cNvSpPr/>
          <p:nvPr/>
        </p:nvSpPr>
        <p:spPr>
          <a:xfrm>
            <a:off x="2941259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организатор производства</a:t>
            </a:r>
            <a:endParaRPr lang="en-US" sz="1050" dirty="0"/>
          </a:p>
        </p:txBody>
      </p:sp>
      <p:sp>
        <p:nvSpPr>
          <p:cNvPr id="35" name="fx12_5_18"/>
          <p:cNvSpPr/>
          <p:nvPr/>
        </p:nvSpPr>
        <p:spPr>
          <a:xfrm>
            <a:off x="5995264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6" name="fx12_5_19"/>
          <p:cNvSpPr/>
          <p:nvPr/>
        </p:nvSpPr>
        <p:spPr>
          <a:xfrm>
            <a:off x="5013838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Шумпетер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1911</a:t>
            </a:r>
            <a:endParaRPr lang="en-US" sz="1300" dirty="0"/>
          </a:p>
        </p:txBody>
      </p:sp>
      <p:sp>
        <p:nvSpPr>
          <p:cNvPr id="37" name="fx12_5_20"/>
          <p:cNvSpPr/>
          <p:nvPr/>
        </p:nvSpPr>
        <p:spPr>
          <a:xfrm>
            <a:off x="5105278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новатор, новые комбинации</a:t>
            </a:r>
            <a:endParaRPr lang="en-US" sz="1050" dirty="0"/>
          </a:p>
        </p:txBody>
      </p:sp>
      <p:sp>
        <p:nvSpPr>
          <p:cNvPr id="38" name="fx12_5_21"/>
          <p:cNvSpPr/>
          <p:nvPr/>
        </p:nvSpPr>
        <p:spPr>
          <a:xfrm>
            <a:off x="8159283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9" name="fx12_5_22"/>
          <p:cNvSpPr/>
          <p:nvPr/>
        </p:nvSpPr>
        <p:spPr>
          <a:xfrm>
            <a:off x="7177857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Найт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1921</a:t>
            </a:r>
            <a:endParaRPr lang="en-US" sz="1300" dirty="0"/>
          </a:p>
        </p:txBody>
      </p:sp>
      <p:sp>
        <p:nvSpPr>
          <p:cNvPr id="40" name="fx12_5_23"/>
          <p:cNvSpPr/>
          <p:nvPr/>
        </p:nvSpPr>
        <p:spPr>
          <a:xfrm>
            <a:off x="7269297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неопределённость и прибыль</a:t>
            </a:r>
            <a:endParaRPr lang="en-US" sz="1050" dirty="0"/>
          </a:p>
        </p:txBody>
      </p:sp>
      <p:sp>
        <p:nvSpPr>
          <p:cNvPr id="41" name="fx12_6_24"/>
          <p:cNvSpPr/>
          <p:nvPr/>
        </p:nvSpPr>
        <p:spPr>
          <a:xfrm>
            <a:off x="10323302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42" name="fx12_6_25"/>
          <p:cNvSpPr/>
          <p:nvPr/>
        </p:nvSpPr>
        <p:spPr>
          <a:xfrm>
            <a:off x="9341876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Кирцнер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1973</a:t>
            </a:r>
            <a:endParaRPr lang="en-US" sz="1300" dirty="0"/>
          </a:p>
        </p:txBody>
      </p:sp>
      <p:sp>
        <p:nvSpPr>
          <p:cNvPr id="43" name="fx12_6_26"/>
          <p:cNvSpPr/>
          <p:nvPr/>
        </p:nvSpPr>
        <p:spPr>
          <a:xfrm>
            <a:off x="9433316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бдительность к возможностям</a:t>
            </a:r>
            <a:endParaRPr lang="en-US" sz="1050" dirty="0"/>
          </a:p>
        </p:txBody>
      </p:sp>
      <p:sp>
        <p:nvSpPr>
          <p:cNvPr id="44" name="fx12_7_27"/>
          <p:cNvSpPr/>
          <p:nvPr/>
        </p:nvSpPr>
        <p:spPr>
          <a:xfrm>
            <a:off x="685800" y="5559552"/>
            <a:ext cx="6583680" cy="658368"/>
          </a:xfrm>
          <a:prstGeom prst="roundRect">
            <a:avLst>
              <a:gd name="adj" fmla="val 11111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5" name="fx12_7_28"/>
          <p:cNvSpPr/>
          <p:nvPr/>
        </p:nvSpPr>
        <p:spPr>
          <a:xfrm>
            <a:off x="685800" y="5705856"/>
            <a:ext cx="50292" cy="36576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6" name="fx12_7_29"/>
          <p:cNvSpPr/>
          <p:nvPr/>
        </p:nvSpPr>
        <p:spPr>
          <a:xfrm>
            <a:off x="941832" y="5422392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7" name="fx12_7_30"/>
          <p:cNvSpPr/>
          <p:nvPr/>
        </p:nvSpPr>
        <p:spPr>
          <a:xfrm>
            <a:off x="941832" y="5422392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48" name="fx12_7_31"/>
          <p:cNvSpPr/>
          <p:nvPr/>
        </p:nvSpPr>
        <p:spPr>
          <a:xfrm>
            <a:off x="960120" y="5742432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Мюррей Ротбард назвал его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«отцом-основателем современной экономики»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раньше Адама Смита.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9" name="!!m-ripple">
                <a:extLst>
                  <a:ext uri="{FF2B5EF4-FFF2-40B4-BE49-F238E27FC236}">
                    <a16:creationId xmlns:a16="http://schemas.microsoft.com/office/drawing/2014/main" id="{2509C7D1-76E7-3788-D832-79B3456C375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754880" y="1371600"/>
              <a:ext cx="4206240" cy="4206240"/>
            </p:xfrm>
            <a:graphic>
              <a:graphicData uri="http://schemas.microsoft.com/office/drawing/2017/model3d">
                <am3d:model3d r:embed="rIdM3d46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6925985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5294" d="1000000"/>
                    <am3d:preTrans dx="0" dy="-1558459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60000" ay="-54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9" name="!!m-ripple">
                <a:extLst>
                  <a:ext uri="{FF2B5EF4-FFF2-40B4-BE49-F238E27FC236}">
                    <a16:creationId xmlns:a16="http://schemas.microsoft.com/office/drawing/2014/main" id="{2509C7D1-76E7-3788-D832-79B3456C375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754880" y="1371600"/>
                <a:ext cx="4206240" cy="420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0" name="!!m-candle">
                <a:extLst>
                  <a:ext uri="{FF2B5EF4-FFF2-40B4-BE49-F238E27FC236}">
                    <a16:creationId xmlns:a16="http://schemas.microsoft.com/office/drawing/2014/main" id="{1CA673A7-C4D4-9475-55A8-D0E685161FB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4206240" cy="4206240"/>
            </p:xfrm>
            <a:graphic>
              <a:graphicData uri="http://schemas.microsoft.com/office/drawing/2017/model3d">
                <am3d:model3d r:embed="rIdM3d47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679470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70874" d="1000000"/>
                    <am3d:preTrans dx="-2638835" dy="-524271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6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0" name="!!m-candle">
                <a:extLst>
                  <a:ext uri="{FF2B5EF4-FFF2-40B4-BE49-F238E27FC236}">
                    <a16:creationId xmlns:a16="http://schemas.microsoft.com/office/drawing/2014/main" id="{1CA673A7-C4D4-9475-55A8-D0E685161FB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34440"/>
                <a:ext cx="4206240" cy="4206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3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8656076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F9FDCE8E-B503-134F-8B5E-39055B30390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067556" y="98755"/>
              <a:ext cx="548640" cy="548640"/>
            </p:xfrm>
            <a:graphic>
              <a:graphicData uri="http://schemas.microsoft.com/office/drawing/2017/model3d">
                <am3d:model3d r:embed="rIdM3d48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0512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F9FDCE8E-B503-134F-8B5E-39055B30390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67556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— ЗАГАДКА: ПОЖАР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716" y="-77724"/>
            <a:ext cx="6099048" cy="6099048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944307" y="994867"/>
            <a:ext cx="3953866" cy="3953866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397496" y="448056"/>
            <a:ext cx="5047488" cy="5047488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4524" y="4196867"/>
            <a:ext cx="2313432" cy="57835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candle">
                <a:extLst>
                  <a:ext uri="{FF2B5EF4-FFF2-40B4-BE49-F238E27FC236}">
                    <a16:creationId xmlns:a16="http://schemas.microsoft.com/office/drawing/2014/main" id="{945B8C10-B77F-EADA-1AE9-F6CA55C4A76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818120" y="868680"/>
              <a:ext cx="4206240" cy="4206240"/>
            </p:xfrm>
            <a:graphic>
              <a:graphicData uri="http://schemas.microsoft.com/office/drawing/2017/model3d">
                <am3d:model3d r:embed="rIdM3d49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679470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70874" d="1000000"/>
                    <am3d:preTrans dx="-2638835" dy="-524271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2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candle">
                <a:extLst>
                  <a:ext uri="{FF2B5EF4-FFF2-40B4-BE49-F238E27FC236}">
                    <a16:creationId xmlns:a16="http://schemas.microsoft.com/office/drawing/2014/main" id="{945B8C10-B77F-EADA-1AE9-F6CA55C4A76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18120" y="868680"/>
                <a:ext cx="4206240" cy="420624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13_9_0"/>
          <p:cNvSpPr/>
          <p:nvPr/>
        </p:nvSpPr>
        <p:spPr>
          <a:xfrm>
            <a:off x="8275320" y="4780483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13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Свеча — ночь на 14 мая 1734 года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Ночь на 14 мая 1734 года</a:t>
            </a:r>
            <a:endParaRPr lang="en-US" sz="3600" dirty="0"/>
          </a:p>
        </p:txBody>
      </p:sp>
      <p:sp>
        <p:nvSpPr>
          <p:cNvPr id="18" name="fx13_1_1"/>
          <p:cNvSpPr/>
          <p:nvPr/>
        </p:nvSpPr>
        <p:spPr>
          <a:xfrm>
            <a:off x="685800" y="20208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03:00</a:t>
            </a:r>
            <a:endParaRPr lang="en-US" sz="1800" dirty="0"/>
          </a:p>
        </p:txBody>
      </p:sp>
      <p:sp>
        <p:nvSpPr>
          <p:cNvPr id="19" name="fx13_1_2"/>
          <p:cNvSpPr/>
          <p:nvPr/>
        </p:nvSpPr>
        <p:spPr>
          <a:xfrm>
            <a:off x="1737360" y="2057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Пожар на Албемарл-стрит</a:t>
            </a:r>
            <a:endParaRPr lang="en-US" sz="1350" dirty="0"/>
          </a:p>
        </p:txBody>
      </p:sp>
      <p:sp>
        <p:nvSpPr>
          <p:cNvPr id="20" name="fx13_1_3"/>
          <p:cNvSpPr/>
          <p:nvPr/>
        </p:nvSpPr>
        <p:spPr>
          <a:xfrm>
            <a:off x="1737360" y="2331720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Около 3 часов ночи. Сгорели его дом и два соседних.</a:t>
            </a:r>
            <a:endParaRPr lang="en-US" sz="1100" dirty="0"/>
          </a:p>
        </p:txBody>
      </p:sp>
      <p:sp>
        <p:nvSpPr>
          <p:cNvPr id="21" name="fx13_2_4"/>
          <p:cNvSpPr/>
          <p:nvPr/>
        </p:nvSpPr>
        <p:spPr>
          <a:xfrm>
            <a:off x="685800" y="277063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Утро</a:t>
            </a:r>
            <a:endParaRPr lang="en-US" sz="1800" dirty="0"/>
          </a:p>
        </p:txBody>
      </p:sp>
      <p:sp>
        <p:nvSpPr>
          <p:cNvPr id="22" name="fx13_2_5"/>
          <p:cNvSpPr/>
          <p:nvPr/>
        </p:nvSpPr>
        <p:spPr>
          <a:xfrm>
            <a:off x="1737360" y="280720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Тело в постели</a:t>
            </a:r>
            <a:endParaRPr lang="en-US" sz="1350" dirty="0"/>
          </a:p>
        </p:txBody>
      </p:sp>
      <p:sp>
        <p:nvSpPr>
          <p:cNvPr id="23" name="fx13_2_6"/>
          <p:cNvSpPr/>
          <p:nvPr/>
        </p:nvSpPr>
        <p:spPr>
          <a:xfrm>
            <a:off x="1737360" y="308152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пишет: голова «почти сгорела или отрублена».</a:t>
            </a:r>
            <a:endParaRPr lang="en-US" sz="1100" dirty="0"/>
          </a:p>
        </p:txBody>
      </p:sp>
      <p:sp>
        <p:nvSpPr>
          <p:cNvPr id="24" name="fx13_3_7"/>
          <p:cNvSpPr/>
          <p:nvPr/>
        </p:nvSpPr>
        <p:spPr>
          <a:xfrm>
            <a:off x="685800" y="35204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Улики</a:t>
            </a:r>
            <a:endParaRPr lang="en-US" sz="1800" dirty="0"/>
          </a:p>
        </p:txBody>
      </p:sp>
      <p:sp>
        <p:nvSpPr>
          <p:cNvPr id="25" name="fx13_3_8"/>
          <p:cNvSpPr/>
          <p:nvPr/>
        </p:nvSpPr>
        <p:spPr>
          <a:xfrm>
            <a:off x="1737360" y="355701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Улики</a:t>
            </a:r>
            <a:endParaRPr lang="en-US" sz="1350" dirty="0"/>
          </a:p>
        </p:txBody>
      </p:sp>
      <p:sp>
        <p:nvSpPr>
          <p:cNvPr id="26" name="fx13_3_9"/>
          <p:cNvSpPr/>
          <p:nvPr/>
        </p:nvSpPr>
        <p:spPr>
          <a:xfrm>
            <a:off x="1737360" y="3831336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Ценностей в доме — на £200 000. Уволенный повар бежал за море под чужим именем.</a:t>
            </a:r>
            <a:endParaRPr lang="en-US" sz="1100" dirty="0"/>
          </a:p>
        </p:txBody>
      </p:sp>
      <p:sp>
        <p:nvSpPr>
          <p:cNvPr id="27" name="fx13_4_10"/>
          <p:cNvSpPr/>
          <p:nvPr/>
        </p:nvSpPr>
        <p:spPr>
          <a:xfrm>
            <a:off x="685800" y="427024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Декабрь</a:t>
            </a:r>
            <a:endParaRPr lang="en-US" sz="1800" dirty="0"/>
          </a:p>
        </p:txBody>
      </p:sp>
      <p:sp>
        <p:nvSpPr>
          <p:cNvPr id="28" name="fx13_4_11"/>
          <p:cNvSpPr/>
          <p:nvPr/>
        </p:nvSpPr>
        <p:spPr>
          <a:xfrm>
            <a:off x="1737360" y="430682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Суд</a:t>
            </a:r>
            <a:endParaRPr lang="en-US" sz="1350" dirty="0"/>
          </a:p>
        </p:txBody>
      </p:sp>
      <p:sp>
        <p:nvSpPr>
          <p:cNvPr id="29" name="fx13_4_12"/>
          <p:cNvSpPr/>
          <p:nvPr/>
        </p:nvSpPr>
        <p:spPr>
          <a:xfrm>
            <a:off x="1737360" y="4581144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Трёх слуг обвинили в убийстве и поджоге — и в декабре оправдали.</a:t>
            </a:r>
            <a:endParaRPr lang="en-US" sz="1100" dirty="0"/>
          </a:p>
        </p:txBody>
      </p:sp>
      <p:sp>
        <p:nvSpPr>
          <p:cNvPr id="30" name="fx13_8_13"/>
          <p:cNvSpPr/>
          <p:nvPr/>
        </p:nvSpPr>
        <p:spPr>
          <a:xfrm>
            <a:off x="685800" y="5230368"/>
            <a:ext cx="6766560" cy="960120"/>
          </a:xfrm>
          <a:prstGeom prst="roundRect">
            <a:avLst>
              <a:gd name="adj" fmla="val 7619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1" name="fx13_8_14"/>
          <p:cNvSpPr/>
          <p:nvPr/>
        </p:nvSpPr>
        <p:spPr>
          <a:xfrm>
            <a:off x="685800" y="5376672"/>
            <a:ext cx="50292" cy="66751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2" name="fx13_8_15"/>
          <p:cNvSpPr/>
          <p:nvPr/>
        </p:nvSpPr>
        <p:spPr>
          <a:xfrm>
            <a:off x="941832" y="5093208"/>
            <a:ext cx="2185416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3" name="fx13_8_16"/>
          <p:cNvSpPr/>
          <p:nvPr/>
        </p:nvSpPr>
        <p:spPr>
          <a:xfrm>
            <a:off x="941832" y="5093208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ИЗ ДНЕВНИКА СОСЕДА</a:t>
            </a:r>
            <a:endParaRPr lang="en-US" sz="850" dirty="0"/>
          </a:p>
        </p:txBody>
      </p:sp>
      <p:sp>
        <p:nvSpPr>
          <p:cNvPr id="34" name="fx13_8_17"/>
          <p:cNvSpPr/>
          <p:nvPr/>
        </p:nvSpPr>
        <p:spPr>
          <a:xfrm>
            <a:off x="960120" y="541324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Сосед записал в дневник три версии: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пришёл пьяным и поджёг полог; уснул со свечой; слуги убили его и подожгли дом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5" name="!!m-compass">
                <a:extLst>
                  <a:ext uri="{FF2B5EF4-FFF2-40B4-BE49-F238E27FC236}">
                    <a16:creationId xmlns:a16="http://schemas.microsoft.com/office/drawing/2014/main" id="{20CC2CFB-CE9B-C0FC-02CB-2174662FC1E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246120" y="502920"/>
              <a:ext cx="2697480" cy="2697480"/>
            </p:xfrm>
            <a:graphic>
              <a:graphicData uri="http://schemas.microsoft.com/office/drawing/2017/model3d">
                <am3d:model3d r:embed="rIdM3d50">
                  <am3d:spPr>
                    <a:xfrm>
                      <a:off x="0" y="0"/>
                      <a:ext cx="2697480" cy="2697480"/>
                    </a:xfrm>
                    <a:prstGeom prst="rect">
                      <a:avLst/>
                    </a:prstGeom>
                  </am3d:spPr>
                  <am3d:camera>
                    <am3d:pos x="0" y="0" z="6923713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3215" d="1000000"/>
                    <am3d:preTrans dx="0" dy="-3113734" dz="14989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0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697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5" name="!!m-compass">
                <a:extLst>
                  <a:ext uri="{FF2B5EF4-FFF2-40B4-BE49-F238E27FC236}">
                    <a16:creationId xmlns:a16="http://schemas.microsoft.com/office/drawing/2014/main" id="{20CC2CFB-CE9B-C0FC-02CB-2174662FC1E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3246120" y="502920"/>
                <a:ext cx="2697480" cy="269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ship">
                <a:extLst>
                  <a:ext uri="{FF2B5EF4-FFF2-40B4-BE49-F238E27FC236}">
                    <a16:creationId xmlns:a16="http://schemas.microsoft.com/office/drawing/2014/main" id="{4761AE8D-6418-4B7D-0DB5-A581A331FBA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80160"/>
              <a:ext cx="4754880" cy="4754880"/>
            </p:xfrm>
            <a:graphic>
              <a:graphicData uri="http://schemas.microsoft.com/office/drawing/2017/model3d">
                <am3d:model3d r:embed="rIdM3d51">
                  <am3d:spPr>
                    <a:xfrm>
                      <a:off x="0" y="0"/>
                      <a:ext cx="4754880" cy="4754880"/>
                    </a:xfrm>
                    <a:prstGeom prst="rect">
                      <a:avLst/>
                    </a:prstGeom>
                  </am3d:spPr>
                  <am3d:camera>
                    <am3d:pos x="0" y="0" z="6351749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24382" d="1000000"/>
                    <am3d:preTrans dx="-3791686" dy="-1210762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66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47548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ship">
                <a:extLst>
                  <a:ext uri="{FF2B5EF4-FFF2-40B4-BE49-F238E27FC236}">
                    <a16:creationId xmlns:a16="http://schemas.microsoft.com/office/drawing/2014/main" id="{4761AE8D-6418-4B7D-0DB5-A581A331FBA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80160"/>
                <a:ext cx="4754880" cy="4754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4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9377416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E489371D-3E06-9DF7-FE71-7DD4746760F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788896" y="98755"/>
              <a:ext cx="548640" cy="548640"/>
            </p:xfrm>
            <a:graphic>
              <a:graphicData uri="http://schemas.microsoft.com/office/drawing/2017/model3d">
                <am3d:model3d r:embed="rIdM3d52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1388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E489371D-3E06-9DF7-FE71-7DD4746760F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788896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— ЗАГАДКА: СУРИНАМ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-155448"/>
            <a:ext cx="6894576" cy="6894576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366406" y="1057046"/>
            <a:ext cx="4469587" cy="4469587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6748272" y="438912"/>
            <a:ext cx="5705856" cy="570585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4528109"/>
            <a:ext cx="3803904" cy="950976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ship">
                <a:extLst>
                  <a:ext uri="{FF2B5EF4-FFF2-40B4-BE49-F238E27FC236}">
                    <a16:creationId xmlns:a16="http://schemas.microsoft.com/office/drawing/2014/main" id="{52F8D9AA-FBAC-3232-54E8-ABD3DC543F4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223760" y="914400"/>
              <a:ext cx="4754880" cy="4754880"/>
            </p:xfrm>
            <a:graphic>
              <a:graphicData uri="http://schemas.microsoft.com/office/drawing/2017/model3d">
                <am3d:model3d r:embed="rIdM3d53">
                  <am3d:spPr>
                    <a:xfrm>
                      <a:off x="0" y="0"/>
                      <a:ext cx="4754880" cy="4754880"/>
                    </a:xfrm>
                    <a:prstGeom prst="rect">
                      <a:avLst/>
                    </a:prstGeom>
                  </am3d:spPr>
                  <am3d:camera>
                    <am3d:pos x="0" y="0" z="6351749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24382" d="1000000"/>
                    <am3d:preTrans dx="-3791686" dy="-1210762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18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47548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ship">
                <a:extLst>
                  <a:ext uri="{FF2B5EF4-FFF2-40B4-BE49-F238E27FC236}">
                    <a16:creationId xmlns:a16="http://schemas.microsoft.com/office/drawing/2014/main" id="{52F8D9AA-FBAC-3232-54E8-ABD3DC543F4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223760" y="914400"/>
                <a:ext cx="4754880" cy="475488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14_9_0"/>
          <p:cNvSpPr/>
          <p:nvPr/>
        </p:nvSpPr>
        <p:spPr>
          <a:xfrm>
            <a:off x="7955280" y="533643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14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Тот же корабль: путь в Суринам?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Убит — или сбежал?</a:t>
            </a:r>
            <a:endParaRPr lang="en-US" sz="3600" dirty="0"/>
          </a:p>
        </p:txBody>
      </p:sp>
      <p:sp>
        <p:nvSpPr>
          <p:cNvPr id="18" name="fx14_1_1"/>
          <p:cNvSpPr/>
          <p:nvPr/>
        </p:nvSpPr>
        <p:spPr>
          <a:xfrm>
            <a:off x="685800" y="2057400"/>
            <a:ext cx="3246120" cy="1828800"/>
          </a:xfrm>
          <a:prstGeom prst="roundRect">
            <a:avLst>
              <a:gd name="adj" fmla="val 4000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9A8C86">
                <a:alpha val="35000"/>
              </a:srgbClr>
            </a:solidFill>
            <a:prstDash val="solid"/>
          </a:ln>
        </p:spPr>
      </p:sp>
      <p:sp>
        <p:nvSpPr>
          <p:cNvPr id="19" name="fx14_1_2"/>
          <p:cNvSpPr/>
          <p:nvPr/>
        </p:nvSpPr>
        <p:spPr>
          <a:xfrm>
            <a:off x="886968" y="222199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ВЕРСИЯ 1 · УБИЙСТВО</a:t>
            </a:r>
            <a:endParaRPr lang="en-US" sz="950" dirty="0"/>
          </a:p>
        </p:txBody>
      </p:sp>
      <p:sp>
        <p:nvSpPr>
          <p:cNvPr id="20" name="fx14_1_3"/>
          <p:cNvSpPr/>
          <p:nvPr/>
        </p:nvSpPr>
        <p:spPr>
          <a:xfrm>
            <a:off x="886968" y="2496312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Повар ограбил и убил хозяина, а пожар устроил, чтобы скрыть следы.</a:t>
            </a:r>
            <a:endParaRPr lang="en-US" sz="1450" dirty="0"/>
          </a:p>
        </p:txBody>
      </p:sp>
      <p:sp>
        <p:nvSpPr>
          <p:cNvPr id="21" name="fx14_1_4"/>
          <p:cNvSpPr/>
          <p:nvPr/>
        </p:nvSpPr>
        <p:spPr>
          <a:xfrm>
            <a:off x="886968" y="34290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Самая распространённая версия</a:t>
            </a:r>
            <a:endParaRPr lang="en-US" sz="1050" dirty="0"/>
          </a:p>
        </p:txBody>
      </p:sp>
      <p:sp>
        <p:nvSpPr>
          <p:cNvPr id="22" name="fx14_2_5"/>
          <p:cNvSpPr/>
          <p:nvPr/>
        </p:nvSpPr>
        <p:spPr>
          <a:xfrm>
            <a:off x="4114800" y="2057400"/>
            <a:ext cx="3246120" cy="1828800"/>
          </a:xfrm>
          <a:prstGeom prst="roundRect">
            <a:avLst>
              <a:gd name="adj" fmla="val 4000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8866A">
                <a:alpha val="65000"/>
              </a:srgbClr>
            </a:solidFill>
            <a:prstDash val="solid"/>
          </a:ln>
        </p:spPr>
      </p:sp>
      <p:sp>
        <p:nvSpPr>
          <p:cNvPr id="23" name="fx14_2_6"/>
          <p:cNvSpPr/>
          <p:nvPr/>
        </p:nvSpPr>
        <p:spPr>
          <a:xfrm>
            <a:off x="4315968" y="222199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8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ВЕРСИЯ 2 · ПОБЕГ</a:t>
            </a:r>
            <a:endParaRPr lang="en-US" sz="950" dirty="0"/>
          </a:p>
        </p:txBody>
      </p:sp>
      <p:sp>
        <p:nvSpPr>
          <p:cNvPr id="24" name="fx14_2_7"/>
          <p:cNvSpPr/>
          <p:nvPr/>
        </p:nvSpPr>
        <p:spPr>
          <a:xfrm>
            <a:off x="4315968" y="2496312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Кантильон сам исчез — от судов и угроз бывших клиентов.</a:t>
            </a:r>
            <a:endParaRPr lang="en-US" sz="1450" dirty="0"/>
          </a:p>
        </p:txBody>
      </p:sp>
      <p:sp>
        <p:nvSpPr>
          <p:cNvPr id="25" name="fx14_2_8"/>
          <p:cNvSpPr/>
          <p:nvPr/>
        </p:nvSpPr>
        <p:spPr>
          <a:xfrm>
            <a:off x="4315968" y="34290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Гипотеза биографа Антуана Мёрфи (1986)</a:t>
            </a:r>
            <a:endParaRPr lang="en-US" sz="1050" dirty="0"/>
          </a:p>
        </p:txBody>
      </p:sp>
      <p:sp>
        <p:nvSpPr>
          <p:cNvPr id="26" name="fx14_3_9"/>
          <p:cNvSpPr/>
          <p:nvPr/>
        </p:nvSpPr>
        <p:spPr>
          <a:xfrm>
            <a:off x="685800" y="406908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Улика: 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декабре 1734 года в голландском Суринаме появился «шевалье де Лувиньи» с бумагами Кантильона — и вскоре исчез.</a:t>
            </a:r>
            <a:endParaRPr lang="en-US" sz="1250" dirty="0"/>
          </a:p>
        </p:txBody>
      </p:sp>
      <p:sp>
        <p:nvSpPr>
          <p:cNvPr id="27" name="fx14_8_10"/>
          <p:cNvSpPr/>
          <p:nvPr/>
        </p:nvSpPr>
        <p:spPr>
          <a:xfrm>
            <a:off x="685800" y="5230368"/>
            <a:ext cx="6675120" cy="960120"/>
          </a:xfrm>
          <a:prstGeom prst="roundRect">
            <a:avLst>
              <a:gd name="adj" fmla="val 7619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8" name="fx14_8_11"/>
          <p:cNvSpPr/>
          <p:nvPr/>
        </p:nvSpPr>
        <p:spPr>
          <a:xfrm>
            <a:off x="685800" y="5376672"/>
            <a:ext cx="50292" cy="66751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9" name="fx14_8_12"/>
          <p:cNvSpPr/>
          <p:nvPr/>
        </p:nvSpPr>
        <p:spPr>
          <a:xfrm>
            <a:off x="941832" y="5093208"/>
            <a:ext cx="1897380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0" name="fx14_8_13"/>
          <p:cNvSpPr/>
          <p:nvPr/>
        </p:nvSpPr>
        <p:spPr>
          <a:xfrm>
            <a:off x="941832" y="5093208"/>
            <a:ext cx="18973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ГЛАВНАЯ ЗАГАДКА</a:t>
            </a:r>
            <a:endParaRPr lang="en-US" sz="850" dirty="0"/>
          </a:p>
        </p:txBody>
      </p:sp>
      <p:sp>
        <p:nvSpPr>
          <p:cNvPr id="31" name="fx14_8_14"/>
          <p:cNvSpPr/>
          <p:nvPr/>
        </p:nvSpPr>
        <p:spPr>
          <a:xfrm>
            <a:off x="960120" y="5413248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 «шевалье» было </a:t>
            </a:r>
            <a:pPr algn="l" indent="0" marL="0">
              <a:lnSpc>
                <a:spcPct val="105000"/>
              </a:lnSpc>
              <a:buNone/>
            </a:pPr>
            <a:r>
              <a:rPr lang="en-US" sz="130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новое завещание Кантильона от 11 апреля 1734 года</a:t>
            </a:r>
            <a:pPr algn="l"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составленное за месяц до пожара.</a:t>
            </a:r>
            <a:endParaRPr lang="en-US" sz="13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2" name="!!m-candle">
                <a:extLst>
                  <a:ext uri="{FF2B5EF4-FFF2-40B4-BE49-F238E27FC236}">
                    <a16:creationId xmlns:a16="http://schemas.microsoft.com/office/drawing/2014/main" id="{7FFC71A6-9EC5-FC56-1A02-80CFCF8D361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754880" y="1234440"/>
              <a:ext cx="4206240" cy="4206240"/>
            </p:xfrm>
            <a:graphic>
              <a:graphicData uri="http://schemas.microsoft.com/office/drawing/2017/model3d">
                <am3d:model3d r:embed="rIdM3d54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679470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70874" d="1000000"/>
                    <am3d:preTrans dx="-2638835" dy="-524271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60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2" name="!!m-candle">
                <a:extLst>
                  <a:ext uri="{FF2B5EF4-FFF2-40B4-BE49-F238E27FC236}">
                    <a16:creationId xmlns:a16="http://schemas.microsoft.com/office/drawing/2014/main" id="{7FFC71A6-9EC5-FC56-1A02-80CFCF8D361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754880" y="1234440"/>
                <a:ext cx="4206240" cy="420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3" name="!!m-louis">
                <a:extLst>
                  <a:ext uri="{FF2B5EF4-FFF2-40B4-BE49-F238E27FC236}">
                    <a16:creationId xmlns:a16="http://schemas.microsoft.com/office/drawing/2014/main" id="{9C2393D2-533A-C2C6-08D2-50885AA74C7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143000"/>
              <a:ext cx="4023360" cy="4023360"/>
            </p:xfrm>
            <a:graphic>
              <a:graphicData uri="http://schemas.microsoft.com/office/drawing/2017/model3d">
                <am3d:model3d r:embed="rIdM3d55">
                  <am3d:spPr>
                    <a:xfrm>
                      <a:off x="0" y="0"/>
                      <a:ext cx="4023360" cy="402336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120000" az="-72000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40233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3" name="!!m-louis">
                <a:extLst>
                  <a:ext uri="{FF2B5EF4-FFF2-40B4-BE49-F238E27FC236}">
                    <a16:creationId xmlns:a16="http://schemas.microsoft.com/office/drawing/2014/main" id="{9C2393D2-533A-C2C6-08D2-50885AA74C7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143000"/>
                <a:ext cx="4023360" cy="40233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5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10098756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CB74C61A-BA55-D308-355C-987FAB4E1A3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0510236" y="98755"/>
              <a:ext cx="548640" cy="548640"/>
            </p:xfrm>
            <a:graphic>
              <a:graphicData uri="http://schemas.microsoft.com/office/drawing/2017/model3d">
                <am3d:model3d r:embed="rIdM3d56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2264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CB74C61A-BA55-D308-355C-987FAB4E1A3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510236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984" y="-128016"/>
            <a:ext cx="5833872" cy="5833872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755941" y="897941"/>
            <a:ext cx="3781958" cy="3781958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232904" y="374904"/>
            <a:ext cx="4828032" cy="4828032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0496" y="3960724"/>
            <a:ext cx="2212848" cy="553212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louis">
                <a:extLst>
                  <a:ext uri="{FF2B5EF4-FFF2-40B4-BE49-F238E27FC236}">
                    <a16:creationId xmlns:a16="http://schemas.microsoft.com/office/drawing/2014/main" id="{4B5B6C79-104A-0114-2322-670B2572836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635240" y="777240"/>
              <a:ext cx="4023360" cy="4023360"/>
            </p:xfrm>
            <a:graphic>
              <a:graphicData uri="http://schemas.microsoft.com/office/drawing/2017/model3d">
                <am3d:model3d r:embed="rIdM3d57">
                  <am3d:spPr>
                    <a:xfrm>
                      <a:off x="0" y="0"/>
                      <a:ext cx="4023360" cy="402336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680000" az="-72000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40233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louis">
                <a:extLst>
                  <a:ext uri="{FF2B5EF4-FFF2-40B4-BE49-F238E27FC236}">
                    <a16:creationId xmlns:a16="http://schemas.microsoft.com/office/drawing/2014/main" id="{4B5B6C79-104A-0114-2322-670B2572836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635240" y="777240"/>
                <a:ext cx="4023360" cy="402336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15_9_0"/>
          <p:cNvSpPr/>
          <p:nvPr/>
        </p:nvSpPr>
        <p:spPr>
          <a:xfrm>
            <a:off x="7818120" y="45720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15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Луидор 1720 года — тот, что катился по шкале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Главное за 30 секунд</a:t>
            </a:r>
            <a:endParaRPr lang="en-US" sz="3600" dirty="0"/>
          </a:p>
        </p:txBody>
      </p:sp>
      <p:sp>
        <p:nvSpPr>
          <p:cNvPr id="18" name="fx15_1_1"/>
          <p:cNvSpPr/>
          <p:nvPr/>
        </p:nvSpPr>
        <p:spPr>
          <a:xfrm>
            <a:off x="685800" y="1874520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22121A">
              <a:alpha val="7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19" name="fx15_1_2"/>
          <p:cNvSpPr/>
          <p:nvPr/>
        </p:nvSpPr>
        <p:spPr>
          <a:xfrm>
            <a:off x="685800" y="2057400"/>
            <a:ext cx="45720" cy="65836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0" name="fx15_1_3"/>
          <p:cNvSpPr/>
          <p:nvPr/>
        </p:nvSpPr>
        <p:spPr>
          <a:xfrm>
            <a:off x="960120" y="200253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</a:t>
            </a:r>
            <a:endParaRPr lang="en-US" sz="950" dirty="0"/>
          </a:p>
        </p:txBody>
      </p:sp>
      <p:sp>
        <p:nvSpPr>
          <p:cNvPr id="21" name="fx15_1_4"/>
          <p:cNvSpPr/>
          <p:nvPr/>
        </p:nvSpPr>
        <p:spPr>
          <a:xfrm>
            <a:off x="960120" y="2240280"/>
            <a:ext cx="5577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Ирландско-французский банкир (1680-е – 1734), миллионер пузыря Миссисипи, автор первого трактата по экономике.</a:t>
            </a:r>
            <a:endParaRPr lang="en-US" sz="1400" dirty="0"/>
          </a:p>
        </p:txBody>
      </p:sp>
      <p:sp>
        <p:nvSpPr>
          <p:cNvPr id="22" name="fx15_2_5"/>
          <p:cNvSpPr/>
          <p:nvPr/>
        </p:nvSpPr>
        <p:spPr>
          <a:xfrm>
            <a:off x="685800" y="3044952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22121A">
              <a:alpha val="7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3" name="fx15_2_6"/>
          <p:cNvSpPr/>
          <p:nvPr/>
        </p:nvSpPr>
        <p:spPr>
          <a:xfrm>
            <a:off x="685800" y="3227832"/>
            <a:ext cx="45720" cy="65836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4" name="fx15_2_7"/>
          <p:cNvSpPr/>
          <p:nvPr/>
        </p:nvSpPr>
        <p:spPr>
          <a:xfrm>
            <a:off x="960120" y="31729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ГЛАВНАЯ МЫСЛЬ</a:t>
            </a:r>
            <a:endParaRPr lang="en-US" sz="950" dirty="0"/>
          </a:p>
        </p:txBody>
      </p:sp>
      <p:sp>
        <p:nvSpPr>
          <p:cNvPr id="25" name="fx15_2_8"/>
          <p:cNvSpPr/>
          <p:nvPr/>
        </p:nvSpPr>
        <p:spPr>
          <a:xfrm>
            <a:off x="960120" y="3410712"/>
            <a:ext cx="5577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Экономика — саморегулирующаяся система; деньги не нейтральны: выигрывает тот, кто получил их первым.</a:t>
            </a:r>
            <a:endParaRPr lang="en-US" sz="1400" dirty="0"/>
          </a:p>
        </p:txBody>
      </p:sp>
      <p:sp>
        <p:nvSpPr>
          <p:cNvPr id="26" name="fx15_3_9"/>
          <p:cNvSpPr/>
          <p:nvPr/>
        </p:nvSpPr>
        <p:spPr>
          <a:xfrm>
            <a:off x="685800" y="4215384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22121A">
              <a:alpha val="7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7" name="fx15_3_10"/>
          <p:cNvSpPr/>
          <p:nvPr/>
        </p:nvSpPr>
        <p:spPr>
          <a:xfrm>
            <a:off x="685800" y="4398264"/>
            <a:ext cx="45720" cy="658368"/>
          </a:xfrm>
          <a:prstGeom prst="rect">
            <a:avLst/>
          </a:prstGeom>
          <a:solidFill>
            <a:srgbClr val="E8866A"/>
          </a:solidFill>
          <a:ln/>
        </p:spPr>
      </p:sp>
      <p:sp>
        <p:nvSpPr>
          <p:cNvPr id="28" name="fx15_3_11"/>
          <p:cNvSpPr/>
          <p:nvPr/>
        </p:nvSpPr>
        <p:spPr>
          <a:xfrm>
            <a:off x="960120" y="43434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8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ВКЛАД В ПРЕДПРИНИМАТЕЛЬСТВО</a:t>
            </a:r>
            <a:endParaRPr lang="en-US" sz="950" dirty="0"/>
          </a:p>
        </p:txBody>
      </p:sp>
      <p:sp>
        <p:nvSpPr>
          <p:cNvPr id="29" name="fx15_3_12"/>
          <p:cNvSpPr/>
          <p:nvPr/>
        </p:nvSpPr>
        <p:spPr>
          <a:xfrm>
            <a:off x="960120" y="4581144"/>
            <a:ext cx="5577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Предприниматель — тот, кто покупает по известной цене и продаёт по неизвестной, то есть несёт неопределённость.</a:t>
            </a:r>
            <a:endParaRPr lang="en-US" sz="1400" dirty="0"/>
          </a:p>
        </p:txBody>
      </p:sp>
      <p:sp>
        <p:nvSpPr>
          <p:cNvPr id="30" name="fx15_5_13"/>
          <p:cNvSpPr/>
          <p:nvPr/>
        </p:nvSpPr>
        <p:spPr>
          <a:xfrm>
            <a:off x="685800" y="54864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F3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 внимание!</a:t>
            </a:r>
            <a:endParaRPr lang="en-US" sz="2600" dirty="0"/>
          </a:p>
        </p:txBody>
      </p:sp>
      <p:sp>
        <p:nvSpPr>
          <p:cNvPr id="31" name="fx15_4_14"/>
          <p:cNvSpPr/>
          <p:nvPr/>
        </p:nvSpPr>
        <p:spPr>
          <a:xfrm>
            <a:off x="7086600" y="5257800"/>
            <a:ext cx="4419295" cy="932688"/>
          </a:xfrm>
          <a:prstGeom prst="roundRect">
            <a:avLst>
              <a:gd name="adj" fmla="val 784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2" name="fx15_4_15"/>
          <p:cNvSpPr/>
          <p:nvPr/>
        </p:nvSpPr>
        <p:spPr>
          <a:xfrm>
            <a:off x="7086600" y="5404104"/>
            <a:ext cx="50292" cy="64008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3" name="fx15_4_16"/>
          <p:cNvSpPr/>
          <p:nvPr/>
        </p:nvSpPr>
        <p:spPr>
          <a:xfrm>
            <a:off x="7342632" y="512064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4" name="fx15_4_17"/>
          <p:cNvSpPr/>
          <p:nvPr/>
        </p:nvSpPr>
        <p:spPr>
          <a:xfrm>
            <a:off x="7342632" y="512064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35" name="fx15_4_18"/>
          <p:cNvSpPr/>
          <p:nvPr/>
        </p:nvSpPr>
        <p:spPr>
          <a:xfrm>
            <a:off x="7360920" y="5440680"/>
            <a:ext cx="3962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Его книгу читали Кенэ, Тюрго и Адам Смит —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 имени автора на обложке так и не было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ship">
                <a:extLst>
                  <a:ext uri="{FF2B5EF4-FFF2-40B4-BE49-F238E27FC236}">
                    <a16:creationId xmlns:a16="http://schemas.microsoft.com/office/drawing/2014/main" id="{189340FC-4C3A-6119-8CD4-61C94D6F306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5303520" y="1280160"/>
              <a:ext cx="4754880" cy="4754880"/>
            </p:xfrm>
            <a:graphic>
              <a:graphicData uri="http://schemas.microsoft.com/office/drawing/2017/model3d">
                <am3d:model3d r:embed="rIdM3d58">
                  <am3d:spPr>
                    <a:xfrm>
                      <a:off x="0" y="0"/>
                      <a:ext cx="4754880" cy="4754880"/>
                    </a:xfrm>
                    <a:prstGeom prst="rect">
                      <a:avLst/>
                    </a:prstGeom>
                  </am3d:spPr>
                  <am3d:camera>
                    <am3d:pos x="0" y="0" z="6351749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24382" d="1000000"/>
                    <am3d:preTrans dx="-3791686" dy="-1210762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30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47548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ship">
                <a:extLst>
                  <a:ext uri="{FF2B5EF4-FFF2-40B4-BE49-F238E27FC236}">
                    <a16:creationId xmlns:a16="http://schemas.microsoft.com/office/drawing/2014/main" id="{189340FC-4C3A-6119-8CD4-61C94D6F306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5303520" y="1280160"/>
                <a:ext cx="4754880" cy="4754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0" grpId="0" animBg="1"/>
      <p:bldP spid="1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6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10820095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1BB4DC81-403E-A546-5CEF-D3FB43819AC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1231575" y="98755"/>
              <a:ext cx="548640" cy="548640"/>
            </p:xfrm>
            <a:graphic>
              <a:graphicData uri="http://schemas.microsoft.com/office/drawing/2017/model3d">
                <am3d:model3d r:embed="rIdM3d59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3140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1BB4DC81-403E-A546-5CEF-D3FB43819AC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1231575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ПРОВЕРКИ ФАКТОВ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1" name="!!title"/>
          <p:cNvSpPr/>
          <p:nvPr/>
        </p:nvSpPr>
        <p:spPr>
          <a:xfrm>
            <a:off x="685800" y="98755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Источники</a:t>
            </a:r>
            <a:endParaRPr lang="en-US" sz="3400" dirty="0"/>
          </a:p>
        </p:txBody>
      </p:sp>
      <p:sp>
        <p:nvSpPr>
          <p:cNvPr id="12" name="fx16_1_0"/>
          <p:cNvSpPr/>
          <p:nvPr/>
        </p:nvSpPr>
        <p:spPr>
          <a:xfrm>
            <a:off x="685800" y="1783080"/>
            <a:ext cx="5212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00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БИОГРАФИЯ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Murphy A. E. Richard Cantillon: Entrepreneur and Economist (Oxford, 1986)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Murphy A. E. Richard Cantillon — Banker and Economist (J. Libertarian Studies, 1985)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Dictionary of Irish Biography — Cantillon, Richard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Higgs H. Life and Work of Richard Cantillon (1931)</a:t>
            </a:r>
            <a:endParaRPr lang="en-US" sz="1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00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ЛО, ПУЗЫРЬ, ПОЖАР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Jevons W. S. Richard Cantillon and the Nationality of Political Economy (1881)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Hayek F. A. Richard Cantillon (1931; пер. в J. Libertarian Studies, 1985)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Gentleman’s Magazine (1734); дневник графа Эгмонта — по Murphy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Irish Independent: A millionaire, a market crash and a murder (2013)</a:t>
            </a:r>
            <a:endParaRPr lang="en-US" sz="1000" dirty="0"/>
          </a:p>
        </p:txBody>
      </p:sp>
      <p:sp>
        <p:nvSpPr>
          <p:cNvPr id="13" name="fx16_2_1"/>
          <p:cNvSpPr/>
          <p:nvPr/>
        </p:nvSpPr>
        <p:spPr>
          <a:xfrm>
            <a:off x="6263640" y="1783080"/>
            <a:ext cx="5212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00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ТРУД КАНТИЛЬОНА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Essai sur la nature du commerce en général (≈1730, изд. 1755), ч. I, гл. XII–XIII; ч. II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Пер. H. Higgs (1931), Online Library of Liberty</a:t>
            </a:r>
            <a:endParaRPr lang="en-US" sz="1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00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ИДЕИ И НАСЛЕДИЕ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Rothbard M. Richard Cantillon: The Founding Father of Modern Economics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Mises Institute — Cantillon Effects: Why Inflation Helps Some and Hurts Others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Thornton M. Incorporating Cantillon: A Face and a Family… (2018)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Ireland — Richard Cantillon: the father of economics</a:t>
            </a:r>
            <a:endParaRPr lang="en-US" sz="1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00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3D-экспонаты смоделированы в Blender специально для этой презентации (models/).</a:t>
            </a:r>
            <a:endParaRPr lang="en-US" sz="10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4" name="!!m-louis">
                <a:extLst>
                  <a:ext uri="{FF2B5EF4-FFF2-40B4-BE49-F238E27FC236}">
                    <a16:creationId xmlns:a16="http://schemas.microsoft.com/office/drawing/2014/main" id="{2B9464EB-24FF-8967-F977-8B90B12A538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572000" y="1143000"/>
              <a:ext cx="4023360" cy="4023360"/>
            </p:xfrm>
            <a:graphic>
              <a:graphicData uri="http://schemas.microsoft.com/office/drawing/2017/model3d">
                <am3d:model3d r:embed="rIdM3d60">
                  <am3d:spPr>
                    <a:xfrm>
                      <a:off x="0" y="0"/>
                      <a:ext cx="4023360" cy="402336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6480000" az="-72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40233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4" name="!!m-louis">
                <a:extLst>
                  <a:ext uri="{FF2B5EF4-FFF2-40B4-BE49-F238E27FC236}">
                    <a16:creationId xmlns:a16="http://schemas.microsoft.com/office/drawing/2014/main" id="{2B9464EB-24FF-8967-F977-8B90B12A538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4572000" y="1143000"/>
                <a:ext cx="4023360" cy="40233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Ричард Кантильон — 3D-презентация</dc:title>
  <dc:subject>Биография, главная мысль и вклад в теорию предпринимательства</dc:subject>
  <dc:creator>omgGame</dc:creator>
  <cp:lastModifiedBy>omgGame</cp:lastModifiedBy>
  <cp:revision>1</cp:revision>
  <dcterms:created xsi:type="dcterms:W3CDTF">2026-10-06T17:10:43Z</dcterms:created>
  <dcterms:modified xsi:type="dcterms:W3CDTF">2026-10-06T17:10:43Z</dcterms:modified>
</cp:coreProperties>
</file>