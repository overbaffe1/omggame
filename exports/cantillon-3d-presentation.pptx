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Ричард Кантильон — ирландско-французский банкир и экономист XVIII века. Он сделал состояние на спекулятивных пузырях, а в рукописи, написанной примерно в 1730 году, описал предпринимателя как человека с известными издержками и неопределённым доходом.
Главный вопрос этой презентации: почему его считают одним из основателей теории предпринимательства? И как так вышло, что после загадочной смерти его главная книга появилась только через двадцать лет?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Кантильон родился, вероятно, в 1687 году — историки не уверены в точной дате. Его родиной считают Баллиронан, в приходе Баллихейг, графство Керри на юго-западе Ирландии. Он был вторым сыном землевладельческой католической семьи; владения предков конфисковали после завоевания Ирландии Кромвелем.
Это важно не как легенда о «человеке из ниоткуда»: у него были семейные связи в банковской среде, и именно сеть контактов помогла ему войти в международные финансы. В 1708 году он получил французское подданство.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известные записи о его работе связаны с переводом денег для британских военнопленных во Франции. К 1711 году Кантильон был в Испании клерком при помощнике генерального казначея британских войск. В 1714-м вернулся в Париж, а в 1715–1716 годах начал собственное банковское дело.
Кантильон работал между Парижем и Лондоном, а также бывал в Амстердаме и Мадриде. Такой опыт давал ему не только капитал, но и наблюдения за кредитом, валютой, торговыми маршрутами и движением денег — темами, которые позже вошли в его экономический трактат.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1715 году Кантильон открыл банк в Париже; в феврале 1716-го формально принял дела своего родственника, «шевалье Кантильона». Он стал банкиром ирландских торговцев во французских портах и проводил международные платежи. У него были посредники и корреспонденты в Лондоне и Амстердаме.
Его ремесло — не просто «держать деньги». Банки связывали купцов, государства, военных и рынки через переводные векселя, кредит и валюту. Именно изнутри этой сети он мог наблюдать, как решения о деньгах и ожиданиях влияют на торговлю.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1718 году Кантильон познакомился с шотландцем Джоном Ло, создателем французской банковско-акционерной системы. Кантильон оказался среди участников Mississippi Company и вместе с Ло занимался проектом колонии в Луизиане.
Летом 1719 года он заработал состояние на акциях и опционах. По биографии из Dictionary of Irish Biography, он уехал из Парижа в Лондон с крупным капиталом, вероятно опасаясь краха системы. Он вернулся в Париж в феврале 1720 года, после стремительного взлёта цены, но до обвала в мае. Затем быстро заработал и на акциях South Sea Company. Важно: это биографические факты о спекулянте, а не моральная похвала и не вся теория предпринимателя.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ядро вклада Кантильона в теорию предпринимательства. Предприниматель несёт издержки, известные заранее или договорённые по определённой цене, а продаёт товар в будущем по цене, которая пока неизвестна. Его доход поэтому не фиксирован.
Условный пример Кантильона — торговец покупает товар по цене, которую может посчитать, но не знает, сколько покупателей придёт и по какой цене удастся продать. Он делает ставку на спрос. Не обязательно изобретает новую технологию; его основная черта — действует в условиях неопределённого результата и принимает решения до того, как рынок всё раскрыл.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Кантильон делит общество не просто на богатых и бедных, а на людей с фиксированными доходами и людей с неопределёнными. Жалованье, пенсия и договорная плата — относительно фиксированы, пока платёжеспособен наниматель. Торговец, фермер, ремесленник или независимый мастер рискуют тем, что спрос и цена окажутся иными, чем ожидалось.
Отсюда его категория непривычно широкая: предпринимателем может быть человек без крупного капитала, если его доход не гарантирован заранее. В главе XIII он даже приводит нищих и грабителей как крайние случаи «жизни в неопределённости». Это экономическая классификация источника дохода, не одобрение незаконной деятельности.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важно не спутать Кантильона с позднейшими теориями. У Кантильона предприниматель прежде всего принимает ценовую неопределённость и старается предугадать спрос. У Шумпетера, спустя почти два столетия, центральная фигура — новатор, который вводит «новые комбинации» и нарушает прежнее равновесие.
Их можно представить как две разные линзы: Кантильон объясняет, кто несёт рыночную неопределённость; Шумпетер — как предприниматель создаёт развитие через инновации. Кантильон дал ранний фундамент, но не сформулировал теорию инноваций XX века.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Кантильона предприниматель ещё и соединяет разные части экономики. Он платит за ресурсы и труд сейчас, выбирает объём производства и надеется найти покупателей позже. Если спрос выше ожидаемого — прибыль; если ниже — убыток. Это побуждает предпринимателей менять объёмы и цены.
Трактат Кантильона — не отдельная брошюра о бизнесменах: он пытался описать устройство всей экономики — землевладельцев, фермеров, ремесленников, торговцев, работников и городских потребителей. Предприниматель в этой картине — связующее звено между производством и рынком.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одна причина, почему Кантильон необычен для своего времени: он анализировал расстояние и место. Перевозка стоит денег; одинаковое сырьё может стоить по-разному возле города и далеко от него; тяжёлые товары выгоднее производить ближе к источнику. Рынки и поселения возникают не в пустом пространстве.
Позже пространственную экономику часто связывали с немецким экономистом Иоганном фон Тюненом, но Кантильон рассуждал о географии рынков и транспортных издержках почти столетием раньше. Это показывает ширину его подхода: предприниматель действует не только во времени неопределённости, но и в конкретном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Кантильон рассуждал и о денежном обращении. Новые деньги не попадают сразу ко всем в одинаковом объёме: сначала их получают конкретные люди и организации. Они тратят их, спрос растёт на определённые товары, затем меняются относительные цены и доходы. Те, кто получает деньги позднее, сталкиваются уже с изменившимися ценами.
Сегодня этот канал неравномерного воздействия денежной эмиссии называют эффектом Кантильона. Само выражение закрепилось гораздо позже; идея восходит к его анализу денег и цен. Важно не сводить её к лозунгу «печатный станок всегда вызывает инфляцию»: у Кантильона речь о том, кому и по какому пути деньги поступают, и как это меняет структуру цен.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и почти единственный экономический труд Кантильона — «Essai sur la nature du commerce en général», по-русски «Опыт о природе торговли вообще». Его обычно датируют примерно 1728–1730 годами. Кантильон умер до публикации; книга вышла анонимно в 1755 году.
На титульном листе было написано, что труд переведён с английского и напечатан в Лондоне у Флетчера Джайлза. Историки считают, что это ложный выходной адрес: скорее всего, книгу напечатали в Париже, а первоначально она была написана по-французски. Уильям Стэнли Джевонс в 1881 году назвал её колыбелью политической экономии.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Ночь 14 мая 1734 года: лондонский дом Кантильона на Олбемарл-стрит сгорел. Считалось, что он погиб в пожаре, потому что после той ночи его больше не видели. Газетное сообщение того времени описывало ограбление и убийство с последующим поджогом; позднее подозрения пали на повара, которого Кантильон уволил. Подробности дела и версия убийства остаются предметом исторических реконструкций.
Есть и ещё более кинематографическая версия. В Суринаме появился человек, называвший себя шевалье де Лувиньи; у него нашли документы, связанные с Кантильоном. Биограф Антуан Мёрфи предположил, что Кантильон инсценировал смерть, чтобы исчезнуть от преследования кредиторов. Это гипотеза по косвенным уликам, а не установленный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Кантильон был банкиром, международным посредником и наблюдателем за финансовыми пузырями. Его главная теоретическая идея для темы предпринимательства: один заранее несёт или договаривает свои издержки, но не может заранее знать доход. Предприниматель принимает решение под неопределённость и пытается угадать спрос.
Он не создал теорию инноваций Шумпетера и не дал современную модель предпринимательства целиком. Но именно он рано выделил предпринимателя как особую экономическую функцию. А его «Essai» объединил рынок, деньги, цены, население, географию и предпринимательский доход в целую картину экономики.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Основные сведения сверены по «Словарю ирландской биографии» Королевской ирландской академии и книге Антуана Мёрфи о Кантильоне. Теоретические формулировки и примеры предпринимателя опираются на текст самого «Essai» в издании Online Library of Liberty; финансовая биография и история Mississippi System — также на Dictionary of Irish Biography.
На изображении — фрагмент семейного портрета Николя де Ларжильера. Его иногда предположительно связывают с Кантильоном, но это не удостоверенный портрет; атрибуция оспаривается.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Relationship Id="rIdM3d3" Type="http://schemas.microsoft.com/office/2017/06/relationships/model3d" Target="../media/model3d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Relationship Id="rIdM3d4" Type="http://schemas.microsoft.com/office/2017/06/relationships/model3d" Target="../media/model3d4.glb"/><Relationship Id="rIdM3d5" Type="http://schemas.microsoft.com/office/2017/06/relationships/model3d" Target="../media/model3d5.glb"/><Relationship Id="rIdM3d6" Type="http://schemas.microsoft.com/office/2017/06/relationships/model3d" Target="../media/model3d6.glb"/><Relationship Id="rIdM3d7" Type="http://schemas.microsoft.com/office/2017/06/relationships/model3d" Target="../media/model3d7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Relationship Id="rIdM3d8" Type="http://schemas.microsoft.com/office/2017/06/relationships/model3d" Target="../media/model3d8.glb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Relationship Id="rIdM3d15" Type="http://schemas.microsoft.com/office/2017/06/relationships/model3d" Target="../media/model3d15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5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M3d16" Type="http://schemas.microsoft.com/office/2017/06/relationships/model3d" Target="../media/model3d16.glb"/><Relationship Id="rIdM3d17" Type="http://schemas.microsoft.com/office/2017/06/relationships/model3d" Target="../media/model3d17.glb"/><Relationship Id="rIdM3d18" Type="http://schemas.microsoft.com/office/2017/06/relationships/model3d" Target="../media/model3d18.glb"/><Relationship Id="rIdM3d19" Type="http://schemas.microsoft.com/office/2017/06/relationships/model3d" Target="../media/model3d19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6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Relationship Id="rIdM3d20" Type="http://schemas.microsoft.com/office/2017/06/relationships/model3d" Target="../media/model3d20.glb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7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Relationship Id="rIdM3d27" Type="http://schemas.microsoft.com/office/2017/06/relationships/model3d" Target="../media/model3d27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8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Relationship Id="rIdM3d28" Type="http://schemas.microsoft.com/office/2017/06/relationships/model3d" Target="../media/model3d28.glb"/><Relationship Id="rIdM3d29" Type="http://schemas.microsoft.com/office/2017/06/relationships/model3d" Target="../media/model3d29.glb"/><Relationship Id="rIdM3d30" Type="http://schemas.microsoft.com/office/2017/06/relationships/model3d" Target="../media/model3d30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9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9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Relationship Id="rIdM3d31" Type="http://schemas.microsoft.com/office/2017/06/relationships/model3d" Target="../media/model3d31.glb"/><Relationship Id="rIdM3d32" Type="http://schemas.microsoft.com/office/2017/06/relationships/model3d" Target="../media/model3d32.glb"/><Relationship Id="rIdM3d33" Type="http://schemas.microsoft.com/office/2017/06/relationships/model3d" Target="../media/model3d33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0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Relationship Id="rIdM3d34" Type="http://schemas.microsoft.com/office/2017/06/relationships/model3d" Target="../media/model3d34.glb"/><Relationship Id="rIdM3d35" Type="http://schemas.microsoft.com/office/2017/06/relationships/model3d" Target="../media/model3d35.glb"/><Relationship Id="rIdM3d36" Type="http://schemas.microsoft.com/office/2017/06/relationships/model3d" Target="../media/model3d36.glb"/><Relationship Id="rIdM3d37" Type="http://schemas.microsoft.com/office/2017/06/relationships/model3d" Target="../media/model3d37.glb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1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Relationship Id="rIdM3d38" Type="http://schemas.microsoft.com/office/2017/06/relationships/model3d" Target="../media/model3d38.glb"/><Relationship Id="rIdM3d39" Type="http://schemas.microsoft.com/office/2017/06/relationships/model3d" Target="../media/model3d39.glb"/><Relationship Id="rIdM3d40" Type="http://schemas.microsoft.com/office/2017/06/relationships/model3d" Target="../media/model3d40.glb"/><Relationship Id="rIdM3d41" Type="http://schemas.microsoft.com/office/2017/06/relationships/model3d" Target="../media/model3d41.glb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2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Relationship Id="rIdM3d42" Type="http://schemas.microsoft.com/office/2017/06/relationships/model3d" Target="../media/model3d42.glb"/><Relationship Id="rIdM3d43" Type="http://schemas.microsoft.com/office/2017/06/relationships/model3d" Target="../media/model3d43.glb"/><Relationship Id="rIdM3d44" Type="http://schemas.microsoft.com/office/2017/06/relationships/model3d" Target="../media/model3d44.glb"/><Relationship Id="rIdM3d45" Type="http://schemas.microsoft.com/office/2017/06/relationships/model3d" Target="../media/model3d45.glb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Relationship Id="rIdM3d46" Type="http://schemas.microsoft.com/office/2017/06/relationships/model3d" Target="../media/model3d46.glb"/><Relationship Id="rIdM3d47" Type="http://schemas.microsoft.com/office/2017/06/relationships/model3d" Target="../media/model3d47.glb"/><Relationship Id="rIdM3d48" Type="http://schemas.microsoft.com/office/2017/06/relationships/model3d" Target="../media/model3d48.glb"/><Relationship Id="rIdM3d49" Type="http://schemas.microsoft.com/office/2017/06/relationships/model3d" Target="../media/model3d49.glb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Relationship Id="rIdM3d50" Type="http://schemas.microsoft.com/office/2017/06/relationships/model3d" Target="../media/model3d50.glb"/><Relationship Id="rIdM3d51" Type="http://schemas.microsoft.com/office/2017/06/relationships/model3d" Target="../media/model3d51.glb"/><Relationship Id="rIdM3d52" Type="http://schemas.microsoft.com/office/2017/06/relationships/model3d" Target="../media/model3d52.glb"/><Relationship Id="rIdM3d53" Type="http://schemas.microsoft.com/office/2017/06/relationships/model3d" Target="../media/model3d53.glb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image" Target="../media/image-1-3.png"/><Relationship Id="rId5" Type="http://schemas.openxmlformats.org/officeDocument/2006/relationships/image" Target="../media/image-1-4.png"/><Relationship Id="rId6" Type="http://schemas.openxmlformats.org/officeDocument/2006/relationships/image" Target="../media/image-15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Relationship Id="rIdM3d54" Type="http://schemas.microsoft.com/office/2017/06/relationships/model3d" Target="../media/model3d54.glb"/><Relationship Id="rIdM3d55" Type="http://schemas.microsoft.com/office/2017/06/relationships/model3d" Target="../media/model3d55.glb"/><Relationship Id="rIdM3d56" Type="http://schemas.microsoft.com/office/2017/06/relationships/model3d" Target="../media/model3d56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2336" y="77724"/>
              <a:ext cx="566928" cy="566928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2336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5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ИСТОРИЯ ДЕНЕГ  ·  РИСК  ·  ПРЕДПРИНИМАТЕЛЬСТВО</a:t>
            </a:r>
            <a:endParaRPr lang="en-US" sz="1050" dirty="0"/>
          </a:p>
        </p:txBody>
      </p:sp>
      <p:sp>
        <p:nvSpPr>
          <p:cNvPr id="7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9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15</a:t>
            </a:r>
            <a:endParaRPr lang="en-US" sz="900" dirty="0"/>
          </a:p>
        </p:txBody>
      </p:sp>
      <p:pic>
        <p:nvPicPr>
          <p:cNvPr id="10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6357" y="-647395"/>
            <a:ext cx="8829446" cy="8829446"/>
          </a:xfrm>
          <a:prstGeom prst="rect">
            <a:avLst/>
          </a:prstGeom>
        </p:spPr>
      </p:pic>
      <p:sp>
        <p:nvSpPr>
          <p:cNvPr id="11" name="!!ring1"/>
          <p:cNvSpPr/>
          <p:nvPr/>
        </p:nvSpPr>
        <p:spPr>
          <a:xfrm>
            <a:off x="5718658" y="844906"/>
            <a:ext cx="5844845" cy="5844845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2" name="!!ring2"/>
          <p:cNvSpPr/>
          <p:nvPr/>
        </p:nvSpPr>
        <p:spPr>
          <a:xfrm>
            <a:off x="4910328" y="36576"/>
            <a:ext cx="7461504" cy="7461504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3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733" y="5368442"/>
            <a:ext cx="5098694" cy="127467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532120" y="658368"/>
              <a:ext cx="6217920" cy="621792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6217920" cy="6217920"/>
                    </a:xfrm>
                    <a:prstGeom prst="rect">
                      <a:avLst/>
                    </a:prstGeom>
                  </am3d:spPr>
                  <am3d:camera>
                    <am3d:pos x="0" y="0" z="569760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6441" d="1000000"/>
                    <am3d:preTrans dx="-2563378" dy="-192742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680000" az="72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217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32120" y="658368"/>
                <a:ext cx="6217920" cy="62179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fx1_9_0"/>
          <p:cNvSpPr/>
          <p:nvPr/>
        </p:nvSpPr>
        <p:spPr>
          <a:xfrm>
            <a:off x="7589520" y="58795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01</a:t>
            </a:r>
            <a:endParaRPr lang="en-US" sz="85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Торговля, море и неизвестный рынок</a:t>
            </a:r>
            <a:endParaRPr lang="en-US" sz="850" dirty="0"/>
          </a:p>
        </p:txBody>
      </p:sp>
      <p:sp>
        <p:nvSpPr>
          <p:cNvPr id="16" name="!!title"/>
          <p:cNvSpPr/>
          <p:nvPr/>
        </p:nvSpPr>
        <p:spPr>
          <a:xfrm>
            <a:off x="685800" y="1143000"/>
            <a:ext cx="6537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520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Ричард</a:t>
            </a:r>
            <a:endParaRPr lang="en-US" sz="5200" dirty="0"/>
          </a:p>
          <a:p>
            <a:pPr algn="l" indent="0" marL="0">
              <a:lnSpc>
                <a:spcPct val="91000"/>
              </a:lnSpc>
              <a:buNone/>
            </a:pPr>
            <a:r>
              <a:rPr lang="en-US" sz="64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</a:t>
            </a:r>
            <a:endParaRPr lang="en-US" sz="5200" dirty="0"/>
          </a:p>
        </p:txBody>
      </p:sp>
      <p:sp>
        <p:nvSpPr>
          <p:cNvPr id="17" name="fx1_1_1"/>
          <p:cNvSpPr/>
          <p:nvPr/>
        </p:nvSpPr>
        <p:spPr>
          <a:xfrm>
            <a:off x="685800" y="3383280"/>
            <a:ext cx="1051560" cy="3657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8" name="fx1_1_2"/>
          <p:cNvSpPr/>
          <p:nvPr/>
        </p:nvSpPr>
        <p:spPr>
          <a:xfrm>
            <a:off x="685800" y="3584448"/>
            <a:ext cx="55778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800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Банкир, который объяснил,</a:t>
            </a:r>
            <a:endParaRPr lang="en-US" sz="1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800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доход предпринимателя неизвестен заранее</a:t>
            </a:r>
            <a:endParaRPr lang="en-US" sz="1800" dirty="0"/>
          </a:p>
        </p:txBody>
      </p:sp>
      <p:sp>
        <p:nvSpPr>
          <p:cNvPr id="19" name="fx1_2_3"/>
          <p:cNvSpPr/>
          <p:nvPr/>
        </p:nvSpPr>
        <p:spPr>
          <a:xfrm>
            <a:off x="685800" y="47548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7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ок. 1680-е — 1734   ·   ИРЛАНДИЯ → ФРАНЦИЯ → ЕВРОПА</a:t>
            </a:r>
            <a:endParaRPr lang="en-US" sz="1050" dirty="0"/>
          </a:p>
        </p:txBody>
      </p:sp>
      <p:sp>
        <p:nvSpPr>
          <p:cNvPr id="20" name="fx1_8_4"/>
          <p:cNvSpPr/>
          <p:nvPr/>
        </p:nvSpPr>
        <p:spPr>
          <a:xfrm>
            <a:off x="685800" y="5303520"/>
            <a:ext cx="5394960" cy="841248"/>
          </a:xfrm>
          <a:prstGeom prst="roundRect">
            <a:avLst>
              <a:gd name="adj" fmla="val 8696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1_8_5"/>
          <p:cNvSpPr/>
          <p:nvPr/>
        </p:nvSpPr>
        <p:spPr>
          <a:xfrm>
            <a:off x="685800" y="5440680"/>
            <a:ext cx="50292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2" name="fx1_8_6"/>
          <p:cNvSpPr/>
          <p:nvPr/>
        </p:nvSpPr>
        <p:spPr>
          <a:xfrm>
            <a:off x="941832" y="517550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23" name="fx1_8_7"/>
          <p:cNvSpPr/>
          <p:nvPr/>
        </p:nvSpPr>
        <p:spPr>
          <a:xfrm>
            <a:off x="941832" y="517550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24" name="fx1_8_8"/>
          <p:cNvSpPr/>
          <p:nvPr/>
        </p:nvSpPr>
        <p:spPr>
          <a:xfrm>
            <a:off x="960120" y="5449824"/>
            <a:ext cx="491947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20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изобрёл французское слово «entrepreneur» — но одним из первых сделал предпринимателя </a:t>
            </a:r>
            <a:pPr algn="l" indent="0" marL="0">
              <a:lnSpc>
                <a:spcPct val="104000"/>
              </a:lnSpc>
              <a:buNone/>
            </a:pPr>
            <a:r>
              <a:rPr lang="en-US" sz="122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центральной фигурой экономической теории.</a:t>
            </a:r>
            <a:endParaRPr lang="en-US" sz="12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81328"/>
              <a:ext cx="3703320" cy="370332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3703320" cy="3703320"/>
                    </a:xfrm>
                    <a:prstGeom prst="rect">
                      <a:avLst/>
                    </a:prstGeom>
                  </am3d:spPr>
                  <am3d:camera>
                    <am3d:pos x="0" y="0" z="638432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2466" d="1000000"/>
                    <am3d:preTrans dx="-9028693" dy="62926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060000" az="-24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7033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481328"/>
                <a:ext cx="3703320" cy="3703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72864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75200" y="77724"/>
              <a:ext cx="566928" cy="566928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6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75200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ОТКУДА ОН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 Ирландии — в европейские финансы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03" y="383591"/>
            <a:ext cx="5258714" cy="525871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883500" y="1272388"/>
            <a:ext cx="3481121" cy="348112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402068" y="790956"/>
            <a:ext cx="4443984" cy="4443984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9765" y="3911003"/>
            <a:ext cx="2888590" cy="72214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72400" y="1161288"/>
              <a:ext cx="3703320" cy="370332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3703320" cy="3703320"/>
                    </a:xfrm>
                    <a:prstGeom prst="rect">
                      <a:avLst/>
                    </a:prstGeom>
                  </am3d:spPr>
                  <am3d:camera>
                    <am3d:pos x="0" y="0" z="638432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2466" d="1000000"/>
                    <am3d:preTrans dx="-9028693" dy="62926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440000" az="-24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7033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72400" y="1161288"/>
                <a:ext cx="3703320" cy="37033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2_9_0"/>
          <p:cNvSpPr/>
          <p:nvPr/>
        </p:nvSpPr>
        <p:spPr>
          <a:xfrm>
            <a:off x="7818120" y="5074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02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Ирландское происхождение</a:t>
            </a:r>
            <a:endParaRPr lang="en-US" sz="850" dirty="0"/>
          </a:p>
        </p:txBody>
      </p:sp>
      <p:sp>
        <p:nvSpPr>
          <p:cNvPr id="18" name="fx2_1_1"/>
          <p:cNvSpPr/>
          <p:nvPr/>
        </p:nvSpPr>
        <p:spPr>
          <a:xfrm>
            <a:off x="685800" y="2075688"/>
            <a:ext cx="2907792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82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2_1_2"/>
          <p:cNvSpPr/>
          <p:nvPr/>
        </p:nvSpPr>
        <p:spPr>
          <a:xfrm>
            <a:off x="886968" y="2194560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РОДИНА</a:t>
            </a:r>
            <a:endParaRPr lang="en-US" sz="900" dirty="0"/>
          </a:p>
        </p:txBody>
      </p:sp>
      <p:sp>
        <p:nvSpPr>
          <p:cNvPr id="20" name="fx2_1_3"/>
          <p:cNvSpPr/>
          <p:nvPr/>
        </p:nvSpPr>
        <p:spPr>
          <a:xfrm>
            <a:off x="886968" y="2414016"/>
            <a:ext cx="2542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Баллиронан</a:t>
            </a:r>
            <a:endParaRPr lang="en-US" sz="1600" dirty="0"/>
          </a:p>
        </p:txBody>
      </p:sp>
      <p:sp>
        <p:nvSpPr>
          <p:cNvPr id="21" name="fx2_1_4"/>
          <p:cNvSpPr/>
          <p:nvPr/>
        </p:nvSpPr>
        <p:spPr>
          <a:xfrm>
            <a:off x="886968" y="273405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приход Баллихейг, графство Керри</a:t>
            </a:r>
            <a:endParaRPr lang="en-US" sz="950" dirty="0"/>
          </a:p>
        </p:txBody>
      </p:sp>
      <p:sp>
        <p:nvSpPr>
          <p:cNvPr id="22" name="fx2_1_5"/>
          <p:cNvSpPr/>
          <p:nvPr/>
        </p:nvSpPr>
        <p:spPr>
          <a:xfrm>
            <a:off x="3739896" y="2075688"/>
            <a:ext cx="2907792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82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3" name="fx2_1_6"/>
          <p:cNvSpPr/>
          <p:nvPr/>
        </p:nvSpPr>
        <p:spPr>
          <a:xfrm>
            <a:off x="3941064" y="2194560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</a:t>
            </a:r>
            <a:endParaRPr lang="en-US" sz="900" dirty="0"/>
          </a:p>
        </p:txBody>
      </p:sp>
      <p:sp>
        <p:nvSpPr>
          <p:cNvPr id="24" name="fx2_1_7"/>
          <p:cNvSpPr/>
          <p:nvPr/>
        </p:nvSpPr>
        <p:spPr>
          <a:xfrm>
            <a:off x="3941064" y="2414016"/>
            <a:ext cx="2542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около 1687 года</a:t>
            </a:r>
            <a:endParaRPr lang="en-US" sz="1600" dirty="0"/>
          </a:p>
        </p:txBody>
      </p:sp>
      <p:sp>
        <p:nvSpPr>
          <p:cNvPr id="25" name="fx2_1_8"/>
          <p:cNvSpPr/>
          <p:nvPr/>
        </p:nvSpPr>
        <p:spPr>
          <a:xfrm>
            <a:off x="3941064" y="273405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вероятная оценка; точный год неизвестен</a:t>
            </a:r>
            <a:endParaRPr lang="en-US" sz="950" dirty="0"/>
          </a:p>
        </p:txBody>
      </p:sp>
      <p:sp>
        <p:nvSpPr>
          <p:cNvPr id="26" name="fx2_2_9"/>
          <p:cNvSpPr/>
          <p:nvPr/>
        </p:nvSpPr>
        <p:spPr>
          <a:xfrm>
            <a:off x="685800" y="3200400"/>
            <a:ext cx="2907792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82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7" name="fx2_2_10"/>
          <p:cNvSpPr/>
          <p:nvPr/>
        </p:nvSpPr>
        <p:spPr>
          <a:xfrm>
            <a:off x="886968" y="3319272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</a:t>
            </a:r>
            <a:endParaRPr lang="en-US" sz="900" dirty="0"/>
          </a:p>
        </p:txBody>
      </p:sp>
      <p:sp>
        <p:nvSpPr>
          <p:cNvPr id="28" name="fx2_2_11"/>
          <p:cNvSpPr/>
          <p:nvPr/>
        </p:nvSpPr>
        <p:spPr>
          <a:xfrm>
            <a:off x="886968" y="3538728"/>
            <a:ext cx="2542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Второй сын</a:t>
            </a:r>
            <a:endParaRPr lang="en-US" sz="1600" dirty="0"/>
          </a:p>
        </p:txBody>
      </p:sp>
      <p:sp>
        <p:nvSpPr>
          <p:cNvPr id="29" name="fx2_2_12"/>
          <p:cNvSpPr/>
          <p:nvPr/>
        </p:nvSpPr>
        <p:spPr>
          <a:xfrm>
            <a:off x="886968" y="3858768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католической землевладельческой семьи</a:t>
            </a:r>
            <a:endParaRPr lang="en-US" sz="950" dirty="0"/>
          </a:p>
        </p:txBody>
      </p:sp>
      <p:sp>
        <p:nvSpPr>
          <p:cNvPr id="30" name="fx2_2_13"/>
          <p:cNvSpPr/>
          <p:nvPr/>
        </p:nvSpPr>
        <p:spPr>
          <a:xfrm>
            <a:off x="3739896" y="3200400"/>
            <a:ext cx="2907792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82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31" name="fx2_2_14"/>
          <p:cNvSpPr/>
          <p:nvPr/>
        </p:nvSpPr>
        <p:spPr>
          <a:xfrm>
            <a:off x="3941064" y="3319272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ПОДДАНСТВО</a:t>
            </a:r>
            <a:endParaRPr lang="en-US" sz="900" dirty="0"/>
          </a:p>
        </p:txBody>
      </p:sp>
      <p:sp>
        <p:nvSpPr>
          <p:cNvPr id="32" name="fx2_2_15"/>
          <p:cNvSpPr/>
          <p:nvPr/>
        </p:nvSpPr>
        <p:spPr>
          <a:xfrm>
            <a:off x="3941064" y="3538728"/>
            <a:ext cx="2542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Французское · 1708</a:t>
            </a:r>
            <a:endParaRPr lang="en-US" sz="1600" dirty="0"/>
          </a:p>
        </p:txBody>
      </p:sp>
      <p:sp>
        <p:nvSpPr>
          <p:cNvPr id="33" name="fx2_2_16"/>
          <p:cNvSpPr/>
          <p:nvPr/>
        </p:nvSpPr>
        <p:spPr>
          <a:xfrm>
            <a:off x="3941064" y="3858768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карьера быстро стала международной</a:t>
            </a:r>
            <a:endParaRPr lang="en-US" sz="950" dirty="0"/>
          </a:p>
        </p:txBody>
      </p:sp>
      <p:sp>
        <p:nvSpPr>
          <p:cNvPr id="34" name="fx2_8_17"/>
          <p:cNvSpPr/>
          <p:nvPr/>
        </p:nvSpPr>
        <p:spPr>
          <a:xfrm>
            <a:off x="685800" y="5138928"/>
            <a:ext cx="5980176" cy="960120"/>
          </a:xfrm>
          <a:prstGeom prst="roundRect">
            <a:avLst>
              <a:gd name="adj" fmla="val 7619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2_8_18"/>
          <p:cNvSpPr/>
          <p:nvPr/>
        </p:nvSpPr>
        <p:spPr>
          <a:xfrm>
            <a:off x="685800" y="5276088"/>
            <a:ext cx="50292" cy="6858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2_8_19"/>
          <p:cNvSpPr/>
          <p:nvPr/>
        </p:nvSpPr>
        <p:spPr>
          <a:xfrm>
            <a:off x="941832" y="5010912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7" name="fx2_8_20"/>
          <p:cNvSpPr/>
          <p:nvPr/>
        </p:nvSpPr>
        <p:spPr>
          <a:xfrm>
            <a:off x="941832" y="5010912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8" name="fx2_8_21"/>
          <p:cNvSpPr/>
          <p:nvPr/>
        </p:nvSpPr>
        <p:spPr>
          <a:xfrm>
            <a:off x="960120" y="5285232"/>
            <a:ext cx="5504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10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Важная оговорка: год рождения и часть ранней биографии восстановлены по косвенным данным — </a:t>
            </a:r>
            <a:pPr algn="l" indent="0" marL="0">
              <a:lnSpc>
                <a:spcPct val="104000"/>
              </a:lnSpc>
              <a:buNone/>
            </a:pPr>
            <a:r>
              <a:rPr lang="en-US" sz="121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не точная дата из метрики.</a:t>
            </a:r>
            <a:endParaRPr lang="en-US" sz="121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6720840" y="978408"/>
              <a:ext cx="6217920" cy="621792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6217920" cy="6217920"/>
                    </a:xfrm>
                    <a:prstGeom prst="rect">
                      <a:avLst/>
                    </a:prstGeom>
                  </am3d:spPr>
                  <am3d:camera>
                    <am3d:pos x="0" y="0" z="569760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6441" d="1000000"/>
                    <am3d:preTrans dx="-2563378" dy="-192742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180000" az="72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6217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6720840" y="978408"/>
                <a:ext cx="6217920" cy="621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globe">
                <a:extLst>
                  <a:ext uri="{FF2B5EF4-FFF2-40B4-BE49-F238E27FC236}">
                    <a16:creationId xmlns:a16="http://schemas.microsoft.com/office/drawing/2014/main" id="{DC60E17D-1102-F478-1C3B-D3AFB91D711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124712"/>
              <a:ext cx="4160520" cy="416052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4160520" cy="4160520"/>
                    </a:xfrm>
                    <a:prstGeom prst="rect">
                      <a:avLst/>
                    </a:prstGeom>
                  </am3d:spPr>
                  <am3d:camera>
                    <am3d:pos x="0" y="0" z="718134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8205" dy="-773652" dz="544701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9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160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globe">
                <a:extLst>
                  <a:ext uri="{FF2B5EF4-FFF2-40B4-BE49-F238E27FC236}">
                    <a16:creationId xmlns:a16="http://schemas.microsoft.com/office/drawing/2014/main" id="{DC60E17D-1102-F478-1C3B-D3AFB91D71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124712"/>
                <a:ext cx="4160520" cy="4160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54572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948064" y="77724"/>
              <a:ext cx="566928" cy="566928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72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48064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МАРШРУТ КАРЬЕРЫ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Его офисом была вся Европа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51" y="-69037"/>
            <a:ext cx="5907938" cy="590793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577176" y="929488"/>
            <a:ext cx="3910889" cy="3910889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036308" y="388620"/>
            <a:ext cx="4992624" cy="4992624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0017" y="3977069"/>
            <a:ext cx="3245206" cy="81130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globe">
                <a:extLst>
                  <a:ext uri="{FF2B5EF4-FFF2-40B4-BE49-F238E27FC236}">
                    <a16:creationId xmlns:a16="http://schemas.microsoft.com/office/drawing/2014/main" id="{4762B5A7-10D7-9A75-55C5-EDA6D0BBBF9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52360" y="804672"/>
              <a:ext cx="4160520" cy="416052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4160520" cy="4160520"/>
                    </a:xfrm>
                    <a:prstGeom prst="rect">
                      <a:avLst/>
                    </a:prstGeom>
                  </am3d:spPr>
                  <am3d:camera>
                    <am3d:pos x="0" y="0" z="718134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8205" dy="-773652" dz="544701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160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globe">
                <a:extLst>
                  <a:ext uri="{FF2B5EF4-FFF2-40B4-BE49-F238E27FC236}">
                    <a16:creationId xmlns:a16="http://schemas.microsoft.com/office/drawing/2014/main" id="{4762B5A7-10D7-9A75-55C5-EDA6D0BBBF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52360" y="804672"/>
                <a:ext cx="4160520" cy="41605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3_9_0"/>
          <p:cNvSpPr/>
          <p:nvPr/>
        </p:nvSpPr>
        <p:spPr>
          <a:xfrm>
            <a:off x="7086600" y="4937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03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Деловые маршруты между столицами</a:t>
            </a:r>
            <a:endParaRPr lang="en-US" sz="850" dirty="0"/>
          </a:p>
        </p:txBody>
      </p:sp>
      <p:sp>
        <p:nvSpPr>
          <p:cNvPr id="18" name="fx3_1_1"/>
          <p:cNvSpPr/>
          <p:nvPr/>
        </p:nvSpPr>
        <p:spPr>
          <a:xfrm>
            <a:off x="685800" y="2011680"/>
            <a:ext cx="5989320" cy="621792"/>
          </a:xfrm>
          <a:prstGeom prst="roundRect">
            <a:avLst>
              <a:gd name="adj" fmla="val 11765"/>
            </a:avLst>
          </a:prstGeom>
          <a:solidFill>
            <a:srgbClr val="0E1930">
              <a:alpha val="86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3_1_2"/>
          <p:cNvSpPr/>
          <p:nvPr/>
        </p:nvSpPr>
        <p:spPr>
          <a:xfrm>
            <a:off x="850392" y="2139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1707–10</a:t>
            </a:r>
            <a:endParaRPr lang="en-US" sz="1500" dirty="0"/>
          </a:p>
        </p:txBody>
      </p:sp>
      <p:sp>
        <p:nvSpPr>
          <p:cNvPr id="20" name="fx3_1_3"/>
          <p:cNvSpPr/>
          <p:nvPr/>
        </p:nvSpPr>
        <p:spPr>
          <a:xfrm>
            <a:off x="1856232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Франция</a:t>
            </a:r>
            <a:endParaRPr lang="en-US" sz="1150" dirty="0"/>
          </a:p>
        </p:txBody>
      </p:sp>
      <p:sp>
        <p:nvSpPr>
          <p:cNvPr id="21" name="fx3_1_4"/>
          <p:cNvSpPr/>
          <p:nvPr/>
        </p:nvSpPr>
        <p:spPr>
          <a:xfrm>
            <a:off x="3182112" y="2121408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переводит деньги военнопленным</a:t>
            </a:r>
            <a:endParaRPr lang="en-US" sz="1050" dirty="0"/>
          </a:p>
        </p:txBody>
      </p:sp>
      <p:sp>
        <p:nvSpPr>
          <p:cNvPr id="22" name="fx3_2_5"/>
          <p:cNvSpPr/>
          <p:nvPr/>
        </p:nvSpPr>
        <p:spPr>
          <a:xfrm>
            <a:off x="685800" y="2761488"/>
            <a:ext cx="5989320" cy="621792"/>
          </a:xfrm>
          <a:prstGeom prst="roundRect">
            <a:avLst>
              <a:gd name="adj" fmla="val 11765"/>
            </a:avLst>
          </a:prstGeom>
          <a:solidFill>
            <a:srgbClr val="0E1930">
              <a:alpha val="86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3" name="fx3_2_6"/>
          <p:cNvSpPr/>
          <p:nvPr/>
        </p:nvSpPr>
        <p:spPr>
          <a:xfrm>
            <a:off x="850392" y="288950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1711</a:t>
            </a:r>
            <a:endParaRPr lang="en-US" sz="1500" dirty="0"/>
          </a:p>
        </p:txBody>
      </p:sp>
      <p:sp>
        <p:nvSpPr>
          <p:cNvPr id="24" name="fx3_2_7"/>
          <p:cNvSpPr/>
          <p:nvPr/>
        </p:nvSpPr>
        <p:spPr>
          <a:xfrm>
            <a:off x="1856232" y="288950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Испания</a:t>
            </a:r>
            <a:endParaRPr lang="en-US" sz="1150" dirty="0"/>
          </a:p>
        </p:txBody>
      </p:sp>
      <p:sp>
        <p:nvSpPr>
          <p:cNvPr id="25" name="fx3_2_8"/>
          <p:cNvSpPr/>
          <p:nvPr/>
        </p:nvSpPr>
        <p:spPr>
          <a:xfrm>
            <a:off x="3182112" y="287121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служба при британском казначее</a:t>
            </a:r>
            <a:endParaRPr lang="en-US" sz="1050" dirty="0"/>
          </a:p>
        </p:txBody>
      </p:sp>
      <p:sp>
        <p:nvSpPr>
          <p:cNvPr id="26" name="fx3_3_9"/>
          <p:cNvSpPr/>
          <p:nvPr/>
        </p:nvSpPr>
        <p:spPr>
          <a:xfrm>
            <a:off x="685800" y="3511296"/>
            <a:ext cx="5989320" cy="621792"/>
          </a:xfrm>
          <a:prstGeom prst="roundRect">
            <a:avLst>
              <a:gd name="adj" fmla="val 11765"/>
            </a:avLst>
          </a:prstGeom>
          <a:solidFill>
            <a:srgbClr val="0E1930">
              <a:alpha val="86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7" name="fx3_3_10"/>
          <p:cNvSpPr/>
          <p:nvPr/>
        </p:nvSpPr>
        <p:spPr>
          <a:xfrm>
            <a:off x="850392" y="363931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1714</a:t>
            </a:r>
            <a:endParaRPr lang="en-US" sz="1500" dirty="0"/>
          </a:p>
        </p:txBody>
      </p:sp>
      <p:sp>
        <p:nvSpPr>
          <p:cNvPr id="28" name="fx3_3_11"/>
          <p:cNvSpPr/>
          <p:nvPr/>
        </p:nvSpPr>
        <p:spPr>
          <a:xfrm>
            <a:off x="1856232" y="363931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</a:t>
            </a:r>
            <a:endParaRPr lang="en-US" sz="1150" dirty="0"/>
          </a:p>
        </p:txBody>
      </p:sp>
      <p:sp>
        <p:nvSpPr>
          <p:cNvPr id="29" name="fx3_3_12"/>
          <p:cNvSpPr/>
          <p:nvPr/>
        </p:nvSpPr>
        <p:spPr>
          <a:xfrm>
            <a:off x="3182112" y="362102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возвращается к банковскому делу</a:t>
            </a:r>
            <a:endParaRPr lang="en-US" sz="1050" dirty="0"/>
          </a:p>
        </p:txBody>
      </p:sp>
      <p:sp>
        <p:nvSpPr>
          <p:cNvPr id="30" name="fx3_4_13"/>
          <p:cNvSpPr/>
          <p:nvPr/>
        </p:nvSpPr>
        <p:spPr>
          <a:xfrm>
            <a:off x="685800" y="4261104"/>
            <a:ext cx="5989320" cy="621792"/>
          </a:xfrm>
          <a:prstGeom prst="roundRect">
            <a:avLst>
              <a:gd name="adj" fmla="val 11765"/>
            </a:avLst>
          </a:prstGeom>
          <a:solidFill>
            <a:srgbClr val="0E1930">
              <a:alpha val="86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31" name="fx3_4_14"/>
          <p:cNvSpPr/>
          <p:nvPr/>
        </p:nvSpPr>
        <p:spPr>
          <a:xfrm>
            <a:off x="850392" y="438912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1715–16</a:t>
            </a:r>
            <a:endParaRPr lang="en-US" sz="1500" dirty="0"/>
          </a:p>
        </p:txBody>
      </p:sp>
      <p:sp>
        <p:nvSpPr>
          <p:cNvPr id="32" name="fx3_4_15"/>
          <p:cNvSpPr/>
          <p:nvPr/>
        </p:nvSpPr>
        <p:spPr>
          <a:xfrm>
            <a:off x="1856232" y="438912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Свой банк</a:t>
            </a:r>
            <a:endParaRPr lang="en-US" sz="1150" dirty="0"/>
          </a:p>
        </p:txBody>
      </p:sp>
      <p:sp>
        <p:nvSpPr>
          <p:cNvPr id="33" name="fx3_4_16"/>
          <p:cNvSpPr/>
          <p:nvPr/>
        </p:nvSpPr>
        <p:spPr>
          <a:xfrm>
            <a:off x="3182112" y="43708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 банк и принимает дела кузена</a:t>
            </a:r>
            <a:endParaRPr lang="en-US" sz="1050" dirty="0"/>
          </a:p>
        </p:txBody>
      </p:sp>
      <p:sp>
        <p:nvSpPr>
          <p:cNvPr id="34" name="fx3_8_17"/>
          <p:cNvSpPr/>
          <p:nvPr/>
        </p:nvSpPr>
        <p:spPr>
          <a:xfrm>
            <a:off x="685800" y="5349240"/>
            <a:ext cx="5989320" cy="777240"/>
          </a:xfrm>
          <a:prstGeom prst="roundRect">
            <a:avLst>
              <a:gd name="adj" fmla="val 9412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3_8_18"/>
          <p:cNvSpPr/>
          <p:nvPr/>
        </p:nvSpPr>
        <p:spPr>
          <a:xfrm>
            <a:off x="685800" y="5486400"/>
            <a:ext cx="50292" cy="5029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3_8_19"/>
          <p:cNvSpPr/>
          <p:nvPr/>
        </p:nvSpPr>
        <p:spPr>
          <a:xfrm>
            <a:off x="941832" y="522122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7" name="fx3_8_20"/>
          <p:cNvSpPr/>
          <p:nvPr/>
        </p:nvSpPr>
        <p:spPr>
          <a:xfrm>
            <a:off x="941832" y="522122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8" name="fx3_8_21"/>
          <p:cNvSpPr/>
          <p:nvPr/>
        </p:nvSpPr>
        <p:spPr>
          <a:xfrm>
            <a:off x="960120" y="5495544"/>
            <a:ext cx="5513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Его преимущество — сеть: связи в Лондоне, Париже и Амстердаме помогли ему запустить собственный банк.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206240" y="1481328"/>
              <a:ext cx="3703320" cy="37033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3703320" cy="3703320"/>
                    </a:xfrm>
                    <a:prstGeom prst="rect">
                      <a:avLst/>
                    </a:prstGeom>
                  </am3d:spPr>
                  <am3d:camera>
                    <am3d:pos x="0" y="0" z="638432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2466" d="1000000"/>
                    <am3d:preTrans dx="-9028693" dy="62926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940000" az="-24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7033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206240" y="1481328"/>
                <a:ext cx="3703320" cy="37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key">
                <a:extLst>
                  <a:ext uri="{FF2B5EF4-FFF2-40B4-BE49-F238E27FC236}">
                    <a16:creationId xmlns:a16="http://schemas.microsoft.com/office/drawing/2014/main" id="{3C60F658-D6D1-5600-E67C-071B1638EE1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371600"/>
              <a:ext cx="3429000" cy="342900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3429000" cy="3429000"/>
                    </a:xfrm>
                    <a:prstGeom prst="rect">
                      <a:avLst/>
                    </a:prstGeom>
                  </am3d:spPr>
                  <am3d:camera>
                    <am3d:pos x="0" y="0" z="517685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6814" d="1000000"/>
                    <am3d:preTrans dx="6164922" dy="0" dz="3052681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420000" az="36000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429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key">
                <a:extLst>
                  <a:ext uri="{FF2B5EF4-FFF2-40B4-BE49-F238E27FC236}">
                    <a16:creationId xmlns:a16="http://schemas.microsoft.com/office/drawing/2014/main" id="{3C60F658-D6D1-5600-E67C-071B1638EE1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371600"/>
                <a:ext cx="34290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318592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720928" y="77724"/>
              <a:ext cx="566928" cy="566928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259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20928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ЧЕМ ОН ЗАНИМАЛСЯ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 — посредник между рынками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462" y="331470"/>
            <a:ext cx="4869180" cy="4869180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948422" y="1154430"/>
            <a:ext cx="3223260" cy="3223260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502652" y="708660"/>
            <a:ext cx="4114800" cy="4114800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2742" y="3597592"/>
            <a:ext cx="2674620" cy="668655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key">
                <a:extLst>
                  <a:ext uri="{FF2B5EF4-FFF2-40B4-BE49-F238E27FC236}">
                    <a16:creationId xmlns:a16="http://schemas.microsoft.com/office/drawing/2014/main" id="{6BDF12F3-AA05-E4E2-CBAC-144A92005F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45552" y="1051560"/>
              <a:ext cx="3429000" cy="342900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3429000" cy="3429000"/>
                    </a:xfrm>
                    <a:prstGeom prst="rect">
                      <a:avLst/>
                    </a:prstGeom>
                  </am3d:spPr>
                  <am3d:camera>
                    <am3d:pos x="0" y="0" z="517685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6814" d="1000000"/>
                    <am3d:preTrans dx="6164922" dy="0" dz="3052681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080000" az="36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429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key">
                <a:extLst>
                  <a:ext uri="{FF2B5EF4-FFF2-40B4-BE49-F238E27FC236}">
                    <a16:creationId xmlns:a16="http://schemas.microsoft.com/office/drawing/2014/main" id="{6BDF12F3-AA05-E4E2-CBAC-144A92005F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45552" y="1051560"/>
                <a:ext cx="3429000" cy="342900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4_9_0"/>
          <p:cNvSpPr/>
          <p:nvPr/>
        </p:nvSpPr>
        <p:spPr>
          <a:xfrm>
            <a:off x="7406640" y="49377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04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 к международным расчётам</a:t>
            </a:r>
            <a:endParaRPr lang="en-US" sz="850" dirty="0"/>
          </a:p>
        </p:txBody>
      </p:sp>
      <p:sp>
        <p:nvSpPr>
          <p:cNvPr id="18" name="fx4_1_1"/>
          <p:cNvSpPr/>
          <p:nvPr/>
        </p:nvSpPr>
        <p:spPr>
          <a:xfrm>
            <a:off x="731520" y="2212848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4_1_2"/>
          <p:cNvSpPr/>
          <p:nvPr/>
        </p:nvSpPr>
        <p:spPr>
          <a:xfrm>
            <a:off x="896112" y="242316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</a:t>
            </a:r>
            <a:endParaRPr lang="en-US" sz="900" dirty="0"/>
          </a:p>
        </p:txBody>
      </p:sp>
      <p:sp>
        <p:nvSpPr>
          <p:cNvPr id="20" name="fx4_1_3"/>
          <p:cNvSpPr/>
          <p:nvPr/>
        </p:nvSpPr>
        <p:spPr>
          <a:xfrm>
            <a:off x="896112" y="2734056"/>
            <a:ext cx="16642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его банк</a:t>
            </a:r>
            <a:endParaRPr lang="en-US" sz="1300" dirty="0"/>
          </a:p>
        </p:txBody>
      </p:sp>
      <p:sp>
        <p:nvSpPr>
          <p:cNvPr id="21" name="fx4_1_4"/>
          <p:cNvSpPr/>
          <p:nvPr/>
        </p:nvSpPr>
        <p:spPr>
          <a:xfrm>
            <a:off x="2761488" y="2788920"/>
            <a:ext cx="182880" cy="91"/>
          </a:xfrm>
          <a:prstGeom prst="line">
            <a:avLst/>
          </a:prstGeom>
          <a:noFill/>
          <a:ln w="25400">
            <a:solidFill>
              <a:srgbClr val="62D4F0"/>
            </a:solidFill>
            <a:prstDash val="solid"/>
          </a:ln>
        </p:spPr>
      </p:sp>
      <p:sp>
        <p:nvSpPr>
          <p:cNvPr id="22" name="fx4_2_5"/>
          <p:cNvSpPr/>
          <p:nvPr/>
        </p:nvSpPr>
        <p:spPr>
          <a:xfrm>
            <a:off x="2971800" y="2212848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3" name="fx4_2_6"/>
          <p:cNvSpPr/>
          <p:nvPr/>
        </p:nvSpPr>
        <p:spPr>
          <a:xfrm>
            <a:off x="3136392" y="242316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ЛОНДОН</a:t>
            </a:r>
            <a:endParaRPr lang="en-US" sz="900" dirty="0"/>
          </a:p>
        </p:txBody>
      </p:sp>
      <p:sp>
        <p:nvSpPr>
          <p:cNvPr id="24" name="fx4_2_7"/>
          <p:cNvSpPr/>
          <p:nvPr/>
        </p:nvSpPr>
        <p:spPr>
          <a:xfrm>
            <a:off x="3136392" y="2734056"/>
            <a:ext cx="16642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финансовые корреспонденты</a:t>
            </a:r>
            <a:endParaRPr lang="en-US" sz="1300" dirty="0"/>
          </a:p>
        </p:txBody>
      </p:sp>
      <p:sp>
        <p:nvSpPr>
          <p:cNvPr id="25" name="fx4_2_8"/>
          <p:cNvSpPr/>
          <p:nvPr/>
        </p:nvSpPr>
        <p:spPr>
          <a:xfrm>
            <a:off x="5001768" y="2788920"/>
            <a:ext cx="182880" cy="91"/>
          </a:xfrm>
          <a:prstGeom prst="line">
            <a:avLst/>
          </a:prstGeom>
          <a:noFill/>
          <a:ln w="25400">
            <a:solidFill>
              <a:srgbClr val="62D4F0"/>
            </a:solidFill>
            <a:prstDash val="solid"/>
          </a:ln>
        </p:spPr>
      </p:sp>
      <p:sp>
        <p:nvSpPr>
          <p:cNvPr id="26" name="fx4_3_9"/>
          <p:cNvSpPr/>
          <p:nvPr/>
        </p:nvSpPr>
        <p:spPr>
          <a:xfrm>
            <a:off x="5212080" y="2212848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7" name="fx4_3_10"/>
          <p:cNvSpPr/>
          <p:nvPr/>
        </p:nvSpPr>
        <p:spPr>
          <a:xfrm>
            <a:off x="5376672" y="242316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АМСТЕРДАМ</a:t>
            </a:r>
            <a:endParaRPr lang="en-US" sz="900" dirty="0"/>
          </a:p>
        </p:txBody>
      </p:sp>
      <p:sp>
        <p:nvSpPr>
          <p:cNvPr id="28" name="fx4_3_11"/>
          <p:cNvSpPr/>
          <p:nvPr/>
        </p:nvSpPr>
        <p:spPr>
          <a:xfrm>
            <a:off x="5376672" y="2734056"/>
            <a:ext cx="16642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партнёры и расчёты</a:t>
            </a:r>
            <a:endParaRPr lang="en-US" sz="1300" dirty="0"/>
          </a:p>
        </p:txBody>
      </p:sp>
      <p:sp>
        <p:nvSpPr>
          <p:cNvPr id="29" name="fx4_4_12"/>
          <p:cNvSpPr/>
          <p:nvPr/>
        </p:nvSpPr>
        <p:spPr>
          <a:xfrm>
            <a:off x="749808" y="3794760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spc="14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переводные векселя  ·  валюты  ·  кредит  ·  торговля</a:t>
            </a:r>
            <a:endParaRPr lang="en-US" sz="1100" dirty="0"/>
          </a:p>
        </p:txBody>
      </p:sp>
      <p:sp>
        <p:nvSpPr>
          <p:cNvPr id="30" name="fx4_8_13"/>
          <p:cNvSpPr/>
          <p:nvPr/>
        </p:nvSpPr>
        <p:spPr>
          <a:xfrm>
            <a:off x="685800" y="4800600"/>
            <a:ext cx="6583680" cy="1005840"/>
          </a:xfrm>
          <a:prstGeom prst="roundRect">
            <a:avLst>
              <a:gd name="adj" fmla="val 7273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4_8_14"/>
          <p:cNvSpPr/>
          <p:nvPr/>
        </p:nvSpPr>
        <p:spPr>
          <a:xfrm>
            <a:off x="685800" y="4937760"/>
            <a:ext cx="50292" cy="7315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4_8_15"/>
          <p:cNvSpPr/>
          <p:nvPr/>
        </p:nvSpPr>
        <p:spPr>
          <a:xfrm>
            <a:off x="941832" y="467258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3" name="fx4_8_16"/>
          <p:cNvSpPr/>
          <p:nvPr/>
        </p:nvSpPr>
        <p:spPr>
          <a:xfrm>
            <a:off x="941832" y="467258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4" name="fx4_8_17"/>
          <p:cNvSpPr/>
          <p:nvPr/>
        </p:nvSpPr>
        <p:spPr>
          <a:xfrm>
            <a:off x="960120" y="4946904"/>
            <a:ext cx="6108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 видел экономику не из кабинета: он годами переводил деньги через границы и сам кредитовал торговцев.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globe">
                <a:extLst>
                  <a:ext uri="{FF2B5EF4-FFF2-40B4-BE49-F238E27FC236}">
                    <a16:creationId xmlns:a16="http://schemas.microsoft.com/office/drawing/2014/main" id="{49941B54-15EE-51F4-2930-000928F2FDD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663440" y="1124712"/>
              <a:ext cx="4160520" cy="416052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4160520" cy="4160520"/>
                    </a:xfrm>
                    <a:prstGeom prst="rect">
                      <a:avLst/>
                    </a:prstGeom>
                  </am3d:spPr>
                  <am3d:camera>
                    <am3d:pos x="0" y="0" z="718134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8205" dy="-773652" dz="544701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51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160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globe">
                <a:extLst>
                  <a:ext uri="{FF2B5EF4-FFF2-40B4-BE49-F238E27FC236}">
                    <a16:creationId xmlns:a16="http://schemas.microsoft.com/office/drawing/2014/main" id="{49941B54-15EE-51F4-2930-000928F2FDD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663440" y="1124712"/>
                <a:ext cx="4160520" cy="416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280160"/>
              <a:ext cx="3749040" cy="374904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7978093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5" dy="-562500" dz="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060000" az="12000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280160"/>
                <a:ext cx="3749040" cy="3749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309145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493792" y="77724"/>
              <a:ext cx="566928" cy="566928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345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93792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ПУЗЫРЬ МИССИССИПИ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Он заработал на пузыре — и вовремя вышел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942" y="172822"/>
            <a:ext cx="5323637" cy="5323637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747711" y="1072591"/>
            <a:ext cx="3524098" cy="3524098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260336" y="585216"/>
            <a:ext cx="4498848" cy="4498848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634" y="3743782"/>
            <a:ext cx="2924251" cy="731063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960120"/>
              <a:ext cx="3749040" cy="374904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7978093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5" dy="-562500" dz="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440000" az="12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960120"/>
                <a:ext cx="3749040" cy="37490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5_9_0"/>
          <p:cNvSpPr/>
          <p:nvPr/>
        </p:nvSpPr>
        <p:spPr>
          <a:xfrm>
            <a:off x="7269480" y="4983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05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Корабль внутри стеклянного пузыря</a:t>
            </a:r>
            <a:endParaRPr lang="en-US" sz="850" dirty="0"/>
          </a:p>
        </p:txBody>
      </p:sp>
      <p:sp>
        <p:nvSpPr>
          <p:cNvPr id="18" name="fx5_1_1"/>
          <p:cNvSpPr/>
          <p:nvPr/>
        </p:nvSpPr>
        <p:spPr>
          <a:xfrm>
            <a:off x="685800" y="2084832"/>
            <a:ext cx="109728" cy="109728"/>
          </a:xfrm>
          <a:prstGeom prst="ellipse">
            <a:avLst/>
          </a:prstGeom>
          <a:solidFill>
            <a:srgbClr val="E3B663"/>
          </a:solidFill>
          <a:ln/>
        </p:spPr>
      </p:sp>
      <p:sp>
        <p:nvSpPr>
          <p:cNvPr id="19" name="fx5_1_2"/>
          <p:cNvSpPr/>
          <p:nvPr/>
        </p:nvSpPr>
        <p:spPr>
          <a:xfrm>
            <a:off x="960120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1718</a:t>
            </a:r>
            <a:endParaRPr lang="en-US" sz="1000" dirty="0"/>
          </a:p>
        </p:txBody>
      </p:sp>
      <p:sp>
        <p:nvSpPr>
          <p:cNvPr id="20" name="fx5_1_3"/>
          <p:cNvSpPr/>
          <p:nvPr/>
        </p:nvSpPr>
        <p:spPr>
          <a:xfrm>
            <a:off x="2221992" y="2029968"/>
            <a:ext cx="48463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Входит в круг Джона Ло и становится акционером Mississippi Company.</a:t>
            </a:r>
            <a:endParaRPr lang="en-US" sz="1150" dirty="0"/>
          </a:p>
        </p:txBody>
      </p:sp>
      <p:sp>
        <p:nvSpPr>
          <p:cNvPr id="21" name="fx5_2_4"/>
          <p:cNvSpPr/>
          <p:nvPr/>
        </p:nvSpPr>
        <p:spPr>
          <a:xfrm>
            <a:off x="685800" y="2779776"/>
            <a:ext cx="109728" cy="109728"/>
          </a:xfrm>
          <a:prstGeom prst="ellipse">
            <a:avLst/>
          </a:prstGeom>
          <a:solidFill>
            <a:srgbClr val="E3B663"/>
          </a:solidFill>
          <a:ln/>
        </p:spPr>
      </p:sp>
      <p:sp>
        <p:nvSpPr>
          <p:cNvPr id="22" name="fx5_2_5"/>
          <p:cNvSpPr/>
          <p:nvPr/>
        </p:nvSpPr>
        <p:spPr>
          <a:xfrm>
            <a:off x="960120" y="2743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ЛЕТО 1719</a:t>
            </a:r>
            <a:endParaRPr lang="en-US" sz="1000" dirty="0"/>
          </a:p>
        </p:txBody>
      </p:sp>
      <p:sp>
        <p:nvSpPr>
          <p:cNvPr id="23" name="fx5_2_6"/>
          <p:cNvSpPr/>
          <p:nvPr/>
        </p:nvSpPr>
        <p:spPr>
          <a:xfrm>
            <a:off x="2221992" y="2724912"/>
            <a:ext cx="48463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Зарабатывает на росте акций и опционов; понимает риск перегрева.</a:t>
            </a:r>
            <a:endParaRPr lang="en-US" sz="1150" dirty="0"/>
          </a:p>
        </p:txBody>
      </p:sp>
      <p:sp>
        <p:nvSpPr>
          <p:cNvPr id="24" name="fx5_3_7"/>
          <p:cNvSpPr/>
          <p:nvPr/>
        </p:nvSpPr>
        <p:spPr>
          <a:xfrm>
            <a:off x="685800" y="3474720"/>
            <a:ext cx="109728" cy="109728"/>
          </a:xfrm>
          <a:prstGeom prst="ellipse">
            <a:avLst/>
          </a:prstGeom>
          <a:solidFill>
            <a:srgbClr val="E3B663"/>
          </a:solidFill>
          <a:ln/>
        </p:spPr>
      </p:sp>
      <p:sp>
        <p:nvSpPr>
          <p:cNvPr id="25" name="fx5_3_8"/>
          <p:cNvSpPr/>
          <p:nvPr/>
        </p:nvSpPr>
        <p:spPr>
          <a:xfrm>
            <a:off x="960120" y="343814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ФЕВРАЛЬ 1720</a:t>
            </a:r>
            <a:endParaRPr lang="en-US" sz="1000" dirty="0"/>
          </a:p>
        </p:txBody>
      </p:sp>
      <p:sp>
        <p:nvSpPr>
          <p:cNvPr id="26" name="fx5_3_9"/>
          <p:cNvSpPr/>
          <p:nvPr/>
        </p:nvSpPr>
        <p:spPr>
          <a:xfrm>
            <a:off x="2221992" y="3419856"/>
            <a:ext cx="48463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Уезжает из Парижа до майского обвала акций системы Mississippi.</a:t>
            </a:r>
            <a:endParaRPr lang="en-US" sz="1150" dirty="0"/>
          </a:p>
        </p:txBody>
      </p:sp>
      <p:sp>
        <p:nvSpPr>
          <p:cNvPr id="27" name="fx5_4_10"/>
          <p:cNvSpPr/>
          <p:nvPr/>
        </p:nvSpPr>
        <p:spPr>
          <a:xfrm>
            <a:off x="685800" y="4169664"/>
            <a:ext cx="109728" cy="109728"/>
          </a:xfrm>
          <a:prstGeom prst="ellipse">
            <a:avLst/>
          </a:prstGeom>
          <a:solidFill>
            <a:srgbClr val="E3B663"/>
          </a:solidFill>
          <a:ln/>
        </p:spPr>
      </p:sp>
      <p:sp>
        <p:nvSpPr>
          <p:cNvPr id="28" name="fx5_4_11"/>
          <p:cNvSpPr/>
          <p:nvPr/>
        </p:nvSpPr>
        <p:spPr>
          <a:xfrm>
            <a:off x="960120" y="41330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ЗАТЕМ</a:t>
            </a:r>
            <a:endParaRPr lang="en-US" sz="1000" dirty="0"/>
          </a:p>
        </p:txBody>
      </p:sp>
      <p:sp>
        <p:nvSpPr>
          <p:cNvPr id="29" name="fx5_4_12"/>
          <p:cNvSpPr/>
          <p:nvPr/>
        </p:nvSpPr>
        <p:spPr>
          <a:xfrm>
            <a:off x="2221992" y="4114800"/>
            <a:ext cx="48463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Быстро покупает и продаёт South Sea shares — и получает вторую прибыль.</a:t>
            </a:r>
            <a:endParaRPr lang="en-US" sz="1150" dirty="0"/>
          </a:p>
        </p:txBody>
      </p:sp>
      <p:sp>
        <p:nvSpPr>
          <p:cNvPr id="30" name="fx5_8_13"/>
          <p:cNvSpPr/>
          <p:nvPr/>
        </p:nvSpPr>
        <p:spPr>
          <a:xfrm>
            <a:off x="685800" y="5257800"/>
            <a:ext cx="6537960" cy="841248"/>
          </a:xfrm>
          <a:prstGeom prst="roundRect">
            <a:avLst>
              <a:gd name="adj" fmla="val 8696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5_8_14"/>
          <p:cNvSpPr/>
          <p:nvPr/>
        </p:nvSpPr>
        <p:spPr>
          <a:xfrm>
            <a:off x="685800" y="5394960"/>
            <a:ext cx="50292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5_8_15"/>
          <p:cNvSpPr/>
          <p:nvPr/>
        </p:nvSpPr>
        <p:spPr>
          <a:xfrm>
            <a:off x="941832" y="512978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3" name="fx5_8_16"/>
          <p:cNvSpPr/>
          <p:nvPr/>
        </p:nvSpPr>
        <p:spPr>
          <a:xfrm>
            <a:off x="941832" y="512978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4" name="fx5_8_17"/>
          <p:cNvSpPr/>
          <p:nvPr/>
        </p:nvSpPr>
        <p:spPr>
          <a:xfrm>
            <a:off x="960120" y="5404104"/>
            <a:ext cx="606247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1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Ирония биографии: он анализировал риск на рынке — и сам стал одним из самых удачливых спекулянтов эпохи.</a:t>
            </a:r>
            <a:endParaRPr lang="en-US" sz="121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key">
                <a:extLst>
                  <a:ext uri="{FF2B5EF4-FFF2-40B4-BE49-F238E27FC236}">
                    <a16:creationId xmlns:a16="http://schemas.microsoft.com/office/drawing/2014/main" id="{9EE6876F-27C2-57F1-D1A2-75A74D460DA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931920" y="1371600"/>
              <a:ext cx="3429000" cy="342900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3429000" cy="3429000"/>
                    </a:xfrm>
                    <a:prstGeom prst="rect">
                      <a:avLst/>
                    </a:prstGeom>
                  </am3d:spPr>
                  <am3d:camera>
                    <am3d:pos x="0" y="0" z="517685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6814" d="1000000"/>
                    <am3d:preTrans dx="6164922" dy="0" dz="3052681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5580000" az="36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429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key">
                <a:extLst>
                  <a:ext uri="{FF2B5EF4-FFF2-40B4-BE49-F238E27FC236}">
                    <a16:creationId xmlns:a16="http://schemas.microsoft.com/office/drawing/2014/main" id="{9EE6876F-27C2-57F1-D1A2-75A74D460DA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931920" y="1371600"/>
                <a:ext cx="3429000" cy="342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barrel">
                <a:extLst>
                  <a:ext uri="{FF2B5EF4-FFF2-40B4-BE49-F238E27FC236}">
                    <a16:creationId xmlns:a16="http://schemas.microsoft.com/office/drawing/2014/main" id="{5084F9A9-3D14-6E7C-6A26-612500F91B3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81328"/>
              <a:ext cx="2926080" cy="292608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7536895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2270743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29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barrel">
                <a:extLst>
                  <a:ext uri="{FF2B5EF4-FFF2-40B4-BE49-F238E27FC236}">
                    <a16:creationId xmlns:a16="http://schemas.microsoft.com/office/drawing/2014/main" id="{5084F9A9-3D14-6E7C-6A26-612500F91B3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481328"/>
                <a:ext cx="2926080" cy="2926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3864320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266656" y="77724"/>
              <a:ext cx="566928" cy="566928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432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266656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ГЛАВНАЯ ИДЕЯ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Издержки известны. Выручка — нет.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843" y="546811"/>
            <a:ext cx="4155034" cy="415503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363102" y="1249070"/>
            <a:ext cx="2750515" cy="2750515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982712" y="868680"/>
            <a:ext cx="3511296" cy="3511296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7189" y="3333902"/>
            <a:ext cx="2282342" cy="57058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barrel">
                <a:extLst>
                  <a:ext uri="{FF2B5EF4-FFF2-40B4-BE49-F238E27FC236}">
                    <a16:creationId xmlns:a16="http://schemas.microsoft.com/office/drawing/2014/main" id="{6C97E723-E2AD-D4E5-E67C-FE6033E7C18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275320" y="1161288"/>
              <a:ext cx="2926080" cy="292608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7536895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2270743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barrel">
                <a:extLst>
                  <a:ext uri="{FF2B5EF4-FFF2-40B4-BE49-F238E27FC236}">
                    <a16:creationId xmlns:a16="http://schemas.microsoft.com/office/drawing/2014/main" id="{6C97E723-E2AD-D4E5-E67C-FE6033E7C1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75320" y="1161288"/>
                <a:ext cx="2926080" cy="29260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6_9_0"/>
          <p:cNvSpPr/>
          <p:nvPr/>
        </p:nvSpPr>
        <p:spPr>
          <a:xfrm>
            <a:off x="7635240" y="4937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06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 уже куплен — цена ещё нет</a:t>
            </a:r>
            <a:endParaRPr lang="en-US" sz="850" dirty="0"/>
          </a:p>
        </p:txBody>
      </p:sp>
      <p:sp>
        <p:nvSpPr>
          <p:cNvPr id="18" name="fx6_1_1"/>
          <p:cNvSpPr/>
          <p:nvPr/>
        </p:nvSpPr>
        <p:spPr>
          <a:xfrm>
            <a:off x="777240" y="2057400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0E1930">
              <a:alpha val="82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6_1_2"/>
          <p:cNvSpPr/>
          <p:nvPr/>
        </p:nvSpPr>
        <p:spPr>
          <a:xfrm>
            <a:off x="1005840" y="225856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 · ИЗВЕСТНО</a:t>
            </a:r>
            <a:endParaRPr lang="en-US" sz="900" dirty="0"/>
          </a:p>
        </p:txBody>
      </p:sp>
      <p:sp>
        <p:nvSpPr>
          <p:cNvPr id="20" name="fx6_1_3"/>
          <p:cNvSpPr/>
          <p:nvPr/>
        </p:nvSpPr>
        <p:spPr>
          <a:xfrm>
            <a:off x="1005840" y="258775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Покупка товара</a:t>
            </a:r>
            <a:endParaRPr lang="en-US" sz="1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Зарплата</a:t>
            </a:r>
            <a:endParaRPr lang="en-US" sz="1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Аренда</a:t>
            </a:r>
            <a:endParaRPr lang="en-US" sz="1700" dirty="0"/>
          </a:p>
        </p:txBody>
      </p:sp>
      <p:sp>
        <p:nvSpPr>
          <p:cNvPr id="21" name="fx6_2_4"/>
          <p:cNvSpPr/>
          <p:nvPr/>
        </p:nvSpPr>
        <p:spPr>
          <a:xfrm>
            <a:off x="4041648" y="251460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fx6_2_5"/>
          <p:cNvSpPr/>
          <p:nvPr/>
        </p:nvSpPr>
        <p:spPr>
          <a:xfrm>
            <a:off x="4526280" y="2057400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0E1930">
              <a:alpha val="82000"/>
            </a:srgbClr>
          </a:solidFill>
          <a:ln w="10160">
            <a:solidFill>
              <a:srgbClr val="B94737">
                <a:alpha val="26000"/>
              </a:srgbClr>
            </a:solidFill>
            <a:prstDash val="solid"/>
          </a:ln>
        </p:spPr>
      </p:sp>
      <p:sp>
        <p:nvSpPr>
          <p:cNvPr id="23" name="fx6_2_6"/>
          <p:cNvSpPr/>
          <p:nvPr/>
        </p:nvSpPr>
        <p:spPr>
          <a:xfrm>
            <a:off x="4754880" y="225856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ПОТОМ · НЕОПРЕДЕЛЁННО</a:t>
            </a:r>
            <a:endParaRPr lang="en-US" sz="900" dirty="0"/>
          </a:p>
        </p:txBody>
      </p:sp>
      <p:sp>
        <p:nvSpPr>
          <p:cNvPr id="24" name="fx6_2_7"/>
          <p:cNvSpPr/>
          <p:nvPr/>
        </p:nvSpPr>
        <p:spPr>
          <a:xfrm>
            <a:off x="4754880" y="258775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Сколько продаст?</a:t>
            </a:r>
            <a:endParaRPr lang="en-US" sz="16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Какой будет спрос?</a:t>
            </a:r>
            <a:endParaRPr lang="en-US" sz="16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Каков доход?</a:t>
            </a:r>
            <a:endParaRPr lang="en-US" sz="1600" dirty="0"/>
          </a:p>
        </p:txBody>
      </p:sp>
      <p:sp>
        <p:nvSpPr>
          <p:cNvPr id="25" name="fx6_8_8"/>
          <p:cNvSpPr/>
          <p:nvPr/>
        </p:nvSpPr>
        <p:spPr>
          <a:xfrm>
            <a:off x="685800" y="4315968"/>
            <a:ext cx="7086600" cy="1097280"/>
          </a:xfrm>
          <a:prstGeom prst="roundRect">
            <a:avLst>
              <a:gd name="adj" fmla="val 6667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fx6_8_9"/>
          <p:cNvSpPr/>
          <p:nvPr/>
        </p:nvSpPr>
        <p:spPr>
          <a:xfrm>
            <a:off x="685800" y="4453128"/>
            <a:ext cx="50292" cy="82296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7" name="fx6_8_10"/>
          <p:cNvSpPr/>
          <p:nvPr/>
        </p:nvSpPr>
        <p:spPr>
          <a:xfrm>
            <a:off x="941832" y="4187952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28" name="fx6_8_11"/>
          <p:cNvSpPr/>
          <p:nvPr/>
        </p:nvSpPr>
        <p:spPr>
          <a:xfrm>
            <a:off x="941832" y="4187952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29" name="fx6_8_12"/>
          <p:cNvSpPr/>
          <p:nvPr/>
        </p:nvSpPr>
        <p:spPr>
          <a:xfrm>
            <a:off x="960120" y="4462272"/>
            <a:ext cx="6611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 определяет предпринимателя не по титулу и не по владению фабрикой, а по </a:t>
            </a:r>
            <a:pPr algn="l" indent="0" marL="0">
              <a:lnSpc>
                <a:spcPct val="104000"/>
              </a:lnSpc>
              <a:buNone/>
            </a:pPr>
            <a:r>
              <a:rPr lang="en-US" sz="140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неопределённому доходу.</a:t>
            </a:r>
            <a:endParaRPr lang="en-US" sz="14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251960" y="1280160"/>
              <a:ext cx="3749040" cy="374904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7978093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5" dy="-562500" dz="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940000" az="12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251960" y="1280160"/>
                <a:ext cx="3749040" cy="374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!!m-dice">
                <a:extLst>
                  <a:ext uri="{FF2B5EF4-FFF2-40B4-BE49-F238E27FC236}">
                    <a16:creationId xmlns:a16="http://schemas.microsoft.com/office/drawing/2014/main" id="{FEA6B388-144B-1C7E-7F4F-3A1B09F0124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645920"/>
              <a:ext cx="2788920" cy="278892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2788920" cy="2788920"/>
                    </a:xfrm>
                    <a:prstGeom prst="rect">
                      <a:avLst/>
                    </a:prstGeom>
                  </am3d:spPr>
                  <am3d:camera>
                    <am3d:pos x="0" y="0" z="610828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5074" d="1000000"/>
                    <am3d:preTrans dx="-1389696" dy="-776494" dz="-1899061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540000" az="24000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788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!!m-dice">
                <a:extLst>
                  <a:ext uri="{FF2B5EF4-FFF2-40B4-BE49-F238E27FC236}">
                    <a16:creationId xmlns:a16="http://schemas.microsoft.com/office/drawing/2014/main" id="{FEA6B388-144B-1C7E-7F4F-3A1B09F0124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645920"/>
                <a:ext cx="2788920" cy="2788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4637184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039520" y="77724"/>
              <a:ext cx="566928" cy="566928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518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39520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КТО ТАКОЙ ПРЕДПРИНИМАТЕЛЬ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 Кантильона предприниматель — не только хозяин фабрики</a:t>
            </a:r>
            <a:endParaRPr lang="en-US" sz="32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087" y="740207"/>
            <a:ext cx="3960266" cy="396026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450428" y="1409548"/>
            <a:ext cx="2621585" cy="2621585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8087868" y="1046988"/>
            <a:ext cx="3346704" cy="3346704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541" y="3396653"/>
            <a:ext cx="2175358" cy="54383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dice">
                <a:extLst>
                  <a:ext uri="{FF2B5EF4-FFF2-40B4-BE49-F238E27FC236}">
                    <a16:creationId xmlns:a16="http://schemas.microsoft.com/office/drawing/2014/main" id="{737D27E5-7290-67F9-1CF7-F8EFED38711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66760" y="1325880"/>
              <a:ext cx="2788920" cy="2788920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2788920" cy="2788920"/>
                    </a:xfrm>
                    <a:prstGeom prst="rect">
                      <a:avLst/>
                    </a:prstGeom>
                  </am3d:spPr>
                  <am3d:camera>
                    <am3d:pos x="0" y="0" z="610828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5074" d="1000000"/>
                    <am3d:preTrans dx="-1389696" dy="-776494" dz="-1899061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960000" az="24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788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dice">
                <a:extLst>
                  <a:ext uri="{FF2B5EF4-FFF2-40B4-BE49-F238E27FC236}">
                    <a16:creationId xmlns:a16="http://schemas.microsoft.com/office/drawing/2014/main" id="{737D27E5-7290-67F9-1CF7-F8EFED3871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366760" y="1325880"/>
                <a:ext cx="2788920" cy="27889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7_9_0"/>
          <p:cNvSpPr/>
          <p:nvPr/>
        </p:nvSpPr>
        <p:spPr>
          <a:xfrm>
            <a:off x="7635240" y="4937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07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 нельзя расписать заранее</a:t>
            </a:r>
            <a:endParaRPr lang="en-US" sz="850" dirty="0"/>
          </a:p>
        </p:txBody>
      </p:sp>
      <p:sp>
        <p:nvSpPr>
          <p:cNvPr id="18" name="fx7_1_1"/>
          <p:cNvSpPr/>
          <p:nvPr/>
        </p:nvSpPr>
        <p:spPr>
          <a:xfrm>
            <a:off x="685800" y="2377440"/>
            <a:ext cx="3182112" cy="1627632"/>
          </a:xfrm>
          <a:prstGeom prst="roundRect">
            <a:avLst>
              <a:gd name="adj" fmla="val 4494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7_1_2"/>
          <p:cNvSpPr/>
          <p:nvPr/>
        </p:nvSpPr>
        <p:spPr>
          <a:xfrm>
            <a:off x="905256" y="26060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ФИКСИРОВАННЫЙ ДОХОД</a:t>
            </a:r>
            <a:endParaRPr lang="en-US" sz="900" dirty="0"/>
          </a:p>
        </p:txBody>
      </p:sp>
      <p:sp>
        <p:nvSpPr>
          <p:cNvPr id="20" name="fx7_1_3"/>
          <p:cNvSpPr/>
          <p:nvPr/>
        </p:nvSpPr>
        <p:spPr>
          <a:xfrm>
            <a:off x="914400" y="2980944"/>
            <a:ext cx="27249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Наёмный работник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Чиновник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Пенсионер</a:t>
            </a:r>
            <a:endParaRPr lang="en-US" sz="1600" dirty="0"/>
          </a:p>
        </p:txBody>
      </p:sp>
      <p:sp>
        <p:nvSpPr>
          <p:cNvPr id="21" name="fx7_2_4"/>
          <p:cNvSpPr/>
          <p:nvPr/>
        </p:nvSpPr>
        <p:spPr>
          <a:xfrm>
            <a:off x="4087368" y="2377440"/>
            <a:ext cx="3182112" cy="1627632"/>
          </a:xfrm>
          <a:prstGeom prst="roundRect">
            <a:avLst>
              <a:gd name="adj" fmla="val 4494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2" name="fx7_2_5"/>
          <p:cNvSpPr/>
          <p:nvPr/>
        </p:nvSpPr>
        <p:spPr>
          <a:xfrm>
            <a:off x="4306824" y="26060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НЕОПРЕДЕЛЁННЫЙ ДОХОД</a:t>
            </a:r>
            <a:endParaRPr lang="en-US" sz="900" dirty="0"/>
          </a:p>
        </p:txBody>
      </p:sp>
      <p:sp>
        <p:nvSpPr>
          <p:cNvPr id="23" name="fx7_2_6"/>
          <p:cNvSpPr/>
          <p:nvPr/>
        </p:nvSpPr>
        <p:spPr>
          <a:xfrm>
            <a:off x="4315968" y="2980944"/>
            <a:ext cx="27249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Фермер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Торговец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Ремесленник / мастер</a:t>
            </a:r>
            <a:endParaRPr lang="en-US" sz="1600" dirty="0"/>
          </a:p>
        </p:txBody>
      </p:sp>
      <p:sp>
        <p:nvSpPr>
          <p:cNvPr id="24" name="fx7_8_7"/>
          <p:cNvSpPr/>
          <p:nvPr/>
        </p:nvSpPr>
        <p:spPr>
          <a:xfrm>
            <a:off x="685800" y="4782312"/>
            <a:ext cx="6583680" cy="960120"/>
          </a:xfrm>
          <a:prstGeom prst="roundRect">
            <a:avLst>
              <a:gd name="adj" fmla="val 7619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7_8_8"/>
          <p:cNvSpPr/>
          <p:nvPr/>
        </p:nvSpPr>
        <p:spPr>
          <a:xfrm>
            <a:off x="685800" y="4919472"/>
            <a:ext cx="50292" cy="6858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6" name="fx7_8_9"/>
          <p:cNvSpPr/>
          <p:nvPr/>
        </p:nvSpPr>
        <p:spPr>
          <a:xfrm>
            <a:off x="941832" y="4654296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27" name="fx7_8_10"/>
          <p:cNvSpPr/>
          <p:nvPr/>
        </p:nvSpPr>
        <p:spPr>
          <a:xfrm>
            <a:off x="941832" y="4654296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28" name="fx7_8_11"/>
          <p:cNvSpPr/>
          <p:nvPr/>
        </p:nvSpPr>
        <p:spPr>
          <a:xfrm>
            <a:off x="960120" y="4928616"/>
            <a:ext cx="6108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8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Даже нищих и грабителей он помещает в эту широкую категорию — из-за неопределённого дохода, а не как похвалу.</a:t>
            </a:r>
            <a:endParaRPr lang="en-US" sz="118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9" name="!!m-barrel">
                <a:extLst>
                  <a:ext uri="{FF2B5EF4-FFF2-40B4-BE49-F238E27FC236}">
                    <a16:creationId xmlns:a16="http://schemas.microsoft.com/office/drawing/2014/main" id="{780E2357-399C-4A46-A8A4-E89FF42A8F9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429000" y="1481328"/>
              <a:ext cx="2926080" cy="2926080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7536895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2270743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60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9" name="!!m-barrel">
                <a:extLst>
                  <a:ext uri="{FF2B5EF4-FFF2-40B4-BE49-F238E27FC236}">
                    <a16:creationId xmlns:a16="http://schemas.microsoft.com/office/drawing/2014/main" id="{780E2357-399C-4A46-A8A4-E89FF42A8F9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429000" y="1481328"/>
                <a:ext cx="2926080" cy="29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!!m-scales">
                <a:extLst>
                  <a:ext uri="{FF2B5EF4-FFF2-40B4-BE49-F238E27FC236}">
                    <a16:creationId xmlns:a16="http://schemas.microsoft.com/office/drawing/2014/main" id="{798B1C4F-E04F-C177-B3D3-B11FD74CE6A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4142232"/>
              <a:ext cx="2240280" cy="2240280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6419867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6923" d="1000000"/>
                    <am3d:preTrans dx="0" dy="-96037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18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!!m-scales">
                <a:extLst>
                  <a:ext uri="{FF2B5EF4-FFF2-40B4-BE49-F238E27FC236}">
                    <a16:creationId xmlns:a16="http://schemas.microsoft.com/office/drawing/2014/main" id="{798B1C4F-E04F-C177-B3D3-B11FD74CE6A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4142232"/>
                <a:ext cx="2240280" cy="2240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541004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812384" y="77724"/>
              <a:ext cx="566928" cy="566928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604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812384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НЕ ПУТАТЬ С ПОЗДНИМИ ТЕОРИЯМИ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 ≠ Шумпетер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821" y="3351733"/>
            <a:ext cx="3181198" cy="318119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9165488" y="3889400"/>
            <a:ext cx="2105863" cy="210586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8874252" y="3598164"/>
            <a:ext cx="2688336" cy="2688336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4711" y="5485600"/>
            <a:ext cx="1747418" cy="436855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scales">
                <a:extLst>
                  <a:ext uri="{FF2B5EF4-FFF2-40B4-BE49-F238E27FC236}">
                    <a16:creationId xmlns:a16="http://schemas.microsoft.com/office/drawing/2014/main" id="{C01D85DD-6F11-01D3-9130-0880206D91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098280" y="3822192"/>
              <a:ext cx="2240280" cy="2240280"/>
            </p:xfrm>
            <a:graphic>
              <a:graphicData uri="http://schemas.microsoft.com/office/drawing/2017/model3d">
                <am3d:model3d r:embed="rIdM3d29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6419867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6923" d="1000000"/>
                    <am3d:preTrans dx="0" dy="-96037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3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scales">
                <a:extLst>
                  <a:ext uri="{FF2B5EF4-FFF2-40B4-BE49-F238E27FC236}">
                    <a16:creationId xmlns:a16="http://schemas.microsoft.com/office/drawing/2014/main" id="{C01D85DD-6F11-01D3-9130-0880206D91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98280" y="3822192"/>
                <a:ext cx="2240280" cy="22402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8_9_0"/>
          <p:cNvSpPr/>
          <p:nvPr/>
        </p:nvSpPr>
        <p:spPr>
          <a:xfrm>
            <a:off x="8229600" y="59253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08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разные линзы</a:t>
            </a:r>
            <a:endParaRPr lang="en-US" sz="850" dirty="0"/>
          </a:p>
        </p:txBody>
      </p:sp>
      <p:sp>
        <p:nvSpPr>
          <p:cNvPr id="18" name="fx8_1_1"/>
          <p:cNvSpPr/>
          <p:nvPr/>
        </p:nvSpPr>
        <p:spPr>
          <a:xfrm>
            <a:off x="685800" y="187452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0E1930">
              <a:alpha val="87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8_1_2"/>
          <p:cNvSpPr/>
          <p:nvPr/>
        </p:nvSpPr>
        <p:spPr>
          <a:xfrm>
            <a:off x="886968" y="2075688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</a:t>
            </a:r>
            <a:endParaRPr lang="en-US" sz="900" dirty="0"/>
          </a:p>
        </p:txBody>
      </p:sp>
      <p:sp>
        <p:nvSpPr>
          <p:cNvPr id="20" name="fx8_1_3"/>
          <p:cNvSpPr/>
          <p:nvPr/>
        </p:nvSpPr>
        <p:spPr>
          <a:xfrm>
            <a:off x="886968" y="2414016"/>
            <a:ext cx="3099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 · 1755</a:t>
            </a:r>
            <a:endParaRPr lang="en-US" sz="1050" dirty="0"/>
          </a:p>
        </p:txBody>
      </p:sp>
      <p:sp>
        <p:nvSpPr>
          <p:cNvPr id="21" name="fx8_1_4"/>
          <p:cNvSpPr/>
          <p:nvPr/>
        </p:nvSpPr>
        <p:spPr>
          <a:xfrm>
            <a:off x="905256" y="2788920"/>
            <a:ext cx="64008" cy="64008"/>
          </a:xfrm>
          <a:prstGeom prst="ellipse">
            <a:avLst/>
          </a:prstGeom>
          <a:solidFill>
            <a:srgbClr val="E3B663"/>
          </a:solidFill>
          <a:ln/>
        </p:spPr>
      </p:sp>
      <p:sp>
        <p:nvSpPr>
          <p:cNvPr id="22" name="fx8_1_5"/>
          <p:cNvSpPr/>
          <p:nvPr/>
        </p:nvSpPr>
        <p:spPr>
          <a:xfrm>
            <a:off x="1069848" y="2706624"/>
            <a:ext cx="2935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Доход предпринимателя неопределён</a:t>
            </a:r>
            <a:endParaRPr lang="en-US" sz="1100" dirty="0"/>
          </a:p>
        </p:txBody>
      </p:sp>
      <p:sp>
        <p:nvSpPr>
          <p:cNvPr id="23" name="fx8_1_6"/>
          <p:cNvSpPr/>
          <p:nvPr/>
        </p:nvSpPr>
        <p:spPr>
          <a:xfrm>
            <a:off x="905256" y="3136392"/>
            <a:ext cx="64008" cy="64008"/>
          </a:xfrm>
          <a:prstGeom prst="ellipse">
            <a:avLst/>
          </a:prstGeom>
          <a:solidFill>
            <a:srgbClr val="E3B663"/>
          </a:solidFill>
          <a:ln/>
        </p:spPr>
      </p:sp>
      <p:sp>
        <p:nvSpPr>
          <p:cNvPr id="24" name="fx8_1_7"/>
          <p:cNvSpPr/>
          <p:nvPr/>
        </p:nvSpPr>
        <p:spPr>
          <a:xfrm>
            <a:off x="1069848" y="3054096"/>
            <a:ext cx="2935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заранее несёт издержки</a:t>
            </a:r>
            <a:endParaRPr lang="en-US" sz="1100" dirty="0"/>
          </a:p>
        </p:txBody>
      </p:sp>
      <p:sp>
        <p:nvSpPr>
          <p:cNvPr id="25" name="fx8_1_8"/>
          <p:cNvSpPr/>
          <p:nvPr/>
        </p:nvSpPr>
        <p:spPr>
          <a:xfrm>
            <a:off x="905256" y="3483864"/>
            <a:ext cx="64008" cy="64008"/>
          </a:xfrm>
          <a:prstGeom prst="ellipse">
            <a:avLst/>
          </a:prstGeom>
          <a:solidFill>
            <a:srgbClr val="E3B663"/>
          </a:solidFill>
          <a:ln/>
        </p:spPr>
      </p:sp>
      <p:sp>
        <p:nvSpPr>
          <p:cNvPr id="26" name="fx8_1_9"/>
          <p:cNvSpPr/>
          <p:nvPr/>
        </p:nvSpPr>
        <p:spPr>
          <a:xfrm>
            <a:off x="1069848" y="3401568"/>
            <a:ext cx="2935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Пытается предвидеть спрос и цену</a:t>
            </a:r>
            <a:endParaRPr lang="en-US" sz="1100" dirty="0"/>
          </a:p>
        </p:txBody>
      </p:sp>
      <p:sp>
        <p:nvSpPr>
          <p:cNvPr id="27" name="fx8_1_10"/>
          <p:cNvSpPr/>
          <p:nvPr/>
        </p:nvSpPr>
        <p:spPr>
          <a:xfrm>
            <a:off x="914400" y="3749040"/>
            <a:ext cx="3044952" cy="320040"/>
          </a:xfrm>
          <a:prstGeom prst="roundRect">
            <a:avLst>
              <a:gd name="adj" fmla="val 42857"/>
            </a:avLst>
          </a:prstGeom>
          <a:solidFill>
            <a:srgbClr val="E3B663">
              <a:alpha val="13000"/>
            </a:srgbClr>
          </a:solidFill>
          <a:ln w="10160">
            <a:solidFill>
              <a:srgbClr val="E3B663">
                <a:alpha val="50000"/>
              </a:srgbClr>
            </a:solidFill>
            <a:prstDash val="solid"/>
          </a:ln>
        </p:spPr>
      </p:sp>
      <p:sp>
        <p:nvSpPr>
          <p:cNvPr id="28" name="fx8_1_11"/>
          <p:cNvSpPr/>
          <p:nvPr/>
        </p:nvSpPr>
        <p:spPr>
          <a:xfrm>
            <a:off x="987552" y="3785616"/>
            <a:ext cx="2898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НЕОПРЕДЕЛЁННЫЙ ДОХОД</a:t>
            </a:r>
            <a:endParaRPr lang="en-US" sz="950" dirty="0"/>
          </a:p>
        </p:txBody>
      </p:sp>
      <p:sp>
        <p:nvSpPr>
          <p:cNvPr id="29" name="fx8_2_12"/>
          <p:cNvSpPr/>
          <p:nvPr/>
        </p:nvSpPr>
        <p:spPr>
          <a:xfrm>
            <a:off x="4480560" y="187452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0E1930">
              <a:alpha val="87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30" name="fx8_2_13"/>
          <p:cNvSpPr/>
          <p:nvPr/>
        </p:nvSpPr>
        <p:spPr>
          <a:xfrm>
            <a:off x="4681728" y="2075688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</a:t>
            </a:r>
            <a:endParaRPr lang="en-US" sz="900" dirty="0"/>
          </a:p>
        </p:txBody>
      </p:sp>
      <p:sp>
        <p:nvSpPr>
          <p:cNvPr id="31" name="fx8_2_14"/>
          <p:cNvSpPr/>
          <p:nvPr/>
        </p:nvSpPr>
        <p:spPr>
          <a:xfrm>
            <a:off x="4681728" y="2414016"/>
            <a:ext cx="3099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 · 1911/12</a:t>
            </a:r>
            <a:endParaRPr lang="en-US" sz="1050" dirty="0"/>
          </a:p>
        </p:txBody>
      </p:sp>
      <p:sp>
        <p:nvSpPr>
          <p:cNvPr id="32" name="fx8_2_15"/>
          <p:cNvSpPr/>
          <p:nvPr/>
        </p:nvSpPr>
        <p:spPr>
          <a:xfrm>
            <a:off x="4700016" y="2788920"/>
            <a:ext cx="64008" cy="64008"/>
          </a:xfrm>
          <a:prstGeom prst="ellipse">
            <a:avLst/>
          </a:prstGeom>
          <a:solidFill>
            <a:srgbClr val="62D4F0"/>
          </a:solidFill>
          <a:ln/>
        </p:spPr>
      </p:sp>
      <p:sp>
        <p:nvSpPr>
          <p:cNvPr id="33" name="fx8_2_16"/>
          <p:cNvSpPr/>
          <p:nvPr/>
        </p:nvSpPr>
        <p:spPr>
          <a:xfrm>
            <a:off x="4864608" y="2706624"/>
            <a:ext cx="2935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— новатор</a:t>
            </a:r>
            <a:endParaRPr lang="en-US" sz="1100" dirty="0"/>
          </a:p>
        </p:txBody>
      </p:sp>
      <p:sp>
        <p:nvSpPr>
          <p:cNvPr id="34" name="fx8_2_17"/>
          <p:cNvSpPr/>
          <p:nvPr/>
        </p:nvSpPr>
        <p:spPr>
          <a:xfrm>
            <a:off x="4700016" y="3136392"/>
            <a:ext cx="64008" cy="64008"/>
          </a:xfrm>
          <a:prstGeom prst="ellipse">
            <a:avLst/>
          </a:prstGeom>
          <a:solidFill>
            <a:srgbClr val="62D4F0"/>
          </a:solidFill>
          <a:ln/>
        </p:spPr>
      </p:sp>
      <p:sp>
        <p:nvSpPr>
          <p:cNvPr id="35" name="fx8_2_18"/>
          <p:cNvSpPr/>
          <p:nvPr/>
        </p:nvSpPr>
        <p:spPr>
          <a:xfrm>
            <a:off x="4864608" y="3054096"/>
            <a:ext cx="2935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Вводит «новые комбинации»</a:t>
            </a:r>
            <a:endParaRPr lang="en-US" sz="1100" dirty="0"/>
          </a:p>
        </p:txBody>
      </p:sp>
      <p:sp>
        <p:nvSpPr>
          <p:cNvPr id="36" name="fx8_2_19"/>
          <p:cNvSpPr/>
          <p:nvPr/>
        </p:nvSpPr>
        <p:spPr>
          <a:xfrm>
            <a:off x="4700016" y="3483864"/>
            <a:ext cx="64008" cy="64008"/>
          </a:xfrm>
          <a:prstGeom prst="ellipse">
            <a:avLst/>
          </a:prstGeom>
          <a:solidFill>
            <a:srgbClr val="62D4F0"/>
          </a:solidFill>
          <a:ln/>
        </p:spPr>
      </p:sp>
      <p:sp>
        <p:nvSpPr>
          <p:cNvPr id="37" name="fx8_2_20"/>
          <p:cNvSpPr/>
          <p:nvPr/>
        </p:nvSpPr>
        <p:spPr>
          <a:xfrm>
            <a:off x="4864608" y="3401568"/>
            <a:ext cx="2935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Меняет структуру экономики</a:t>
            </a:r>
            <a:endParaRPr lang="en-US" sz="1100" dirty="0"/>
          </a:p>
        </p:txBody>
      </p:sp>
      <p:sp>
        <p:nvSpPr>
          <p:cNvPr id="38" name="fx8_2_21"/>
          <p:cNvSpPr/>
          <p:nvPr/>
        </p:nvSpPr>
        <p:spPr>
          <a:xfrm>
            <a:off x="4709160" y="3749040"/>
            <a:ext cx="3044952" cy="320040"/>
          </a:xfrm>
          <a:prstGeom prst="roundRect">
            <a:avLst>
              <a:gd name="adj" fmla="val 42857"/>
            </a:avLst>
          </a:prstGeom>
          <a:solidFill>
            <a:srgbClr val="62D4F0">
              <a:alpha val="13000"/>
            </a:srgbClr>
          </a:solidFill>
          <a:ln w="10160">
            <a:solidFill>
              <a:srgbClr val="62D4F0">
                <a:alpha val="50000"/>
              </a:srgbClr>
            </a:solidFill>
            <a:prstDash val="solid"/>
          </a:ln>
        </p:spPr>
      </p:sp>
      <p:sp>
        <p:nvSpPr>
          <p:cNvPr id="39" name="fx8_2_22"/>
          <p:cNvSpPr/>
          <p:nvPr/>
        </p:nvSpPr>
        <p:spPr>
          <a:xfrm>
            <a:off x="4782312" y="3785616"/>
            <a:ext cx="2898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ИННОВАЦИОННЫЙ СКАЧОК</a:t>
            </a:r>
            <a:endParaRPr lang="en-US" sz="950" dirty="0"/>
          </a:p>
        </p:txBody>
      </p:sp>
      <p:sp>
        <p:nvSpPr>
          <p:cNvPr id="40" name="fx8_8_23"/>
          <p:cNvSpPr/>
          <p:nvPr/>
        </p:nvSpPr>
        <p:spPr>
          <a:xfrm>
            <a:off x="685800" y="4700016"/>
            <a:ext cx="7269480" cy="1051560"/>
          </a:xfrm>
          <a:prstGeom prst="roundRect">
            <a:avLst>
              <a:gd name="adj" fmla="val 6957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1" name="fx8_8_24"/>
          <p:cNvSpPr/>
          <p:nvPr/>
        </p:nvSpPr>
        <p:spPr>
          <a:xfrm>
            <a:off x="685800" y="4837176"/>
            <a:ext cx="50292" cy="7772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2" name="fx8_8_25"/>
          <p:cNvSpPr/>
          <p:nvPr/>
        </p:nvSpPr>
        <p:spPr>
          <a:xfrm>
            <a:off x="941832" y="4572000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43" name="fx8_8_26"/>
          <p:cNvSpPr/>
          <p:nvPr/>
        </p:nvSpPr>
        <p:spPr>
          <a:xfrm>
            <a:off x="941832" y="4572000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44" name="fx8_8_27"/>
          <p:cNvSpPr/>
          <p:nvPr/>
        </p:nvSpPr>
        <p:spPr>
          <a:xfrm>
            <a:off x="960120" y="4846320"/>
            <a:ext cx="6793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6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Фундамент — да; готовая теория инновационного предпринимателя — нет. Это различие делает сравнение точнее.</a:t>
            </a:r>
            <a:endParaRPr lang="en-US" sz="126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dice">
                <a:extLst>
                  <a:ext uri="{FF2B5EF4-FFF2-40B4-BE49-F238E27FC236}">
                    <a16:creationId xmlns:a16="http://schemas.microsoft.com/office/drawing/2014/main" id="{89EBE3EF-EA7C-7FE0-7BD4-A922511B2EC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291840" y="1645920"/>
              <a:ext cx="2788920" cy="2788920"/>
            </p:xfrm>
            <a:graphic>
              <a:graphicData uri="http://schemas.microsoft.com/office/drawing/2017/model3d">
                <am3d:model3d r:embed="rIdM3d30">
                  <am3d:spPr>
                    <a:xfrm>
                      <a:off x="0" y="0"/>
                      <a:ext cx="2788920" cy="2788920"/>
                    </a:xfrm>
                    <a:prstGeom prst="rect">
                      <a:avLst/>
                    </a:prstGeom>
                  </am3d:spPr>
                  <am3d:camera>
                    <am3d:pos x="0" y="0" z="610828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5074" d="1000000"/>
                    <am3d:preTrans dx="-1389696" dy="-776494" dz="-1899061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460000" az="24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788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dice">
                <a:extLst>
                  <a:ext uri="{FF2B5EF4-FFF2-40B4-BE49-F238E27FC236}">
                    <a16:creationId xmlns:a16="http://schemas.microsoft.com/office/drawing/2014/main" id="{89EBE3EF-EA7C-7FE0-7BD4-A922511B2E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291840" y="1645920"/>
                <a:ext cx="2788920" cy="2788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6182912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94BD2252-8523-DB2E-C9B8-7C8F8770E50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85248" y="77724"/>
              <a:ext cx="566928" cy="566928"/>
            </p:xfrm>
            <a:graphic>
              <a:graphicData uri="http://schemas.microsoft.com/office/drawing/2017/model3d">
                <am3d:model3d r:embed="rIdM3d31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691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94BD2252-8523-DB2E-C9B8-7C8F8770E50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585248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КАК РАБОТАЕТ ЭТОТ МЕХАНИЗМ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Предприниматель сводит производство и спрос</a:t>
            </a:r>
            <a:endParaRPr lang="en-US" sz="32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884" y="858164"/>
            <a:ext cx="4090111" cy="4090111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453171" y="1549451"/>
            <a:ext cx="2707538" cy="2707538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8078724" y="1175004"/>
            <a:ext cx="3456432" cy="3456432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600" y="3601707"/>
            <a:ext cx="2246681" cy="56167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scales">
                <a:extLst>
                  <a:ext uri="{FF2B5EF4-FFF2-40B4-BE49-F238E27FC236}">
                    <a16:creationId xmlns:a16="http://schemas.microsoft.com/office/drawing/2014/main" id="{9F059782-4737-DDAB-1EA3-7F777AA19ED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66760" y="1463040"/>
              <a:ext cx="2880360" cy="2880360"/>
            </p:xfrm>
            <a:graphic>
              <a:graphicData uri="http://schemas.microsoft.com/office/drawing/2017/model3d">
                <am3d:model3d r:embed="rIdM3d32">
                  <am3d:spPr>
                    <a:xfrm>
                      <a:off x="0" y="0"/>
                      <a:ext cx="2880360" cy="2880360"/>
                    </a:xfrm>
                    <a:prstGeom prst="rect">
                      <a:avLst/>
                    </a:prstGeom>
                  </am3d:spPr>
                  <am3d:camera>
                    <am3d:pos x="0" y="0" z="6419867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6923" d="1000000"/>
                    <am3d:preTrans dx="0" dy="-96037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1680000" az="18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8803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scales">
                <a:extLst>
                  <a:ext uri="{FF2B5EF4-FFF2-40B4-BE49-F238E27FC236}">
                    <a16:creationId xmlns:a16="http://schemas.microsoft.com/office/drawing/2014/main" id="{9F059782-4737-DDAB-1EA3-7F777AA19ED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366760" y="1463040"/>
                <a:ext cx="2880360" cy="28803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9_9_0"/>
          <p:cNvSpPr/>
          <p:nvPr/>
        </p:nvSpPr>
        <p:spPr>
          <a:xfrm>
            <a:off x="7772400" y="4983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09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Ожидание спроса — главная ставка</a:t>
            </a:r>
            <a:endParaRPr lang="en-US" sz="850" dirty="0"/>
          </a:p>
        </p:txBody>
      </p:sp>
      <p:sp>
        <p:nvSpPr>
          <p:cNvPr id="18" name="fx9_1_1"/>
          <p:cNvSpPr/>
          <p:nvPr/>
        </p:nvSpPr>
        <p:spPr>
          <a:xfrm>
            <a:off x="685800" y="2331720"/>
            <a:ext cx="2066544" cy="1353312"/>
          </a:xfrm>
          <a:prstGeom prst="roundRect">
            <a:avLst>
              <a:gd name="adj" fmla="val 5405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9_1_2"/>
          <p:cNvSpPr/>
          <p:nvPr/>
        </p:nvSpPr>
        <p:spPr>
          <a:xfrm>
            <a:off x="868680" y="245973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20" name="fx9_1_3"/>
          <p:cNvSpPr/>
          <p:nvPr/>
        </p:nvSpPr>
        <p:spPr>
          <a:xfrm>
            <a:off x="868680" y="2834640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ОЦЕНИТЬ</a:t>
            </a:r>
            <a:endParaRPr lang="en-US" sz="900" dirty="0"/>
          </a:p>
        </p:txBody>
      </p:sp>
      <p:sp>
        <p:nvSpPr>
          <p:cNvPr id="21" name="fx9_1_4"/>
          <p:cNvSpPr/>
          <p:nvPr/>
        </p:nvSpPr>
        <p:spPr>
          <a:xfrm>
            <a:off x="868680" y="3118104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понадобится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покупателям?</a:t>
            </a:r>
            <a:endParaRPr lang="en-US" sz="1200" dirty="0"/>
          </a:p>
        </p:txBody>
      </p:sp>
      <p:sp>
        <p:nvSpPr>
          <p:cNvPr id="22" name="fx9_1_5"/>
          <p:cNvSpPr/>
          <p:nvPr/>
        </p:nvSpPr>
        <p:spPr>
          <a:xfrm>
            <a:off x="2770632" y="280720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fx9_2_6"/>
          <p:cNvSpPr/>
          <p:nvPr/>
        </p:nvSpPr>
        <p:spPr>
          <a:xfrm>
            <a:off x="2916936" y="2331720"/>
            <a:ext cx="2066544" cy="1353312"/>
          </a:xfrm>
          <a:prstGeom prst="roundRect">
            <a:avLst>
              <a:gd name="adj" fmla="val 5405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4" name="fx9_2_7"/>
          <p:cNvSpPr/>
          <p:nvPr/>
        </p:nvSpPr>
        <p:spPr>
          <a:xfrm>
            <a:off x="3099816" y="245973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25" name="fx9_2_8"/>
          <p:cNvSpPr/>
          <p:nvPr/>
        </p:nvSpPr>
        <p:spPr>
          <a:xfrm>
            <a:off x="3099816" y="2834640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РЕШИТЬ</a:t>
            </a:r>
            <a:endParaRPr lang="en-US" sz="900" dirty="0"/>
          </a:p>
        </p:txBody>
      </p:sp>
      <p:sp>
        <p:nvSpPr>
          <p:cNvPr id="26" name="fx9_2_9"/>
          <p:cNvSpPr/>
          <p:nvPr/>
        </p:nvSpPr>
        <p:spPr>
          <a:xfrm>
            <a:off x="3099816" y="3118104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купить,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нанять, произвести?</a:t>
            </a:r>
            <a:endParaRPr lang="en-US" sz="1200" dirty="0"/>
          </a:p>
        </p:txBody>
      </p:sp>
      <p:sp>
        <p:nvSpPr>
          <p:cNvPr id="27" name="fx9_2_10"/>
          <p:cNvSpPr/>
          <p:nvPr/>
        </p:nvSpPr>
        <p:spPr>
          <a:xfrm>
            <a:off x="5001768" y="280720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fx9_3_11"/>
          <p:cNvSpPr/>
          <p:nvPr/>
        </p:nvSpPr>
        <p:spPr>
          <a:xfrm>
            <a:off x="5148072" y="2331720"/>
            <a:ext cx="2066544" cy="1353312"/>
          </a:xfrm>
          <a:prstGeom prst="roundRect">
            <a:avLst>
              <a:gd name="adj" fmla="val 5405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9" name="fx9_3_12"/>
          <p:cNvSpPr/>
          <p:nvPr/>
        </p:nvSpPr>
        <p:spPr>
          <a:xfrm>
            <a:off x="5330952" y="245973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30" name="fx9_3_13"/>
          <p:cNvSpPr/>
          <p:nvPr/>
        </p:nvSpPr>
        <p:spPr>
          <a:xfrm>
            <a:off x="5330952" y="2834640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</a:t>
            </a:r>
            <a:endParaRPr lang="en-US" sz="900" dirty="0"/>
          </a:p>
        </p:txBody>
      </p:sp>
      <p:sp>
        <p:nvSpPr>
          <p:cNvPr id="31" name="fx9_3_14"/>
          <p:cNvSpPr/>
          <p:nvPr/>
        </p:nvSpPr>
        <p:spPr>
          <a:xfrm>
            <a:off x="5330952" y="3118104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 подтвердился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или подвёл?</a:t>
            </a:r>
            <a:endParaRPr lang="en-US" sz="1200" dirty="0"/>
          </a:p>
        </p:txBody>
      </p:sp>
      <p:sp>
        <p:nvSpPr>
          <p:cNvPr id="32" name="fx9_8_15"/>
          <p:cNvSpPr/>
          <p:nvPr/>
        </p:nvSpPr>
        <p:spPr>
          <a:xfrm>
            <a:off x="685800" y="4407408"/>
            <a:ext cx="6675120" cy="1051560"/>
          </a:xfrm>
          <a:prstGeom prst="roundRect">
            <a:avLst>
              <a:gd name="adj" fmla="val 6957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9_8_16"/>
          <p:cNvSpPr/>
          <p:nvPr/>
        </p:nvSpPr>
        <p:spPr>
          <a:xfrm>
            <a:off x="685800" y="4544568"/>
            <a:ext cx="50292" cy="7772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4" name="fx9_8_17"/>
          <p:cNvSpPr/>
          <p:nvPr/>
        </p:nvSpPr>
        <p:spPr>
          <a:xfrm>
            <a:off x="941832" y="4279392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5" name="fx9_8_18"/>
          <p:cNvSpPr/>
          <p:nvPr/>
        </p:nvSpPr>
        <p:spPr>
          <a:xfrm>
            <a:off x="941832" y="4279392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6" name="fx9_8_19"/>
          <p:cNvSpPr/>
          <p:nvPr/>
        </p:nvSpPr>
        <p:spPr>
          <a:xfrm>
            <a:off x="960120" y="4553712"/>
            <a:ext cx="6199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4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Для Кантильона прибыль — не гарантированная «зарплата за управление», а переменный результат рыночного решения.</a:t>
            </a:r>
            <a:endParaRPr lang="en-US" sz="124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globe">
                <a:extLst>
                  <a:ext uri="{FF2B5EF4-FFF2-40B4-BE49-F238E27FC236}">
                    <a16:creationId xmlns:a16="http://schemas.microsoft.com/office/drawing/2014/main" id="{DA0A4743-3322-4FEA-FA65-F3BE0349CD7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143000"/>
              <a:ext cx="4114800" cy="4114800"/>
            </p:xfrm>
            <a:graphic>
              <a:graphicData uri="http://schemas.microsoft.com/office/drawing/2017/model3d">
                <am3d:model3d r:embed="rIdM3d33">
                  <am3d:spPr>
                    <a:xfrm>
                      <a:off x="0" y="0"/>
                      <a:ext cx="4114800" cy="4114800"/>
                    </a:xfrm>
                    <a:prstGeom prst="rect">
                      <a:avLst/>
                    </a:prstGeom>
                  </am3d:spPr>
                  <am3d:camera>
                    <am3d:pos x="0" y="0" z="718134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8205" dy="-773652" dz="544701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7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1148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globe">
                <a:extLst>
                  <a:ext uri="{FF2B5EF4-FFF2-40B4-BE49-F238E27FC236}">
                    <a16:creationId xmlns:a16="http://schemas.microsoft.com/office/drawing/2014/main" id="{DA0A4743-3322-4FEA-FA65-F3BE0349CD7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143000"/>
                <a:ext cx="4114800" cy="4114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6955775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FFEB9BC-703B-CC81-63B9-E9AA969554A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358111" y="77724"/>
              <a:ext cx="566928" cy="566928"/>
            </p:xfrm>
            <a:graphic>
              <a:graphicData uri="http://schemas.microsoft.com/office/drawing/2017/model3d">
                <am3d:model3d r:embed="rIdM3d34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77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FFEB9BC-703B-CC81-63B9-E9AA969554A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358111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ЭКОНОМИКА И РАССТОЯНИЕ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зависит и от расстояния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-41148"/>
            <a:ext cx="5843016" cy="584301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575804" y="946404"/>
            <a:ext cx="3867912" cy="3867912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040880" y="411480"/>
            <a:ext cx="4937760" cy="4937760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3878199"/>
            <a:ext cx="3209544" cy="80238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globe">
                <a:extLst>
                  <a:ext uri="{FF2B5EF4-FFF2-40B4-BE49-F238E27FC236}">
                    <a16:creationId xmlns:a16="http://schemas.microsoft.com/office/drawing/2014/main" id="{485FF572-FCDD-2183-0278-BC868F0B275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52360" y="822960"/>
              <a:ext cx="4114800" cy="4114800"/>
            </p:xfrm>
            <a:graphic>
              <a:graphicData uri="http://schemas.microsoft.com/office/drawing/2017/model3d">
                <am3d:model3d r:embed="rIdM3d35">
                  <am3d:spPr>
                    <a:xfrm>
                      <a:off x="0" y="0"/>
                      <a:ext cx="4114800" cy="4114800"/>
                    </a:xfrm>
                    <a:prstGeom prst="rect">
                      <a:avLst/>
                    </a:prstGeom>
                  </am3d:spPr>
                  <am3d:camera>
                    <am3d:pos x="0" y="0" z="718134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8205" dy="-773652" dz="544701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7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1148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globe">
                <a:extLst>
                  <a:ext uri="{FF2B5EF4-FFF2-40B4-BE49-F238E27FC236}">
                    <a16:creationId xmlns:a16="http://schemas.microsoft.com/office/drawing/2014/main" id="{485FF572-FCDD-2183-0278-BC868F0B275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52360" y="822960"/>
                <a:ext cx="4114800" cy="411480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0_9_0"/>
          <p:cNvSpPr/>
          <p:nvPr/>
        </p:nvSpPr>
        <p:spPr>
          <a:xfrm>
            <a:off x="7178040" y="4983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10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рынка меняет издержки</a:t>
            </a:r>
            <a:endParaRPr lang="en-US" sz="850" dirty="0"/>
          </a:p>
        </p:txBody>
      </p:sp>
      <p:sp>
        <p:nvSpPr>
          <p:cNvPr id="18" name="fx10_1_1"/>
          <p:cNvSpPr/>
          <p:nvPr/>
        </p:nvSpPr>
        <p:spPr>
          <a:xfrm>
            <a:off x="685800" y="2011680"/>
            <a:ext cx="6035040" cy="704088"/>
          </a:xfrm>
          <a:prstGeom prst="roundRect">
            <a:avLst>
              <a:gd name="adj" fmla="val 10390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19" name="fx10_1_2"/>
          <p:cNvSpPr/>
          <p:nvPr/>
        </p:nvSpPr>
        <p:spPr>
          <a:xfrm>
            <a:off x="868680" y="21671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00" dirty="0"/>
          </a:p>
        </p:txBody>
      </p:sp>
      <p:sp>
        <p:nvSpPr>
          <p:cNvPr id="20" name="fx10_1_3"/>
          <p:cNvSpPr/>
          <p:nvPr/>
        </p:nvSpPr>
        <p:spPr>
          <a:xfrm>
            <a:off x="2331720" y="2157984"/>
            <a:ext cx="4114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Доставка добавляет стоимость.</a:t>
            </a:r>
            <a:endParaRPr lang="en-US" sz="1200" dirty="0"/>
          </a:p>
        </p:txBody>
      </p:sp>
      <p:sp>
        <p:nvSpPr>
          <p:cNvPr id="21" name="fx10_2_4"/>
          <p:cNvSpPr/>
          <p:nvPr/>
        </p:nvSpPr>
        <p:spPr>
          <a:xfrm>
            <a:off x="685800" y="2871216"/>
            <a:ext cx="6035040" cy="704088"/>
          </a:xfrm>
          <a:prstGeom prst="roundRect">
            <a:avLst>
              <a:gd name="adj" fmla="val 10390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2" name="fx10_2_5"/>
          <p:cNvSpPr/>
          <p:nvPr/>
        </p:nvSpPr>
        <p:spPr>
          <a:xfrm>
            <a:off x="868680" y="302666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</a:t>
            </a:r>
            <a:endParaRPr lang="en-US" sz="900" dirty="0"/>
          </a:p>
        </p:txBody>
      </p:sp>
      <p:sp>
        <p:nvSpPr>
          <p:cNvPr id="23" name="fx10_2_6"/>
          <p:cNvSpPr/>
          <p:nvPr/>
        </p:nvSpPr>
        <p:spPr>
          <a:xfrm>
            <a:off x="2331720" y="3017520"/>
            <a:ext cx="4114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Город притягивает рынок и ремесло.</a:t>
            </a:r>
            <a:endParaRPr lang="en-US" sz="1200" dirty="0"/>
          </a:p>
        </p:txBody>
      </p:sp>
      <p:sp>
        <p:nvSpPr>
          <p:cNvPr id="24" name="fx10_3_7"/>
          <p:cNvSpPr/>
          <p:nvPr/>
        </p:nvSpPr>
        <p:spPr>
          <a:xfrm>
            <a:off x="685800" y="3730752"/>
            <a:ext cx="6035040" cy="704088"/>
          </a:xfrm>
          <a:prstGeom prst="roundRect">
            <a:avLst>
              <a:gd name="adj" fmla="val 10390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5" name="fx10_3_8"/>
          <p:cNvSpPr/>
          <p:nvPr/>
        </p:nvSpPr>
        <p:spPr>
          <a:xfrm>
            <a:off x="868680" y="388620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</a:t>
            </a:r>
            <a:endParaRPr lang="en-US" sz="900" dirty="0"/>
          </a:p>
        </p:txBody>
      </p:sp>
      <p:sp>
        <p:nvSpPr>
          <p:cNvPr id="26" name="fx10_3_9"/>
          <p:cNvSpPr/>
          <p:nvPr/>
        </p:nvSpPr>
        <p:spPr>
          <a:xfrm>
            <a:off x="2331720" y="3877056"/>
            <a:ext cx="4114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Тяжёлое выгоднее делать ближе к источнику.</a:t>
            </a:r>
            <a:endParaRPr lang="en-US" sz="1200" dirty="0"/>
          </a:p>
        </p:txBody>
      </p:sp>
      <p:sp>
        <p:nvSpPr>
          <p:cNvPr id="27" name="fx10_8_10"/>
          <p:cNvSpPr/>
          <p:nvPr/>
        </p:nvSpPr>
        <p:spPr>
          <a:xfrm>
            <a:off x="685800" y="4937760"/>
            <a:ext cx="6080760" cy="877824"/>
          </a:xfrm>
          <a:prstGeom prst="roundRect">
            <a:avLst>
              <a:gd name="adj" fmla="val 8333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10_8_11"/>
          <p:cNvSpPr/>
          <p:nvPr/>
        </p:nvSpPr>
        <p:spPr>
          <a:xfrm>
            <a:off x="685800" y="5074920"/>
            <a:ext cx="50292" cy="6035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9" name="fx10_8_12"/>
          <p:cNvSpPr/>
          <p:nvPr/>
        </p:nvSpPr>
        <p:spPr>
          <a:xfrm>
            <a:off x="941832" y="480974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0" name="fx10_8_13"/>
          <p:cNvSpPr/>
          <p:nvPr/>
        </p:nvSpPr>
        <p:spPr>
          <a:xfrm>
            <a:off x="941832" y="480974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1" name="fx10_8_14"/>
          <p:cNvSpPr/>
          <p:nvPr/>
        </p:nvSpPr>
        <p:spPr>
          <a:xfrm>
            <a:off x="960120" y="5084064"/>
            <a:ext cx="56052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2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Задолго до современной «пространственной экономики» он включил стоимость расстояния в анализ рынка.</a:t>
            </a:r>
            <a:endParaRPr lang="en-US" sz="12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scales">
                <a:extLst>
                  <a:ext uri="{FF2B5EF4-FFF2-40B4-BE49-F238E27FC236}">
                    <a16:creationId xmlns:a16="http://schemas.microsoft.com/office/drawing/2014/main" id="{90326E7C-2DBB-2B7F-04B4-2C563AABF4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383280" y="1783080"/>
              <a:ext cx="2880360" cy="2880360"/>
            </p:xfrm>
            <a:graphic>
              <a:graphicData uri="http://schemas.microsoft.com/office/drawing/2017/model3d">
                <am3d:model3d r:embed="rIdM3d36">
                  <am3d:spPr>
                    <a:xfrm>
                      <a:off x="0" y="0"/>
                      <a:ext cx="2880360" cy="2880360"/>
                    </a:xfrm>
                    <a:prstGeom prst="rect">
                      <a:avLst/>
                    </a:prstGeom>
                  </am3d:spPr>
                  <am3d:camera>
                    <am3d:pos x="0" y="0" z="6419867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6923" d="1000000"/>
                    <am3d:preTrans dx="0" dy="-96037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6180000" az="18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8803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scales">
                <a:extLst>
                  <a:ext uri="{FF2B5EF4-FFF2-40B4-BE49-F238E27FC236}">
                    <a16:creationId xmlns:a16="http://schemas.microsoft.com/office/drawing/2014/main" id="{90326E7C-2DBB-2B7F-04B4-2C563AABF4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383280" y="1783080"/>
                <a:ext cx="2880360" cy="28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ripple">
                <a:extLst>
                  <a:ext uri="{FF2B5EF4-FFF2-40B4-BE49-F238E27FC236}">
                    <a16:creationId xmlns:a16="http://schemas.microsoft.com/office/drawing/2014/main" id="{4AE32BC7-0DC0-F857-2FE4-D2C17EC06C5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63040"/>
              <a:ext cx="3474720" cy="3474720"/>
            </p:xfrm>
            <a:graphic>
              <a:graphicData uri="http://schemas.microsoft.com/office/drawing/2017/model3d">
                <am3d:model3d r:embed="rIdM3d37">
                  <am3d:spPr>
                    <a:xfrm>
                      <a:off x="0" y="0"/>
                      <a:ext cx="3474720" cy="3474720"/>
                    </a:xfrm>
                    <a:prstGeom prst="rect">
                      <a:avLst/>
                    </a:prstGeom>
                  </am3d:spPr>
                  <am3d:camera>
                    <am3d:pos x="0" y="0" z="691785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138" d="1000000"/>
                    <am3d:preTrans dx="0" dy="-199091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180000" az="-24000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4747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ripple">
                <a:extLst>
                  <a:ext uri="{FF2B5EF4-FFF2-40B4-BE49-F238E27FC236}">
                    <a16:creationId xmlns:a16="http://schemas.microsoft.com/office/drawing/2014/main" id="{4AE32BC7-0DC0-F857-2FE4-D2C17EC06C5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463040"/>
                <a:ext cx="3474720" cy="3474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1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72863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E5ADDF81-07A3-7746-5A05-A7293E60200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30975" y="77724"/>
              <a:ext cx="566928" cy="566928"/>
            </p:xfrm>
            <a:graphic>
              <a:graphicData uri="http://schemas.microsoft.com/office/drawing/2017/model3d">
                <am3d:model3d r:embed="rIdM3d38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64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E5ADDF81-07A3-7746-5A05-A7293E60200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30975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ДЕНЬГИ НЕ РАСПРОСТРАНЯЮТСЯ РАВНОМЕРНО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Эффект Кантильона: важен путь денег</a:t>
            </a:r>
            <a:endParaRPr lang="en-US" sz="32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5861" y="413309"/>
            <a:ext cx="4934102" cy="4934102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949794" y="1247242"/>
            <a:ext cx="3266237" cy="3266237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498080" y="795528"/>
            <a:ext cx="4169664" cy="4169664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771" y="3722980"/>
            <a:ext cx="2710282" cy="67757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ripple">
                <a:extLst>
                  <a:ext uri="{FF2B5EF4-FFF2-40B4-BE49-F238E27FC236}">
                    <a16:creationId xmlns:a16="http://schemas.microsoft.com/office/drawing/2014/main" id="{B61F1AEB-8C25-9E16-FD31-EFB1575D0AA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45552" y="1143000"/>
              <a:ext cx="3474720" cy="3474720"/>
            </p:xfrm>
            <a:graphic>
              <a:graphicData uri="http://schemas.microsoft.com/office/drawing/2017/model3d">
                <am3d:model3d r:embed="rIdM3d39">
                  <am3d:spPr>
                    <a:xfrm>
                      <a:off x="0" y="0"/>
                      <a:ext cx="3474720" cy="3474720"/>
                    </a:xfrm>
                    <a:prstGeom prst="rect">
                      <a:avLst/>
                    </a:prstGeom>
                  </am3d:spPr>
                  <am3d:camera>
                    <am3d:pos x="0" y="0" z="691785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138" d="1000000"/>
                    <am3d:preTrans dx="0" dy="-199091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320000" az="-24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4747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ripple">
                <a:extLst>
                  <a:ext uri="{FF2B5EF4-FFF2-40B4-BE49-F238E27FC236}">
                    <a16:creationId xmlns:a16="http://schemas.microsoft.com/office/drawing/2014/main" id="{B61F1AEB-8C25-9E16-FD31-EFB1575D0AA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45552" y="1143000"/>
                <a:ext cx="3474720" cy="34747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1_9_0"/>
          <p:cNvSpPr/>
          <p:nvPr/>
        </p:nvSpPr>
        <p:spPr>
          <a:xfrm>
            <a:off x="7315200" y="5029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11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монета — разные волны цен</a:t>
            </a:r>
            <a:endParaRPr lang="en-US" sz="850" dirty="0"/>
          </a:p>
        </p:txBody>
      </p:sp>
      <p:sp>
        <p:nvSpPr>
          <p:cNvPr id="18" name="fx11_1_1"/>
          <p:cNvSpPr/>
          <p:nvPr/>
        </p:nvSpPr>
        <p:spPr>
          <a:xfrm>
            <a:off x="685800" y="2002536"/>
            <a:ext cx="329184" cy="329184"/>
          </a:xfrm>
          <a:prstGeom prst="ellipse">
            <a:avLst/>
          </a:prstGeom>
          <a:solidFill>
            <a:srgbClr val="E3B663"/>
          </a:solidFill>
          <a:ln w="12700">
            <a:solidFill>
              <a:srgbClr val="E3B663"/>
            </a:solidFill>
            <a:prstDash val="solid"/>
          </a:ln>
        </p:spPr>
      </p:sp>
      <p:sp>
        <p:nvSpPr>
          <p:cNvPr id="19" name="fx11_1_2"/>
          <p:cNvSpPr/>
          <p:nvPr/>
        </p:nvSpPr>
        <p:spPr>
          <a:xfrm>
            <a:off x="685800" y="2057400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fx11_1_3"/>
          <p:cNvSpPr/>
          <p:nvPr/>
        </p:nvSpPr>
        <p:spPr>
          <a:xfrm>
            <a:off x="1188720" y="1965960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деньги поступают не всем сразу.</a:t>
            </a:r>
            <a:endParaRPr lang="en-US" sz="1200" dirty="0"/>
          </a:p>
        </p:txBody>
      </p:sp>
      <p:sp>
        <p:nvSpPr>
          <p:cNvPr id="21" name="fx11_2_4"/>
          <p:cNvSpPr/>
          <p:nvPr/>
        </p:nvSpPr>
        <p:spPr>
          <a:xfrm>
            <a:off x="685800" y="2642616"/>
            <a:ext cx="329184" cy="329184"/>
          </a:xfrm>
          <a:prstGeom prst="ellipse">
            <a:avLst/>
          </a:prstGeom>
          <a:solidFill>
            <a:srgbClr val="0E1930"/>
          </a:solidFill>
          <a:ln w="12700">
            <a:solidFill>
              <a:srgbClr val="E3B663"/>
            </a:solidFill>
            <a:prstDash val="solid"/>
          </a:ln>
        </p:spPr>
      </p:sp>
      <p:sp>
        <p:nvSpPr>
          <p:cNvPr id="22" name="fx11_2_5"/>
          <p:cNvSpPr/>
          <p:nvPr/>
        </p:nvSpPr>
        <p:spPr>
          <a:xfrm>
            <a:off x="685800" y="2697480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fx11_2_6"/>
          <p:cNvSpPr/>
          <p:nvPr/>
        </p:nvSpPr>
        <p:spPr>
          <a:xfrm>
            <a:off x="1188720" y="2606040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получатели тратят их — спрос сдвигается.</a:t>
            </a:r>
            <a:endParaRPr lang="en-US" sz="1200" dirty="0"/>
          </a:p>
        </p:txBody>
      </p:sp>
      <p:sp>
        <p:nvSpPr>
          <p:cNvPr id="24" name="fx11_3_7"/>
          <p:cNvSpPr/>
          <p:nvPr/>
        </p:nvSpPr>
        <p:spPr>
          <a:xfrm>
            <a:off x="685800" y="3282696"/>
            <a:ext cx="329184" cy="329184"/>
          </a:xfrm>
          <a:prstGeom prst="ellipse">
            <a:avLst/>
          </a:prstGeom>
          <a:solidFill>
            <a:srgbClr val="0E1930"/>
          </a:solidFill>
          <a:ln w="12700">
            <a:solidFill>
              <a:srgbClr val="E3B663"/>
            </a:solidFill>
            <a:prstDash val="solid"/>
          </a:ln>
        </p:spPr>
      </p:sp>
      <p:sp>
        <p:nvSpPr>
          <p:cNvPr id="25" name="fx11_3_8"/>
          <p:cNvSpPr/>
          <p:nvPr/>
        </p:nvSpPr>
        <p:spPr>
          <a:xfrm>
            <a:off x="685800" y="3337560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fx11_3_9"/>
          <p:cNvSpPr/>
          <p:nvPr/>
        </p:nvSpPr>
        <p:spPr>
          <a:xfrm>
            <a:off x="1188720" y="3246120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Меняются относительные цены и распределение доходов.</a:t>
            </a:r>
            <a:endParaRPr lang="en-US" sz="1200" dirty="0"/>
          </a:p>
        </p:txBody>
      </p:sp>
      <p:sp>
        <p:nvSpPr>
          <p:cNvPr id="27" name="fx11_4_10"/>
          <p:cNvSpPr/>
          <p:nvPr/>
        </p:nvSpPr>
        <p:spPr>
          <a:xfrm>
            <a:off x="685800" y="3922776"/>
            <a:ext cx="329184" cy="329184"/>
          </a:xfrm>
          <a:prstGeom prst="ellipse">
            <a:avLst/>
          </a:prstGeom>
          <a:solidFill>
            <a:srgbClr val="0E1930"/>
          </a:solidFill>
          <a:ln w="12700">
            <a:solidFill>
              <a:srgbClr val="E3B663"/>
            </a:solidFill>
            <a:prstDash val="solid"/>
          </a:ln>
        </p:spPr>
      </p:sp>
      <p:sp>
        <p:nvSpPr>
          <p:cNvPr id="28" name="fx11_4_11"/>
          <p:cNvSpPr/>
          <p:nvPr/>
        </p:nvSpPr>
        <p:spPr>
          <a:xfrm>
            <a:off x="685800" y="3977640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fx11_4_12"/>
          <p:cNvSpPr/>
          <p:nvPr/>
        </p:nvSpPr>
        <p:spPr>
          <a:xfrm>
            <a:off x="1188720" y="3886200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Поздние получатели видят уже другую структуру цен.</a:t>
            </a:r>
            <a:endParaRPr lang="en-US" sz="1200" dirty="0"/>
          </a:p>
        </p:txBody>
      </p:sp>
      <p:sp>
        <p:nvSpPr>
          <p:cNvPr id="30" name="fx11_8_13"/>
          <p:cNvSpPr/>
          <p:nvPr/>
        </p:nvSpPr>
        <p:spPr>
          <a:xfrm>
            <a:off x="685800" y="4956048"/>
            <a:ext cx="6492240" cy="896112"/>
          </a:xfrm>
          <a:prstGeom prst="roundRect">
            <a:avLst>
              <a:gd name="adj" fmla="val 8163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11_8_14"/>
          <p:cNvSpPr/>
          <p:nvPr/>
        </p:nvSpPr>
        <p:spPr>
          <a:xfrm>
            <a:off x="685800" y="5093208"/>
            <a:ext cx="50292" cy="62179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11_8_15"/>
          <p:cNvSpPr/>
          <p:nvPr/>
        </p:nvSpPr>
        <p:spPr>
          <a:xfrm>
            <a:off x="941832" y="4828032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3" name="fx11_8_16"/>
          <p:cNvSpPr/>
          <p:nvPr/>
        </p:nvSpPr>
        <p:spPr>
          <a:xfrm>
            <a:off x="941832" y="4828032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4" name="fx11_8_17"/>
          <p:cNvSpPr/>
          <p:nvPr/>
        </p:nvSpPr>
        <p:spPr>
          <a:xfrm>
            <a:off x="960120" y="5102352"/>
            <a:ext cx="60167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Название появилось позже; сама логика денежного «маршрута» — в трактате Кантильона.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globe">
                <a:extLst>
                  <a:ext uri="{FF2B5EF4-FFF2-40B4-BE49-F238E27FC236}">
                    <a16:creationId xmlns:a16="http://schemas.microsoft.com/office/drawing/2014/main" id="{635A78F9-6BD6-C13B-0B8B-F068318D6E8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617720" y="1143000"/>
              <a:ext cx="4114800" cy="4114800"/>
            </p:xfrm>
            <a:graphic>
              <a:graphicData uri="http://schemas.microsoft.com/office/drawing/2017/model3d">
                <am3d:model3d r:embed="rIdM3d40">
                  <am3d:spPr>
                    <a:xfrm>
                      <a:off x="0" y="0"/>
                      <a:ext cx="4114800" cy="4114800"/>
                    </a:xfrm>
                    <a:prstGeom prst="rect">
                      <a:avLst/>
                    </a:prstGeom>
                  </am3d:spPr>
                  <am3d:camera>
                    <am3d:pos x="0" y="0" z="718134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8205" dy="-773652" dz="544701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22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1148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globe">
                <a:extLst>
                  <a:ext uri="{FF2B5EF4-FFF2-40B4-BE49-F238E27FC236}">
                    <a16:creationId xmlns:a16="http://schemas.microsoft.com/office/drawing/2014/main" id="{635A78F9-6BD6-C13B-0B8B-F068318D6E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617720" y="1143000"/>
                <a:ext cx="4114800" cy="411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quill">
                <a:extLst>
                  <a:ext uri="{FF2B5EF4-FFF2-40B4-BE49-F238E27FC236}">
                    <a16:creationId xmlns:a16="http://schemas.microsoft.com/office/drawing/2014/main" id="{C1F7C59A-0D36-3B20-8375-0145CEA1BB7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380744"/>
              <a:ext cx="3611880" cy="3611880"/>
            </p:xfrm>
            <a:graphic>
              <a:graphicData uri="http://schemas.microsoft.com/office/drawing/2017/model3d">
                <am3d:model3d r:embed="rIdM3d41">
                  <am3d:spPr>
                    <a:xfrm>
                      <a:off x="0" y="0"/>
                      <a:ext cx="3611880" cy="3611880"/>
                    </a:xfrm>
                    <a:prstGeom prst="rect">
                      <a:avLst/>
                    </a:prstGeom>
                  </am3d:spPr>
                  <am3d:camera>
                    <am3d:pos x="0" y="0" z="6627790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26692" d="1000000"/>
                    <am3d:preTrans dx="4236769" dy="-1632696" dz="-202747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3300000" az="12000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6118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quill">
                <a:extLst>
                  <a:ext uri="{FF2B5EF4-FFF2-40B4-BE49-F238E27FC236}">
                    <a16:creationId xmlns:a16="http://schemas.microsoft.com/office/drawing/2014/main" id="{C1F7C59A-0D36-3B20-8375-0145CEA1BB7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380744"/>
                <a:ext cx="3611880" cy="3611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2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8501503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DEB059-0085-2D7D-9EBE-8575B2AAAC1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903839" y="77724"/>
              <a:ext cx="566928" cy="566928"/>
            </p:xfrm>
            <a:graphic>
              <a:graphicData uri="http://schemas.microsoft.com/office/drawing/2017/model3d">
                <am3d:model3d r:embed="rIdM3d42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950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DEB059-0085-2D7D-9EBE-8575B2AAAC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903839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— КНИГА, КОТОРАЯ ПЕРЕЖИЛА АВТОРА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книга — и почти век забвения</a:t>
            </a:r>
            <a:endParaRPr lang="en-US" sz="35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905" y="302209"/>
            <a:ext cx="5128870" cy="5128870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880756" y="1169060"/>
            <a:ext cx="3395167" cy="3395167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411212" y="699516"/>
            <a:ext cx="4334256" cy="4334256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9707" y="3742525"/>
            <a:ext cx="2817266" cy="70431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quill">
                <a:extLst>
                  <a:ext uri="{FF2B5EF4-FFF2-40B4-BE49-F238E27FC236}">
                    <a16:creationId xmlns:a16="http://schemas.microsoft.com/office/drawing/2014/main" id="{355E18B3-B00D-234F-947B-CDAD6F1EB6B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72400" y="1060704"/>
              <a:ext cx="3611880" cy="3611880"/>
            </p:xfrm>
            <a:graphic>
              <a:graphicData uri="http://schemas.microsoft.com/office/drawing/2017/model3d">
                <am3d:model3d r:embed="rIdM3d43">
                  <am3d:spPr>
                    <a:xfrm>
                      <a:off x="0" y="0"/>
                      <a:ext cx="3611880" cy="3611880"/>
                    </a:xfrm>
                    <a:prstGeom prst="rect">
                      <a:avLst/>
                    </a:prstGeom>
                  </am3d:spPr>
                  <am3d:camera>
                    <am3d:pos x="0" y="0" z="6627790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26692" d="1000000"/>
                    <am3d:preTrans dx="4236769" dy="-1632696" dz="-202747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1200000" az="12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6118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quill">
                <a:extLst>
                  <a:ext uri="{FF2B5EF4-FFF2-40B4-BE49-F238E27FC236}">
                    <a16:creationId xmlns:a16="http://schemas.microsoft.com/office/drawing/2014/main" id="{355E18B3-B00D-234F-947B-CDAD6F1EB6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72400" y="1060704"/>
                <a:ext cx="3611880" cy="36118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2_9_0"/>
          <p:cNvSpPr/>
          <p:nvPr/>
        </p:nvSpPr>
        <p:spPr>
          <a:xfrm>
            <a:off x="7315200" y="5074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12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Рукопись → анонимное издание</a:t>
            </a:r>
            <a:endParaRPr lang="en-US" sz="850" dirty="0"/>
          </a:p>
        </p:txBody>
      </p:sp>
      <p:sp>
        <p:nvSpPr>
          <p:cNvPr id="18" name="fx12_1_1"/>
          <p:cNvSpPr/>
          <p:nvPr/>
        </p:nvSpPr>
        <p:spPr>
          <a:xfrm>
            <a:off x="914400" y="2450592"/>
            <a:ext cx="5623560" cy="91"/>
          </a:xfrm>
          <a:prstGeom prst="line">
            <a:avLst/>
          </a:prstGeom>
          <a:noFill/>
          <a:ln w="19050">
            <a:solidFill>
              <a:srgbClr val="E3B663">
                <a:alpha val="70000"/>
              </a:srgbClr>
            </a:solidFill>
            <a:prstDash val="solid"/>
          </a:ln>
        </p:spPr>
      </p:sp>
      <p:sp>
        <p:nvSpPr>
          <p:cNvPr id="19" name="fx12_1_2"/>
          <p:cNvSpPr/>
          <p:nvPr/>
        </p:nvSpPr>
        <p:spPr>
          <a:xfrm>
            <a:off x="923544" y="2368296"/>
            <a:ext cx="164592" cy="164592"/>
          </a:xfrm>
          <a:prstGeom prst="ellipse">
            <a:avLst/>
          </a:prstGeom>
          <a:solidFill>
            <a:srgbClr val="070C18"/>
          </a:solidFill>
          <a:ln w="19050">
            <a:solidFill>
              <a:srgbClr val="E3B663"/>
            </a:solidFill>
            <a:prstDash val="solid"/>
          </a:ln>
        </p:spPr>
      </p:sp>
      <p:sp>
        <p:nvSpPr>
          <p:cNvPr id="20" name="fx12_1_3"/>
          <p:cNvSpPr/>
          <p:nvPr/>
        </p:nvSpPr>
        <p:spPr>
          <a:xfrm>
            <a:off x="640080" y="27066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ок. 1728–30</a:t>
            </a:r>
            <a:endParaRPr lang="en-US" sz="1200" dirty="0"/>
          </a:p>
        </p:txBody>
      </p:sp>
      <p:sp>
        <p:nvSpPr>
          <p:cNvPr id="21" name="fx12_1_4"/>
          <p:cNvSpPr/>
          <p:nvPr/>
        </p:nvSpPr>
        <p:spPr>
          <a:xfrm>
            <a:off x="548640" y="309981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рукопись завершена</a:t>
            </a:r>
            <a:endParaRPr lang="en-US" sz="1040" dirty="0"/>
          </a:p>
        </p:txBody>
      </p:sp>
      <p:sp>
        <p:nvSpPr>
          <p:cNvPr id="22" name="fx12_2_5"/>
          <p:cNvSpPr/>
          <p:nvPr/>
        </p:nvSpPr>
        <p:spPr>
          <a:xfrm>
            <a:off x="2752344" y="2368296"/>
            <a:ext cx="164592" cy="164592"/>
          </a:xfrm>
          <a:prstGeom prst="ellipse">
            <a:avLst/>
          </a:prstGeom>
          <a:solidFill>
            <a:srgbClr val="070C18"/>
          </a:solidFill>
          <a:ln w="19050">
            <a:solidFill>
              <a:srgbClr val="E3B663"/>
            </a:solidFill>
            <a:prstDash val="solid"/>
          </a:ln>
        </p:spPr>
      </p:sp>
      <p:sp>
        <p:nvSpPr>
          <p:cNvPr id="23" name="fx12_2_6"/>
          <p:cNvSpPr/>
          <p:nvPr/>
        </p:nvSpPr>
        <p:spPr>
          <a:xfrm>
            <a:off x="2468880" y="27066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1734</a:t>
            </a:r>
            <a:endParaRPr lang="en-US" sz="1200" dirty="0"/>
          </a:p>
        </p:txBody>
      </p:sp>
      <p:sp>
        <p:nvSpPr>
          <p:cNvPr id="24" name="fx12_2_7"/>
          <p:cNvSpPr/>
          <p:nvPr/>
        </p:nvSpPr>
        <p:spPr>
          <a:xfrm>
            <a:off x="2377440" y="309981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 исчезает / умирает</a:t>
            </a:r>
            <a:endParaRPr lang="en-US" sz="1040" dirty="0"/>
          </a:p>
        </p:txBody>
      </p:sp>
      <p:sp>
        <p:nvSpPr>
          <p:cNvPr id="25" name="fx12_3_8"/>
          <p:cNvSpPr/>
          <p:nvPr/>
        </p:nvSpPr>
        <p:spPr>
          <a:xfrm>
            <a:off x="4581144" y="2368296"/>
            <a:ext cx="164592" cy="164592"/>
          </a:xfrm>
          <a:prstGeom prst="ellipse">
            <a:avLst/>
          </a:prstGeom>
          <a:solidFill>
            <a:srgbClr val="070C18"/>
          </a:solidFill>
          <a:ln w="19050">
            <a:solidFill>
              <a:srgbClr val="E3B663"/>
            </a:solidFill>
            <a:prstDash val="solid"/>
          </a:ln>
        </p:spPr>
      </p:sp>
      <p:sp>
        <p:nvSpPr>
          <p:cNvPr id="26" name="fx12_3_9"/>
          <p:cNvSpPr/>
          <p:nvPr/>
        </p:nvSpPr>
        <p:spPr>
          <a:xfrm>
            <a:off x="4297680" y="27066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1755</a:t>
            </a:r>
            <a:endParaRPr lang="en-US" sz="1200" dirty="0"/>
          </a:p>
        </p:txBody>
      </p:sp>
      <p:sp>
        <p:nvSpPr>
          <p:cNvPr id="27" name="fx12_3_10"/>
          <p:cNvSpPr/>
          <p:nvPr/>
        </p:nvSpPr>
        <p:spPr>
          <a:xfrm>
            <a:off x="4206240" y="309981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 издан анонимно</a:t>
            </a:r>
            <a:endParaRPr lang="en-US" sz="1040" dirty="0"/>
          </a:p>
        </p:txBody>
      </p:sp>
      <p:sp>
        <p:nvSpPr>
          <p:cNvPr id="28" name="fx12_4_11"/>
          <p:cNvSpPr/>
          <p:nvPr/>
        </p:nvSpPr>
        <p:spPr>
          <a:xfrm>
            <a:off x="6409944" y="2368296"/>
            <a:ext cx="164592" cy="164592"/>
          </a:xfrm>
          <a:prstGeom prst="ellipse">
            <a:avLst/>
          </a:prstGeom>
          <a:solidFill>
            <a:srgbClr val="070C18"/>
          </a:solidFill>
          <a:ln w="19050">
            <a:solidFill>
              <a:srgbClr val="E3B663"/>
            </a:solidFill>
            <a:prstDash val="solid"/>
          </a:ln>
        </p:spPr>
      </p:sp>
      <p:sp>
        <p:nvSpPr>
          <p:cNvPr id="29" name="fx12_4_12"/>
          <p:cNvSpPr/>
          <p:nvPr/>
        </p:nvSpPr>
        <p:spPr>
          <a:xfrm>
            <a:off x="6126480" y="27066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1881</a:t>
            </a:r>
            <a:endParaRPr lang="en-US" sz="1200" dirty="0"/>
          </a:p>
        </p:txBody>
      </p:sp>
      <p:sp>
        <p:nvSpPr>
          <p:cNvPr id="30" name="fx12_4_13"/>
          <p:cNvSpPr/>
          <p:nvPr/>
        </p:nvSpPr>
        <p:spPr>
          <a:xfrm>
            <a:off x="6035040" y="309981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Джевонс возвращает книгу в дискуссию</a:t>
            </a:r>
            <a:endParaRPr lang="en-US" sz="1040" dirty="0"/>
          </a:p>
        </p:txBody>
      </p:sp>
      <p:sp>
        <p:nvSpPr>
          <p:cNvPr id="31" name="fx12_5_14"/>
          <p:cNvSpPr/>
          <p:nvPr/>
        </p:nvSpPr>
        <p:spPr>
          <a:xfrm>
            <a:off x="685800" y="4224528"/>
            <a:ext cx="6080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spc="80" kern="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ESSAI SUR LA NATURE DU COMMERCE EN GÉNÉRAL</a:t>
            </a:r>
            <a:endParaRPr lang="en-US" sz="1300" dirty="0"/>
          </a:p>
        </p:txBody>
      </p:sp>
      <p:sp>
        <p:nvSpPr>
          <p:cNvPr id="32" name="fx12_8_15"/>
          <p:cNvSpPr/>
          <p:nvPr/>
        </p:nvSpPr>
        <p:spPr>
          <a:xfrm>
            <a:off x="685800" y="4892040"/>
            <a:ext cx="6537960" cy="932688"/>
          </a:xfrm>
          <a:prstGeom prst="roundRect">
            <a:avLst>
              <a:gd name="adj" fmla="val 7843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12_8_16"/>
          <p:cNvSpPr/>
          <p:nvPr/>
        </p:nvSpPr>
        <p:spPr>
          <a:xfrm>
            <a:off x="685800" y="5029200"/>
            <a:ext cx="50292" cy="65836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4" name="fx12_8_17"/>
          <p:cNvSpPr/>
          <p:nvPr/>
        </p:nvSpPr>
        <p:spPr>
          <a:xfrm>
            <a:off x="941832" y="476402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5" name="fx12_8_18"/>
          <p:cNvSpPr/>
          <p:nvPr/>
        </p:nvSpPr>
        <p:spPr>
          <a:xfrm>
            <a:off x="941832" y="476402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6" name="fx12_8_19"/>
          <p:cNvSpPr/>
          <p:nvPr/>
        </p:nvSpPr>
        <p:spPr>
          <a:xfrm>
            <a:off x="960120" y="5038344"/>
            <a:ext cx="606247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Лондонский адрес «Fletcher Gyles» на титуле, вероятнее всего, фиктивный: книга, похоже, вышла в Париже.</a:t>
            </a:r>
            <a:endParaRPr lang="en-US" sz="12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ripple">
                <a:extLst>
                  <a:ext uri="{FF2B5EF4-FFF2-40B4-BE49-F238E27FC236}">
                    <a16:creationId xmlns:a16="http://schemas.microsoft.com/office/drawing/2014/main" id="{03C39E29-ACEE-7C69-81BC-2AED8831187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977640" y="1463040"/>
              <a:ext cx="3474720" cy="3474720"/>
            </p:xfrm>
            <a:graphic>
              <a:graphicData uri="http://schemas.microsoft.com/office/drawing/2017/model3d">
                <am3d:model3d r:embed="rIdM3d44">
                  <am3d:spPr>
                    <a:xfrm>
                      <a:off x="0" y="0"/>
                      <a:ext cx="3474720" cy="3474720"/>
                    </a:xfrm>
                    <a:prstGeom prst="rect">
                      <a:avLst/>
                    </a:prstGeom>
                  </am3d:spPr>
                  <am3d:camera>
                    <am3d:pos x="0" y="0" z="691785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138" d="1000000"/>
                    <am3d:preTrans dx="0" dy="-199091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5820000" az="-24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4747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ripple">
                <a:extLst>
                  <a:ext uri="{FF2B5EF4-FFF2-40B4-BE49-F238E27FC236}">
                    <a16:creationId xmlns:a16="http://schemas.microsoft.com/office/drawing/2014/main" id="{03C39E29-ACEE-7C69-81BC-2AED8831187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977640" y="1463040"/>
                <a:ext cx="3474720" cy="347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candle">
                <a:extLst>
                  <a:ext uri="{FF2B5EF4-FFF2-40B4-BE49-F238E27FC236}">
                    <a16:creationId xmlns:a16="http://schemas.microsoft.com/office/drawing/2014/main" id="{0C943ECA-1B00-1C6D-CF47-413CDA2BA6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44752"/>
              <a:ext cx="3108960" cy="3108960"/>
            </p:xfrm>
            <a:graphic>
              <a:graphicData uri="http://schemas.microsoft.com/office/drawing/2017/model3d">
                <am3d:model3d r:embed="rIdM3d45">
                  <am3d:spPr>
                    <a:xfrm>
                      <a:off x="0" y="0"/>
                      <a:ext cx="3108960" cy="3108960"/>
                    </a:xfrm>
                    <a:prstGeom prst="rect">
                      <a:avLst/>
                    </a:prstGeom>
                  </am3d:spPr>
                  <am3d:camera>
                    <am3d:pos x="0" y="0" z="7325804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-2162012" dy="-268156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5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108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candle">
                <a:extLst>
                  <a:ext uri="{FF2B5EF4-FFF2-40B4-BE49-F238E27FC236}">
                    <a16:creationId xmlns:a16="http://schemas.microsoft.com/office/drawing/2014/main" id="{0C943ECA-1B00-1C6D-CF47-413CDA2BA6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444752"/>
                <a:ext cx="3108960" cy="3108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3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927436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98124E5-E246-11F6-7A0A-90D42B399FC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676703" y="77724"/>
              <a:ext cx="566928" cy="566928"/>
            </p:xfrm>
            <a:graphic>
              <a:graphicData uri="http://schemas.microsoft.com/office/drawing/2017/model3d">
                <am3d:model3d r:embed="rIdM3d46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036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98124E5-E246-11F6-7A0A-90D42B399F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676703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— ЗАГАДОЧНАЯ СМЕРТЬ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Пожар, убийство или исчезновение?</a:t>
            </a:r>
            <a:endParaRPr lang="en-US" sz="32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8118" y="471830"/>
            <a:ext cx="4414723" cy="4414723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094269" y="1217981"/>
            <a:ext cx="2922422" cy="2922422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690104" y="813816"/>
            <a:ext cx="3730752" cy="3730752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2986" y="3433115"/>
            <a:ext cx="2424989" cy="60624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andle">
                <a:extLst>
                  <a:ext uri="{FF2B5EF4-FFF2-40B4-BE49-F238E27FC236}">
                    <a16:creationId xmlns:a16="http://schemas.microsoft.com/office/drawing/2014/main" id="{43D65A6C-6C7F-E79D-DAA7-825251A8361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001000" y="1124712"/>
              <a:ext cx="3108960" cy="3108960"/>
            </p:xfrm>
            <a:graphic>
              <a:graphicData uri="http://schemas.microsoft.com/office/drawing/2017/model3d">
                <am3d:model3d r:embed="rIdM3d47">
                  <am3d:spPr>
                    <a:xfrm>
                      <a:off x="0" y="0"/>
                      <a:ext cx="3108960" cy="3108960"/>
                    </a:xfrm>
                    <a:prstGeom prst="rect">
                      <a:avLst/>
                    </a:prstGeom>
                  </am3d:spPr>
                  <am3d:camera>
                    <am3d:pos x="0" y="0" z="7325804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-2162012" dy="-268156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9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108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andle">
                <a:extLst>
                  <a:ext uri="{FF2B5EF4-FFF2-40B4-BE49-F238E27FC236}">
                    <a16:creationId xmlns:a16="http://schemas.microsoft.com/office/drawing/2014/main" id="{43D65A6C-6C7F-E79D-DAA7-825251A836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01000" y="1124712"/>
                <a:ext cx="3108960" cy="31089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3_9_0"/>
          <p:cNvSpPr/>
          <p:nvPr/>
        </p:nvSpPr>
        <p:spPr>
          <a:xfrm>
            <a:off x="7315200" y="50474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13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Свеча и ночь 14 мая 1734 года</a:t>
            </a:r>
            <a:endParaRPr lang="en-US" sz="850" dirty="0"/>
          </a:p>
        </p:txBody>
      </p:sp>
      <p:sp>
        <p:nvSpPr>
          <p:cNvPr id="18" name="fx13_1_1"/>
          <p:cNvSpPr/>
          <p:nvPr/>
        </p:nvSpPr>
        <p:spPr>
          <a:xfrm>
            <a:off x="685800" y="224028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62D4F0">
                <a:alpha val="26000"/>
              </a:srgbClr>
            </a:solidFill>
            <a:prstDash val="solid"/>
          </a:ln>
        </p:spPr>
      </p:sp>
      <p:sp>
        <p:nvSpPr>
          <p:cNvPr id="19" name="fx13_1_2"/>
          <p:cNvSpPr/>
          <p:nvPr/>
        </p:nvSpPr>
        <p:spPr>
          <a:xfrm>
            <a:off x="850392" y="2423160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УСТАНОВЛЕНО</a:t>
            </a:r>
            <a:endParaRPr lang="en-US" sz="900" dirty="0"/>
          </a:p>
        </p:txBody>
      </p:sp>
      <p:sp>
        <p:nvSpPr>
          <p:cNvPr id="20" name="fx13_1_3"/>
          <p:cNvSpPr/>
          <p:nvPr/>
        </p:nvSpPr>
        <p:spPr>
          <a:xfrm>
            <a:off x="850392" y="2807208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Дом в Лондоне сгорел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мая 1734 года.</a:t>
            </a:r>
            <a:endParaRPr lang="en-US" sz="1300" dirty="0"/>
          </a:p>
        </p:txBody>
      </p:sp>
      <p:sp>
        <p:nvSpPr>
          <p:cNvPr id="21" name="fx13_2_4"/>
          <p:cNvSpPr/>
          <p:nvPr/>
        </p:nvSpPr>
        <p:spPr>
          <a:xfrm>
            <a:off x="2898648" y="224028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E3B663">
                <a:alpha val="26000"/>
              </a:srgbClr>
            </a:solidFill>
            <a:prstDash val="solid"/>
          </a:ln>
        </p:spPr>
      </p:sp>
      <p:sp>
        <p:nvSpPr>
          <p:cNvPr id="22" name="fx13_2_5"/>
          <p:cNvSpPr/>
          <p:nvPr/>
        </p:nvSpPr>
        <p:spPr>
          <a:xfrm>
            <a:off x="3063240" y="2423160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</a:t>
            </a:r>
            <a:endParaRPr lang="en-US" sz="900" dirty="0"/>
          </a:p>
        </p:txBody>
      </p:sp>
      <p:sp>
        <p:nvSpPr>
          <p:cNvPr id="23" name="fx13_2_6"/>
          <p:cNvSpPr/>
          <p:nvPr/>
        </p:nvSpPr>
        <p:spPr>
          <a:xfrm>
            <a:off x="3063240" y="2807208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Считалось, что Кантильон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погиб внутри.</a:t>
            </a:r>
            <a:endParaRPr lang="en-US" sz="1300" dirty="0"/>
          </a:p>
        </p:txBody>
      </p:sp>
      <p:sp>
        <p:nvSpPr>
          <p:cNvPr id="24" name="fx13_3_7"/>
          <p:cNvSpPr/>
          <p:nvPr/>
        </p:nvSpPr>
        <p:spPr>
          <a:xfrm>
            <a:off x="5111496" y="224028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0E1930">
              <a:alpha val="88000"/>
            </a:srgbClr>
          </a:solidFill>
          <a:ln w="10160">
            <a:solidFill>
              <a:srgbClr val="B94737">
                <a:alpha val="26000"/>
              </a:srgbClr>
            </a:solidFill>
            <a:prstDash val="solid"/>
          </a:ln>
        </p:spPr>
      </p:sp>
      <p:sp>
        <p:nvSpPr>
          <p:cNvPr id="25" name="fx13_3_8"/>
          <p:cNvSpPr/>
          <p:nvPr/>
        </p:nvSpPr>
        <p:spPr>
          <a:xfrm>
            <a:off x="5276088" y="2423160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4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ГИПОТЕЗА МЁРФИ</a:t>
            </a:r>
            <a:endParaRPr lang="en-US" sz="900" dirty="0"/>
          </a:p>
        </p:txBody>
      </p:sp>
      <p:sp>
        <p:nvSpPr>
          <p:cNvPr id="26" name="fx13_3_9"/>
          <p:cNvSpPr/>
          <p:nvPr/>
        </p:nvSpPr>
        <p:spPr>
          <a:xfrm>
            <a:off x="5276088" y="2807208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Он мог бежать в Суринам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 чужим именем.</a:t>
            </a:r>
            <a:endParaRPr lang="en-US" sz="1300" dirty="0"/>
          </a:p>
        </p:txBody>
      </p:sp>
      <p:sp>
        <p:nvSpPr>
          <p:cNvPr id="27" name="fx13_8_10"/>
          <p:cNvSpPr/>
          <p:nvPr/>
        </p:nvSpPr>
        <p:spPr>
          <a:xfrm>
            <a:off x="685800" y="4343400"/>
            <a:ext cx="6537960" cy="1051560"/>
          </a:xfrm>
          <a:prstGeom prst="roundRect">
            <a:avLst>
              <a:gd name="adj" fmla="val 6957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13_8_11"/>
          <p:cNvSpPr/>
          <p:nvPr/>
        </p:nvSpPr>
        <p:spPr>
          <a:xfrm>
            <a:off x="685800" y="4480560"/>
            <a:ext cx="50292" cy="7772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9" name="fx13_8_12"/>
          <p:cNvSpPr/>
          <p:nvPr/>
        </p:nvSpPr>
        <p:spPr>
          <a:xfrm>
            <a:off x="941832" y="421538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0" name="fx13_8_13"/>
          <p:cNvSpPr/>
          <p:nvPr/>
        </p:nvSpPr>
        <p:spPr>
          <a:xfrm>
            <a:off x="941832" y="421538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1" name="fx13_8_14"/>
          <p:cNvSpPr/>
          <p:nvPr/>
        </p:nvSpPr>
        <p:spPr>
          <a:xfrm>
            <a:off x="960120" y="4489704"/>
            <a:ext cx="6062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Улика-загадка: в Суринаме нашли человека с документами Кантильона; инсценировка смерти — версия, не доказанный факт.</a:t>
            </a:r>
            <a:endParaRPr lang="en-US" sz="12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quill">
                <a:extLst>
                  <a:ext uri="{FF2B5EF4-FFF2-40B4-BE49-F238E27FC236}">
                    <a16:creationId xmlns:a16="http://schemas.microsoft.com/office/drawing/2014/main" id="{AD3190AA-2655-647B-801A-BEA2311D46F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114800" y="1380744"/>
              <a:ext cx="3611880" cy="3611880"/>
            </p:xfrm>
            <a:graphic>
              <a:graphicData uri="http://schemas.microsoft.com/office/drawing/2017/model3d">
                <am3d:model3d r:embed="rIdM3d48">
                  <am3d:spPr>
                    <a:xfrm>
                      <a:off x="0" y="0"/>
                      <a:ext cx="3611880" cy="3611880"/>
                    </a:xfrm>
                    <a:prstGeom prst="rect">
                      <a:avLst/>
                    </a:prstGeom>
                  </am3d:spPr>
                  <am3d:camera>
                    <am3d:pos x="0" y="0" z="6627790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26692" d="1000000"/>
                    <am3d:preTrans dx="4236769" dy="-1632696" dz="-202747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5700000" az="12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6118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quill">
                <a:extLst>
                  <a:ext uri="{FF2B5EF4-FFF2-40B4-BE49-F238E27FC236}">
                    <a16:creationId xmlns:a16="http://schemas.microsoft.com/office/drawing/2014/main" id="{AD3190AA-2655-647B-801A-BEA2311D46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114800" y="1380744"/>
                <a:ext cx="3611880" cy="361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compass">
                <a:extLst>
                  <a:ext uri="{FF2B5EF4-FFF2-40B4-BE49-F238E27FC236}">
                    <a16:creationId xmlns:a16="http://schemas.microsoft.com/office/drawing/2014/main" id="{03194AF3-2872-D84E-6B83-721327FCBE0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737360"/>
              <a:ext cx="2606040" cy="2606040"/>
            </p:xfrm>
            <a:graphic>
              <a:graphicData uri="http://schemas.microsoft.com/office/drawing/2017/model3d">
                <am3d:model3d r:embed="rIdM3d49">
                  <am3d:spPr>
                    <a:xfrm>
                      <a:off x="0" y="0"/>
                      <a:ext cx="2606040" cy="2606040"/>
                    </a:xfrm>
                    <a:prstGeom prst="rect">
                      <a:avLst/>
                    </a:prstGeom>
                  </am3d:spPr>
                  <am3d:camera>
                    <am3d:pos x="0" y="0" z="636121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59107" d="1000000"/>
                    <am3d:preTrans dx="0" dy="-61856" dz="1917526"/>
                    <am3d:scale>
                      <am3d:sx n="1000000" d="1000000"/>
                      <am3d:sy n="1000000" d="1000000"/>
                      <am3d:sz n="1000000" d="1000000"/>
                    </am3d:scale>
                    <am3d:rot ax="420000" ay="348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606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compass">
                <a:extLst>
                  <a:ext uri="{FF2B5EF4-FFF2-40B4-BE49-F238E27FC236}">
                    <a16:creationId xmlns:a16="http://schemas.microsoft.com/office/drawing/2014/main" id="{03194AF3-2872-D84E-6B83-721327FCBE0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1737360"/>
                <a:ext cx="2606040" cy="2606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4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047231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1AC9092-9420-ADDE-7826-AB228872E99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449567" y="77724"/>
              <a:ext cx="566928" cy="566928"/>
            </p:xfrm>
            <a:graphic>
              <a:graphicData uri="http://schemas.microsoft.com/office/drawing/2017/model3d">
                <am3d:model3d r:embed="rIdM3d50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123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1AC9092-9420-ADDE-7826-AB228872E99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449567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— ИТОГ ЗА 30 СЕКУНД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Кантильон — фигура первого ряда</a:t>
            </a:r>
            <a:endParaRPr lang="en-US" sz="31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5252" y="870052"/>
            <a:ext cx="3700577" cy="3700577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810701" y="1495501"/>
            <a:ext cx="2449678" cy="2449678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8471916" y="1156716"/>
            <a:ext cx="3127248" cy="3127248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184" y="3352305"/>
            <a:ext cx="2032711" cy="50817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ompass">
                <a:extLst>
                  <a:ext uri="{FF2B5EF4-FFF2-40B4-BE49-F238E27FC236}">
                    <a16:creationId xmlns:a16="http://schemas.microsoft.com/office/drawing/2014/main" id="{7A0A3090-B5FB-94E9-0100-F94351AE9F9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732520" y="1417320"/>
              <a:ext cx="2606040" cy="2606040"/>
            </p:xfrm>
            <a:graphic>
              <a:graphicData uri="http://schemas.microsoft.com/office/drawing/2017/model3d">
                <am3d:model3d r:embed="rIdM3d51">
                  <am3d:spPr>
                    <a:xfrm>
                      <a:off x="0" y="0"/>
                      <a:ext cx="2606040" cy="2606040"/>
                    </a:xfrm>
                    <a:prstGeom prst="rect">
                      <a:avLst/>
                    </a:prstGeom>
                  </am3d:spPr>
                  <am3d:camera>
                    <am3d:pos x="0" y="0" z="636121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59107" d="1000000"/>
                    <am3d:preTrans dx="0" dy="-61856" dz="1917526"/>
                    <am3d:scale>
                      <am3d:sx n="1000000" d="1000000"/>
                      <am3d:sy n="1000000" d="1000000"/>
                      <am3d:sz n="1000000" d="1000000"/>
                    </am3d:scale>
                    <am3d:rot ax="420000" ay="-10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606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ompass">
                <a:extLst>
                  <a:ext uri="{FF2B5EF4-FFF2-40B4-BE49-F238E27FC236}">
                    <a16:creationId xmlns:a16="http://schemas.microsoft.com/office/drawing/2014/main" id="{7A0A3090-B5FB-94E9-0100-F94351AE9F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32520" y="1417320"/>
                <a:ext cx="2606040" cy="26060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4_9_0"/>
          <p:cNvSpPr/>
          <p:nvPr/>
        </p:nvSpPr>
        <p:spPr>
          <a:xfrm>
            <a:off x="7955280" y="5074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14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задал направление теории</a:t>
            </a:r>
            <a:endParaRPr lang="en-US" sz="850" dirty="0"/>
          </a:p>
        </p:txBody>
      </p:sp>
      <p:sp>
        <p:nvSpPr>
          <p:cNvPr id="18" name="fx14_1_1"/>
          <p:cNvSpPr/>
          <p:nvPr/>
        </p:nvSpPr>
        <p:spPr>
          <a:xfrm>
            <a:off x="685800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900" dirty="0"/>
          </a:p>
        </p:txBody>
      </p:sp>
      <p:sp>
        <p:nvSpPr>
          <p:cNvPr id="19" name="fx14_1_2"/>
          <p:cNvSpPr/>
          <p:nvPr/>
        </p:nvSpPr>
        <p:spPr>
          <a:xfrm>
            <a:off x="1289304" y="193852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ФУНДАМЕНТ</a:t>
            </a:r>
            <a:endParaRPr lang="en-US" sz="1000" dirty="0"/>
          </a:p>
        </p:txBody>
      </p:sp>
      <p:sp>
        <p:nvSpPr>
          <p:cNvPr id="20" name="fx14_1_3"/>
          <p:cNvSpPr/>
          <p:nvPr/>
        </p:nvSpPr>
        <p:spPr>
          <a:xfrm>
            <a:off x="3383280" y="1920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Предприниматель как отдельная фигура анализа.</a:t>
            </a:r>
            <a:endParaRPr lang="en-US" sz="1300" dirty="0"/>
          </a:p>
        </p:txBody>
      </p:sp>
      <p:sp>
        <p:nvSpPr>
          <p:cNvPr id="21" name="fx14_2_4"/>
          <p:cNvSpPr/>
          <p:nvPr/>
        </p:nvSpPr>
        <p:spPr>
          <a:xfrm>
            <a:off x="685800" y="2788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900" dirty="0"/>
          </a:p>
        </p:txBody>
      </p:sp>
      <p:sp>
        <p:nvSpPr>
          <p:cNvPr id="22" name="fx14_2_5"/>
          <p:cNvSpPr/>
          <p:nvPr/>
        </p:nvSpPr>
        <p:spPr>
          <a:xfrm>
            <a:off x="1289304" y="2761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НЕОПРЕДЕЛЁННОСТЬ</a:t>
            </a:r>
            <a:endParaRPr lang="en-US" sz="1000" dirty="0"/>
          </a:p>
        </p:txBody>
      </p:sp>
      <p:sp>
        <p:nvSpPr>
          <p:cNvPr id="23" name="fx14_2_6"/>
          <p:cNvSpPr/>
          <p:nvPr/>
        </p:nvSpPr>
        <p:spPr>
          <a:xfrm>
            <a:off x="3383280" y="274320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Известные издержки — неизвестная выручка.</a:t>
            </a:r>
            <a:endParaRPr lang="en-US" sz="1300" dirty="0"/>
          </a:p>
        </p:txBody>
      </p:sp>
      <p:sp>
        <p:nvSpPr>
          <p:cNvPr id="24" name="fx14_3_7"/>
          <p:cNvSpPr/>
          <p:nvPr/>
        </p:nvSpPr>
        <p:spPr>
          <a:xfrm>
            <a:off x="685800" y="36118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900" dirty="0"/>
          </a:p>
        </p:txBody>
      </p:sp>
      <p:sp>
        <p:nvSpPr>
          <p:cNvPr id="25" name="fx14_3_8"/>
          <p:cNvSpPr/>
          <p:nvPr/>
        </p:nvSpPr>
        <p:spPr>
          <a:xfrm>
            <a:off x="1289304" y="35844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ВЗГЛЯД СИСТЕМНО</a:t>
            </a:r>
            <a:endParaRPr lang="en-US" sz="1000" dirty="0"/>
          </a:p>
        </p:txBody>
      </p:sp>
      <p:sp>
        <p:nvSpPr>
          <p:cNvPr id="26" name="fx14_3_9"/>
          <p:cNvSpPr/>
          <p:nvPr/>
        </p:nvSpPr>
        <p:spPr>
          <a:xfrm>
            <a:off x="3383280" y="35661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Рынки, деньги, цены, расстояние и люди связаны.</a:t>
            </a:r>
            <a:endParaRPr lang="en-US" sz="1300" dirty="0"/>
          </a:p>
        </p:txBody>
      </p:sp>
      <p:sp>
        <p:nvSpPr>
          <p:cNvPr id="27" name="fx14_8_10"/>
          <p:cNvSpPr/>
          <p:nvPr/>
        </p:nvSpPr>
        <p:spPr>
          <a:xfrm>
            <a:off x="685800" y="4846320"/>
            <a:ext cx="7040880" cy="960120"/>
          </a:xfrm>
          <a:prstGeom prst="roundRect">
            <a:avLst>
              <a:gd name="adj" fmla="val 7619"/>
            </a:avLst>
          </a:prstGeom>
          <a:solidFill>
            <a:srgbClr val="1B160C">
              <a:alpha val="93000"/>
            </a:srgbClr>
          </a:solidFill>
          <a:ln w="12700">
            <a:solidFill>
              <a:srgbClr val="E3B663">
                <a:alpha val="57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14_8_11"/>
          <p:cNvSpPr/>
          <p:nvPr/>
        </p:nvSpPr>
        <p:spPr>
          <a:xfrm>
            <a:off x="685800" y="4983480"/>
            <a:ext cx="50292" cy="6858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9" name="fx14_8_12"/>
          <p:cNvSpPr/>
          <p:nvPr/>
        </p:nvSpPr>
        <p:spPr>
          <a:xfrm>
            <a:off x="941832" y="4718304"/>
            <a:ext cx="1993392" cy="265176"/>
          </a:xfrm>
          <a:prstGeom prst="roundRect">
            <a:avLst>
              <a:gd name="adj" fmla="val 48276"/>
            </a:avLst>
          </a:prstGeom>
          <a:solidFill>
            <a:srgbClr val="E3B663"/>
          </a:solidFill>
          <a:ln/>
        </p:spPr>
      </p:sp>
      <p:sp>
        <p:nvSpPr>
          <p:cNvPr id="30" name="fx14_8_13"/>
          <p:cNvSpPr/>
          <p:nvPr/>
        </p:nvSpPr>
        <p:spPr>
          <a:xfrm>
            <a:off x="941832" y="4718304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spc="120" kern="0" dirty="0">
                <a:solidFill>
                  <a:srgbClr val="07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20" dirty="0"/>
          </a:p>
        </p:txBody>
      </p:sp>
      <p:sp>
        <p:nvSpPr>
          <p:cNvPr id="31" name="fx14_8_14"/>
          <p:cNvSpPr/>
          <p:nvPr/>
        </p:nvSpPr>
        <p:spPr>
          <a:xfrm>
            <a:off x="960120" y="4992624"/>
            <a:ext cx="6565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60" b="1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созидательное разрушение — а ранний взгляд на то, кто несёт риск и принимает решение на неизвестном рынке.</a:t>
            </a:r>
            <a:endParaRPr lang="en-US" sz="126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candle">
                <a:extLst>
                  <a:ext uri="{FF2B5EF4-FFF2-40B4-BE49-F238E27FC236}">
                    <a16:creationId xmlns:a16="http://schemas.microsoft.com/office/drawing/2014/main" id="{712CECCA-DAFD-5B5B-270F-59F50A4D8F7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611880" y="1444752"/>
              <a:ext cx="3108960" cy="3108960"/>
            </p:xfrm>
            <a:graphic>
              <a:graphicData uri="http://schemas.microsoft.com/office/drawing/2017/model3d">
                <am3d:model3d r:embed="rIdM3d52">
                  <am3d:spPr>
                    <a:xfrm>
                      <a:off x="0" y="0"/>
                      <a:ext cx="3108960" cy="3108960"/>
                    </a:xfrm>
                    <a:prstGeom prst="rect">
                      <a:avLst/>
                    </a:prstGeom>
                  </am3d:spPr>
                  <am3d:camera>
                    <am3d:pos x="0" y="0" z="7325804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-2162012" dy="-268156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4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108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candle">
                <a:extLst>
                  <a:ext uri="{FF2B5EF4-FFF2-40B4-BE49-F238E27FC236}">
                    <a16:creationId xmlns:a16="http://schemas.microsoft.com/office/drawing/2014/main" id="{712CECCA-DAFD-5B5B-270F-59F50A4D8F7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611880" y="1444752"/>
                <a:ext cx="3108960" cy="31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bubble">
                <a:extLst>
                  <a:ext uri="{FF2B5EF4-FFF2-40B4-BE49-F238E27FC236}">
                    <a16:creationId xmlns:a16="http://schemas.microsoft.com/office/drawing/2014/main" id="{548FF881-257A-E892-A1BC-B611CA0A4E0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4480560"/>
              <a:ext cx="1874520" cy="1874520"/>
            </p:xfrm>
            <a:graphic>
              <a:graphicData uri="http://schemas.microsoft.com/office/drawing/2017/model3d">
                <am3d:model3d r:embed="rIdM3d53">
                  <am3d:spPr>
                    <a:xfrm>
                      <a:off x="0" y="0"/>
                      <a:ext cx="1874520" cy="1874520"/>
                    </a:xfrm>
                    <a:prstGeom prst="rect">
                      <a:avLst/>
                    </a:prstGeom>
                  </am3d:spPr>
                  <am3d:camera>
                    <am3d:pos x="0" y="0" z="7978093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5" dy="-562500" dz="4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4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1874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bubble">
                <a:extLst>
                  <a:ext uri="{FF2B5EF4-FFF2-40B4-BE49-F238E27FC236}">
                    <a16:creationId xmlns:a16="http://schemas.microsoft.com/office/drawing/2014/main" id="{548FF881-257A-E892-A1BC-B611CA0A4E0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94615" y="4480560"/>
                <a:ext cx="1874520" cy="1874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5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820095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B0DACFB-E63F-7445-6F95-AE98A30D5E0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222431" y="77724"/>
              <a:ext cx="566928" cy="566928"/>
            </p:xfrm>
            <a:graphic>
              <a:graphicData uri="http://schemas.microsoft.com/office/drawing/2017/model3d">
                <am3d:model3d r:embed="rIdM3d54">
                  <am3d:spPr>
                    <a:xfrm>
                      <a:off x="0" y="0"/>
                      <a:ext cx="566928" cy="566928"/>
                    </a:xfrm>
                    <a:prstGeom prst="rect">
                      <a:avLst/>
                    </a:prstGeom>
                  </am3d:spPr>
                  <am3d:camera>
                    <am3d:pos x="0" y="0" z="6666146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-225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209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669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B0DACFB-E63F-7445-6F95-AE98A30D5E0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222431" y="77724"/>
                <a:ext cx="566928" cy="5669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4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И ОГОВОРКИ</a:t>
            </a:r>
            <a:endParaRPr lang="en-US" sz="105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6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ИРЛАНДИЯ / ФРАНЦИЯ  ·  XVIII ВЕК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12" name="fx15_1_0"/>
          <p:cNvSpPr/>
          <p:nvPr/>
        </p:nvSpPr>
        <p:spPr>
          <a:xfrm>
            <a:off x="685800" y="1755648"/>
            <a:ext cx="498348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95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БИОГРАФИЯ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60"/>
              </a:spcAft>
              <a:buSzPct val="100000"/>
              <a:buChar char="•"/>
            </a:pPr>
            <a:r>
              <a:rPr lang="en-US" sz="101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J. Woods, “Cantillon, Richard”, Dictionary of Irish Biography, Royal Irish Academy (2009).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60"/>
              </a:spcAft>
              <a:buSzPct val="100000"/>
              <a:buChar char="•"/>
            </a:pPr>
            <a:r>
              <a:rPr lang="en-US" sz="101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E. Murphy, Richard Cantillon: Entrepreneur and Economist (Oxford, 1986).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01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W. S. Jevons, “Richard Cantillon and the Nationality of Political Economy” (1881).</a:t>
            </a:r>
            <a:endParaRPr lang="en-US" sz="95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95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ПЕРВОИСТОЧНИК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60"/>
              </a:spcAft>
              <a:buSzPct val="100000"/>
              <a:buChar char="•"/>
            </a:pPr>
            <a:r>
              <a:rPr lang="en-US" sz="101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Cantillon, Essai sur la nature du commerce en général (1755).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60"/>
              </a:spcAft>
              <a:buSzPct val="100000"/>
              <a:buChar char="•"/>
            </a:pPr>
            <a:r>
              <a:rPr lang="en-US" sz="101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Henry Higgs, trans., Essay on the Nature of Trade in General; Online Library of Liberty.</a:t>
            </a:r>
            <a:endParaRPr lang="en-US" sz="950" dirty="0"/>
          </a:p>
        </p:txBody>
      </p:sp>
      <p:sp>
        <p:nvSpPr>
          <p:cNvPr id="13" name="fx15_2_1"/>
          <p:cNvSpPr/>
          <p:nvPr/>
        </p:nvSpPr>
        <p:spPr>
          <a:xfrm>
            <a:off x="5916168" y="1755648"/>
            <a:ext cx="29260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95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ПРОВЕРИТЬ В ESSAI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40"/>
              </a:spcAft>
              <a:buSzPct val="100000"/>
              <a:buChar char="•"/>
            </a:pPr>
            <a:r>
              <a:rPr lang="en-US" sz="98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I, ch. XIII — предприниматель и неопределённый доход.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40"/>
              </a:spcAft>
              <a:buSzPct val="100000"/>
              <a:buChar char="•"/>
            </a:pPr>
            <a:r>
              <a:rPr lang="en-US" sz="98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I–II — рынок, цены, деньги и стоимость расстояния.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40"/>
              </a:spcAft>
              <a:buSzPct val="100000"/>
              <a:buChar char="•"/>
            </a:pPr>
            <a:r>
              <a:rPr lang="en-US" sz="98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 — маршрут карьеры, Mississippi System, пожар 1734 года и версия Суринама.</a:t>
            </a:r>
            <a:endParaRPr lang="en-US" sz="95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950" b="1" spc="18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</a:t>
            </a:r>
            <a:endParaRPr lang="en-US" sz="950" dirty="0"/>
          </a:p>
          <a:p>
            <a:pPr algn="l" marL="342900" indent="-342900">
              <a:lnSpc>
                <a:spcPct val="100000"/>
              </a:lnSpc>
              <a:spcAft>
                <a:spcPts val="240"/>
              </a:spcAft>
              <a:buSzPct val="100000"/>
              <a:buChar char="•"/>
            </a:pPr>
            <a:r>
              <a:rPr lang="en-US" sz="98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3D-экспонаты созданы в Blender; в PowerPoint встроены модели GLB и прозрачные fallback-рендеры.</a:t>
            </a:r>
            <a:endParaRPr lang="en-US" sz="950" dirty="0"/>
          </a:p>
        </p:txBody>
      </p:sp>
      <p:sp>
        <p:nvSpPr>
          <p:cNvPr id="14" name="fx15_3_2"/>
          <p:cNvSpPr/>
          <p:nvPr/>
        </p:nvSpPr>
        <p:spPr>
          <a:xfrm>
            <a:off x="5998464" y="4059936"/>
            <a:ext cx="2487168" cy="1828800"/>
          </a:xfrm>
          <a:prstGeom prst="rect">
            <a:avLst/>
          </a:prstGeom>
          <a:solidFill>
            <a:srgbClr val="070C18">
              <a:alpha val="95000"/>
            </a:srgbClr>
          </a:solidFill>
          <a:ln w="10160">
            <a:solidFill>
              <a:srgbClr val="E3B663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5" name="fx15_3_3" descr="/home/user/omgGame/presentations/cantillon/assets/largilliere-famil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28" y="4114800"/>
            <a:ext cx="2377440" cy="1737360"/>
          </a:xfrm>
          <a:prstGeom prst="rect">
            <a:avLst/>
          </a:prstGeom>
        </p:spPr>
      </p:pic>
      <p:sp>
        <p:nvSpPr>
          <p:cNvPr id="16" name="fx15_3_4"/>
          <p:cNvSpPr/>
          <p:nvPr/>
        </p:nvSpPr>
        <p:spPr>
          <a:xfrm>
            <a:off x="5989320" y="5943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Ларжильер, ок. 1710 · возможное сходство спорно</a:t>
            </a:r>
            <a:endParaRPr lang="en-US" sz="800" dirty="0"/>
          </a:p>
        </p:txBody>
      </p:sp>
      <p:pic>
        <p:nvPicPr>
          <p:cNvPr id="17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011" y="4019931"/>
            <a:ext cx="2155698" cy="2155698"/>
          </a:xfrm>
          <a:prstGeom prst="rect">
            <a:avLst/>
          </a:prstGeom>
        </p:spPr>
      </p:pic>
      <p:sp>
        <p:nvSpPr>
          <p:cNvPr id="18" name="!!ring1"/>
          <p:cNvSpPr/>
          <p:nvPr/>
        </p:nvSpPr>
        <p:spPr>
          <a:xfrm>
            <a:off x="9428836" y="4216756"/>
            <a:ext cx="1762049" cy="1762049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9" name="!!ring2"/>
          <p:cNvSpPr/>
          <p:nvPr/>
        </p:nvSpPr>
        <p:spPr>
          <a:xfrm>
            <a:off x="9185148" y="3973068"/>
            <a:ext cx="2249424" cy="2249424"/>
          </a:xfrm>
          <a:prstGeom prst="ellipse">
            <a:avLst/>
          </a:prstGeom>
          <a:ln w="9525">
            <a:solidFill>
              <a:srgbClr val="E3B663">
                <a:alpha val="11000"/>
              </a:srgbClr>
            </a:solidFill>
            <a:prstDash val="dash"/>
          </a:ln>
        </p:spPr>
      </p:sp>
      <p:pic>
        <p:nvPicPr>
          <p:cNvPr id="20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8797" y="5552351"/>
            <a:ext cx="1462126" cy="36553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1" name="!!m-bubble">
                <a:extLst>
                  <a:ext uri="{FF2B5EF4-FFF2-40B4-BE49-F238E27FC236}">
                    <a16:creationId xmlns:a16="http://schemas.microsoft.com/office/drawing/2014/main" id="{4230C000-4BE9-F170-9BC8-611216E0A71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372600" y="4160520"/>
              <a:ext cx="1874520" cy="1874520"/>
            </p:xfrm>
            <a:graphic>
              <a:graphicData uri="http://schemas.microsoft.com/office/drawing/2017/model3d">
                <am3d:model3d r:embed="rIdM3d55">
                  <am3d:spPr>
                    <a:xfrm>
                      <a:off x="0" y="0"/>
                      <a:ext cx="1874520" cy="1874520"/>
                    </a:xfrm>
                    <a:prstGeom prst="rect">
                      <a:avLst/>
                    </a:prstGeom>
                  </am3d:spPr>
                  <am3d:camera>
                    <am3d:pos x="0" y="0" z="7978093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5" dy="-562500" dz="4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0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1874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1" name="!!m-bubble">
                <a:extLst>
                  <a:ext uri="{FF2B5EF4-FFF2-40B4-BE49-F238E27FC236}">
                    <a16:creationId xmlns:a16="http://schemas.microsoft.com/office/drawing/2014/main" id="{4230C000-4BE9-F170-9BC8-611216E0A7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372600" y="4160520"/>
                <a:ext cx="1874520" cy="187452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fx15_9_5"/>
          <p:cNvSpPr/>
          <p:nvPr/>
        </p:nvSpPr>
        <p:spPr>
          <a:xfrm>
            <a:off x="8732520" y="5925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spc="23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15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3D-экспонат: Mississippi bubble</a:t>
            </a:r>
            <a:endParaRPr lang="en-US" sz="8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!!m-compass">
                <a:extLst>
                  <a:ext uri="{FF2B5EF4-FFF2-40B4-BE49-F238E27FC236}">
                    <a16:creationId xmlns:a16="http://schemas.microsoft.com/office/drawing/2014/main" id="{A8821A6F-9A29-8BAF-CA09-8F38F02683E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108960" y="1737360"/>
              <a:ext cx="2606040" cy="2606040"/>
            </p:xfrm>
            <a:graphic>
              <a:graphicData uri="http://schemas.microsoft.com/office/drawing/2017/model3d">
                <am3d:model3d r:embed="rIdM3d56">
                  <am3d:spPr>
                    <a:xfrm>
                      <a:off x="0" y="0"/>
                      <a:ext cx="2606040" cy="2606040"/>
                    </a:xfrm>
                    <a:prstGeom prst="rect">
                      <a:avLst/>
                    </a:prstGeom>
                  </am3d:spPr>
                  <am3d:camera>
                    <am3d:pos x="0" y="0" z="6361218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59107" d="1000000"/>
                    <am3d:preTrans dx="0" dy="-61856" dz="1917526"/>
                    <am3d:scale>
                      <am3d:sx n="1000000" d="1000000"/>
                      <am3d:sy n="1000000" d="1000000"/>
                      <am3d:sz n="1000000" d="1000000"/>
                    </am3d:scale>
                    <am3d:rot ax="420000" ay="-55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606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!!m-compass">
                <a:extLst>
                  <a:ext uri="{FF2B5EF4-FFF2-40B4-BE49-F238E27FC236}">
                    <a16:creationId xmlns:a16="http://schemas.microsoft.com/office/drawing/2014/main" id="{A8821A6F-9A29-8BAF-CA09-8F38F02683E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3108960" y="1737360"/>
                <a:ext cx="2606040" cy="2606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6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Ричард Кантильон — 3D-презентация</dc:title>
  <dc:subject>Биография и вклад в теорию предпринимательства</dc:subject>
  <dc:creator>omgGame</dc:creator>
  <cp:lastModifiedBy>omgGame</cp:lastModifiedBy>
  <cp:revision>1</cp:revision>
  <dcterms:created xsi:type="dcterms:W3CDTF">2026-10-06T15:56:14Z</dcterms:created>
  <dcterms:modified xsi:type="dcterms:W3CDTF">2026-10-06T15:56:14Z</dcterms:modified>
</cp:coreProperties>
</file>