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Сегодня я расскажу о Йозефе Шумпетере — австрийско-американском экономисте, которого часто называют «пророком инноваций». Именно он поставил предпринимателя в центр экономической теории и придумал понятие «созидательное разрушение».
План: где он родился и вырос, чем занимался, в чём его главная мысль и что он дал теории предпринимательства.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Йозеф Алоиз Шумпетер родился 8 февраля 1883 года в городке Тршешть — по-немецки Triesch — в Моравии. Тогда это была Австро-Венгрия, сегодня — Чехия. Интересное совпадение: в 1883 году умер Карл Маркс и родился Джон Мейнард Кейнс — два других великих экономиста, с которыми Шумпетера постоянно сравнивают.
Он был единственным сыном владельца суконной фабрики. Отец умер, когда Йозефу было четыре года. Мать переехала с ним в Грац, а в 1893 году вышла замуж за высокопоставленного генерала, и семья перебралась в Вену. Это открыло мальчику дорогу в элитное образование.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1893 по 1901 год Шумпетер учился в Терезиануме — элитной венской школе, где учились дети аристократии. Там он получил классическое образование и выучил несколько языков.
Затем — юридический факультет Венского университета, где он изучал право и экономику. Его учителями были Ойген фон Бём-Баверк и Фридрих фон Визер — классики австрийской экономической школы. В 1906 году, в 23 года, он стал доктором права.
После этого он год провёл в Англии — в Лондонской школе экономики и Британском музее, а затем уехал работать юристом в Каир. Важно: учился он у «австрийцев», но не стал их последователем — пошёл своим путём.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Карьера Шумпетера похожа на приключенческий роман. В 1907 году он — юрист в Каире, где пишет первую книгу. В 1909-м становится профессором в Черновцах — одним из самых молодых профессоров империи. С 1911 года — профессор в Граце; в это время выходит его главная книга «Теория экономического развития». В 1913 году он читает лекции в Колумбийском университете в Нью-Йорке.
После Первой мировой войны, в 1919 году, его назначают министром финансов Австрийской республики — он пробыл на посту около семи месяцев. В 1921–1924 годах он президент Biedermann Bank; банк рухнул, и Шумпетер много лет выплачивал долги.
В 1925-м он профессор в Бонне, а в 1926-м переживает трагедию: умирают мать и молодая жена Анни. С 1932 года и до конца жизни — профессор Гарварда. В 1939 году он стал гражданином США. Умер 8 января 1950 года в Коннектикуте.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коротко, у Шумпетера было четыре роли. Первая — учёный: он писал об экономическом развитии, деловых циклах, истории экономической мысли, а также о социологии и политике.
Вторая — министр финансов: в 1919 году он около семи месяцев работал в правительстве новой Австрийской республики.
Третья — банкир: с 1921 по 1924 год он возглавлял Biedermann Bank. Банк рухнул, и Шумпетер на собственном опыте узнал, что такое предпринимательский риск.
Четвёртая — профессор Гарварда. Среди его студентов — будущие нобелевские лауреаты Пол Самуэльсон и Джеймс Тобин. Он был президентом Эконометрического общества и Американской экономической ассоциации.
И известная легенда: в юности он хотел стать величайшим экономистом мира, лучшим наездником Австрии и величайшим любовником Вены — и позже шутил, что не вышло только с лошадьми.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Главные труды Шумпетера. «Теория экономического развития» вышла в 1911 году, хотя на титуле стоит 1912-й. В ней он впервые описал предпринимателя как источник развития экономики.
«Деловые циклы» 1939 года объясняют, почему экономика растёт волнами. Именно здесь он назвал длинные волны в честь русского экономиста Николая Кондратьева.
«Капитализм, социализм и демократия» 1942 года — его самая известная книга, где появляется понятие «созидательное разрушение».
И «История экономического анализа» — огромный труд, изданный уже после его смерти, в 1954 году.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 Шумпетера: экономика меняется изнутри и скачками. Большинство экономистов того времени изучали равновесие — состояние, когда экономика из года в год повторяет себя. Шумпетер называл это «кругооборотом». В нём нет развития, а прибыль стремится к нулю.
Развитие начинается, когда кто-то ломает этот круг: вводит новый продукт, новый способ производства, выходит на новый рынок. Это скачок, а не плавный рост. Лучше всего это показывает его знаменитая фраза: сколько ни складывай почтовые кареты, железной дороги не получишь. Новое — это не «больше того же самого», а качественно другое.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именно Шумпетер называл новым? Он выделил пять «новых комбинаций»: новый продукт или новое качество товара; новый способ производства; новый рынок сбыта; новый источник сырья или полуфабрикатов; и новая организация отрасли — например, создание или разрушение монополии.
Ключевой момент: инновация — это не изобретение. Изобретение может годами лежать без дела. Инновация — это когда новое реально внедрено в хозяйственную жизнь.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о главном для нашей темы — о предпринимателе. По Шумпетеру, предприниматель — это не обязательно изобретатель, не обязательно владелец капитала и не просто управляющий. Его функция — осуществить новую комбинацию: соединить идею, людей, ресурсы и кредит так, чтобы новое заработало на рынке.
Поэтому предприниматель — это роль, а не профессия: человек остаётся предпринимателем, пока внедряет новое, и перестаёт им быть, когда просто управляет налаженным делом.
Что движет предпринимателем? Шумпетер называл три мотива: мечту основать своё «частное королевство», волю к победе — желание бороться и доказать превосходство, и радость творчества.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Как, по Шумпетеру, работает механизм развития? Сначала появляется новая комбинация. Но у предпринимателя обычно нет денег — их даёт банк, который создаёт кредит. Поэтому Шумпетер называл банкира «эфором» — надзирателем — рыночной экономики.
Дальше предприниматель внедряет новинку и получает предпринимательскую прибыль — временную награду за новизну. Как только успех становится заметен, появляется «рой» подражателей: они копируют новинку, старые решения вытесняются, прибыль исчезает, и экономика выходит на новое равновесие, но уже на более высоком уровне — до следующего скачка.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книге «Капитализм, социализм и демократия» 1942 года Шумпетер ввёл самое знаменитое своё понятие — «созидательное разрушение». Новые продукты, технологии и компании не просто добавляются к старым — они их вытесняют. Автомобиль вытеснил карету, электричество — паровые машины на фабриках, цифровое фото — плёнку, стриминг — видеопрокат.
Шумпетер писал, что этот процесс и есть «основной факт капитализма». Важно: это не обещание, что победит любая инновация, а описание того, как экономика постоянно перестраивается.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книге «Деловые циклы» 1939 года Шумпетер объяснил, почему экономика растёт волнами. Инновации появляются не равномерно, а кластерами — и каждая такая «гроздь» запускает длинную волну подъёма примерно на 50 лет. Эти волны он назвал в честь русского экономиста Николая Кондратьева.
Шумпетер выделил три волны: промышленная революция с текстилем и паровой машиной; эпоха железных дорог и стали; эпоха электричества, химии и автомобиля. Его последователи — неошумпетерианцы, например Кристофер Фримен и Карлота Перес, — продолжили схему: волна нефти и массового производства и волна информационных технологий и интернета.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Итак, что Шумпетер сделал для теории предпринимательства. Первое: он поставил предпринимателя в центр экономики — как двигатель развития, а не просто владельца капитала. Второе: разделил изобретение и инновацию и показал, что предпринимательство — это функция внедрения нового. Третье: объяснил предпринимательскую прибыль как временную награду за новизну.
Четвёртое: у него фактически две модели. В ранней книге инновации делают новые смелые фирмы-одиночки, в книге 1942 года — крупные корпорации со своими исследовательскими лабораториями. Позже исследователи назвали их «Шумпетер Mark I» и «Mark II».
И пятое: он заложил основу экономики инноваций. На его идеях выросла неошумпетерианская школа, в 1986 году появилось Международное общество Шумпетера, а современные идеи о подрывных инновациях и стартапах во многом опираются на его рамку.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Кто он: австрийско-американский экономист из Моравии, который успел побыть министром, банкиром и профессором Гарварда. Его главная мысль: экономика развивается скачками, через новые комбинации, которые ломают равновесие, — это созидательное разрушение. Его вклад в предпринимательство: предприниматель — это тот, кто внедряет новое; это функция, а не должность и не капитал.
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с источниками — вслух не читается.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  ·  ИННОВАЦИИ  ·  ПРЕДПРИНИМАТЕЛЬСТВО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721340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1143000"/>
            <a:ext cx="6400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400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Йозеф</a:t>
            </a:r>
            <a:endParaRPr lang="en-US" sz="54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Шумпетер</a:t>
            </a:r>
            <a:endParaRPr lang="en-US" sz="5400" dirty="0"/>
          </a:p>
        </p:txBody>
      </p:sp>
      <p:sp>
        <p:nvSpPr>
          <p:cNvPr id="10" name="Shape 7"/>
          <p:cNvSpPr/>
          <p:nvPr/>
        </p:nvSpPr>
        <p:spPr>
          <a:xfrm>
            <a:off x="685800" y="3639312"/>
            <a:ext cx="1005840" cy="3657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3822192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000" i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Экономист, который поставил предпринимателя в центр экономической теории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85800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25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1883 — 1950   ·   АВСТРО-ВЕНГРИЯ → США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5800" y="5532120"/>
            <a:ext cx="1874520" cy="420624"/>
          </a:xfrm>
          <a:prstGeom prst="roundRect">
            <a:avLst>
              <a:gd name="adj" fmla="val 50000"/>
            </a:avLst>
          </a:prstGeom>
          <a:solidFill>
            <a:srgbClr val="0E1930">
              <a:alpha val="70000"/>
            </a:srgbClr>
          </a:solidFill>
          <a:ln w="9525">
            <a:solidFill>
              <a:srgbClr val="E3B663">
                <a:alpha val="45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5800" y="5532120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3DD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Родился в Моравии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2688336" y="5532120"/>
            <a:ext cx="2697480" cy="420624"/>
          </a:xfrm>
          <a:prstGeom prst="roundRect">
            <a:avLst>
              <a:gd name="adj" fmla="val 50000"/>
            </a:avLst>
          </a:prstGeom>
          <a:solidFill>
            <a:srgbClr val="0E1930">
              <a:alpha val="70000"/>
            </a:srgbClr>
          </a:solidFill>
          <a:ln w="9525">
            <a:solidFill>
              <a:srgbClr val="E3B663">
                <a:alpha val="45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688336" y="5532120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3DD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Министр · банкир · профессор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513832" y="5532120"/>
            <a:ext cx="2606040" cy="420624"/>
          </a:xfrm>
          <a:prstGeom prst="roundRect">
            <a:avLst>
              <a:gd name="adj" fmla="val 50000"/>
            </a:avLst>
          </a:prstGeom>
          <a:solidFill>
            <a:srgbClr val="0E1930">
              <a:alpha val="70000"/>
            </a:srgbClr>
          </a:solidFill>
          <a:ln w="9525">
            <a:solidFill>
              <a:srgbClr val="E3B663">
                <a:alpha val="4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13832" y="5532120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3DD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«Созидательное разрушение»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bir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ГДЕ РОДИЛСЯ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1442679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896112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Родился в маленьком городке Моравии</a:t>
            </a:r>
            <a:endParaRPr lang="en-US" sz="3800" dirty="0"/>
          </a:p>
        </p:txBody>
      </p:sp>
      <p:sp>
        <p:nvSpPr>
          <p:cNvPr id="10" name="Shape 7"/>
          <p:cNvSpPr/>
          <p:nvPr/>
        </p:nvSpPr>
        <p:spPr>
          <a:xfrm>
            <a:off x="685800" y="237744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0E1930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2542032"/>
            <a:ext cx="41148" cy="63093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250545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 РОЖДЕНИЯ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14400" y="272491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февраля 1883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914400" y="30358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смерти Маркса и рождения Кейнса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703320" y="237744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0E1930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703320" y="2542032"/>
            <a:ext cx="41148" cy="63093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17" name="Text 14"/>
          <p:cNvSpPr/>
          <p:nvPr/>
        </p:nvSpPr>
        <p:spPr>
          <a:xfrm>
            <a:off x="3931920" y="250545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931920" y="272491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Тршешть (Triesch)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3931920" y="30358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Моравия, ≈120 км от Праги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347472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0E1930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5800" y="3639312"/>
            <a:ext cx="41148" cy="63093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360273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СТРАНА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914400" y="382219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Австро-Венгрия</a:t>
            </a:r>
            <a:endParaRPr lang="en-US" sz="1650" dirty="0"/>
          </a:p>
        </p:txBody>
      </p:sp>
      <p:sp>
        <p:nvSpPr>
          <p:cNvPr id="24" name="Text 21"/>
          <p:cNvSpPr/>
          <p:nvPr/>
        </p:nvSpPr>
        <p:spPr>
          <a:xfrm>
            <a:off x="914400" y="4133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сегодня — Чехия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703320" y="347472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0E1930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703320" y="3639312"/>
            <a:ext cx="41148" cy="63093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7" name="Text 24"/>
          <p:cNvSpPr/>
          <p:nvPr/>
        </p:nvSpPr>
        <p:spPr>
          <a:xfrm>
            <a:off x="3931920" y="360273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3931920" y="382219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Сын фабриканта</a:t>
            </a:r>
            <a:endParaRPr lang="en-US" sz="1650" dirty="0"/>
          </a:p>
        </p:txBody>
      </p:sp>
      <p:sp>
        <p:nvSpPr>
          <p:cNvPr id="29" name="Text 26"/>
          <p:cNvSpPr/>
          <p:nvPr/>
        </p:nvSpPr>
        <p:spPr>
          <a:xfrm>
            <a:off x="3931920" y="4133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отец владел суконной фабрикой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85800" y="457200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0E1930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85800" y="4736592"/>
            <a:ext cx="41148" cy="63093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2" name="Text 29"/>
          <p:cNvSpPr/>
          <p:nvPr/>
        </p:nvSpPr>
        <p:spPr>
          <a:xfrm>
            <a:off x="914400" y="470001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ДЕТСТВО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914400" y="491947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Отец умер в 1887</a:t>
            </a:r>
            <a:endParaRPr lang="en-US" sz="1650" dirty="0"/>
          </a:p>
        </p:txBody>
      </p:sp>
      <p:sp>
        <p:nvSpPr>
          <p:cNvPr id="34" name="Text 31"/>
          <p:cNvSpPr/>
          <p:nvPr/>
        </p:nvSpPr>
        <p:spPr>
          <a:xfrm>
            <a:off x="914400" y="52303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Йозефу было всего 4 года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3703320" y="457200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0E1930">
              <a:alpha val="78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703320" y="4736592"/>
            <a:ext cx="41148" cy="630936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37" name="Text 34"/>
          <p:cNvSpPr/>
          <p:nvPr/>
        </p:nvSpPr>
        <p:spPr>
          <a:xfrm>
            <a:off x="3931920" y="470001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ПЕРЕЕЗД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3931920" y="491947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Грац → Вена (1893)</a:t>
            </a:r>
            <a:endParaRPr lang="en-US" sz="1650" dirty="0"/>
          </a:p>
        </p:txBody>
      </p:sp>
      <p:sp>
        <p:nvSpPr>
          <p:cNvPr id="39" name="Text 36"/>
          <p:cNvSpPr/>
          <p:nvPr/>
        </p:nvSpPr>
        <p:spPr>
          <a:xfrm>
            <a:off x="3931920" y="52303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мать вышла замуж за генерала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685800" y="57332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 — немецкоязычные католики в преимущественно чешском городке.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vien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ОБРАЗОВАНИЕ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2164019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896112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Элитная школа и Венский университет</a:t>
            </a:r>
            <a:endParaRPr lang="en-US" sz="3800" dirty="0"/>
          </a:p>
        </p:txBody>
      </p:sp>
      <p:sp>
        <p:nvSpPr>
          <p:cNvPr id="10" name="Shape 7"/>
          <p:cNvSpPr/>
          <p:nvPr/>
        </p:nvSpPr>
        <p:spPr>
          <a:xfrm>
            <a:off x="795528" y="2505456"/>
            <a:ext cx="91" cy="2359152"/>
          </a:xfrm>
          <a:prstGeom prst="line">
            <a:avLst/>
          </a:prstGeom>
          <a:noFill/>
          <a:ln w="19050">
            <a:solidFill>
              <a:srgbClr val="E3B663">
                <a:alpha val="55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4088" y="2414016"/>
            <a:ext cx="182880" cy="182880"/>
          </a:xfrm>
          <a:prstGeom prst="ellipse">
            <a:avLst/>
          </a:prstGeom>
          <a:solidFill>
            <a:srgbClr val="070C18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43000" y="2377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1893–1901   </a:t>
            </a:r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Терезианум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43000" y="26700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Элитная венская гимназия для детей аристократии: классическое образование, несколько языков.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04088" y="3200400"/>
            <a:ext cx="182880" cy="182880"/>
          </a:xfrm>
          <a:prstGeom prst="ellipse">
            <a:avLst/>
          </a:prstGeom>
          <a:solidFill>
            <a:srgbClr val="070C18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43000" y="31638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1901–1906   </a:t>
            </a:r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Венский университет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43000" y="345643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Право и экономика. Учителя — Бём-Баверк и Визер, классики австрийской школы.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04088" y="3986784"/>
            <a:ext cx="182880" cy="182880"/>
          </a:xfrm>
          <a:prstGeom prst="ellipse">
            <a:avLst/>
          </a:prstGeom>
          <a:solidFill>
            <a:srgbClr val="070C18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143000" y="39502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1906   </a:t>
            </a:r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Доктор права в 23 года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43000" y="424281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из самых молодых докторов наук в империи.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704088" y="4773168"/>
            <a:ext cx="182880" cy="182880"/>
          </a:xfrm>
          <a:prstGeom prst="ellipse">
            <a:avLst/>
          </a:prstGeom>
          <a:solidFill>
            <a:srgbClr val="070C18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4300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1906–1907   </a:t>
            </a:r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Лондон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43000" y="5029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в Лондонской школе экономики и Британском музее.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85800" y="5532120"/>
            <a:ext cx="4983480" cy="621792"/>
          </a:xfrm>
          <a:prstGeom prst="roundRect">
            <a:avLst>
              <a:gd name="adj" fmla="val 11765"/>
            </a:avLst>
          </a:prstGeom>
          <a:solidFill>
            <a:srgbClr val="0E1930">
              <a:alpha val="78000"/>
            </a:srgbClr>
          </a:solidFill>
          <a:ln w="9525">
            <a:solidFill>
              <a:srgbClr val="E3B663">
                <a:alpha val="40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" y="5532120"/>
            <a:ext cx="4617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Учился у «австрийцев», но их последователем не стал — построил собственную теорию развития.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journe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ЧЕМ ЗАНИМАЛСЯ: КАРЬЕРА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2885359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89611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Путь: от Каира до Гарварда</a:t>
            </a:r>
            <a:endParaRPr lang="en-US" sz="3800" dirty="0"/>
          </a:p>
        </p:txBody>
      </p:sp>
      <p:sp>
        <p:nvSpPr>
          <p:cNvPr id="10" name="Shape 7"/>
          <p:cNvSpPr/>
          <p:nvPr/>
        </p:nvSpPr>
        <p:spPr>
          <a:xfrm>
            <a:off x="594360" y="1783080"/>
            <a:ext cx="11002975" cy="2240280"/>
          </a:xfrm>
          <a:prstGeom prst="roundRect">
            <a:avLst>
              <a:gd name="adj" fmla="val 4082"/>
            </a:avLst>
          </a:prstGeom>
          <a:solidFill>
            <a:srgbClr val="070C18">
              <a:alpha val="78000"/>
            </a:srgbClr>
          </a:solidFill>
          <a:ln w="9525">
            <a:solidFill>
              <a:srgbClr val="E3B663">
                <a:alpha val="2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62056" y="2011680"/>
            <a:ext cx="9467583" cy="91"/>
          </a:xfrm>
          <a:prstGeom prst="line">
            <a:avLst/>
          </a:prstGeom>
          <a:noFill/>
          <a:ln w="19050">
            <a:solidFill>
              <a:srgbClr val="E3B663">
                <a:alpha val="65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70616" y="1920240"/>
            <a:ext cx="182880" cy="182880"/>
          </a:xfrm>
          <a:prstGeom prst="ellipse">
            <a:avLst/>
          </a:prstGeom>
          <a:solidFill>
            <a:srgbClr val="070C18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" y="2212848"/>
            <a:ext cx="1224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1907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49808" y="2615184"/>
            <a:ext cx="122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Каир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49808" y="2907792"/>
            <a:ext cx="1224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Юрист в Смешанном суде Египта; пишет первую книгу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623128" y="1920240"/>
            <a:ext cx="182880" cy="182880"/>
          </a:xfrm>
          <a:prstGeom prst="ellipse">
            <a:avLst/>
          </a:prstGeom>
          <a:solidFill>
            <a:srgbClr val="070C18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02320" y="2212848"/>
            <a:ext cx="1224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1909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102320" y="2615184"/>
            <a:ext cx="122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Черновцы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102320" y="2907792"/>
            <a:ext cx="1224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Профессор в 26 лет — один из самых молодых в империи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975640" y="1920240"/>
            <a:ext cx="182880" cy="182880"/>
          </a:xfrm>
          <a:prstGeom prst="ellipse">
            <a:avLst/>
          </a:prstGeom>
          <a:solidFill>
            <a:srgbClr val="070C18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454832" y="2212848"/>
            <a:ext cx="1224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1911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454832" y="2615184"/>
            <a:ext cx="122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Грац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3454832" y="2907792"/>
            <a:ext cx="1224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Профессор; выходит «Теория экономического развития»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328152" y="1920240"/>
            <a:ext cx="182880" cy="182880"/>
          </a:xfrm>
          <a:prstGeom prst="ellipse">
            <a:avLst/>
          </a:prstGeom>
          <a:solidFill>
            <a:srgbClr val="070C18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07344" y="2212848"/>
            <a:ext cx="1224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1913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4807344" y="2615184"/>
            <a:ext cx="122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Нью-Йорк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4807344" y="2907792"/>
            <a:ext cx="1224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Приглашённый профессор Колумбийского университета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680664" y="1920240"/>
            <a:ext cx="182880" cy="182880"/>
          </a:xfrm>
          <a:prstGeom prst="ellipse">
            <a:avLst/>
          </a:prstGeom>
          <a:solidFill>
            <a:srgbClr val="070C18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59856" y="2212848"/>
            <a:ext cx="1224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1919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6159856" y="2615184"/>
            <a:ext cx="122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Вена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6159856" y="2907792"/>
            <a:ext cx="1224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Министр финансов Австрии (около 7 месяцев)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33175" y="1920240"/>
            <a:ext cx="182880" cy="182880"/>
          </a:xfrm>
          <a:prstGeom prst="ellipse">
            <a:avLst/>
          </a:prstGeom>
          <a:solidFill>
            <a:srgbClr val="070C18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512367" y="2212848"/>
            <a:ext cx="1224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1921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7512367" y="2615184"/>
            <a:ext cx="122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12367" y="2907792"/>
            <a:ext cx="1224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Президент Biedermann Bank; крах в 1924, долги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385687" y="1920240"/>
            <a:ext cx="182880" cy="182880"/>
          </a:xfrm>
          <a:prstGeom prst="ellipse">
            <a:avLst/>
          </a:prstGeom>
          <a:solidFill>
            <a:srgbClr val="070C18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864879" y="2212848"/>
            <a:ext cx="1224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1925</a:t>
            </a:r>
            <a:endParaRPr lang="en-US" sz="2000" dirty="0"/>
          </a:p>
        </p:txBody>
      </p:sp>
      <p:sp>
        <p:nvSpPr>
          <p:cNvPr id="38" name="Text 35"/>
          <p:cNvSpPr/>
          <p:nvPr/>
        </p:nvSpPr>
        <p:spPr>
          <a:xfrm>
            <a:off x="8864879" y="2615184"/>
            <a:ext cx="122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Бонн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8864879" y="2907792"/>
            <a:ext cx="1224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Профессор; в 1926 умирают мать и жена Анни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10738199" y="1920240"/>
            <a:ext cx="182880" cy="182880"/>
          </a:xfrm>
          <a:prstGeom prst="ellipse">
            <a:avLst/>
          </a:prstGeom>
          <a:solidFill>
            <a:srgbClr val="E3B663"/>
          </a:solidFill>
          <a:ln w="25400">
            <a:solidFill>
              <a:srgbClr val="E3B663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0217391" y="2212848"/>
            <a:ext cx="1224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1932</a:t>
            </a:r>
            <a:endParaRPr lang="en-US" sz="2000" dirty="0"/>
          </a:p>
        </p:txBody>
      </p:sp>
      <p:sp>
        <p:nvSpPr>
          <p:cNvPr id="42" name="Text 39"/>
          <p:cNvSpPr/>
          <p:nvPr/>
        </p:nvSpPr>
        <p:spPr>
          <a:xfrm>
            <a:off x="10217391" y="2615184"/>
            <a:ext cx="122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Гарвард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10217391" y="2907792"/>
            <a:ext cx="1224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Профессор до конца жизни; гражданин США с 1939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pl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ЧЕМ ЗАНИМАЛСЯ: ЧЕТЫРЕ РОЛИ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3606698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896112"/>
            <a:ext cx="7223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Учёный, министр, банкир, профессор</a:t>
            </a:r>
            <a:endParaRPr lang="en-US" sz="3800" dirty="0"/>
          </a:p>
        </p:txBody>
      </p:sp>
      <p:sp>
        <p:nvSpPr>
          <p:cNvPr id="10" name="Shape 7"/>
          <p:cNvSpPr/>
          <p:nvPr/>
        </p:nvSpPr>
        <p:spPr>
          <a:xfrm>
            <a:off x="8668512" y="1078992"/>
            <a:ext cx="2926080" cy="4259214"/>
          </a:xfrm>
          <a:prstGeom prst="rect">
            <a:avLst/>
          </a:prstGeom>
          <a:solidFill>
            <a:srgbClr val="E3B663">
              <a:alpha val="18000"/>
            </a:srgbClr>
          </a:solidFill>
          <a:ln w="9525">
            <a:solidFill>
              <a:srgbClr val="E3B663">
                <a:alpha val="45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449056" y="859536"/>
            <a:ext cx="3035808" cy="4368942"/>
          </a:xfrm>
          <a:prstGeom prst="rect">
            <a:avLst/>
          </a:prstGeom>
          <a:solidFill>
            <a:srgbClr val="070C18"/>
          </a:solidFill>
          <a:ln w="15875">
            <a:solidFill>
              <a:srgbClr val="E3B663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12" name="Image 1" descr="/home/user/omgGame/presentations/schumpeter/assets/portrait-191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914400"/>
            <a:ext cx="2926080" cy="425921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21040" y="5447934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Шумпетер около 1910 г. · Wikimedia Commons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85800" y="2377440"/>
            <a:ext cx="3657600" cy="1463040"/>
          </a:xfrm>
          <a:prstGeom prst="roundRect">
            <a:avLst>
              <a:gd name="adj" fmla="val 5000"/>
            </a:avLst>
          </a:prstGeom>
          <a:solidFill>
            <a:srgbClr val="0E1930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86968" y="2523744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146304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Учёный-экономист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86968" y="2980944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Теория развития, деловые циклы, история экономической мысли; писал и о социологии, и о политике.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26280" y="2377440"/>
            <a:ext cx="3657600" cy="1463040"/>
          </a:xfrm>
          <a:prstGeom prst="roundRect">
            <a:avLst>
              <a:gd name="adj" fmla="val 5000"/>
            </a:avLst>
          </a:prstGeom>
          <a:solidFill>
            <a:srgbClr val="0E1930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727448" y="2523744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2200" dirty="0"/>
          </a:p>
        </p:txBody>
      </p:sp>
      <p:sp>
        <p:nvSpPr>
          <p:cNvPr id="20" name="Text 16"/>
          <p:cNvSpPr/>
          <p:nvPr/>
        </p:nvSpPr>
        <p:spPr>
          <a:xfrm>
            <a:off x="530352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Министр финансов · 1919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727448" y="2980944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Около семи месяцев в правительстве новой Австрийской республики после распада империи.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4005072"/>
            <a:ext cx="3657600" cy="1463040"/>
          </a:xfrm>
          <a:prstGeom prst="roundRect">
            <a:avLst>
              <a:gd name="adj" fmla="val 5000"/>
            </a:avLst>
          </a:prstGeom>
          <a:solidFill>
            <a:srgbClr val="0E1930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86968" y="41513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2200" dirty="0"/>
          </a:p>
        </p:txBody>
      </p:sp>
      <p:sp>
        <p:nvSpPr>
          <p:cNvPr id="24" name="Text 20"/>
          <p:cNvSpPr/>
          <p:nvPr/>
        </p:nvSpPr>
        <p:spPr>
          <a:xfrm>
            <a:off x="1463040" y="41879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Банкир · 1921–1924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886968" y="460857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Президент Biedermann Bank. Банк рухнул — сам испытал риск предпринимателя и годами отдавал долги.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526280" y="4005072"/>
            <a:ext cx="3657600" cy="1463040"/>
          </a:xfrm>
          <a:prstGeom prst="roundRect">
            <a:avLst>
              <a:gd name="adj" fmla="val 5000"/>
            </a:avLst>
          </a:prstGeom>
          <a:solidFill>
            <a:srgbClr val="0E1930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727448" y="41513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2200" dirty="0"/>
          </a:p>
        </p:txBody>
      </p:sp>
      <p:sp>
        <p:nvSpPr>
          <p:cNvPr id="28" name="Text 24"/>
          <p:cNvSpPr/>
          <p:nvPr/>
        </p:nvSpPr>
        <p:spPr>
          <a:xfrm>
            <a:off x="5303520" y="41879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Профессор Гарварда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4727448" y="460857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Учил будущих нобелевских лауреатов Самуэльсона и Тобина; президент Эконометрического общества и AEA.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85800" y="5669280"/>
            <a:ext cx="41148" cy="530352"/>
          </a:xfrm>
          <a:prstGeom prst="rect">
            <a:avLst/>
          </a:prstGeom>
          <a:solidFill>
            <a:srgbClr val="62D4F0"/>
          </a:solidFill>
          <a:ln/>
        </p:spPr>
      </p:sp>
      <p:sp>
        <p:nvSpPr>
          <p:cNvPr id="31" name="Text 27"/>
          <p:cNvSpPr/>
          <p:nvPr/>
        </p:nvSpPr>
        <p:spPr>
          <a:xfrm>
            <a:off x="868680" y="5650992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2D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Легенда.  </a:t>
            </a:r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юности мечтал стать величайшим экономистом мира, лучшим наездником Австрии и величайшим любовником Вены. Позже шутил, что не вышло только с лошадьми.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boo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ГЛАВНЫЕ ТРУДЫ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4328038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896112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Четыре книги, которые стоит знать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685800" y="23774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1911/12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2057400" y="23957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«Теория экономического развития»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057400" y="27432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Предприниматель, инновации и кредит как двигатель развития.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85800" y="3163824"/>
            <a:ext cx="585216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5800" y="32735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1939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2057400" y="32918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«Деловые циклы»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2057400" y="36393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экономика растёт волнами; «циклы Кондратьева».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85800" y="4059936"/>
            <a:ext cx="585216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416966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1942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2057400" y="41879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«Капитализм, социализм и демократия»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2057400" y="45354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«Созидательное разрушение» — его самая известная идея.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85800" y="4956048"/>
            <a:ext cx="5852160" cy="91"/>
          </a:xfrm>
          <a:prstGeom prst="line">
            <a:avLst/>
          </a:prstGeom>
          <a:noFill/>
          <a:ln w="9525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5065776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1954</a:t>
            </a:r>
            <a:endParaRPr lang="en-US" sz="2100" dirty="0"/>
          </a:p>
        </p:txBody>
      </p:sp>
      <p:sp>
        <p:nvSpPr>
          <p:cNvPr id="23" name="Text 20"/>
          <p:cNvSpPr/>
          <p:nvPr/>
        </p:nvSpPr>
        <p:spPr>
          <a:xfrm>
            <a:off x="2057400" y="50840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«История экономического анализа»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2057400" y="543153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Огромная история экономической мысли; издана посмертно.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ide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ГЛАВНАЯ МЫСЛЬ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5049378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896112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Экономика меняется изнутри — скачками</a:t>
            </a:r>
            <a:endParaRPr lang="en-US" sz="3800" dirty="0"/>
          </a:p>
        </p:txBody>
      </p:sp>
      <p:sp>
        <p:nvSpPr>
          <p:cNvPr id="10" name="Shape 7"/>
          <p:cNvSpPr/>
          <p:nvPr/>
        </p:nvSpPr>
        <p:spPr>
          <a:xfrm>
            <a:off x="685800" y="2377440"/>
            <a:ext cx="2487168" cy="2148840"/>
          </a:xfrm>
          <a:prstGeom prst="roundRect">
            <a:avLst>
              <a:gd name="adj" fmla="val 3404"/>
            </a:avLst>
          </a:prstGeom>
          <a:solidFill>
            <a:srgbClr val="0E1930">
              <a:alpha val="88000"/>
            </a:srgbClr>
          </a:solidFill>
          <a:ln w="9525">
            <a:solidFill>
              <a:srgbClr val="8090A8">
                <a:alpha val="3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6968" y="2542032"/>
            <a:ext cx="2121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КРУГООБОРОТ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86968" y="2770632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Статика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86968" y="3246120"/>
            <a:ext cx="21579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 повторяет себя из года в год</a:t>
            </a:r>
            <a:endParaRPr lang="en-US" sz="110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 и предложение в равновесии</a:t>
            </a:r>
            <a:endParaRPr lang="en-US" sz="110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 стремится к нулю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172968" y="310896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584448" y="2377440"/>
            <a:ext cx="2487168" cy="2148840"/>
          </a:xfrm>
          <a:prstGeom prst="roundRect">
            <a:avLst>
              <a:gd name="adj" fmla="val 3404"/>
            </a:avLst>
          </a:prstGeom>
          <a:solidFill>
            <a:srgbClr val="0E1930">
              <a:alpha val="88000"/>
            </a:srgbClr>
          </a:solidFill>
          <a:ln w="9525">
            <a:solidFill>
              <a:srgbClr val="E3B663">
                <a:alpha val="65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785616" y="2542032"/>
            <a:ext cx="2121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62D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РАЗВИТИЕ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785616" y="2770632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Динамика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3785616" y="3246120"/>
            <a:ext cx="21579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вводит новое</a:t>
            </a:r>
            <a:endParaRPr lang="en-US" sz="110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Равновесие ломается изнутри</a:t>
            </a:r>
            <a:endParaRPr lang="en-US" sz="110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Появляются прибыль и рост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46177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6400" dirty="0"/>
          </a:p>
        </p:txBody>
      </p:sp>
      <p:sp>
        <p:nvSpPr>
          <p:cNvPr id="20" name="Text 17"/>
          <p:cNvSpPr/>
          <p:nvPr/>
        </p:nvSpPr>
        <p:spPr>
          <a:xfrm>
            <a:off x="1188720" y="48006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i="1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Складывайте сколько угодно почтовых карет, железной дороги вы так не получите.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188720" y="5532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Й. Шумпетер, «Теория экономического развития»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comb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ГЛАВНАЯ МЫСЛЬ: ИННОВАЦИЯ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5770717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896112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Пять «новых комбинаций»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685800" y="2212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Инновация по Шумпетеру — любое из пяти изменений: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85800" y="2670048"/>
            <a:ext cx="457200" cy="457200"/>
          </a:xfrm>
          <a:prstGeom prst="ellipse">
            <a:avLst/>
          </a:prstGeom>
          <a:solidFill>
            <a:srgbClr val="0E1930">
              <a:alpha val="90000"/>
            </a:srgbClr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325880" y="26426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продукт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1325880" y="29169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или новое качество знакомого товара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85800" y="3255264"/>
            <a:ext cx="457200" cy="457200"/>
          </a:xfrm>
          <a:prstGeom prst="ellipse">
            <a:avLst/>
          </a:prstGeom>
          <a:solidFill>
            <a:srgbClr val="0E1930">
              <a:alpha val="90000"/>
            </a:srgbClr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325880" y="32278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способ производства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1325880" y="35021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 или способ продажи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85800" y="3840480"/>
            <a:ext cx="457200" cy="457200"/>
          </a:xfrm>
          <a:prstGeom prst="ellipse">
            <a:avLst/>
          </a:prstGeom>
          <a:solidFill>
            <a:srgbClr val="0E1930">
              <a:alpha val="90000"/>
            </a:srgbClr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858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325880" y="38130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рынок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1325880" y="40873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отрасль страны раньше не выходила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85800" y="4425696"/>
            <a:ext cx="457200" cy="457200"/>
          </a:xfrm>
          <a:prstGeom prst="ellipse">
            <a:avLst/>
          </a:prstGeom>
          <a:solidFill>
            <a:srgbClr val="0E1930">
              <a:alpha val="90000"/>
            </a:srgbClr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580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325880" y="43982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источник сырья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1325880" y="46725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или полуфабрикатов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85800" y="5010912"/>
            <a:ext cx="457200" cy="457200"/>
          </a:xfrm>
          <a:prstGeom prst="ellipse">
            <a:avLst/>
          </a:prstGeom>
          <a:solidFill>
            <a:srgbClr val="0E1930">
              <a:alpha val="90000"/>
            </a:srgbClr>
          </a:solidFill>
          <a:ln w="15875">
            <a:solidFill>
              <a:srgbClr val="E3B66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5010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325880" y="4983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Новая организация отрасли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1325880" y="525780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создание или разрушение монополии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685800" y="5715000"/>
            <a:ext cx="5029200" cy="512064"/>
          </a:xfrm>
          <a:prstGeom prst="roundRect">
            <a:avLst>
              <a:gd name="adj" fmla="val 14286"/>
            </a:avLst>
          </a:prstGeom>
          <a:solidFill>
            <a:srgbClr val="0E1930">
              <a:alpha val="78000"/>
            </a:srgbClr>
          </a:solidFill>
          <a:ln w="9525">
            <a:solidFill>
              <a:srgbClr val="62D4F0">
                <a:alpha val="5000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86968" y="5715000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62D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Изобретение ≠ инновация:  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важно не придумать, а внедрить.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entrepreneu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ПРЕДПРИНИМАТЕЛЬСТВО: КТО ЭТО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6492057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896112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Предприниматель — тот, кто внедряет новое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685800" y="22677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ОБЯЗАТЕЛЬНО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85800" y="2542032"/>
            <a:ext cx="1700784" cy="420624"/>
          </a:xfrm>
          <a:prstGeom prst="roundRect">
            <a:avLst>
              <a:gd name="adj" fmla="val 50000"/>
            </a:avLst>
          </a:prstGeom>
          <a:solidFill>
            <a:srgbClr val="0E1930">
              <a:alpha val="80000"/>
            </a:srgbClr>
          </a:solidFill>
          <a:ln w="9525">
            <a:solidFill>
              <a:srgbClr val="8090A8">
                <a:alpha val="45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2542032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77B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изобретатель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496312" y="2542032"/>
            <a:ext cx="1700784" cy="420624"/>
          </a:xfrm>
          <a:prstGeom prst="roundRect">
            <a:avLst>
              <a:gd name="adj" fmla="val 50000"/>
            </a:avLst>
          </a:prstGeom>
          <a:solidFill>
            <a:srgbClr val="0E1930">
              <a:alpha val="80000"/>
            </a:srgbClr>
          </a:solidFill>
          <a:ln w="9525">
            <a:solidFill>
              <a:srgbClr val="8090A8">
                <a:alpha val="45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496312" y="2542032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77B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капиталист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06824" y="2542032"/>
            <a:ext cx="1700784" cy="420624"/>
          </a:xfrm>
          <a:prstGeom prst="roundRect">
            <a:avLst>
              <a:gd name="adj" fmla="val 50000"/>
            </a:avLst>
          </a:prstGeom>
          <a:solidFill>
            <a:srgbClr val="0E1930">
              <a:alpha val="80000"/>
            </a:srgbClr>
          </a:solidFill>
          <a:ln w="9525">
            <a:solidFill>
              <a:srgbClr val="8090A8">
                <a:alpha val="45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06824" y="2542032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77B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</a:t>
            </a:r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8580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ЕГО ФУНКЦИЯ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85800" y="34564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Соединить идею, людей, ресурсы и кредит так, чтобы новая комбинация заработала на рынке. </a:t>
            </a:r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3DD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роль, а не должность: 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— предприниматель, пока внедряет новое.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85800" y="44988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МОТИВА ПО ШУМПЕТЕРУ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85800" y="4773168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1930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50392" y="488289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50392" y="5248656"/>
            <a:ext cx="1426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Мечта основать «частное королевство»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2496312" y="4773168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1930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660904" y="488289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2660904" y="5248656"/>
            <a:ext cx="1426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Воля к победе и желание бороться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306824" y="4773168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1930">
              <a:alpha val="8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471416" y="488289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4471416" y="5248656"/>
            <a:ext cx="1426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Радость творчества и дела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pl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— ПРЕДПРИНИМАТЕЛЬСТВО: МЕХАНИЗМ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7213397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89611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инновация двигает экономику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685800" y="16276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из «Теории экономического развития» (1911/12)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85800" y="2697480"/>
            <a:ext cx="1650949" cy="2258568"/>
          </a:xfrm>
          <a:prstGeom prst="roundRect">
            <a:avLst>
              <a:gd name="adj" fmla="val 4431"/>
            </a:avLst>
          </a:prstGeom>
          <a:solidFill>
            <a:srgbClr val="0E1930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85800" y="2697480"/>
            <a:ext cx="1650949" cy="4572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13" name="Text 10"/>
          <p:cNvSpPr/>
          <p:nvPr/>
        </p:nvSpPr>
        <p:spPr>
          <a:xfrm>
            <a:off x="850392" y="28620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50392" y="3383280"/>
            <a:ext cx="13766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Новая комбинация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50392" y="3904488"/>
            <a:ext cx="13766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 нового продукта, способа, рынка, сырья или организации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 rot="5400000">
            <a:off x="2368753" y="3931920"/>
            <a:ext cx="118872" cy="146304"/>
          </a:xfrm>
          <a:prstGeom prst="triangle">
            <a:avLst/>
          </a:prstGeom>
          <a:solidFill>
            <a:srgbClr val="E3B663">
              <a:alpha val="80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2519629" y="2569464"/>
            <a:ext cx="1650949" cy="2386584"/>
          </a:xfrm>
          <a:prstGeom prst="roundRect">
            <a:avLst>
              <a:gd name="adj" fmla="val 4431"/>
            </a:avLst>
          </a:prstGeom>
          <a:solidFill>
            <a:srgbClr val="0E1930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519629" y="2569464"/>
            <a:ext cx="1650949" cy="4572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19" name="Text 16"/>
          <p:cNvSpPr/>
          <p:nvPr/>
        </p:nvSpPr>
        <p:spPr>
          <a:xfrm>
            <a:off x="2684221" y="273405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2684221" y="3255264"/>
            <a:ext cx="13766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Кредит банка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2684221" y="3776472"/>
            <a:ext cx="13766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 создаёт покупательную силу и финансирует внедрение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 rot="5400000">
            <a:off x="4202582" y="3931920"/>
            <a:ext cx="118872" cy="146304"/>
          </a:xfrm>
          <a:prstGeom prst="triangle">
            <a:avLst/>
          </a:prstGeom>
          <a:solidFill>
            <a:srgbClr val="E3B663">
              <a:alpha val="80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4353458" y="2441448"/>
            <a:ext cx="1650949" cy="2514600"/>
          </a:xfrm>
          <a:prstGeom prst="roundRect">
            <a:avLst>
              <a:gd name="adj" fmla="val 4431"/>
            </a:avLst>
          </a:prstGeom>
          <a:solidFill>
            <a:srgbClr val="2A2210"/>
          </a:solidFill>
          <a:ln w="9525">
            <a:solidFill>
              <a:srgbClr val="E3B663">
                <a:alpha val="8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53458" y="2441448"/>
            <a:ext cx="1650949" cy="4572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25" name="Text 22"/>
          <p:cNvSpPr/>
          <p:nvPr/>
        </p:nvSpPr>
        <p:spPr>
          <a:xfrm>
            <a:off x="4518050" y="2606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4518050" y="3127248"/>
            <a:ext cx="13766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518050" y="3648456"/>
            <a:ext cx="13766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перестраивает производство и выходит на рынок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 rot="5400000">
            <a:off x="6036412" y="3931920"/>
            <a:ext cx="118872" cy="146304"/>
          </a:xfrm>
          <a:prstGeom prst="triangle">
            <a:avLst/>
          </a:prstGeom>
          <a:solidFill>
            <a:srgbClr val="E3B663">
              <a:alpha val="80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6187288" y="2313432"/>
            <a:ext cx="1650949" cy="2642616"/>
          </a:xfrm>
          <a:prstGeom prst="roundRect">
            <a:avLst>
              <a:gd name="adj" fmla="val 4431"/>
            </a:avLst>
          </a:prstGeom>
          <a:solidFill>
            <a:srgbClr val="0E1930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187288" y="2313432"/>
            <a:ext cx="1650949" cy="45720"/>
          </a:xfrm>
          <a:prstGeom prst="rect">
            <a:avLst/>
          </a:prstGeom>
          <a:solidFill>
            <a:srgbClr val="62D4F0"/>
          </a:solidFill>
          <a:ln/>
        </p:spPr>
      </p:sp>
      <p:sp>
        <p:nvSpPr>
          <p:cNvPr id="31" name="Text 28"/>
          <p:cNvSpPr/>
          <p:nvPr/>
        </p:nvSpPr>
        <p:spPr>
          <a:xfrm>
            <a:off x="6351880" y="24780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62D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32" name="Text 29"/>
          <p:cNvSpPr/>
          <p:nvPr/>
        </p:nvSpPr>
        <p:spPr>
          <a:xfrm>
            <a:off x="6351880" y="2999232"/>
            <a:ext cx="13766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351880" y="3520440"/>
            <a:ext cx="13766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Временная награда за новизну, пока нет конкурентов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 rot="5400000">
            <a:off x="7870241" y="3931920"/>
            <a:ext cx="118872" cy="146304"/>
          </a:xfrm>
          <a:prstGeom prst="triangle">
            <a:avLst/>
          </a:prstGeom>
          <a:solidFill>
            <a:srgbClr val="E3B663">
              <a:alpha val="80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8021117" y="2185416"/>
            <a:ext cx="1650949" cy="2770632"/>
          </a:xfrm>
          <a:prstGeom prst="roundRect">
            <a:avLst>
              <a:gd name="adj" fmla="val 4431"/>
            </a:avLst>
          </a:prstGeom>
          <a:solidFill>
            <a:srgbClr val="0E1930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8021117" y="2185416"/>
            <a:ext cx="1650949" cy="45720"/>
          </a:xfrm>
          <a:prstGeom prst="rect">
            <a:avLst/>
          </a:prstGeom>
          <a:solidFill>
            <a:srgbClr val="62D4F0"/>
          </a:solidFill>
          <a:ln/>
        </p:spPr>
      </p:sp>
      <p:sp>
        <p:nvSpPr>
          <p:cNvPr id="37" name="Text 34"/>
          <p:cNvSpPr/>
          <p:nvPr/>
        </p:nvSpPr>
        <p:spPr>
          <a:xfrm>
            <a:off x="8185709" y="23500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62D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600" dirty="0"/>
          </a:p>
        </p:txBody>
      </p:sp>
      <p:sp>
        <p:nvSpPr>
          <p:cNvPr id="38" name="Text 35"/>
          <p:cNvSpPr/>
          <p:nvPr/>
        </p:nvSpPr>
        <p:spPr>
          <a:xfrm>
            <a:off x="8185709" y="2871216"/>
            <a:ext cx="13766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Рой подражателей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185709" y="3392424"/>
            <a:ext cx="13766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Другие фирмы копируют успех, старое вытесняется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 rot="5400000">
            <a:off x="9704070" y="3931920"/>
            <a:ext cx="118872" cy="146304"/>
          </a:xfrm>
          <a:prstGeom prst="triangle">
            <a:avLst/>
          </a:prstGeom>
          <a:solidFill>
            <a:srgbClr val="E3B663">
              <a:alpha val="80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9854946" y="2057400"/>
            <a:ext cx="1650949" cy="2898648"/>
          </a:xfrm>
          <a:prstGeom prst="roundRect">
            <a:avLst>
              <a:gd name="adj" fmla="val 4431"/>
            </a:avLst>
          </a:prstGeom>
          <a:solidFill>
            <a:srgbClr val="0E1930">
              <a:alpha val="95000"/>
            </a:srgbClr>
          </a:solidFill>
          <a:ln w="9525">
            <a:solidFill>
              <a:srgbClr val="E3B663">
                <a:alpha val="3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9854946" y="2057400"/>
            <a:ext cx="1650949" cy="45720"/>
          </a:xfrm>
          <a:prstGeom prst="rect">
            <a:avLst/>
          </a:prstGeom>
          <a:solidFill>
            <a:srgbClr val="62D4F0"/>
          </a:solidFill>
          <a:ln/>
        </p:spPr>
      </p:sp>
      <p:sp>
        <p:nvSpPr>
          <p:cNvPr id="43" name="Text 40"/>
          <p:cNvSpPr/>
          <p:nvPr/>
        </p:nvSpPr>
        <p:spPr>
          <a:xfrm>
            <a:off x="10019538" y="22219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62D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600" dirty="0"/>
          </a:p>
        </p:txBody>
      </p:sp>
      <p:sp>
        <p:nvSpPr>
          <p:cNvPr id="44" name="Text 41"/>
          <p:cNvSpPr/>
          <p:nvPr/>
        </p:nvSpPr>
        <p:spPr>
          <a:xfrm>
            <a:off x="10019538" y="2743200"/>
            <a:ext cx="137662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Новое равновесие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10019538" y="3264408"/>
            <a:ext cx="137662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 на более высоком уровне — до следующего скачка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685800" y="5212080"/>
            <a:ext cx="5295748" cy="868680"/>
          </a:xfrm>
          <a:prstGeom prst="roundRect">
            <a:avLst>
              <a:gd name="adj" fmla="val 8421"/>
            </a:avLst>
          </a:prstGeom>
          <a:solidFill>
            <a:srgbClr val="0E1930">
              <a:alpha val="78000"/>
            </a:srgbClr>
          </a:solidFill>
          <a:ln w="9525">
            <a:solidFill>
              <a:srgbClr val="E3B663">
                <a:alpha val="4500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14400" y="5212080"/>
            <a:ext cx="48842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Банкир — «эфор» рыночной экономики: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кредит даёт предпринимателю ресурсы раньше, чем появится прибыль.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6210148" y="5212080"/>
            <a:ext cx="5295748" cy="868680"/>
          </a:xfrm>
          <a:prstGeom prst="roundRect">
            <a:avLst>
              <a:gd name="adj" fmla="val 8421"/>
            </a:avLst>
          </a:prstGeom>
          <a:solidFill>
            <a:srgbClr val="0E1930">
              <a:alpha val="78000"/>
            </a:srgbClr>
          </a:solidFill>
          <a:ln w="9525">
            <a:solidFill>
              <a:srgbClr val="62D4F0">
                <a:alpha val="45000"/>
              </a:srgbClr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438748" y="5212080"/>
            <a:ext cx="48842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62D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 временна:</a:t>
            </a:r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подражатели «роем» копируют новинку, и рынок приходит к новому равновесию.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destruc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— ГЛАВНАЯ ИДЕЯ 1942 ГОДА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7934736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896112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Созидательное разрушение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685800" y="1664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«Процесс созидательного разрушения — это основной факт капитализма»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5800" y="210312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«Капитализм, социализм и демократия», 1942, гл. VII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641080" y="868680"/>
            <a:ext cx="2862072" cy="1508760"/>
          </a:xfrm>
          <a:prstGeom prst="roundRect">
            <a:avLst>
              <a:gd name="adj" fmla="val 4848"/>
            </a:avLst>
          </a:prstGeom>
          <a:solidFill>
            <a:srgbClr val="0E1930">
              <a:alpha val="85000"/>
            </a:srgbClr>
          </a:solidFill>
          <a:ln w="9525">
            <a:solidFill>
              <a:srgbClr val="62D4F0">
                <a:alpha val="45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23960" y="868680"/>
            <a:ext cx="2560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62D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обещание успеха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не гарантия, что победит любая новинка, а описание постоянной перестройки экономики.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5800" y="2606040"/>
            <a:ext cx="2567864" cy="457200"/>
          </a:xfrm>
          <a:prstGeom prst="roundRect">
            <a:avLst>
              <a:gd name="adj" fmla="val 50000"/>
            </a:avLst>
          </a:prstGeom>
          <a:solidFill>
            <a:srgbClr val="070C18">
              <a:alpha val="75000"/>
            </a:srgbClr>
          </a:solidFill>
          <a:ln w="9525">
            <a:solidFill>
              <a:srgbClr val="E3B663">
                <a:alpha val="45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60604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Карета → автомобиль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436544" y="2606040"/>
            <a:ext cx="2567864" cy="457200"/>
          </a:xfrm>
          <a:prstGeom prst="roundRect">
            <a:avLst>
              <a:gd name="adj" fmla="val 50000"/>
            </a:avLst>
          </a:prstGeom>
          <a:solidFill>
            <a:srgbClr val="070C18">
              <a:alpha val="75000"/>
            </a:srgbClr>
          </a:solidFill>
          <a:ln w="9525">
            <a:solidFill>
              <a:srgbClr val="E3B663">
                <a:alpha val="45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436544" y="260604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 → электричество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187288" y="2606040"/>
            <a:ext cx="2567864" cy="457200"/>
          </a:xfrm>
          <a:prstGeom prst="roundRect">
            <a:avLst>
              <a:gd name="adj" fmla="val 50000"/>
            </a:avLst>
          </a:prstGeom>
          <a:solidFill>
            <a:srgbClr val="070C18">
              <a:alpha val="75000"/>
            </a:srgbClr>
          </a:solidFill>
          <a:ln w="9525">
            <a:solidFill>
              <a:srgbClr val="E3B663">
                <a:alpha val="45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87288" y="260604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Плёнка → цифровое фото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938031" y="2606040"/>
            <a:ext cx="2567864" cy="457200"/>
          </a:xfrm>
          <a:prstGeom prst="roundRect">
            <a:avLst>
              <a:gd name="adj" fmla="val 50000"/>
            </a:avLst>
          </a:prstGeom>
          <a:solidFill>
            <a:srgbClr val="070C18">
              <a:alpha val="75000"/>
            </a:srgbClr>
          </a:solidFill>
          <a:ln w="9525">
            <a:solidFill>
              <a:srgbClr val="E3B663">
                <a:alpha val="45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938031" y="260604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Видеопрокат → стриминг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pl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— ВОЛНЫ ИННОВАЦИЙ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8656076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89611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Экономика растёт волнами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685800" y="16276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«Деловые циклы» (1939): кластеры инноваций запускают длинные волны — Шумпетер назвал их в честь Н. Д. Кондратьева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85800" y="452628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" y="2944368"/>
            <a:ext cx="2164019" cy="1581912"/>
          </a:xfrm>
          <a:custGeom>
            <a:avLst/>
            <a:gdLst/>
            <a:ahLst/>
            <a:cxnLst/>
            <a:rect l="l" t="t" r="r" b="b"/>
            <a:pathLst>
              <a:path w="2164019" h="1581912">
                <a:moveTo>
                  <a:pt x="0" y="1581912"/>
                </a:moveTo>
                <a:lnTo>
                  <a:pt x="60112" y="1446351"/>
                </a:lnTo>
                <a:lnTo>
                  <a:pt x="120223" y="1311791"/>
                </a:lnTo>
                <a:lnTo>
                  <a:pt x="180335" y="1179224"/>
                </a:lnTo>
                <a:lnTo>
                  <a:pt x="240447" y="1049630"/>
                </a:lnTo>
                <a:lnTo>
                  <a:pt x="300558" y="923962"/>
                </a:lnTo>
                <a:lnTo>
                  <a:pt x="360670" y="803148"/>
                </a:lnTo>
                <a:lnTo>
                  <a:pt x="420781" y="688075"/>
                </a:lnTo>
                <a:lnTo>
                  <a:pt x="480893" y="579588"/>
                </a:lnTo>
                <a:lnTo>
                  <a:pt x="541005" y="478482"/>
                </a:lnTo>
                <a:lnTo>
                  <a:pt x="601116" y="385495"/>
                </a:lnTo>
                <a:lnTo>
                  <a:pt x="661228" y="301304"/>
                </a:lnTo>
                <a:lnTo>
                  <a:pt x="721340" y="226520"/>
                </a:lnTo>
                <a:lnTo>
                  <a:pt x="781451" y="161679"/>
                </a:lnTo>
                <a:lnTo>
                  <a:pt x="841563" y="107245"/>
                </a:lnTo>
                <a:lnTo>
                  <a:pt x="901675" y="63602"/>
                </a:lnTo>
                <a:lnTo>
                  <a:pt x="961786" y="31049"/>
                </a:lnTo>
                <a:lnTo>
                  <a:pt x="1021898" y="9805"/>
                </a:lnTo>
                <a:lnTo>
                  <a:pt x="1082010" y="0"/>
                </a:lnTo>
                <a:lnTo>
                  <a:pt x="1142121" y="1677"/>
                </a:lnTo>
                <a:lnTo>
                  <a:pt x="1202233" y="14793"/>
                </a:lnTo>
                <a:lnTo>
                  <a:pt x="1262344" y="39218"/>
                </a:lnTo>
                <a:lnTo>
                  <a:pt x="1322456" y="74733"/>
                </a:lnTo>
                <a:lnTo>
                  <a:pt x="1382568" y="121039"/>
                </a:lnTo>
                <a:lnTo>
                  <a:pt x="1442679" y="177752"/>
                </a:lnTo>
                <a:lnTo>
                  <a:pt x="1502791" y="244408"/>
                </a:lnTo>
                <a:lnTo>
                  <a:pt x="1562903" y="320471"/>
                </a:lnTo>
                <a:lnTo>
                  <a:pt x="1623014" y="405330"/>
                </a:lnTo>
                <a:lnTo>
                  <a:pt x="1683126" y="498308"/>
                </a:lnTo>
                <a:lnTo>
                  <a:pt x="1743238" y="598667"/>
                </a:lnTo>
                <a:lnTo>
                  <a:pt x="1803349" y="705612"/>
                </a:lnTo>
                <a:lnTo>
                  <a:pt x="1863461" y="818298"/>
                </a:lnTo>
                <a:lnTo>
                  <a:pt x="1923572" y="935838"/>
                </a:lnTo>
                <a:lnTo>
                  <a:pt x="1983684" y="1057304"/>
                </a:lnTo>
                <a:lnTo>
                  <a:pt x="2043796" y="1181743"/>
                </a:lnTo>
                <a:lnTo>
                  <a:pt x="2103907" y="1308175"/>
                </a:lnTo>
                <a:lnTo>
                  <a:pt x="2164019" y="1435608"/>
                </a:lnTo>
              </a:path>
            </a:pathLst>
          </a:custGeom>
          <a:ln w="114300">
            <a:solidFill>
              <a:srgbClr val="E3B663">
                <a:alpha val="15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85800" y="2944368"/>
            <a:ext cx="2164019" cy="1581912"/>
          </a:xfrm>
          <a:custGeom>
            <a:avLst/>
            <a:gdLst/>
            <a:ahLst/>
            <a:cxnLst/>
            <a:rect l="l" t="t" r="r" b="b"/>
            <a:pathLst>
              <a:path w="2164019" h="1581912">
                <a:moveTo>
                  <a:pt x="0" y="1581912"/>
                </a:moveTo>
                <a:lnTo>
                  <a:pt x="60112" y="1446351"/>
                </a:lnTo>
                <a:lnTo>
                  <a:pt x="120223" y="1311791"/>
                </a:lnTo>
                <a:lnTo>
                  <a:pt x="180335" y="1179224"/>
                </a:lnTo>
                <a:lnTo>
                  <a:pt x="240447" y="1049630"/>
                </a:lnTo>
                <a:lnTo>
                  <a:pt x="300558" y="923962"/>
                </a:lnTo>
                <a:lnTo>
                  <a:pt x="360670" y="803148"/>
                </a:lnTo>
                <a:lnTo>
                  <a:pt x="420781" y="688075"/>
                </a:lnTo>
                <a:lnTo>
                  <a:pt x="480893" y="579588"/>
                </a:lnTo>
                <a:lnTo>
                  <a:pt x="541005" y="478482"/>
                </a:lnTo>
                <a:lnTo>
                  <a:pt x="601116" y="385495"/>
                </a:lnTo>
                <a:lnTo>
                  <a:pt x="661228" y="301304"/>
                </a:lnTo>
                <a:lnTo>
                  <a:pt x="721340" y="226520"/>
                </a:lnTo>
                <a:lnTo>
                  <a:pt x="781451" y="161679"/>
                </a:lnTo>
                <a:lnTo>
                  <a:pt x="841563" y="107245"/>
                </a:lnTo>
                <a:lnTo>
                  <a:pt x="901675" y="63602"/>
                </a:lnTo>
                <a:lnTo>
                  <a:pt x="961786" y="31049"/>
                </a:lnTo>
                <a:lnTo>
                  <a:pt x="1021898" y="9805"/>
                </a:lnTo>
                <a:lnTo>
                  <a:pt x="1082010" y="0"/>
                </a:lnTo>
                <a:lnTo>
                  <a:pt x="1142121" y="1677"/>
                </a:lnTo>
                <a:lnTo>
                  <a:pt x="1202233" y="14793"/>
                </a:lnTo>
                <a:lnTo>
                  <a:pt x="1262344" y="39218"/>
                </a:lnTo>
                <a:lnTo>
                  <a:pt x="1322456" y="74733"/>
                </a:lnTo>
                <a:lnTo>
                  <a:pt x="1382568" y="121039"/>
                </a:lnTo>
                <a:lnTo>
                  <a:pt x="1442679" y="177752"/>
                </a:lnTo>
                <a:lnTo>
                  <a:pt x="1502791" y="244408"/>
                </a:lnTo>
                <a:lnTo>
                  <a:pt x="1562903" y="320471"/>
                </a:lnTo>
                <a:lnTo>
                  <a:pt x="1623014" y="405330"/>
                </a:lnTo>
                <a:lnTo>
                  <a:pt x="1683126" y="498308"/>
                </a:lnTo>
                <a:lnTo>
                  <a:pt x="1743238" y="598667"/>
                </a:lnTo>
                <a:lnTo>
                  <a:pt x="1803349" y="705612"/>
                </a:lnTo>
                <a:lnTo>
                  <a:pt x="1863461" y="818298"/>
                </a:lnTo>
                <a:lnTo>
                  <a:pt x="1923572" y="935838"/>
                </a:lnTo>
                <a:lnTo>
                  <a:pt x="1983684" y="1057304"/>
                </a:lnTo>
                <a:lnTo>
                  <a:pt x="2043796" y="1181743"/>
                </a:lnTo>
                <a:lnTo>
                  <a:pt x="2103907" y="1308175"/>
                </a:lnTo>
                <a:lnTo>
                  <a:pt x="2164019" y="1435608"/>
                </a:lnTo>
              </a:path>
            </a:pathLst>
          </a:custGeom>
          <a:ln w="34925">
            <a:solidFill>
              <a:srgbClr val="E3B66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5800" y="3447288"/>
            <a:ext cx="21640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77240" y="4690872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1787–1842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77240" y="498348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Текстиль, паровая машина, железо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849819" y="2798064"/>
            <a:ext cx="2164019" cy="1581912"/>
          </a:xfrm>
          <a:custGeom>
            <a:avLst/>
            <a:gdLst/>
            <a:ahLst/>
            <a:cxnLst/>
            <a:rect l="l" t="t" r="r" b="b"/>
            <a:pathLst>
              <a:path w="2164019" h="1581912">
                <a:moveTo>
                  <a:pt x="0" y="1581912"/>
                </a:moveTo>
                <a:lnTo>
                  <a:pt x="60112" y="1446351"/>
                </a:lnTo>
                <a:lnTo>
                  <a:pt x="120223" y="1311791"/>
                </a:lnTo>
                <a:lnTo>
                  <a:pt x="180335" y="1179224"/>
                </a:lnTo>
                <a:lnTo>
                  <a:pt x="240447" y="1049630"/>
                </a:lnTo>
                <a:lnTo>
                  <a:pt x="300558" y="923962"/>
                </a:lnTo>
                <a:lnTo>
                  <a:pt x="360670" y="803148"/>
                </a:lnTo>
                <a:lnTo>
                  <a:pt x="420781" y="688075"/>
                </a:lnTo>
                <a:lnTo>
                  <a:pt x="480893" y="579588"/>
                </a:lnTo>
                <a:lnTo>
                  <a:pt x="541005" y="478482"/>
                </a:lnTo>
                <a:lnTo>
                  <a:pt x="601116" y="385495"/>
                </a:lnTo>
                <a:lnTo>
                  <a:pt x="661228" y="301304"/>
                </a:lnTo>
                <a:lnTo>
                  <a:pt x="721340" y="226520"/>
                </a:lnTo>
                <a:lnTo>
                  <a:pt x="781451" y="161679"/>
                </a:lnTo>
                <a:lnTo>
                  <a:pt x="841563" y="107245"/>
                </a:lnTo>
                <a:lnTo>
                  <a:pt x="901675" y="63602"/>
                </a:lnTo>
                <a:lnTo>
                  <a:pt x="961786" y="31049"/>
                </a:lnTo>
                <a:lnTo>
                  <a:pt x="1021898" y="9805"/>
                </a:lnTo>
                <a:lnTo>
                  <a:pt x="1082010" y="0"/>
                </a:lnTo>
                <a:lnTo>
                  <a:pt x="1142121" y="1677"/>
                </a:lnTo>
                <a:lnTo>
                  <a:pt x="1202233" y="14793"/>
                </a:lnTo>
                <a:lnTo>
                  <a:pt x="1262344" y="39218"/>
                </a:lnTo>
                <a:lnTo>
                  <a:pt x="1322456" y="74733"/>
                </a:lnTo>
                <a:lnTo>
                  <a:pt x="1382568" y="121039"/>
                </a:lnTo>
                <a:lnTo>
                  <a:pt x="1442679" y="177752"/>
                </a:lnTo>
                <a:lnTo>
                  <a:pt x="1502791" y="244408"/>
                </a:lnTo>
                <a:lnTo>
                  <a:pt x="1562903" y="320471"/>
                </a:lnTo>
                <a:lnTo>
                  <a:pt x="1623014" y="405330"/>
                </a:lnTo>
                <a:lnTo>
                  <a:pt x="1683126" y="498308"/>
                </a:lnTo>
                <a:lnTo>
                  <a:pt x="1743238" y="598667"/>
                </a:lnTo>
                <a:lnTo>
                  <a:pt x="1803349" y="705612"/>
                </a:lnTo>
                <a:lnTo>
                  <a:pt x="1863461" y="818298"/>
                </a:lnTo>
                <a:lnTo>
                  <a:pt x="1923572" y="935838"/>
                </a:lnTo>
                <a:lnTo>
                  <a:pt x="1983684" y="1057304"/>
                </a:lnTo>
                <a:lnTo>
                  <a:pt x="2043796" y="1181743"/>
                </a:lnTo>
                <a:lnTo>
                  <a:pt x="2103907" y="1308175"/>
                </a:lnTo>
                <a:lnTo>
                  <a:pt x="2164019" y="1435608"/>
                </a:lnTo>
              </a:path>
            </a:pathLst>
          </a:custGeom>
          <a:ln w="114300">
            <a:solidFill>
              <a:srgbClr val="E3B663">
                <a:alpha val="15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49819" y="2798064"/>
            <a:ext cx="2164019" cy="1581912"/>
          </a:xfrm>
          <a:custGeom>
            <a:avLst/>
            <a:gdLst/>
            <a:ahLst/>
            <a:cxnLst/>
            <a:rect l="l" t="t" r="r" b="b"/>
            <a:pathLst>
              <a:path w="2164019" h="1581912">
                <a:moveTo>
                  <a:pt x="0" y="1581912"/>
                </a:moveTo>
                <a:lnTo>
                  <a:pt x="60112" y="1446351"/>
                </a:lnTo>
                <a:lnTo>
                  <a:pt x="120223" y="1311791"/>
                </a:lnTo>
                <a:lnTo>
                  <a:pt x="180335" y="1179224"/>
                </a:lnTo>
                <a:lnTo>
                  <a:pt x="240447" y="1049630"/>
                </a:lnTo>
                <a:lnTo>
                  <a:pt x="300558" y="923962"/>
                </a:lnTo>
                <a:lnTo>
                  <a:pt x="360670" y="803148"/>
                </a:lnTo>
                <a:lnTo>
                  <a:pt x="420781" y="688075"/>
                </a:lnTo>
                <a:lnTo>
                  <a:pt x="480893" y="579588"/>
                </a:lnTo>
                <a:lnTo>
                  <a:pt x="541005" y="478482"/>
                </a:lnTo>
                <a:lnTo>
                  <a:pt x="601116" y="385495"/>
                </a:lnTo>
                <a:lnTo>
                  <a:pt x="661228" y="301304"/>
                </a:lnTo>
                <a:lnTo>
                  <a:pt x="721340" y="226520"/>
                </a:lnTo>
                <a:lnTo>
                  <a:pt x="781451" y="161679"/>
                </a:lnTo>
                <a:lnTo>
                  <a:pt x="841563" y="107245"/>
                </a:lnTo>
                <a:lnTo>
                  <a:pt x="901675" y="63602"/>
                </a:lnTo>
                <a:lnTo>
                  <a:pt x="961786" y="31049"/>
                </a:lnTo>
                <a:lnTo>
                  <a:pt x="1021898" y="9805"/>
                </a:lnTo>
                <a:lnTo>
                  <a:pt x="1082010" y="0"/>
                </a:lnTo>
                <a:lnTo>
                  <a:pt x="1142121" y="1677"/>
                </a:lnTo>
                <a:lnTo>
                  <a:pt x="1202233" y="14793"/>
                </a:lnTo>
                <a:lnTo>
                  <a:pt x="1262344" y="39218"/>
                </a:lnTo>
                <a:lnTo>
                  <a:pt x="1322456" y="74733"/>
                </a:lnTo>
                <a:lnTo>
                  <a:pt x="1382568" y="121039"/>
                </a:lnTo>
                <a:lnTo>
                  <a:pt x="1442679" y="177752"/>
                </a:lnTo>
                <a:lnTo>
                  <a:pt x="1502791" y="244408"/>
                </a:lnTo>
                <a:lnTo>
                  <a:pt x="1562903" y="320471"/>
                </a:lnTo>
                <a:lnTo>
                  <a:pt x="1623014" y="405330"/>
                </a:lnTo>
                <a:lnTo>
                  <a:pt x="1683126" y="498308"/>
                </a:lnTo>
                <a:lnTo>
                  <a:pt x="1743238" y="598667"/>
                </a:lnTo>
                <a:lnTo>
                  <a:pt x="1803349" y="705612"/>
                </a:lnTo>
                <a:lnTo>
                  <a:pt x="1863461" y="818298"/>
                </a:lnTo>
                <a:lnTo>
                  <a:pt x="1923572" y="935838"/>
                </a:lnTo>
                <a:lnTo>
                  <a:pt x="1983684" y="1057304"/>
                </a:lnTo>
                <a:lnTo>
                  <a:pt x="2043796" y="1181743"/>
                </a:lnTo>
                <a:lnTo>
                  <a:pt x="2103907" y="1308175"/>
                </a:lnTo>
                <a:lnTo>
                  <a:pt x="2164019" y="1435608"/>
                </a:lnTo>
              </a:path>
            </a:pathLst>
          </a:custGeom>
          <a:ln w="34925">
            <a:solidFill>
              <a:srgbClr val="E3B66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49819" y="3300984"/>
            <a:ext cx="21640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2941259" y="4690872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1843–1897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2941259" y="498348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Железные дороги и сталь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013838" y="2651760"/>
            <a:ext cx="2164019" cy="1581912"/>
          </a:xfrm>
          <a:custGeom>
            <a:avLst/>
            <a:gdLst/>
            <a:ahLst/>
            <a:cxnLst/>
            <a:rect l="l" t="t" r="r" b="b"/>
            <a:pathLst>
              <a:path w="2164019" h="1581912">
                <a:moveTo>
                  <a:pt x="0" y="1581912"/>
                </a:moveTo>
                <a:lnTo>
                  <a:pt x="60112" y="1446351"/>
                </a:lnTo>
                <a:lnTo>
                  <a:pt x="120223" y="1311791"/>
                </a:lnTo>
                <a:lnTo>
                  <a:pt x="180335" y="1179224"/>
                </a:lnTo>
                <a:lnTo>
                  <a:pt x="240447" y="1049630"/>
                </a:lnTo>
                <a:lnTo>
                  <a:pt x="300558" y="923962"/>
                </a:lnTo>
                <a:lnTo>
                  <a:pt x="360670" y="803148"/>
                </a:lnTo>
                <a:lnTo>
                  <a:pt x="420781" y="688075"/>
                </a:lnTo>
                <a:lnTo>
                  <a:pt x="480893" y="579588"/>
                </a:lnTo>
                <a:lnTo>
                  <a:pt x="541005" y="478482"/>
                </a:lnTo>
                <a:lnTo>
                  <a:pt x="601116" y="385495"/>
                </a:lnTo>
                <a:lnTo>
                  <a:pt x="661228" y="301304"/>
                </a:lnTo>
                <a:lnTo>
                  <a:pt x="721340" y="226520"/>
                </a:lnTo>
                <a:lnTo>
                  <a:pt x="781451" y="161679"/>
                </a:lnTo>
                <a:lnTo>
                  <a:pt x="841563" y="107245"/>
                </a:lnTo>
                <a:lnTo>
                  <a:pt x="901675" y="63602"/>
                </a:lnTo>
                <a:lnTo>
                  <a:pt x="961786" y="31049"/>
                </a:lnTo>
                <a:lnTo>
                  <a:pt x="1021898" y="9805"/>
                </a:lnTo>
                <a:lnTo>
                  <a:pt x="1082010" y="0"/>
                </a:lnTo>
                <a:lnTo>
                  <a:pt x="1142121" y="1677"/>
                </a:lnTo>
                <a:lnTo>
                  <a:pt x="1202233" y="14793"/>
                </a:lnTo>
                <a:lnTo>
                  <a:pt x="1262344" y="39218"/>
                </a:lnTo>
                <a:lnTo>
                  <a:pt x="1322456" y="74733"/>
                </a:lnTo>
                <a:lnTo>
                  <a:pt x="1382568" y="121039"/>
                </a:lnTo>
                <a:lnTo>
                  <a:pt x="1442679" y="177752"/>
                </a:lnTo>
                <a:lnTo>
                  <a:pt x="1502791" y="244408"/>
                </a:lnTo>
                <a:lnTo>
                  <a:pt x="1562903" y="320471"/>
                </a:lnTo>
                <a:lnTo>
                  <a:pt x="1623014" y="405330"/>
                </a:lnTo>
                <a:lnTo>
                  <a:pt x="1683126" y="498308"/>
                </a:lnTo>
                <a:lnTo>
                  <a:pt x="1743238" y="598667"/>
                </a:lnTo>
                <a:lnTo>
                  <a:pt x="1803349" y="705612"/>
                </a:lnTo>
                <a:lnTo>
                  <a:pt x="1863461" y="818298"/>
                </a:lnTo>
                <a:lnTo>
                  <a:pt x="1923572" y="935838"/>
                </a:lnTo>
                <a:lnTo>
                  <a:pt x="1983684" y="1057304"/>
                </a:lnTo>
                <a:lnTo>
                  <a:pt x="2043796" y="1181743"/>
                </a:lnTo>
                <a:lnTo>
                  <a:pt x="2103907" y="1308175"/>
                </a:lnTo>
                <a:lnTo>
                  <a:pt x="2164019" y="1435608"/>
                </a:lnTo>
              </a:path>
            </a:pathLst>
          </a:custGeom>
          <a:ln w="114300">
            <a:solidFill>
              <a:srgbClr val="E3B663">
                <a:alpha val="15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013838" y="2651760"/>
            <a:ext cx="2164019" cy="1581912"/>
          </a:xfrm>
          <a:custGeom>
            <a:avLst/>
            <a:gdLst/>
            <a:ahLst/>
            <a:cxnLst/>
            <a:rect l="l" t="t" r="r" b="b"/>
            <a:pathLst>
              <a:path w="2164019" h="1581912">
                <a:moveTo>
                  <a:pt x="0" y="1581912"/>
                </a:moveTo>
                <a:lnTo>
                  <a:pt x="60112" y="1446351"/>
                </a:lnTo>
                <a:lnTo>
                  <a:pt x="120223" y="1311791"/>
                </a:lnTo>
                <a:lnTo>
                  <a:pt x="180335" y="1179224"/>
                </a:lnTo>
                <a:lnTo>
                  <a:pt x="240447" y="1049630"/>
                </a:lnTo>
                <a:lnTo>
                  <a:pt x="300558" y="923962"/>
                </a:lnTo>
                <a:lnTo>
                  <a:pt x="360670" y="803148"/>
                </a:lnTo>
                <a:lnTo>
                  <a:pt x="420781" y="688075"/>
                </a:lnTo>
                <a:lnTo>
                  <a:pt x="480893" y="579588"/>
                </a:lnTo>
                <a:lnTo>
                  <a:pt x="541005" y="478482"/>
                </a:lnTo>
                <a:lnTo>
                  <a:pt x="601116" y="385495"/>
                </a:lnTo>
                <a:lnTo>
                  <a:pt x="661228" y="301304"/>
                </a:lnTo>
                <a:lnTo>
                  <a:pt x="721340" y="226520"/>
                </a:lnTo>
                <a:lnTo>
                  <a:pt x="781451" y="161679"/>
                </a:lnTo>
                <a:lnTo>
                  <a:pt x="841563" y="107245"/>
                </a:lnTo>
                <a:lnTo>
                  <a:pt x="901675" y="63602"/>
                </a:lnTo>
                <a:lnTo>
                  <a:pt x="961786" y="31049"/>
                </a:lnTo>
                <a:lnTo>
                  <a:pt x="1021898" y="9805"/>
                </a:lnTo>
                <a:lnTo>
                  <a:pt x="1082010" y="0"/>
                </a:lnTo>
                <a:lnTo>
                  <a:pt x="1142121" y="1677"/>
                </a:lnTo>
                <a:lnTo>
                  <a:pt x="1202233" y="14793"/>
                </a:lnTo>
                <a:lnTo>
                  <a:pt x="1262344" y="39218"/>
                </a:lnTo>
                <a:lnTo>
                  <a:pt x="1322456" y="74733"/>
                </a:lnTo>
                <a:lnTo>
                  <a:pt x="1382568" y="121039"/>
                </a:lnTo>
                <a:lnTo>
                  <a:pt x="1442679" y="177752"/>
                </a:lnTo>
                <a:lnTo>
                  <a:pt x="1502791" y="244408"/>
                </a:lnTo>
                <a:lnTo>
                  <a:pt x="1562903" y="320471"/>
                </a:lnTo>
                <a:lnTo>
                  <a:pt x="1623014" y="405330"/>
                </a:lnTo>
                <a:lnTo>
                  <a:pt x="1683126" y="498308"/>
                </a:lnTo>
                <a:lnTo>
                  <a:pt x="1743238" y="598667"/>
                </a:lnTo>
                <a:lnTo>
                  <a:pt x="1803349" y="705612"/>
                </a:lnTo>
                <a:lnTo>
                  <a:pt x="1863461" y="818298"/>
                </a:lnTo>
                <a:lnTo>
                  <a:pt x="1923572" y="935838"/>
                </a:lnTo>
                <a:lnTo>
                  <a:pt x="1983684" y="1057304"/>
                </a:lnTo>
                <a:lnTo>
                  <a:pt x="2043796" y="1181743"/>
                </a:lnTo>
                <a:lnTo>
                  <a:pt x="2103907" y="1308175"/>
                </a:lnTo>
                <a:lnTo>
                  <a:pt x="2164019" y="1435608"/>
                </a:lnTo>
              </a:path>
            </a:pathLst>
          </a:custGeom>
          <a:ln w="34925">
            <a:solidFill>
              <a:srgbClr val="E3B66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13838" y="3154680"/>
            <a:ext cx="21640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5105278" y="4690872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1898–1940-е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105278" y="498348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Электричество, химия, автомобиль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177857" y="2505456"/>
            <a:ext cx="2164019" cy="1581912"/>
          </a:xfrm>
          <a:custGeom>
            <a:avLst/>
            <a:gdLst/>
            <a:ahLst/>
            <a:cxnLst/>
            <a:rect l="l" t="t" r="r" b="b"/>
            <a:pathLst>
              <a:path w="2164019" h="1581912">
                <a:moveTo>
                  <a:pt x="0" y="1581912"/>
                </a:moveTo>
                <a:lnTo>
                  <a:pt x="60112" y="1446351"/>
                </a:lnTo>
                <a:lnTo>
                  <a:pt x="120223" y="1311791"/>
                </a:lnTo>
                <a:lnTo>
                  <a:pt x="180335" y="1179224"/>
                </a:lnTo>
                <a:lnTo>
                  <a:pt x="240447" y="1049630"/>
                </a:lnTo>
                <a:lnTo>
                  <a:pt x="300558" y="923962"/>
                </a:lnTo>
                <a:lnTo>
                  <a:pt x="360670" y="803148"/>
                </a:lnTo>
                <a:lnTo>
                  <a:pt x="420781" y="688075"/>
                </a:lnTo>
                <a:lnTo>
                  <a:pt x="480893" y="579588"/>
                </a:lnTo>
                <a:lnTo>
                  <a:pt x="541005" y="478482"/>
                </a:lnTo>
                <a:lnTo>
                  <a:pt x="601116" y="385495"/>
                </a:lnTo>
                <a:lnTo>
                  <a:pt x="661228" y="301304"/>
                </a:lnTo>
                <a:lnTo>
                  <a:pt x="721340" y="226520"/>
                </a:lnTo>
                <a:lnTo>
                  <a:pt x="781451" y="161679"/>
                </a:lnTo>
                <a:lnTo>
                  <a:pt x="841563" y="107245"/>
                </a:lnTo>
                <a:lnTo>
                  <a:pt x="901675" y="63602"/>
                </a:lnTo>
                <a:lnTo>
                  <a:pt x="961786" y="31049"/>
                </a:lnTo>
                <a:lnTo>
                  <a:pt x="1021898" y="9805"/>
                </a:lnTo>
                <a:lnTo>
                  <a:pt x="1082010" y="0"/>
                </a:lnTo>
                <a:lnTo>
                  <a:pt x="1142121" y="1677"/>
                </a:lnTo>
                <a:lnTo>
                  <a:pt x="1202233" y="14793"/>
                </a:lnTo>
                <a:lnTo>
                  <a:pt x="1262344" y="39218"/>
                </a:lnTo>
                <a:lnTo>
                  <a:pt x="1322456" y="74733"/>
                </a:lnTo>
                <a:lnTo>
                  <a:pt x="1382568" y="121039"/>
                </a:lnTo>
                <a:lnTo>
                  <a:pt x="1442679" y="177752"/>
                </a:lnTo>
                <a:lnTo>
                  <a:pt x="1502791" y="244408"/>
                </a:lnTo>
                <a:lnTo>
                  <a:pt x="1562903" y="320471"/>
                </a:lnTo>
                <a:lnTo>
                  <a:pt x="1623014" y="405330"/>
                </a:lnTo>
                <a:lnTo>
                  <a:pt x="1683126" y="498308"/>
                </a:lnTo>
                <a:lnTo>
                  <a:pt x="1743238" y="598667"/>
                </a:lnTo>
                <a:lnTo>
                  <a:pt x="1803349" y="705612"/>
                </a:lnTo>
                <a:lnTo>
                  <a:pt x="1863461" y="818298"/>
                </a:lnTo>
                <a:lnTo>
                  <a:pt x="1923572" y="935838"/>
                </a:lnTo>
                <a:lnTo>
                  <a:pt x="1983684" y="1057304"/>
                </a:lnTo>
                <a:lnTo>
                  <a:pt x="2043796" y="1181743"/>
                </a:lnTo>
                <a:lnTo>
                  <a:pt x="2103907" y="1308175"/>
                </a:lnTo>
                <a:lnTo>
                  <a:pt x="2164019" y="1435608"/>
                </a:lnTo>
              </a:path>
            </a:pathLst>
          </a:custGeom>
          <a:ln w="114300">
            <a:solidFill>
              <a:srgbClr val="62D4F0">
                <a:alpha val="1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177857" y="2505456"/>
            <a:ext cx="2164019" cy="1581912"/>
          </a:xfrm>
          <a:custGeom>
            <a:avLst/>
            <a:gdLst/>
            <a:ahLst/>
            <a:cxnLst/>
            <a:rect l="l" t="t" r="r" b="b"/>
            <a:pathLst>
              <a:path w="2164019" h="1581912">
                <a:moveTo>
                  <a:pt x="0" y="1581912"/>
                </a:moveTo>
                <a:lnTo>
                  <a:pt x="60112" y="1446351"/>
                </a:lnTo>
                <a:lnTo>
                  <a:pt x="120223" y="1311791"/>
                </a:lnTo>
                <a:lnTo>
                  <a:pt x="180335" y="1179224"/>
                </a:lnTo>
                <a:lnTo>
                  <a:pt x="240447" y="1049630"/>
                </a:lnTo>
                <a:lnTo>
                  <a:pt x="300558" y="923962"/>
                </a:lnTo>
                <a:lnTo>
                  <a:pt x="360670" y="803148"/>
                </a:lnTo>
                <a:lnTo>
                  <a:pt x="420781" y="688075"/>
                </a:lnTo>
                <a:lnTo>
                  <a:pt x="480893" y="579588"/>
                </a:lnTo>
                <a:lnTo>
                  <a:pt x="541005" y="478482"/>
                </a:lnTo>
                <a:lnTo>
                  <a:pt x="601116" y="385495"/>
                </a:lnTo>
                <a:lnTo>
                  <a:pt x="661228" y="301304"/>
                </a:lnTo>
                <a:lnTo>
                  <a:pt x="721340" y="226520"/>
                </a:lnTo>
                <a:lnTo>
                  <a:pt x="781451" y="161679"/>
                </a:lnTo>
                <a:lnTo>
                  <a:pt x="841563" y="107245"/>
                </a:lnTo>
                <a:lnTo>
                  <a:pt x="901675" y="63602"/>
                </a:lnTo>
                <a:lnTo>
                  <a:pt x="961786" y="31049"/>
                </a:lnTo>
                <a:lnTo>
                  <a:pt x="1021898" y="9805"/>
                </a:lnTo>
                <a:lnTo>
                  <a:pt x="1082010" y="0"/>
                </a:lnTo>
                <a:lnTo>
                  <a:pt x="1142121" y="1677"/>
                </a:lnTo>
                <a:lnTo>
                  <a:pt x="1202233" y="14793"/>
                </a:lnTo>
                <a:lnTo>
                  <a:pt x="1262344" y="39218"/>
                </a:lnTo>
                <a:lnTo>
                  <a:pt x="1322456" y="74733"/>
                </a:lnTo>
                <a:lnTo>
                  <a:pt x="1382568" y="121039"/>
                </a:lnTo>
                <a:lnTo>
                  <a:pt x="1442679" y="177752"/>
                </a:lnTo>
                <a:lnTo>
                  <a:pt x="1502791" y="244408"/>
                </a:lnTo>
                <a:lnTo>
                  <a:pt x="1562903" y="320471"/>
                </a:lnTo>
                <a:lnTo>
                  <a:pt x="1623014" y="405330"/>
                </a:lnTo>
                <a:lnTo>
                  <a:pt x="1683126" y="498308"/>
                </a:lnTo>
                <a:lnTo>
                  <a:pt x="1743238" y="598667"/>
                </a:lnTo>
                <a:lnTo>
                  <a:pt x="1803349" y="705612"/>
                </a:lnTo>
                <a:lnTo>
                  <a:pt x="1863461" y="818298"/>
                </a:lnTo>
                <a:lnTo>
                  <a:pt x="1923572" y="935838"/>
                </a:lnTo>
                <a:lnTo>
                  <a:pt x="1983684" y="1057304"/>
                </a:lnTo>
                <a:lnTo>
                  <a:pt x="2043796" y="1181743"/>
                </a:lnTo>
                <a:lnTo>
                  <a:pt x="2103907" y="1308175"/>
                </a:lnTo>
                <a:lnTo>
                  <a:pt x="2164019" y="1435608"/>
                </a:lnTo>
              </a:path>
            </a:pathLst>
          </a:custGeom>
          <a:ln w="34925">
            <a:solidFill>
              <a:srgbClr val="62D4F0"/>
            </a:solidFill>
            <a:prstDash val="dash"/>
          </a:ln>
        </p:spPr>
      </p:sp>
      <p:sp>
        <p:nvSpPr>
          <p:cNvPr id="29" name="Text 26"/>
          <p:cNvSpPr/>
          <p:nvPr/>
        </p:nvSpPr>
        <p:spPr>
          <a:xfrm>
            <a:off x="7177857" y="3008376"/>
            <a:ext cx="21640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62D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7269297" y="4690872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XX век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7269297" y="498348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Нефть, массовое производство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9341876" y="2359152"/>
            <a:ext cx="2164019" cy="1581912"/>
          </a:xfrm>
          <a:custGeom>
            <a:avLst/>
            <a:gdLst/>
            <a:ahLst/>
            <a:cxnLst/>
            <a:rect l="l" t="t" r="r" b="b"/>
            <a:pathLst>
              <a:path w="2164019" h="1581912">
                <a:moveTo>
                  <a:pt x="0" y="1581912"/>
                </a:moveTo>
                <a:lnTo>
                  <a:pt x="60112" y="1446351"/>
                </a:lnTo>
                <a:lnTo>
                  <a:pt x="120223" y="1311791"/>
                </a:lnTo>
                <a:lnTo>
                  <a:pt x="180335" y="1179224"/>
                </a:lnTo>
                <a:lnTo>
                  <a:pt x="240447" y="1049630"/>
                </a:lnTo>
                <a:lnTo>
                  <a:pt x="300558" y="923962"/>
                </a:lnTo>
                <a:lnTo>
                  <a:pt x="360670" y="803148"/>
                </a:lnTo>
                <a:lnTo>
                  <a:pt x="420781" y="688075"/>
                </a:lnTo>
                <a:lnTo>
                  <a:pt x="480893" y="579588"/>
                </a:lnTo>
                <a:lnTo>
                  <a:pt x="541005" y="478482"/>
                </a:lnTo>
                <a:lnTo>
                  <a:pt x="601116" y="385495"/>
                </a:lnTo>
                <a:lnTo>
                  <a:pt x="661228" y="301304"/>
                </a:lnTo>
                <a:lnTo>
                  <a:pt x="721340" y="226520"/>
                </a:lnTo>
                <a:lnTo>
                  <a:pt x="781451" y="161679"/>
                </a:lnTo>
                <a:lnTo>
                  <a:pt x="841563" y="107245"/>
                </a:lnTo>
                <a:lnTo>
                  <a:pt x="901675" y="63602"/>
                </a:lnTo>
                <a:lnTo>
                  <a:pt x="961786" y="31049"/>
                </a:lnTo>
                <a:lnTo>
                  <a:pt x="1021898" y="9805"/>
                </a:lnTo>
                <a:lnTo>
                  <a:pt x="1082010" y="0"/>
                </a:lnTo>
                <a:lnTo>
                  <a:pt x="1142121" y="1677"/>
                </a:lnTo>
                <a:lnTo>
                  <a:pt x="1202233" y="14793"/>
                </a:lnTo>
                <a:lnTo>
                  <a:pt x="1262344" y="39218"/>
                </a:lnTo>
                <a:lnTo>
                  <a:pt x="1322456" y="74733"/>
                </a:lnTo>
                <a:lnTo>
                  <a:pt x="1382568" y="121039"/>
                </a:lnTo>
                <a:lnTo>
                  <a:pt x="1442679" y="177752"/>
                </a:lnTo>
                <a:lnTo>
                  <a:pt x="1502791" y="244408"/>
                </a:lnTo>
                <a:lnTo>
                  <a:pt x="1562903" y="320471"/>
                </a:lnTo>
                <a:lnTo>
                  <a:pt x="1623014" y="405330"/>
                </a:lnTo>
                <a:lnTo>
                  <a:pt x="1683126" y="498308"/>
                </a:lnTo>
                <a:lnTo>
                  <a:pt x="1743238" y="598667"/>
                </a:lnTo>
                <a:lnTo>
                  <a:pt x="1803349" y="705612"/>
                </a:lnTo>
                <a:lnTo>
                  <a:pt x="1863461" y="818298"/>
                </a:lnTo>
                <a:lnTo>
                  <a:pt x="1923572" y="935838"/>
                </a:lnTo>
                <a:lnTo>
                  <a:pt x="1983684" y="1057304"/>
                </a:lnTo>
                <a:lnTo>
                  <a:pt x="2043796" y="1181743"/>
                </a:lnTo>
                <a:lnTo>
                  <a:pt x="2103907" y="1308175"/>
                </a:lnTo>
                <a:lnTo>
                  <a:pt x="2164019" y="1435608"/>
                </a:lnTo>
              </a:path>
            </a:pathLst>
          </a:custGeom>
          <a:ln w="114300">
            <a:solidFill>
              <a:srgbClr val="62D4F0">
                <a:alpha val="1500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341876" y="2359152"/>
            <a:ext cx="2164019" cy="1581912"/>
          </a:xfrm>
          <a:custGeom>
            <a:avLst/>
            <a:gdLst/>
            <a:ahLst/>
            <a:cxnLst/>
            <a:rect l="l" t="t" r="r" b="b"/>
            <a:pathLst>
              <a:path w="2164019" h="1581912">
                <a:moveTo>
                  <a:pt x="0" y="1581912"/>
                </a:moveTo>
                <a:lnTo>
                  <a:pt x="60112" y="1446351"/>
                </a:lnTo>
                <a:lnTo>
                  <a:pt x="120223" y="1311791"/>
                </a:lnTo>
                <a:lnTo>
                  <a:pt x="180335" y="1179224"/>
                </a:lnTo>
                <a:lnTo>
                  <a:pt x="240447" y="1049630"/>
                </a:lnTo>
                <a:lnTo>
                  <a:pt x="300558" y="923962"/>
                </a:lnTo>
                <a:lnTo>
                  <a:pt x="360670" y="803148"/>
                </a:lnTo>
                <a:lnTo>
                  <a:pt x="420781" y="688075"/>
                </a:lnTo>
                <a:lnTo>
                  <a:pt x="480893" y="579588"/>
                </a:lnTo>
                <a:lnTo>
                  <a:pt x="541005" y="478482"/>
                </a:lnTo>
                <a:lnTo>
                  <a:pt x="601116" y="385495"/>
                </a:lnTo>
                <a:lnTo>
                  <a:pt x="661228" y="301304"/>
                </a:lnTo>
                <a:lnTo>
                  <a:pt x="721340" y="226520"/>
                </a:lnTo>
                <a:lnTo>
                  <a:pt x="781451" y="161679"/>
                </a:lnTo>
                <a:lnTo>
                  <a:pt x="841563" y="107245"/>
                </a:lnTo>
                <a:lnTo>
                  <a:pt x="901675" y="63602"/>
                </a:lnTo>
                <a:lnTo>
                  <a:pt x="961786" y="31049"/>
                </a:lnTo>
                <a:lnTo>
                  <a:pt x="1021898" y="9805"/>
                </a:lnTo>
                <a:lnTo>
                  <a:pt x="1082010" y="0"/>
                </a:lnTo>
                <a:lnTo>
                  <a:pt x="1142121" y="1677"/>
                </a:lnTo>
                <a:lnTo>
                  <a:pt x="1202233" y="14793"/>
                </a:lnTo>
                <a:lnTo>
                  <a:pt x="1262344" y="39218"/>
                </a:lnTo>
                <a:lnTo>
                  <a:pt x="1322456" y="74733"/>
                </a:lnTo>
                <a:lnTo>
                  <a:pt x="1382568" y="121039"/>
                </a:lnTo>
                <a:lnTo>
                  <a:pt x="1442679" y="177752"/>
                </a:lnTo>
                <a:lnTo>
                  <a:pt x="1502791" y="244408"/>
                </a:lnTo>
                <a:lnTo>
                  <a:pt x="1562903" y="320471"/>
                </a:lnTo>
                <a:lnTo>
                  <a:pt x="1623014" y="405330"/>
                </a:lnTo>
                <a:lnTo>
                  <a:pt x="1683126" y="498308"/>
                </a:lnTo>
                <a:lnTo>
                  <a:pt x="1743238" y="598667"/>
                </a:lnTo>
                <a:lnTo>
                  <a:pt x="1803349" y="705612"/>
                </a:lnTo>
                <a:lnTo>
                  <a:pt x="1863461" y="818298"/>
                </a:lnTo>
                <a:lnTo>
                  <a:pt x="1923572" y="935838"/>
                </a:lnTo>
                <a:lnTo>
                  <a:pt x="1983684" y="1057304"/>
                </a:lnTo>
                <a:lnTo>
                  <a:pt x="2043796" y="1181743"/>
                </a:lnTo>
                <a:lnTo>
                  <a:pt x="2103907" y="1308175"/>
                </a:lnTo>
                <a:lnTo>
                  <a:pt x="2164019" y="1435608"/>
                </a:lnTo>
              </a:path>
            </a:pathLst>
          </a:custGeom>
          <a:ln w="34925">
            <a:solidFill>
              <a:srgbClr val="62D4F0"/>
            </a:solidFill>
            <a:prstDash val="dash"/>
          </a:ln>
        </p:spPr>
      </p:sp>
      <p:sp>
        <p:nvSpPr>
          <p:cNvPr id="34" name="Text 31"/>
          <p:cNvSpPr/>
          <p:nvPr/>
        </p:nvSpPr>
        <p:spPr>
          <a:xfrm>
            <a:off x="9341876" y="2862072"/>
            <a:ext cx="21640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62D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2400" dirty="0"/>
          </a:p>
        </p:txBody>
      </p:sp>
      <p:sp>
        <p:nvSpPr>
          <p:cNvPr id="35" name="Text 32"/>
          <p:cNvSpPr/>
          <p:nvPr/>
        </p:nvSpPr>
        <p:spPr>
          <a:xfrm>
            <a:off x="9433316" y="4690872"/>
            <a:ext cx="1981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1970-х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9433316" y="4983480"/>
            <a:ext cx="19811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Микроэлектроника, интернет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85800" y="576072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I–III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датировка Шумпетера (1939).   </a:t>
            </a:r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2D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IV–V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продолжение у неошумпетерианцев (К. Фримен, К. Перес).   Кроме длинных волн — короткие циклы Китчина (3–4 года) и Жюгляра (7–11 лет).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legac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— ВКЛАД В ПРЕДПРИНИМАТЕЛЬСТВО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9377416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896112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Шумпетер дал предпринимательству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685800" y="22951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28016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— в центре экономики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80160" y="26151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владелец капитала, а двигатель развития.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85800" y="30266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280160" y="3063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Инновация ≠ изобретение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80160" y="33467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Предпринимательство — функция внедрения нового.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85800" y="37581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28016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Объяснение прибыли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80160" y="40782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Временная награда за новизну, которую съедает конкуренция.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85800" y="44897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модели: Mark I и Mark II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80160" y="48097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Смелые новые фирмы (1911) и R&amp;D крупных корпораций (1942).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685800" y="52212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E3B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28016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Основа экономики инноваций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280160" y="55412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Неошумпетерианцы, общество Шумпетера (1986), стартапы.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85800" y="60167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Термины Mark I / Mark II ввели позже исследователи его работ.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fina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10098756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89611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Главное за 30 секунд</a:t>
            </a:r>
            <a:endParaRPr lang="en-US" sz="3800" dirty="0"/>
          </a:p>
        </p:txBody>
      </p:sp>
      <p:sp>
        <p:nvSpPr>
          <p:cNvPr id="10" name="Shape 7"/>
          <p:cNvSpPr/>
          <p:nvPr/>
        </p:nvSpPr>
        <p:spPr>
          <a:xfrm>
            <a:off x="685800" y="182880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0E1930">
              <a:alpha val="7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2011680"/>
            <a:ext cx="45720" cy="68580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12" name="Text 9"/>
          <p:cNvSpPr/>
          <p:nvPr/>
        </p:nvSpPr>
        <p:spPr>
          <a:xfrm>
            <a:off x="960120" y="196596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60120" y="2212848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Австрийско-американский экономист из Моравии (1883–1950): министр, банкир, профессор Гарварда.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85800" y="3035808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0E1930">
              <a:alpha val="7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85800" y="3218688"/>
            <a:ext cx="45720" cy="685800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16" name="Text 13"/>
          <p:cNvSpPr/>
          <p:nvPr/>
        </p:nvSpPr>
        <p:spPr>
          <a:xfrm>
            <a:off x="960120" y="317296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ГЛАВНАЯ МЫСЛЬ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960120" y="3419856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Экономика развивается скачками: новые комбинации ломают равновесие — «созидательное разрушение».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85800" y="4242816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0E1930">
              <a:alpha val="75000"/>
            </a:srgbClr>
          </a:solidFill>
          <a:ln w="9525">
            <a:solidFill>
              <a:srgbClr val="E3B663">
                <a:alpha val="2800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5800" y="4425696"/>
            <a:ext cx="45720" cy="685800"/>
          </a:xfrm>
          <a:prstGeom prst="rect">
            <a:avLst/>
          </a:prstGeom>
          <a:solidFill>
            <a:srgbClr val="62D4F0"/>
          </a:solidFill>
          <a:ln/>
        </p:spPr>
      </p:sp>
      <p:sp>
        <p:nvSpPr>
          <p:cNvPr id="20" name="Text 17"/>
          <p:cNvSpPr/>
          <p:nvPr/>
        </p:nvSpPr>
        <p:spPr>
          <a:xfrm>
            <a:off x="960120" y="4379976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spc="200" kern="0" dirty="0">
                <a:solidFill>
                  <a:srgbClr val="62D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ВКЛАД В ПРЕДПРИНИМАТЕЛЬСТВО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60120" y="4626864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Предприниматель — тот, кто внедряет новое. Это функция, а не должность и не капитал.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85800" y="555955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F3DD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внимание!</a:t>
            </a:r>
            <a:endParaRPr lang="en-US" sz="2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home/user/omgGame/presentations/schumpeter/assets/bg-pl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kickerbar"/>
          <p:cNvSpPr/>
          <p:nvPr/>
        </p:nvSpPr>
        <p:spPr>
          <a:xfrm>
            <a:off x="685800" y="603504"/>
            <a:ext cx="310896" cy="32004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4" name="!!kicker"/>
          <p:cNvSpPr/>
          <p:nvPr/>
        </p:nvSpPr>
        <p:spPr>
          <a:xfrm>
            <a:off x="1124712" y="484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3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ПРОВЕРКИ ФАКТОВ</a:t>
            </a:r>
            <a:endParaRPr lang="en-US" sz="1100" dirty="0"/>
          </a:p>
        </p:txBody>
      </p:sp>
      <p:sp>
        <p:nvSpPr>
          <p:cNvPr id="5" name="!!footline"/>
          <p:cNvSpPr/>
          <p:nvPr/>
        </p:nvSpPr>
        <p:spPr>
          <a:xfrm>
            <a:off x="685800" y="6400800"/>
            <a:ext cx="10820095" cy="91"/>
          </a:xfrm>
          <a:prstGeom prst="line">
            <a:avLst/>
          </a:prstGeom>
          <a:noFill/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!!progress"/>
          <p:cNvSpPr/>
          <p:nvPr/>
        </p:nvSpPr>
        <p:spPr>
          <a:xfrm>
            <a:off x="685800" y="6387084"/>
            <a:ext cx="10820095" cy="27432"/>
          </a:xfrm>
          <a:prstGeom prst="rect">
            <a:avLst/>
          </a:prstGeom>
          <a:solidFill>
            <a:srgbClr val="E3B663"/>
          </a:solidFill>
          <a:ln/>
        </p:spPr>
      </p:sp>
      <p:sp>
        <p:nvSpPr>
          <p:cNvPr id="7" name="!!footer"/>
          <p:cNvSpPr/>
          <p:nvPr/>
        </p:nvSpPr>
        <p:spPr>
          <a:xfrm>
            <a:off x="685800" y="6492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ЙОЗЕФ ШУМПЕТЕР  ·  1883–1950</a:t>
            </a:r>
            <a:endParaRPr lang="en-US" sz="900" dirty="0"/>
          </a:p>
        </p:txBody>
      </p:sp>
      <p:sp>
        <p:nvSpPr>
          <p:cNvPr id="8" name="!!pagenum"/>
          <p:cNvSpPr/>
          <p:nvPr/>
        </p:nvSpPr>
        <p:spPr>
          <a:xfrm>
            <a:off x="10134295" y="6492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spc="200" kern="0" dirty="0">
                <a:solidFill>
                  <a:srgbClr val="A9B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9" name="!!title"/>
          <p:cNvSpPr/>
          <p:nvPr/>
        </p:nvSpPr>
        <p:spPr>
          <a:xfrm>
            <a:off x="685800" y="89611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Источники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685800" y="1828800"/>
            <a:ext cx="5212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00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БИОГРАФИЯ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EBSCO Research Starters — Joseph Schumpeter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Encyclopedia.com — Schumpeter, Joseph Alois (1883–1950)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Website (The New School) — J. A. Schumpeter profile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Scholars — Who Is Joseph Schumpeter? (2022)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Swedberg R. Joseph A. Schumpeter: His Life and Work (1991)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McCraw T. Prophet of Innovation (2007)</a:t>
            </a:r>
            <a:endParaRPr lang="en-US" sz="1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00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НАСЛЕДИЕ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Freeman C., Perez C. — длинные волны и техно-экономические парадигмы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J. A. Schumpeter Society (осн. 1986)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263640" y="1828800"/>
            <a:ext cx="5212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00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ТРУДЫ ШУМПЕТЕРА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Theorie der wirtschaftlichen Entwicklung (1911/12), гл. II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Cycles (1939)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Capitalism, Socialism and Democracy (1942), гл. VII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of Economic Analysis (1954)</a:t>
            </a:r>
            <a:endParaRPr lang="en-US" sz="1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000" b="1" spc="200" kern="0" dirty="0">
                <a:solidFill>
                  <a:srgbClr val="E3B6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 ИЗОБРАЖЕНИЯХ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3D-иллюстрации созданы нейросетью и не являются архивными изображениями.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Портрет около 1910 г. — Wikimedia Commons, общественное достояние.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Йозеф Шумпетер — 3D-презентация</dc:title>
  <dc:subject>Биография, главная мысль и вклад в теорию предпринимательства</dc:subject>
  <dc:creator>omgGame</dc:creator>
  <cp:lastModifiedBy>omgGame</cp:lastModifiedBy>
  <cp:revision>1</cp:revision>
  <dcterms:created xsi:type="dcterms:W3CDTF">2026-10-06T13:08:43Z</dcterms:created>
  <dcterms:modified xsi:type="dcterms:W3CDTF">2026-10-06T13:08:43Z</dcterms:modified>
</cp:coreProperties>
</file>