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77000" cy="6350000"/>
          </a:xfrm>
          <a:prstGeom prst="rect">
            <a:avLst/>
          </a:prstGeom>
          <a:solidFill>
            <a:srgbClr val="06111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300" y="760222"/>
            <a:ext cx="6350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AB567"/>
                </a:solidFill>
                <a:latin typeface="Arial"/>
              </a:rPr>
              <a:t>ЭКОНОМИКА  ·  ИННОВАЦИИ  ·  ПРЕДПРИНИМАТЕЛЬСТВО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300" y="1398016"/>
            <a:ext cx="5080000" cy="1003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5F7FA"/>
                </a:solidFill>
                <a:latin typeface="Arial"/>
              </a:rPr>
              <a:t>Йозеф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300" y="2157984"/>
            <a:ext cx="5715000" cy="926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5F7FA"/>
                </a:solidFill>
                <a:latin typeface="Arial"/>
              </a:rPr>
              <a:t>Шумпетер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400" y="3017774"/>
            <a:ext cx="5905500" cy="299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67D3CD"/>
                </a:solidFill>
                <a:latin typeface="Arial"/>
              </a:rPr>
              <a:t>Предприниматель как проводник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" y="3290824"/>
            <a:ext cx="5905500" cy="299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67D3CD"/>
                </a:solidFill>
                <a:latin typeface="Arial"/>
              </a:rPr>
              <a:t>экономических перемен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4089400"/>
            <a:ext cx="4222750" cy="4572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300" y="4025900"/>
            <a:ext cx="4222750" cy="457200"/>
          </a:xfrm>
          <a:prstGeom prst="roundRect">
            <a:avLst/>
          </a:prstGeom>
          <a:solidFill>
            <a:srgbClr val="0B1B2A">
              <a:alpha val="84000"/>
            </a:srgbClr>
          </a:solidFill>
          <a:ln w="7620">
            <a:solidFill>
              <a:srgbClr val="496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2500" y="4229100"/>
            <a:ext cx="139700" cy="139700"/>
          </a:xfrm>
          <a:prstGeom prst="ellipse">
            <a:avLst/>
          </a:prstGeom>
          <a:solidFill>
            <a:srgbClr val="00000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7100" y="4190999"/>
            <a:ext cx="127000" cy="127000"/>
          </a:xfrm>
          <a:prstGeom prst="ellipse">
            <a:avLst/>
          </a:prstGeom>
          <a:solidFill>
            <a:srgbClr val="EAB567">
              <a:alpha val="100000"/>
            </a:srgbClr>
          </a:solidFill>
          <a:ln w="6350">
            <a:solidFill>
              <a:srgbClr val="F4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19" y="4219575"/>
            <a:ext cx="25400" cy="25400"/>
          </a:xfrm>
          <a:prstGeom prst="ellipse">
            <a:avLst/>
          </a:prstGeom>
          <a:solidFill>
            <a:srgbClr val="FFFF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3800" y="4177538"/>
            <a:ext cx="358775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F7FA"/>
                </a:solidFill>
                <a:latin typeface="Arial"/>
              </a:rPr>
              <a:t>НОВОЕ  →  ВНЕДРЕНИЕ  →  РАЗВИТИЕ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237988"/>
            <a:ext cx="55245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5DFE9"/>
                </a:solidFill>
                <a:latin typeface="Arial"/>
              </a:rPr>
              <a:t>1883–1950  ·  экономист  ·  профессор Гарварда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6111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84200" y="6362700"/>
            <a:ext cx="11023600" cy="0"/>
          </a:xfrm>
          <a:prstGeom prst="line">
            <a:avLst/>
          </a:prstGeom>
          <a:ln w="6350">
            <a:solidFill>
              <a:srgbClr val="5670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5000" y="6480302"/>
            <a:ext cx="10414000" cy="125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B3C0CC"/>
                </a:solidFill>
                <a:latin typeface="Arial"/>
              </a:rPr>
              <a:t>Ориентиры: Encyclopaedia Britannica; Oxford University Press; Schumpeter (1911/12, 1942).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9300" y="6462014"/>
            <a:ext cx="635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B567"/>
                </a:solidFill>
                <a:latin typeface="Arial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biograph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286500" cy="4857750"/>
          </a:xfrm>
          <a:prstGeom prst="rect">
            <a:avLst/>
          </a:prstGeom>
          <a:solidFill>
            <a:srgbClr val="06111E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607568"/>
            <a:ext cx="6350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БИОГРАФИЯ  ·  1883–1950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807974"/>
            <a:ext cx="5207000" cy="540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5F7FA"/>
                </a:solidFill>
                <a:latin typeface="Arial"/>
              </a:rPr>
              <a:t>Родом из Моравии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1380236"/>
            <a:ext cx="3746500" cy="328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B567"/>
                </a:solidFill>
                <a:latin typeface="Arial"/>
              </a:rPr>
              <a:t>8 февраля 1883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752345"/>
            <a:ext cx="539750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5F7FA"/>
                </a:solidFill>
                <a:latin typeface="Arial"/>
              </a:rPr>
              <a:t>Родился в Triesch (ныне Třešť), Моравия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1974596"/>
            <a:ext cx="539750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5F7FA"/>
                </a:solidFill>
                <a:latin typeface="Arial"/>
              </a:rPr>
              <a:t>тогда Австро-Венгрия, сегодня Чехия.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2468118"/>
            <a:ext cx="6350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7D3CD"/>
                </a:solidFill>
                <a:latin typeface="Arial"/>
              </a:rPr>
              <a:t>КТО 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2704338"/>
            <a:ext cx="54610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D5DF"/>
                </a:solidFill>
                <a:latin typeface="Arial"/>
              </a:rPr>
              <a:t>Экономист и преподаватель. Изучал право 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2913888"/>
            <a:ext cx="54610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D5DF"/>
                </a:solidFill>
                <a:latin typeface="Arial"/>
              </a:rPr>
              <a:t>экономику в Вене; доктор права — 1906 год.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50183"/>
            <a:ext cx="5461000" cy="202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BD5DF"/>
                </a:solidFill>
                <a:latin typeface="Arial"/>
              </a:rPr>
              <a:t>Также: министр финансов Австрии (1919),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3447034"/>
            <a:ext cx="5524500" cy="202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BD5DF"/>
                </a:solidFill>
                <a:latin typeface="Arial"/>
              </a:rPr>
              <a:t>банкир (1921–24), профессор в Бонне и Гарварде.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9194800" y="2438400"/>
            <a:ext cx="361950" cy="292100"/>
          </a:xfrm>
          <a:prstGeom prst="line">
            <a:avLst/>
          </a:prstGeom>
          <a:ln w="10160">
            <a:solidFill>
              <a:srgbClr val="EAB5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25000" y="2222500"/>
            <a:ext cx="1841500" cy="368300"/>
          </a:xfrm>
          <a:prstGeom prst="roundRect">
            <a:avLst/>
          </a:prstGeom>
          <a:solidFill>
            <a:srgbClr val="071522">
              <a:alpha val="84000"/>
            </a:srgbClr>
          </a:solidFill>
          <a:ln w="6985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8500" y="2341372"/>
            <a:ext cx="17145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AB567"/>
                </a:solidFill>
                <a:latin typeface="Arial"/>
              </a:rPr>
              <a:t>МОРАВИЯ  ·  1883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700" y="4572000"/>
            <a:ext cx="11252200" cy="15875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9899" y="4508500"/>
            <a:ext cx="11252200" cy="1587500"/>
          </a:xfrm>
          <a:prstGeom prst="roundRect">
            <a:avLst/>
          </a:prstGeom>
          <a:solidFill>
            <a:srgbClr val="071522">
              <a:alpha val="86000"/>
            </a:srgbClr>
          </a:solidFill>
          <a:ln w="6985">
            <a:solidFill>
              <a:srgbClr val="304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4696714"/>
            <a:ext cx="6350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7D3CD"/>
                </a:solidFill>
                <a:latin typeface="Arial"/>
              </a:rPr>
              <a:t>ЛИЧНАЯ ТРАЕКТОРИЯ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06500" y="5181600"/>
            <a:ext cx="9779000" cy="0"/>
          </a:xfrm>
          <a:prstGeom prst="line">
            <a:avLst/>
          </a:prstGeom>
          <a:ln w="19050">
            <a:solidFill>
              <a:srgbClr val="7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06500" y="5181600"/>
            <a:ext cx="2444750" cy="0"/>
          </a:xfrm>
          <a:prstGeom prst="line">
            <a:avLst/>
          </a:prstGeom>
          <a:ln w="20320">
            <a:solidFill>
              <a:srgbClr val="EAB5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149350" y="5137150"/>
            <a:ext cx="177800" cy="177800"/>
          </a:xfrm>
          <a:prstGeom prst="ellipse">
            <a:avLst/>
          </a:prstGeom>
          <a:solidFill>
            <a:srgbClr val="00000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3950" y="5099050"/>
            <a:ext cx="165100" cy="165100"/>
          </a:xfrm>
          <a:prstGeom prst="ellipse">
            <a:avLst/>
          </a:prstGeom>
          <a:solidFill>
            <a:srgbClr val="EAB567">
              <a:alpha val="100000"/>
            </a:srgbClr>
          </a:solidFill>
          <a:ln w="6350">
            <a:solidFill>
              <a:srgbClr val="F4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9352" y="5138674"/>
            <a:ext cx="28067" cy="28067"/>
          </a:xfrm>
          <a:prstGeom prst="ellipse">
            <a:avLst/>
          </a:prstGeom>
          <a:solidFill>
            <a:srgbClr val="FFFF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651250" y="5181600"/>
            <a:ext cx="2444750" cy="0"/>
          </a:xfrm>
          <a:prstGeom prst="line">
            <a:avLst/>
          </a:prstGeom>
          <a:ln w="20320">
            <a:solidFill>
              <a:srgbClr val="EAB5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606800" y="5149850"/>
            <a:ext cx="152400" cy="152400"/>
          </a:xfrm>
          <a:prstGeom prst="ellipse">
            <a:avLst/>
          </a:prstGeom>
          <a:solidFill>
            <a:srgbClr val="00000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81400" y="5111750"/>
            <a:ext cx="139700" cy="139700"/>
          </a:xfrm>
          <a:prstGeom prst="ellipse">
            <a:avLst/>
          </a:prstGeom>
          <a:solidFill>
            <a:srgbClr val="67D3CD">
              <a:alpha val="100000"/>
            </a:srgbClr>
          </a:solidFill>
          <a:ln w="6350">
            <a:solidFill>
              <a:srgbClr val="F4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18991" y="5144452"/>
            <a:ext cx="25400" cy="25400"/>
          </a:xfrm>
          <a:prstGeom prst="ellipse">
            <a:avLst/>
          </a:prstGeom>
          <a:solidFill>
            <a:srgbClr val="FFFF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096000" y="5181600"/>
            <a:ext cx="2444750" cy="0"/>
          </a:xfrm>
          <a:prstGeom prst="line">
            <a:avLst/>
          </a:prstGeom>
          <a:ln w="20320">
            <a:solidFill>
              <a:srgbClr val="EAB5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051550" y="5149850"/>
            <a:ext cx="152400" cy="152400"/>
          </a:xfrm>
          <a:prstGeom prst="ellipse">
            <a:avLst/>
          </a:prstGeom>
          <a:solidFill>
            <a:srgbClr val="00000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026150" y="5111750"/>
            <a:ext cx="139700" cy="139700"/>
          </a:xfrm>
          <a:prstGeom prst="ellipse">
            <a:avLst/>
          </a:prstGeom>
          <a:solidFill>
            <a:srgbClr val="67D3CD">
              <a:alpha val="100000"/>
            </a:srgbClr>
          </a:solidFill>
          <a:ln w="6350">
            <a:solidFill>
              <a:srgbClr val="F4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63742" y="5144452"/>
            <a:ext cx="25400" cy="25400"/>
          </a:xfrm>
          <a:prstGeom prst="ellipse">
            <a:avLst/>
          </a:prstGeom>
          <a:solidFill>
            <a:srgbClr val="FFFF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540750" y="5181600"/>
            <a:ext cx="2444750" cy="0"/>
          </a:xfrm>
          <a:prstGeom prst="line">
            <a:avLst/>
          </a:prstGeom>
          <a:ln w="20320">
            <a:solidFill>
              <a:srgbClr val="6F8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496300" y="5149850"/>
            <a:ext cx="152400" cy="152400"/>
          </a:xfrm>
          <a:prstGeom prst="ellipse">
            <a:avLst/>
          </a:prstGeom>
          <a:solidFill>
            <a:srgbClr val="00000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0900" y="5111750"/>
            <a:ext cx="139700" cy="139700"/>
          </a:xfrm>
          <a:prstGeom prst="ellipse">
            <a:avLst/>
          </a:prstGeom>
          <a:solidFill>
            <a:srgbClr val="67D3CD">
              <a:alpha val="100000"/>
            </a:srgbClr>
          </a:solidFill>
          <a:ln w="6350">
            <a:solidFill>
              <a:srgbClr val="F4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08492" y="5144452"/>
            <a:ext cx="25400" cy="25400"/>
          </a:xfrm>
          <a:prstGeom prst="ellipse">
            <a:avLst/>
          </a:prstGeom>
          <a:solidFill>
            <a:srgbClr val="FFFF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41050" y="5149850"/>
            <a:ext cx="152400" cy="152400"/>
          </a:xfrm>
          <a:prstGeom prst="ellipse">
            <a:avLst/>
          </a:prstGeom>
          <a:solidFill>
            <a:srgbClr val="00000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5111750"/>
            <a:ext cx="139700" cy="139700"/>
          </a:xfrm>
          <a:prstGeom prst="ellipse">
            <a:avLst/>
          </a:prstGeom>
          <a:solidFill>
            <a:srgbClr val="EAB567">
              <a:alpha val="100000"/>
            </a:srgbClr>
          </a:solidFill>
          <a:ln w="6350">
            <a:solidFill>
              <a:srgbClr val="F4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953242" y="5144452"/>
            <a:ext cx="25400" cy="25400"/>
          </a:xfrm>
          <a:prstGeom prst="ellipse">
            <a:avLst/>
          </a:prstGeom>
          <a:solidFill>
            <a:srgbClr val="FFFF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4000" y="4933188"/>
            <a:ext cx="19050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B567"/>
                </a:solidFill>
                <a:latin typeface="Arial"/>
              </a:rPr>
              <a:t>1883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4000" y="5421630"/>
            <a:ext cx="1905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F7FA"/>
                </a:solidFill>
                <a:latin typeface="Arial"/>
              </a:rPr>
              <a:t>Triesch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2250" y="5643117"/>
            <a:ext cx="19685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BC8"/>
                </a:solidFill>
                <a:latin typeface="Arial"/>
              </a:rPr>
              <a:t>рождение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8750" y="4933188"/>
            <a:ext cx="19050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F7FA"/>
                </a:solidFill>
                <a:latin typeface="Arial"/>
              </a:rPr>
              <a:t>1906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98750" y="5421630"/>
            <a:ext cx="1905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F7FA"/>
                </a:solidFill>
                <a:latin typeface="Arial"/>
              </a:rPr>
              <a:t>Вена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7000" y="5643117"/>
            <a:ext cx="19685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BC8"/>
                </a:solidFill>
                <a:latin typeface="Arial"/>
              </a:rPr>
              <a:t>доктор права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43500" y="4933188"/>
            <a:ext cx="19050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F7FA"/>
                </a:solidFill>
                <a:latin typeface="Arial"/>
              </a:rPr>
              <a:t>1919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5421630"/>
            <a:ext cx="1905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F7FA"/>
                </a:solidFill>
                <a:latin typeface="Arial"/>
              </a:rPr>
              <a:t>Вена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1750" y="5643117"/>
            <a:ext cx="19685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BC8"/>
                </a:solidFill>
                <a:latin typeface="Arial"/>
              </a:rPr>
              <a:t>министр финансов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88250" y="4933188"/>
            <a:ext cx="19050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F7FA"/>
                </a:solidFill>
                <a:latin typeface="Arial"/>
              </a:rPr>
              <a:t>1925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8250" y="5421630"/>
            <a:ext cx="1905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F7FA"/>
                </a:solidFill>
                <a:latin typeface="Arial"/>
              </a:rPr>
              <a:t>Бонн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56500" y="5643117"/>
            <a:ext cx="19685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BC8"/>
                </a:solidFill>
                <a:latin typeface="Arial"/>
              </a:rPr>
              <a:t>профессор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33000" y="4933188"/>
            <a:ext cx="19050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B567"/>
                </a:solidFill>
                <a:latin typeface="Arial"/>
              </a:rPr>
              <a:t>1932–50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3000" y="5421630"/>
            <a:ext cx="1905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F7FA"/>
                </a:solidFill>
                <a:latin typeface="Arial"/>
              </a:rPr>
              <a:t>Гарвард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01250" y="5643117"/>
            <a:ext cx="19685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BC8"/>
                </a:solidFill>
                <a:latin typeface="Arial"/>
              </a:rPr>
              <a:t>профессор до конца жизни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6111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584200" y="6362700"/>
            <a:ext cx="11023600" cy="0"/>
          </a:xfrm>
          <a:prstGeom prst="line">
            <a:avLst/>
          </a:prstGeom>
          <a:ln w="6350">
            <a:solidFill>
              <a:srgbClr val="5670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35000" y="6480302"/>
            <a:ext cx="10414000" cy="125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B3C0CC"/>
                </a:solidFill>
                <a:latin typeface="Arial"/>
              </a:rPr>
              <a:t>Биографические даты: Britannica Students; Oxford Learning Link; Austria-Forum.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09300" y="6462014"/>
            <a:ext cx="635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B567"/>
                </a:solidFill>
                <a:latin typeface="Arial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theory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7145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607568"/>
            <a:ext cx="6350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ОТ АНТИЧНОЙ МЫСЛИ К ТЕОРИИ ПРЕДПРИНИМАТЕЛЯ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1116"/>
            <a:ext cx="6858000" cy="521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A"/>
                </a:solidFill>
                <a:latin typeface="Arial"/>
              </a:rPr>
              <a:t>Где Шумпетер на шкале?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281938"/>
            <a:ext cx="85725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D5DF"/>
                </a:solidFill>
                <a:latin typeface="Arial"/>
              </a:rPr>
              <a:t>Его поворот: предприниматель не просто несёт риск — он осуществляет новое.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" y="2762250"/>
            <a:ext cx="1587500" cy="13335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4000" y="2698750"/>
            <a:ext cx="1587500" cy="1333500"/>
          </a:xfrm>
          <a:prstGeom prst="roundRect">
            <a:avLst/>
          </a:prstGeom>
          <a:solidFill>
            <a:srgbClr val="071522">
              <a:alpha val="80000"/>
            </a:srgbClr>
          </a:solidFill>
          <a:ln w="8890">
            <a:solidFill>
              <a:srgbClr val="91A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000" y="2787650"/>
            <a:ext cx="38100" cy="1155700"/>
          </a:xfrm>
          <a:prstGeom prst="roundRect">
            <a:avLst/>
          </a:prstGeom>
          <a:solidFill>
            <a:srgbClr val="91AE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500" y="2818384"/>
            <a:ext cx="1460500" cy="202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1AED0"/>
                </a:solidFill>
                <a:latin typeface="Arial"/>
              </a:rPr>
              <a:t>IV в. до н. э.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" y="3064510"/>
            <a:ext cx="14605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5F7FA"/>
                </a:solidFill>
                <a:latin typeface="Arial"/>
              </a:rPr>
              <a:t>АНТИЧНОСТЬ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150" y="3315208"/>
            <a:ext cx="1473200" cy="1399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CBD5DF"/>
                </a:solidFill>
                <a:latin typeface="Arial"/>
              </a:rPr>
              <a:t>Ксенофонт, Платон,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150" y="3473958"/>
            <a:ext cx="1473200" cy="1399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CBD5DF"/>
                </a:solidFill>
                <a:latin typeface="Arial"/>
              </a:rPr>
              <a:t>Аристотель: хозяйство 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150" y="3632708"/>
            <a:ext cx="1473200" cy="1399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CBD5DF"/>
                </a:solidFill>
                <a:latin typeface="Arial"/>
              </a:rPr>
              <a:t>предыстория, не теория.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300" y="2762250"/>
            <a:ext cx="1587500" cy="12700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49500" y="2698750"/>
            <a:ext cx="1587500" cy="1270000"/>
          </a:xfrm>
          <a:prstGeom prst="roundRect">
            <a:avLst/>
          </a:prstGeom>
          <a:solidFill>
            <a:srgbClr val="071522">
              <a:alpha val="80000"/>
            </a:srgbClr>
          </a:solidFill>
          <a:ln w="8890">
            <a:solidFill>
              <a:srgbClr val="91A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349500" y="2787650"/>
            <a:ext cx="38100" cy="1092200"/>
          </a:xfrm>
          <a:prstGeom prst="roundRect">
            <a:avLst/>
          </a:prstGeom>
          <a:solidFill>
            <a:srgbClr val="91AE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13000" y="2800096"/>
            <a:ext cx="146050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1AED0"/>
                </a:solidFill>
                <a:latin typeface="Arial"/>
              </a:rPr>
              <a:t>1755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3000" y="3064510"/>
            <a:ext cx="14605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5F7FA"/>
                </a:solidFill>
                <a:latin typeface="Arial"/>
              </a:rPr>
              <a:t>КАНТИЛЬОН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6650" y="3309112"/>
            <a:ext cx="147320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Цена покупки известна;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6650" y="3467862"/>
            <a:ext cx="147320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будущая выручка — нет.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64050" y="2762250"/>
            <a:ext cx="1524000" cy="12700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13250" y="2698750"/>
            <a:ext cx="1524000" cy="1270000"/>
          </a:xfrm>
          <a:prstGeom prst="roundRect">
            <a:avLst/>
          </a:prstGeom>
          <a:solidFill>
            <a:srgbClr val="071522">
              <a:alpha val="80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13250" y="2787650"/>
            <a:ext cx="38100" cy="1092200"/>
          </a:xfrm>
          <a:prstGeom prst="roundRect">
            <a:avLst/>
          </a:prstGeom>
          <a:solidFill>
            <a:srgbClr val="67D3C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76750" y="2800096"/>
            <a:ext cx="139700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7D3CD"/>
                </a:solidFill>
                <a:latin typeface="Arial"/>
              </a:rPr>
              <a:t>1803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6750" y="3064510"/>
            <a:ext cx="13970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5F7FA"/>
                </a:solidFill>
                <a:latin typeface="Arial"/>
              </a:rPr>
              <a:t>СЭЙ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0400" y="3309112"/>
            <a:ext cx="140970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Предприниматель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0400" y="3467862"/>
            <a:ext cx="140970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организует производство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0400" y="3626612"/>
            <a:ext cx="140970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и соединяет ресурсы.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4100" y="2317750"/>
            <a:ext cx="1651000" cy="17780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083300" y="2254250"/>
            <a:ext cx="1651000" cy="1778000"/>
          </a:xfrm>
          <a:prstGeom prst="roundRect">
            <a:avLst/>
          </a:prstGeom>
          <a:solidFill>
            <a:srgbClr val="071522">
              <a:alpha val="84000"/>
            </a:srgbClr>
          </a:solidFill>
          <a:ln w="889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83300" y="2343150"/>
            <a:ext cx="38100" cy="1600200"/>
          </a:xfrm>
          <a:prstGeom prst="roundRect">
            <a:avLst/>
          </a:prstGeom>
          <a:solidFill>
            <a:srgbClr val="EAB5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6800" y="2337308"/>
            <a:ext cx="1524000" cy="260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AB567"/>
                </a:solidFill>
                <a:latin typeface="Arial"/>
              </a:rPr>
              <a:t>1911/12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6800" y="2620010"/>
            <a:ext cx="15240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5F7FA"/>
                </a:solidFill>
                <a:latin typeface="Arial"/>
              </a:rPr>
              <a:t>ШУМПЕТЕР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0450" y="2861564"/>
            <a:ext cx="15367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BD5DF"/>
                </a:solidFill>
                <a:latin typeface="Arial"/>
              </a:rPr>
              <a:t>Предприниматель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0450" y="3020314"/>
            <a:ext cx="15367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BD5DF"/>
                </a:solidFill>
                <a:latin typeface="Arial"/>
              </a:rPr>
              <a:t>осуществляет «новые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0450" y="3179064"/>
            <a:ext cx="15367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BD5DF"/>
                </a:solidFill>
                <a:latin typeface="Arial"/>
              </a:rPr>
              <a:t>комбинации».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35925" y="2762250"/>
            <a:ext cx="1555750" cy="12700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985125" y="2698750"/>
            <a:ext cx="1555750" cy="1270000"/>
          </a:xfrm>
          <a:prstGeom prst="roundRect">
            <a:avLst/>
          </a:prstGeom>
          <a:solidFill>
            <a:srgbClr val="071522">
              <a:alpha val="80000"/>
            </a:srgbClr>
          </a:solidFill>
          <a:ln w="8890">
            <a:solidFill>
              <a:srgbClr val="91A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85125" y="2787650"/>
            <a:ext cx="38100" cy="1092200"/>
          </a:xfrm>
          <a:prstGeom prst="roundRect">
            <a:avLst/>
          </a:prstGeom>
          <a:solidFill>
            <a:srgbClr val="91AE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8625" y="2800096"/>
            <a:ext cx="142875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1AED0"/>
                </a:solidFill>
                <a:latin typeface="Arial"/>
              </a:rPr>
              <a:t>1921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8625" y="3064510"/>
            <a:ext cx="142875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5F7FA"/>
                </a:solidFill>
                <a:latin typeface="Arial"/>
              </a:rPr>
              <a:t>НАЙТ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2275" y="3309112"/>
            <a:ext cx="144145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Разделяет риск 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2275" y="3467862"/>
            <a:ext cx="144145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неопределённость.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0925" y="2762250"/>
            <a:ext cx="1555750" cy="12700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890125" y="2698750"/>
            <a:ext cx="1555750" cy="1270000"/>
          </a:xfrm>
          <a:prstGeom prst="roundRect">
            <a:avLst/>
          </a:prstGeom>
          <a:solidFill>
            <a:srgbClr val="071522">
              <a:alpha val="80000"/>
            </a:srgbClr>
          </a:solidFill>
          <a:ln w="889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890125" y="2787650"/>
            <a:ext cx="38100" cy="1092200"/>
          </a:xfrm>
          <a:prstGeom prst="roundRect">
            <a:avLst/>
          </a:prstGeom>
          <a:solidFill>
            <a:srgbClr val="EAB5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53625" y="2800096"/>
            <a:ext cx="142875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B567"/>
                </a:solidFill>
                <a:latin typeface="Arial"/>
              </a:rPr>
              <a:t>1942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53625" y="3064510"/>
            <a:ext cx="142875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5F7FA"/>
                </a:solidFill>
                <a:latin typeface="Arial"/>
              </a:rPr>
              <a:t>ШУМПЕТЕР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47275" y="3309112"/>
            <a:ext cx="144145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«Созидательное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47275" y="3467862"/>
            <a:ext cx="1441450" cy="149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CBD5DF"/>
                </a:solidFill>
                <a:latin typeface="Arial"/>
              </a:rPr>
              <a:t>разрушение».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47749" y="4032250"/>
            <a:ext cx="0" cy="577850"/>
          </a:xfrm>
          <a:prstGeom prst="line">
            <a:avLst/>
          </a:prstGeom>
          <a:ln w="10160">
            <a:solidFill>
              <a:srgbClr val="7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43250" y="3968750"/>
            <a:ext cx="0" cy="641350"/>
          </a:xfrm>
          <a:prstGeom prst="line">
            <a:avLst/>
          </a:prstGeom>
          <a:ln w="10160">
            <a:solidFill>
              <a:srgbClr val="7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175250" y="3968750"/>
            <a:ext cx="0" cy="641350"/>
          </a:xfrm>
          <a:prstGeom prst="line">
            <a:avLst/>
          </a:prstGeom>
          <a:ln w="10160">
            <a:solidFill>
              <a:srgbClr val="7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908800" y="4032250"/>
            <a:ext cx="0" cy="400050"/>
          </a:xfrm>
          <a:prstGeom prst="line">
            <a:avLst/>
          </a:prstGeom>
          <a:ln w="10160">
            <a:solidFill>
              <a:srgbClr val="EAB5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763000" y="3968750"/>
            <a:ext cx="0" cy="641350"/>
          </a:xfrm>
          <a:prstGeom prst="line">
            <a:avLst/>
          </a:prstGeom>
          <a:ln w="10160">
            <a:solidFill>
              <a:srgbClr val="7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668000" y="3968750"/>
            <a:ext cx="0" cy="641350"/>
          </a:xfrm>
          <a:prstGeom prst="line">
            <a:avLst/>
          </a:prstGeom>
          <a:ln w="10160">
            <a:solidFill>
              <a:srgbClr val="7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1968500" y="5492750"/>
            <a:ext cx="8255000" cy="393700"/>
          </a:xfrm>
          <a:prstGeom prst="roundRect">
            <a:avLst/>
          </a:prstGeom>
          <a:solidFill>
            <a:srgbClr val="06111E">
              <a:alpha val="82000"/>
            </a:srgbClr>
          </a:solidFill>
          <a:ln w="6350">
            <a:solidFill>
              <a:srgbClr val="435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95499" y="5636768"/>
            <a:ext cx="8001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5F7FA"/>
                </a:solidFill>
                <a:latin typeface="Arial"/>
              </a:rPr>
              <a:t>1911/12 — одна книга: первое немецкое издание датируют 1911 или 1912 годом.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6111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84200" y="6362700"/>
            <a:ext cx="11023600" cy="0"/>
          </a:xfrm>
          <a:prstGeom prst="line">
            <a:avLst/>
          </a:prstGeom>
          <a:ln w="6350">
            <a:solidFill>
              <a:srgbClr val="5670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5000" y="6480302"/>
            <a:ext cx="10414000" cy="125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B3C0CC"/>
                </a:solidFill>
                <a:latin typeface="Arial"/>
              </a:rPr>
              <a:t>Античность — предыстория; Cantillon (1755); Say (1803); Schumpeter (1911/12, 1942); Knight (1921).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09300" y="6462014"/>
            <a:ext cx="635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B567"/>
                </a:solidFill>
                <a:latin typeface="Arial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combin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6111E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645668"/>
            <a:ext cx="6350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ОСНОВНАЯ ИДЕЯ  ·  1911/12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45312"/>
            <a:ext cx="5905500" cy="5115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F5F7FA"/>
                </a:solidFill>
                <a:latin typeface="Arial"/>
              </a:rPr>
              <a:t>Пять новых комбинаций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313687"/>
            <a:ext cx="66675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D5DF"/>
                </a:solidFill>
                <a:latin typeface="Arial"/>
              </a:rPr>
              <a:t>Инновация — это не только изобретение, но и новое применение.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" y="1816100"/>
            <a:ext cx="6159500" cy="609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6900" y="1752600"/>
            <a:ext cx="6159500" cy="609600"/>
          </a:xfrm>
          <a:prstGeom prst="roundRect">
            <a:avLst/>
          </a:prstGeom>
          <a:solidFill>
            <a:srgbClr val="081725">
              <a:alpha val="87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6900" y="1841500"/>
            <a:ext cx="38100" cy="431800"/>
          </a:xfrm>
          <a:prstGeom prst="roundRect">
            <a:avLst/>
          </a:prstGeom>
          <a:solidFill>
            <a:srgbClr val="67D3C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3900" y="1898650"/>
            <a:ext cx="317500" cy="317500"/>
          </a:xfrm>
          <a:prstGeom prst="ellipse">
            <a:avLst/>
          </a:prstGeom>
          <a:solidFill>
            <a:srgbClr val="0E2935">
              <a:alpha val="98000"/>
            </a:srgbClr>
          </a:solidFill>
          <a:ln w="1143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2150" y="2004060"/>
            <a:ext cx="3810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7D3CD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1100" y="1890522"/>
            <a:ext cx="5207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7D3CD"/>
                </a:solidFill>
                <a:latin typeface="Arial"/>
              </a:rPr>
              <a:t>ПРОДУКТ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2081276"/>
            <a:ext cx="5270500" cy="1833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5F7FA"/>
                </a:solidFill>
                <a:latin typeface="Arial"/>
              </a:rPr>
              <a:t>Новый товар или новое качество знакомого товара.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" y="2571750"/>
            <a:ext cx="6159500" cy="609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6900" y="2508250"/>
            <a:ext cx="6159500" cy="609600"/>
          </a:xfrm>
          <a:prstGeom prst="roundRect">
            <a:avLst/>
          </a:prstGeom>
          <a:solidFill>
            <a:srgbClr val="081725">
              <a:alpha val="87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6900" y="2597150"/>
            <a:ext cx="38100" cy="431800"/>
          </a:xfrm>
          <a:prstGeom prst="roundRect">
            <a:avLst/>
          </a:prstGeom>
          <a:solidFill>
            <a:srgbClr val="67D3C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3900" y="2654300"/>
            <a:ext cx="317500" cy="317500"/>
          </a:xfrm>
          <a:prstGeom prst="ellipse">
            <a:avLst/>
          </a:prstGeom>
          <a:solidFill>
            <a:srgbClr val="0E2935">
              <a:alpha val="98000"/>
            </a:srgbClr>
          </a:solidFill>
          <a:ln w="1143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2150" y="2759710"/>
            <a:ext cx="3810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7D3CD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2646172"/>
            <a:ext cx="5207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7D3CD"/>
                </a:solidFill>
                <a:latin typeface="Arial"/>
              </a:rPr>
              <a:t>СПОСОБ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2836926"/>
            <a:ext cx="5270500" cy="1833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5F7FA"/>
                </a:solidFill>
                <a:latin typeface="Arial"/>
              </a:rPr>
              <a:t>Новый способ производства или коммерческого применения.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" y="3327400"/>
            <a:ext cx="6159500" cy="609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6900" y="3263900"/>
            <a:ext cx="6159500" cy="609600"/>
          </a:xfrm>
          <a:prstGeom prst="roundRect">
            <a:avLst/>
          </a:prstGeom>
          <a:solidFill>
            <a:srgbClr val="081725">
              <a:alpha val="87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6900" y="3352800"/>
            <a:ext cx="38100" cy="431800"/>
          </a:xfrm>
          <a:prstGeom prst="roundRect">
            <a:avLst/>
          </a:prstGeom>
          <a:solidFill>
            <a:srgbClr val="67D3C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3900" y="3409950"/>
            <a:ext cx="317500" cy="317500"/>
          </a:xfrm>
          <a:prstGeom prst="ellipse">
            <a:avLst/>
          </a:prstGeom>
          <a:solidFill>
            <a:srgbClr val="0E2935">
              <a:alpha val="98000"/>
            </a:srgbClr>
          </a:solidFill>
          <a:ln w="1143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150" y="3515360"/>
            <a:ext cx="3810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7D3CD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100" y="3401822"/>
            <a:ext cx="5207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7D3CD"/>
                </a:solidFill>
                <a:latin typeface="Arial"/>
              </a:rPr>
              <a:t>РЫНОК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1100" y="3592576"/>
            <a:ext cx="5270500" cy="1833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5F7FA"/>
                </a:solidFill>
                <a:latin typeface="Arial"/>
              </a:rPr>
              <a:t>Выход туда, где отрасль прежде не продавала.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" y="4083050"/>
            <a:ext cx="6159500" cy="609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6900" y="4019549"/>
            <a:ext cx="6159500" cy="609600"/>
          </a:xfrm>
          <a:prstGeom prst="roundRect">
            <a:avLst/>
          </a:prstGeom>
          <a:solidFill>
            <a:srgbClr val="081725">
              <a:alpha val="87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6900" y="4108450"/>
            <a:ext cx="38100" cy="431800"/>
          </a:xfrm>
          <a:prstGeom prst="roundRect">
            <a:avLst/>
          </a:prstGeom>
          <a:solidFill>
            <a:srgbClr val="67D3C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900" y="4165600"/>
            <a:ext cx="317500" cy="317500"/>
          </a:xfrm>
          <a:prstGeom prst="ellipse">
            <a:avLst/>
          </a:prstGeom>
          <a:solidFill>
            <a:srgbClr val="0E2935">
              <a:alpha val="98000"/>
            </a:srgbClr>
          </a:solidFill>
          <a:ln w="1143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2150" y="4271010"/>
            <a:ext cx="3810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7D3CD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1100" y="4157472"/>
            <a:ext cx="5207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7D3CD"/>
                </a:solidFill>
                <a:latin typeface="Arial"/>
              </a:rPr>
              <a:t>ИСТОЧНИК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1100" y="4348226"/>
            <a:ext cx="5270500" cy="1833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5F7FA"/>
                </a:solidFill>
                <a:latin typeface="Arial"/>
              </a:rPr>
              <a:t>Новый источник сырья или полуфабрикатов.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700" y="4838700"/>
            <a:ext cx="6159500" cy="609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6900" y="4775200"/>
            <a:ext cx="6159500" cy="609600"/>
          </a:xfrm>
          <a:prstGeom prst="roundRect">
            <a:avLst/>
          </a:prstGeom>
          <a:solidFill>
            <a:srgbClr val="081725">
              <a:alpha val="87000"/>
            </a:srgbClr>
          </a:solidFill>
          <a:ln w="889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96900" y="4864100"/>
            <a:ext cx="38100" cy="431800"/>
          </a:xfrm>
          <a:prstGeom prst="roundRect">
            <a:avLst/>
          </a:prstGeom>
          <a:solidFill>
            <a:srgbClr val="EAB5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3900" y="4921250"/>
            <a:ext cx="317500" cy="317500"/>
          </a:xfrm>
          <a:prstGeom prst="ellipse">
            <a:avLst/>
          </a:prstGeom>
          <a:solidFill>
            <a:srgbClr val="0E2935">
              <a:alpha val="98000"/>
            </a:srgbClr>
          </a:solidFill>
          <a:ln w="1143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2150" y="5026660"/>
            <a:ext cx="381000" cy="144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AB567"/>
                </a:solidFill>
                <a:latin typeface="Arial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1100" y="4913122"/>
            <a:ext cx="5207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AB567"/>
                </a:solidFill>
                <a:latin typeface="Arial"/>
              </a:rPr>
              <a:t>ОРГАНИЗАЦИЯ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1100" y="5103876"/>
            <a:ext cx="5270500" cy="1833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5F7FA"/>
                </a:solidFill>
                <a:latin typeface="Arial"/>
              </a:rPr>
              <a:t>Новое устройство отрасли — вплоть до создания или разрушения монополии.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0499" y="5092700"/>
            <a:ext cx="3619500" cy="406400"/>
          </a:xfrm>
          <a:prstGeom prst="roundRect">
            <a:avLst/>
          </a:prstGeom>
          <a:solidFill>
            <a:srgbClr val="071522">
              <a:alpha val="70000"/>
            </a:srgbClr>
          </a:solidFill>
          <a:ln w="6350">
            <a:solidFill>
              <a:srgbClr val="577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5750" y="5243067"/>
            <a:ext cx="3429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ПЯТЬ СПОСОБОВ ВВЕСТИ НОВОЕ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6111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584200" y="6362700"/>
            <a:ext cx="11023600" cy="0"/>
          </a:xfrm>
          <a:prstGeom prst="line">
            <a:avLst/>
          </a:prstGeom>
          <a:ln w="6350">
            <a:solidFill>
              <a:srgbClr val="5670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35000" y="6480302"/>
            <a:ext cx="10414000" cy="125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B3C0CC"/>
                </a:solidFill>
                <a:latin typeface="Arial"/>
              </a:rPr>
              <a:t>Schumpeter, The Theory of Economic Development, гл. II (англ. перевод — 1934).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09300" y="6462014"/>
            <a:ext cx="635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B567"/>
                </a:solidFill>
                <a:latin typeface="Arial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2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763000" cy="68580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645668"/>
            <a:ext cx="6350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ВКЛАД В ТЕОРИЮ ПРЕДПРИНИМАТЕЛЬСТВА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87984"/>
            <a:ext cx="8826500" cy="443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5F7FA"/>
                </a:solidFill>
                <a:latin typeface="Arial"/>
              </a:rPr>
              <a:t>Важно не придумать — важно осуществить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313687"/>
            <a:ext cx="85725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D5DF"/>
                </a:solidFill>
                <a:latin typeface="Arial"/>
              </a:rPr>
              <a:t>Шумпетер перенёс фокус с владения ресурсами на функцию внедрения.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0400" y="1981199"/>
            <a:ext cx="3111500" cy="14351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9600" y="1917700"/>
            <a:ext cx="3111500" cy="1435100"/>
          </a:xfrm>
          <a:prstGeom prst="roundRect">
            <a:avLst/>
          </a:prstGeom>
          <a:solidFill>
            <a:srgbClr val="081725">
              <a:alpha val="88000"/>
            </a:srgbClr>
          </a:solidFill>
          <a:ln w="8890">
            <a:solidFill>
              <a:srgbClr val="91A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9600" y="2006600"/>
            <a:ext cx="38100" cy="1257300"/>
          </a:xfrm>
          <a:prstGeom prst="roundRect">
            <a:avLst/>
          </a:prstGeom>
          <a:solidFill>
            <a:srgbClr val="91AE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2138172"/>
            <a:ext cx="6350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1AED0"/>
                </a:solidFill>
                <a:latin typeface="Arial"/>
              </a:rPr>
              <a:t>ИЗОБРЕТАТЕЛЬ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2426970"/>
            <a:ext cx="2603500" cy="289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A"/>
                </a:solidFill>
                <a:latin typeface="Arial"/>
              </a:rPr>
              <a:t>Создаёт техническую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680970"/>
            <a:ext cx="2603500" cy="289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A"/>
                </a:solidFill>
                <a:latin typeface="Arial"/>
              </a:rPr>
              <a:t>возможность.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39872"/>
            <a:ext cx="26035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BD5DF"/>
                </a:solidFill>
                <a:latin typeface="Arial"/>
              </a:rPr>
              <a:t>Идея, открытие или прототип.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9050" y="2419858"/>
            <a:ext cx="444500" cy="501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AB56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2300" y="1981199"/>
            <a:ext cx="3302000" cy="14351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917700"/>
            <a:ext cx="3302000" cy="1435100"/>
          </a:xfrm>
          <a:prstGeom prst="roundRect">
            <a:avLst/>
          </a:prstGeom>
          <a:solidFill>
            <a:srgbClr val="081725">
              <a:alpha val="90000"/>
            </a:srgbClr>
          </a:solidFill>
          <a:ln w="889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1500" y="2006600"/>
            <a:ext cx="38100" cy="1257300"/>
          </a:xfrm>
          <a:prstGeom prst="roundRect">
            <a:avLst/>
          </a:prstGeom>
          <a:solidFill>
            <a:srgbClr val="EAB5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8200" y="2138172"/>
            <a:ext cx="6350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AB567"/>
                </a:solidFill>
                <a:latin typeface="Arial"/>
              </a:rPr>
              <a:t>ПРЕДПРИНИМАТЕЛЬ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8200" y="2426970"/>
            <a:ext cx="2794000" cy="289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A"/>
                </a:solidFill>
                <a:latin typeface="Arial"/>
              </a:rPr>
              <a:t>Объединяет ресурсы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8200" y="2693162"/>
            <a:ext cx="2794000" cy="270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и организует внедрение.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8200" y="3039872"/>
            <a:ext cx="282575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BD5DF"/>
                </a:solidFill>
                <a:latin typeface="Arial"/>
              </a:rPr>
              <a:t>Переводит новое в хозяйственную жизнь.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775964"/>
            <a:ext cx="6350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7D3CD"/>
                </a:solidFill>
                <a:latin typeface="Arial"/>
              </a:rPr>
              <a:t>КАК РАБОТАЕТ ФУНКЦИЯ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216400"/>
            <a:ext cx="2286000" cy="736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000" y="4152900"/>
            <a:ext cx="2286000" cy="736600"/>
          </a:xfrm>
          <a:prstGeom prst="roundRect">
            <a:avLst/>
          </a:prstGeom>
          <a:solidFill>
            <a:srgbClr val="071522">
              <a:alpha val="82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200" y="4341368"/>
            <a:ext cx="21336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7D3CD"/>
                </a:solidFill>
                <a:latin typeface="Arial"/>
              </a:rPr>
              <a:t>НОВАЯ ИДЕЯ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4544822"/>
            <a:ext cx="21336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BD5DF"/>
                </a:solidFill>
                <a:latin typeface="Arial"/>
              </a:rPr>
              <a:t>или комбинация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2750" y="4439412"/>
            <a:ext cx="292100" cy="270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52800" y="4216400"/>
            <a:ext cx="2286000" cy="736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02000" y="4152900"/>
            <a:ext cx="2286000" cy="736600"/>
          </a:xfrm>
          <a:prstGeom prst="roundRect">
            <a:avLst/>
          </a:prstGeom>
          <a:solidFill>
            <a:srgbClr val="071522">
              <a:alpha val="82000"/>
            </a:srgbClr>
          </a:solidFill>
          <a:ln w="889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8200" y="4341368"/>
            <a:ext cx="21336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ЛЮДИ + РЕСУРСЫ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78200" y="4544822"/>
            <a:ext cx="21336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BD5DF"/>
                </a:solidFill>
                <a:latin typeface="Arial"/>
              </a:rPr>
              <a:t>в том числе кредит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9750" y="4439412"/>
            <a:ext cx="292100" cy="270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19800" y="4216400"/>
            <a:ext cx="2286000" cy="736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9000" y="4152900"/>
            <a:ext cx="2286000" cy="736600"/>
          </a:xfrm>
          <a:prstGeom prst="roundRect">
            <a:avLst/>
          </a:prstGeom>
          <a:solidFill>
            <a:srgbClr val="071522">
              <a:alpha val="82000"/>
            </a:srgbClr>
          </a:solidFill>
          <a:ln w="889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45200" y="4341368"/>
            <a:ext cx="21336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ВНЕДРЕНИЕ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5200" y="4544822"/>
            <a:ext cx="21336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BD5DF"/>
                </a:solidFill>
                <a:latin typeface="Arial"/>
              </a:rPr>
              <a:t>в производство и обмен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6750" y="4439412"/>
            <a:ext cx="292100" cy="270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0" y="4216400"/>
            <a:ext cx="2730500" cy="736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636000" y="4152900"/>
            <a:ext cx="2730500" cy="736600"/>
          </a:xfrm>
          <a:prstGeom prst="roundRect">
            <a:avLst/>
          </a:prstGeom>
          <a:solidFill>
            <a:srgbClr val="071522">
              <a:alpha val="82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12200" y="4341368"/>
            <a:ext cx="25781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7D3CD"/>
                </a:solidFill>
                <a:latin typeface="Arial"/>
              </a:rPr>
              <a:t>ИЗМЕНЕНИЕ РЫНКА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12200" y="4544822"/>
            <a:ext cx="25781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BD5DF"/>
                </a:solidFill>
                <a:latin typeface="Arial"/>
              </a:rPr>
              <a:t>новая конкуренция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300" y="5264150"/>
            <a:ext cx="10826750" cy="596900"/>
          </a:xfrm>
          <a:prstGeom prst="roundRect">
            <a:avLst/>
          </a:prstGeom>
          <a:solidFill>
            <a:srgbClr val="091927">
              <a:alpha val="86000"/>
            </a:srgbClr>
          </a:solidFill>
          <a:ln w="889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5500" y="5402834"/>
            <a:ext cx="10350500" cy="202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5F7FA"/>
                </a:solidFill>
                <a:latin typeface="Arial"/>
              </a:rPr>
              <a:t>Предприниматель у Шумпетера — функция: он не обязан быть изобретателем или владельцем капитала.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500" y="5611622"/>
            <a:ext cx="103505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AB567"/>
                </a:solidFill>
                <a:latin typeface="Arial"/>
              </a:rPr>
              <a:t>Его задача — осуществить новую комбинацию.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6111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84200" y="6362700"/>
            <a:ext cx="11023600" cy="0"/>
          </a:xfrm>
          <a:prstGeom prst="line">
            <a:avLst/>
          </a:prstGeom>
          <a:ln w="6350">
            <a:solidFill>
              <a:srgbClr val="5670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35000" y="6480302"/>
            <a:ext cx="10414000" cy="125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B3C0CC"/>
                </a:solidFill>
                <a:latin typeface="Arial"/>
              </a:rPr>
              <a:t>Schumpeter, The Theory of Economic Development; для современного контекста: Bailetti (2012).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09300" y="6462014"/>
            <a:ext cx="635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B567"/>
                </a:solidFill>
                <a:latin typeface="Arial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creative-destruc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350000"/>
          </a:xfrm>
          <a:prstGeom prst="rect">
            <a:avLst/>
          </a:prstGeom>
          <a:solidFill>
            <a:srgbClr val="06111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645668"/>
            <a:ext cx="6350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1942  ·  CAPITALISM, SOCIALISM AND DEMOCRACY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845566"/>
            <a:ext cx="8128000" cy="521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A"/>
                </a:solidFill>
                <a:latin typeface="Arial"/>
              </a:rPr>
              <a:t>Созидательное разрушение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1320292"/>
            <a:ext cx="7620000" cy="2219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BD5DF"/>
                </a:solidFill>
                <a:latin typeface="Arial"/>
              </a:rPr>
              <a:t>Новые решения создают отрасли — и вытесняют старые.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387600"/>
            <a:ext cx="3079750" cy="13970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800" y="2324100"/>
            <a:ext cx="3079750" cy="1397000"/>
          </a:xfrm>
          <a:prstGeom prst="roundRect">
            <a:avLst/>
          </a:prstGeom>
          <a:solidFill>
            <a:srgbClr val="071522">
              <a:alpha val="84000"/>
            </a:srgbClr>
          </a:solidFill>
          <a:ln w="8890">
            <a:solidFill>
              <a:srgbClr val="B98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8800" y="2413000"/>
            <a:ext cx="38100" cy="1219200"/>
          </a:xfrm>
          <a:prstGeom prst="roundRect">
            <a:avLst/>
          </a:prstGeom>
          <a:solidFill>
            <a:srgbClr val="B98558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557272"/>
            <a:ext cx="6350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5AD7B"/>
                </a:solidFill>
                <a:latin typeface="Arial"/>
              </a:rPr>
              <a:t>ПРЕЖНИЙ УКЛАД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858008"/>
            <a:ext cx="2476500" cy="260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F7FA"/>
                </a:solidFill>
                <a:latin typeface="Arial"/>
              </a:rPr>
              <a:t>Продукты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124708"/>
            <a:ext cx="2476500" cy="260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F7FA"/>
                </a:solidFill>
                <a:latin typeface="Arial"/>
              </a:rPr>
              <a:t>Технологии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391408"/>
            <a:ext cx="2476500" cy="260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F7FA"/>
                </a:solidFill>
                <a:latin typeface="Arial"/>
              </a:rPr>
              <a:t>Привычные рынки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04250" y="2387600"/>
            <a:ext cx="3079750" cy="13970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53450" y="2324100"/>
            <a:ext cx="3079750" cy="1397000"/>
          </a:xfrm>
          <a:prstGeom prst="roundRect">
            <a:avLst/>
          </a:prstGeom>
          <a:solidFill>
            <a:srgbClr val="071522">
              <a:alpha val="84000"/>
            </a:srgbClr>
          </a:solidFill>
          <a:ln w="8890">
            <a:solidFill>
              <a:srgbClr val="67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53450" y="2413000"/>
            <a:ext cx="38100" cy="1219200"/>
          </a:xfrm>
          <a:prstGeom prst="roundRect">
            <a:avLst/>
          </a:prstGeom>
          <a:solidFill>
            <a:srgbClr val="67D3C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7450" y="2557272"/>
            <a:ext cx="63500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7D3CD"/>
                </a:solidFill>
                <a:latin typeface="Arial"/>
              </a:rPr>
              <a:t>НОВЫЙ УКЛАД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7450" y="2858008"/>
            <a:ext cx="2540000" cy="260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F7FA"/>
                </a:solidFill>
                <a:latin typeface="Arial"/>
              </a:rPr>
              <a:t>Новые продукты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450" y="3124708"/>
            <a:ext cx="2540000" cy="260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F7FA"/>
                </a:solidFill>
                <a:latin typeface="Arial"/>
              </a:rPr>
              <a:t>Новые рынки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7450" y="3391408"/>
            <a:ext cx="2540000" cy="260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F7FA"/>
                </a:solidFill>
                <a:latin typeface="Arial"/>
              </a:rPr>
              <a:t>Новые компании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46600" y="2660650"/>
            <a:ext cx="3111500" cy="8636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95800" y="2597150"/>
            <a:ext cx="3111500" cy="863600"/>
          </a:xfrm>
          <a:prstGeom prst="roundRect">
            <a:avLst/>
          </a:prstGeom>
          <a:solidFill>
            <a:srgbClr val="081725">
              <a:alpha val="84000"/>
            </a:srgbClr>
          </a:solidFill>
          <a:ln w="10160">
            <a:solidFill>
              <a:srgbClr val="EAB5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18050" y="2785618"/>
            <a:ext cx="2667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НОВОЕ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550" y="3004566"/>
            <a:ext cx="2794000" cy="2799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5F7FA"/>
                </a:solidFill>
                <a:latin typeface="Arial"/>
              </a:rPr>
              <a:t>ВНЕДРЕНИЕ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6300" y="3255772"/>
            <a:ext cx="27305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BD5DF"/>
                </a:solidFill>
                <a:latin typeface="Arial"/>
              </a:rPr>
              <a:t>→ конкуренция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52850" y="2920492"/>
            <a:ext cx="444500" cy="4632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AB567"/>
                </a:solidFill>
                <a:latin typeface="Arial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12100" y="2920492"/>
            <a:ext cx="444500" cy="4632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7D3CD"/>
                </a:solidFill>
                <a:latin typeface="Arial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2500" y="4387850"/>
            <a:ext cx="10401300" cy="965200"/>
          </a:xfrm>
          <a:prstGeom prst="round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1700" y="4324350"/>
            <a:ext cx="10401300" cy="965200"/>
          </a:xfrm>
          <a:prstGeom prst="roundRect">
            <a:avLst/>
          </a:prstGeom>
          <a:solidFill>
            <a:srgbClr val="071522">
              <a:alpha val="87000"/>
            </a:srgbClr>
          </a:solidFill>
          <a:ln w="6985">
            <a:solidFill>
              <a:srgbClr val="536A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8400" y="4512818"/>
            <a:ext cx="6350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AB567"/>
                </a:solidFill>
                <a:latin typeface="Arial"/>
              </a:rPr>
              <a:t>СОЗИДАНИЕ И ВЫТЕСНЕНИЕ ИДУТ ОДНОВРЕМЕННО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8400" y="4768088"/>
            <a:ext cx="9842500" cy="212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5F7FA"/>
                </a:solidFill>
                <a:latin typeface="Arial"/>
              </a:rPr>
              <a:t>Это описание динамики рынка, а не обещание, что любая инновация автоматически победит.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8400" y="5015484"/>
            <a:ext cx="9842500" cy="202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7D3CD"/>
                </a:solidFill>
                <a:latin typeface="Arial"/>
              </a:rPr>
              <a:t>Для технологического предпринимателя вывод прост: технологии мало — нужно внедрение.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6111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84200" y="6362700"/>
            <a:ext cx="11023600" cy="0"/>
          </a:xfrm>
          <a:prstGeom prst="line">
            <a:avLst/>
          </a:prstGeom>
          <a:ln w="6350">
            <a:solidFill>
              <a:srgbClr val="5670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5000" y="6480302"/>
            <a:ext cx="10414000" cy="125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B3C0CC"/>
                </a:solidFill>
                <a:latin typeface="Arial"/>
              </a:rPr>
              <a:t>Schumpeter, Capitalism, Socialism and Democracy (1942), гл. VII; Oxford Learning Link.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09300" y="6462014"/>
            <a:ext cx="635000" cy="154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B567"/>
                </a:solidFill>
                <a:latin typeface="Arial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Йозеф Шумпетер — предприниматель и инновации</dc:title>
  <dc:subject>Биография, хронология идей и вклад в теорию предпринимательства</dc:subject>
  <dc:creator>Arena</dc:creator>
  <cp:keywords>Шумпетер, предпринимательство, инновации, созидательное разрушение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