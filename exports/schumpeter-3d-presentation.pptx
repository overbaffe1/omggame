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21F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67500" cy="6223000"/>
          </a:xfrm>
          <a:prstGeom prst="rect">
            <a:avLst/>
          </a:prstGeom>
          <a:solidFill>
            <a:srgbClr val="091725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97789"/>
            <a:ext cx="6350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1B967"/>
                </a:solidFill>
                <a:latin typeface="Arial"/>
              </a:rPr>
              <a:t>ЭКОНОМИЧЕСКАЯ ТЕОРИЯ  ·  ИННОВАЦИИ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470660"/>
            <a:ext cx="5207000" cy="1082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500" b="1">
                <a:solidFill>
                  <a:srgbClr val="F4F6FA"/>
                </a:solidFill>
                <a:latin typeface="Arial"/>
              </a:rPr>
              <a:t>Йозеф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268474"/>
            <a:ext cx="5715000" cy="1023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F4F6FA"/>
                </a:solidFill>
                <a:latin typeface="Arial"/>
              </a:rPr>
              <a:t>Шумпетер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176397"/>
            <a:ext cx="6159500" cy="364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50" b="1">
                <a:solidFill>
                  <a:srgbClr val="66D8CD"/>
                </a:solidFill>
                <a:latin typeface="Arial"/>
              </a:rPr>
              <a:t>Предприниматель как двигатель инноваций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3666744"/>
            <a:ext cx="63500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4DEEA"/>
                </a:solidFill>
                <a:latin typeface="Arial"/>
              </a:rPr>
              <a:t>1883–1950  ·  австрийский экономист  ·  «новые комбинации»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300" y="4445000"/>
            <a:ext cx="4889500" cy="431800"/>
          </a:xfrm>
          <a:prstGeom prst="roundRect">
            <a:avLst/>
          </a:prstGeom>
          <a:solidFill>
            <a:srgbClr val="0A1B2B">
              <a:alpha val="83000"/>
            </a:srgbClr>
          </a:solidFill>
          <a:ln w="7620">
            <a:solidFill>
              <a:srgbClr val="496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8050" y="4616450"/>
            <a:ext cx="88900" cy="88900"/>
          </a:xfrm>
          <a:prstGeom prst="ellipse">
            <a:avLst/>
          </a:prstGeom>
          <a:solidFill>
            <a:srgbClr val="F1B967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0300" y="4562475"/>
            <a:ext cx="4318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4F6FA"/>
                </a:solidFill>
                <a:latin typeface="Arial"/>
              </a:rPr>
              <a:t>Идея → внедрение → изменение рынка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740526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C4D0DC"/>
                </a:solidFill>
                <a:latin typeface="Arial"/>
              </a:rPr>
              <a:t>ОДНА ЦЕНТРАЛЬНАЯ ИДЕЯ  ·  ШЕСТЬ СЛАЙДОВ  ·  ОКОЛО 4 МИНУТ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5000" y="6375400"/>
            <a:ext cx="10922000" cy="0"/>
          </a:xfrm>
          <a:prstGeom prst="line">
            <a:avLst/>
          </a:prstGeom>
          <a:ln w="7620">
            <a:solidFill>
              <a:srgbClr val="536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000" y="6463665"/>
            <a:ext cx="10414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A8B6C6"/>
                </a:solidFill>
                <a:latin typeface="Arial"/>
              </a:rPr>
              <a:t>Источники: Schumpeter, Theory of Economic Development (1911/12); Capitalism, Socialism and Democracy (1942); OUP biography.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0250" y="6451727"/>
            <a:ext cx="635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F1B967"/>
                </a:solidFill>
                <a:latin typeface="Arial"/>
              </a:rPr>
              <a:t>01 / 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257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000" y="6673850"/>
            <a:ext cx="1820333" cy="381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new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21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9250" y="349250"/>
            <a:ext cx="6540500" cy="5556250"/>
          </a:xfrm>
          <a:prstGeom prst="rect">
            <a:avLst/>
          </a:prstGeom>
          <a:solidFill>
            <a:srgbClr val="091725">
              <a:alpha val="4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711326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1B967"/>
                </a:solidFill>
                <a:latin typeface="Arial"/>
              </a:rPr>
              <a:t>КАКОЙ ВОПРОС ОН ПЕРЕВЕРНУЛ?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892048"/>
            <a:ext cx="6985000" cy="5708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F4F6FA"/>
                </a:solidFill>
                <a:latin typeface="Arial"/>
              </a:rPr>
              <a:t>От риска — к инновации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" y="1368425"/>
            <a:ext cx="6985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CDD7E2"/>
                </a:solidFill>
                <a:latin typeface="Arial"/>
              </a:rPr>
              <a:t>Как менялся ответ на вопрос: чем занимается предприниматель?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873250"/>
            <a:ext cx="5778500" cy="762000"/>
          </a:xfrm>
          <a:prstGeom prst="roundRect">
            <a:avLst/>
          </a:prstGeom>
          <a:solidFill>
            <a:srgbClr val="071522">
              <a:alpha val="86000"/>
            </a:srgbClr>
          </a:solidFill>
          <a:ln w="8890">
            <a:solidFill>
              <a:srgbClr val="72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000" y="1873250"/>
            <a:ext cx="44450" cy="762000"/>
          </a:xfrm>
          <a:prstGeom prst="roundRect">
            <a:avLst/>
          </a:prstGeom>
          <a:solidFill>
            <a:srgbClr val="72D6D0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032888"/>
            <a:ext cx="1778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72D6D0"/>
                </a:solidFill>
                <a:latin typeface="Arial"/>
              </a:rPr>
              <a:t>1755  ·  КАНТИЛЬОН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257425"/>
            <a:ext cx="530225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F4F6FA"/>
                </a:solidFill>
                <a:latin typeface="Arial"/>
              </a:rPr>
              <a:t>Решает при неизвестных ценах и неопределённой выручке.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" y="2857500"/>
            <a:ext cx="5778500" cy="762000"/>
          </a:xfrm>
          <a:prstGeom prst="roundRect">
            <a:avLst/>
          </a:prstGeom>
          <a:solidFill>
            <a:srgbClr val="071522">
              <a:alpha val="86000"/>
            </a:srgbClr>
          </a:solidFill>
          <a:ln w="8890">
            <a:solidFill>
              <a:srgbClr val="8DA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000" y="2857500"/>
            <a:ext cx="44450" cy="762000"/>
          </a:xfrm>
          <a:prstGeom prst="roundRect">
            <a:avLst/>
          </a:prstGeom>
          <a:solidFill>
            <a:srgbClr val="8DAED8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017139"/>
            <a:ext cx="1778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8DAED8"/>
                </a:solidFill>
                <a:latin typeface="Arial"/>
              </a:rPr>
              <a:t>1803  ·  СЭЙ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241675"/>
            <a:ext cx="530225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F4F6FA"/>
                </a:solidFill>
                <a:latin typeface="Arial"/>
              </a:rPr>
              <a:t>Организует производство и координирует ресурсы.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000" y="3841750"/>
            <a:ext cx="5778500" cy="762000"/>
          </a:xfrm>
          <a:prstGeom prst="roundRect">
            <a:avLst/>
          </a:prstGeom>
          <a:solidFill>
            <a:srgbClr val="071522">
              <a:alpha val="86000"/>
            </a:srgbClr>
          </a:solidFill>
          <a:ln w="8890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000" y="3841750"/>
            <a:ext cx="44450" cy="7620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4001388"/>
            <a:ext cx="1778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1B967"/>
                </a:solidFill>
                <a:latin typeface="Arial"/>
              </a:rPr>
              <a:t>1911/12  ·  ШУМПЕТЕР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225925"/>
            <a:ext cx="530225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4F6FA"/>
                </a:solidFill>
                <a:latin typeface="Arial"/>
              </a:rPr>
              <a:t>Осуществляет новые комбинации — и запускает развитие.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00" y="4984750"/>
            <a:ext cx="5778500" cy="457200"/>
          </a:xfrm>
          <a:prstGeom prst="roundRect">
            <a:avLst/>
          </a:prstGeom>
          <a:solidFill>
            <a:srgbClr val="0B2031">
              <a:alpha val="88000"/>
            </a:srgbClr>
          </a:solidFill>
          <a:ln w="6350">
            <a:solidFill>
              <a:srgbClr val="435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5139182"/>
            <a:ext cx="53340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6D8CD"/>
                </a:solidFill>
                <a:latin typeface="Arial"/>
              </a:rPr>
              <a:t>Поворот: от владения ресурсами — к внедрению нового.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5000" y="6375400"/>
            <a:ext cx="10922000" cy="0"/>
          </a:xfrm>
          <a:prstGeom prst="line">
            <a:avLst/>
          </a:prstGeom>
          <a:ln w="7620">
            <a:solidFill>
              <a:srgbClr val="536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5000" y="6463665"/>
            <a:ext cx="10414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A8B6C6"/>
                </a:solidFill>
                <a:latin typeface="Arial"/>
              </a:rPr>
              <a:t>Опорные даты: Cantillon (1755); Say (1803); Schumpeter (первое немецкое издание — 1911/1912, дата спорна).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90250" y="6451727"/>
            <a:ext cx="635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F1B967"/>
                </a:solidFill>
                <a:latin typeface="Arial"/>
              </a:rPr>
              <a:t>02 / 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257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5000" y="6673850"/>
            <a:ext cx="3640666" cy="381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new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21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750" y="285750"/>
            <a:ext cx="7397750" cy="5619750"/>
          </a:xfrm>
          <a:prstGeom prst="rect">
            <a:avLst/>
          </a:prstGeom>
          <a:solidFill>
            <a:srgbClr val="091725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704977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1B967"/>
                </a:solidFill>
                <a:latin typeface="Arial"/>
              </a:rPr>
              <a:t>СУТЬ ТЕОРИИ  ·  1911/12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878586"/>
            <a:ext cx="6667500" cy="551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4F6FA"/>
                </a:solidFill>
                <a:latin typeface="Arial"/>
              </a:rPr>
              <a:t>Пять новых комбинаций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43025"/>
            <a:ext cx="66675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D0DAE5"/>
                </a:solidFill>
                <a:latin typeface="Arial"/>
              </a:rPr>
              <a:t>Инновация у Шумпетера шире, чем новое изобретение.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00" y="1809750"/>
            <a:ext cx="6572250" cy="6477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7302">
            <a:solidFill>
              <a:srgbClr val="66D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300" y="1962150"/>
            <a:ext cx="342900" cy="342900"/>
          </a:xfrm>
          <a:prstGeom prst="ellipse">
            <a:avLst/>
          </a:prstGeom>
          <a:solidFill>
            <a:srgbClr val="66D8CD">
              <a:alpha val="16000"/>
            </a:srgbClr>
          </a:solidFill>
          <a:ln w="11430">
            <a:solidFill>
              <a:srgbClr val="66D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2076576"/>
            <a:ext cx="444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66D8CD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1900" y="1951101"/>
            <a:ext cx="55880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66D8CD"/>
                </a:solidFill>
                <a:latin typeface="Arial"/>
              </a:rPr>
              <a:t>НОВЫЙ ПРОДУКТ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1900" y="2161032"/>
            <a:ext cx="568325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4F6FA"/>
                </a:solidFill>
                <a:latin typeface="Arial"/>
              </a:rPr>
              <a:t>товар или новое качество уже знакомого продукта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00" y="2571750"/>
            <a:ext cx="6572250" cy="6477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7302">
            <a:solidFill>
              <a:srgbClr val="8CB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724150"/>
            <a:ext cx="342900" cy="342900"/>
          </a:xfrm>
          <a:prstGeom prst="ellipse">
            <a:avLst/>
          </a:prstGeom>
          <a:solidFill>
            <a:srgbClr val="8CB0DC">
              <a:alpha val="16000"/>
            </a:srgbClr>
          </a:solidFill>
          <a:ln w="11430">
            <a:solidFill>
              <a:srgbClr val="8CB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" y="2838577"/>
            <a:ext cx="444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8CB0D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900" y="2713100"/>
            <a:ext cx="55880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8CB0DC"/>
                </a:solidFill>
                <a:latin typeface="Arial"/>
              </a:rPr>
              <a:t>НОВЫЙ СПОСОБ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900" y="2923032"/>
            <a:ext cx="568325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4F6FA"/>
                </a:solidFill>
                <a:latin typeface="Arial"/>
              </a:rPr>
              <a:t>производства или коммерческого применения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00" y="3333750"/>
            <a:ext cx="6572250" cy="6477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7302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9300" y="3486150"/>
            <a:ext cx="342900" cy="342900"/>
          </a:xfrm>
          <a:prstGeom prst="ellipse">
            <a:avLst/>
          </a:prstGeom>
          <a:solidFill>
            <a:srgbClr val="F1B967">
              <a:alpha val="16000"/>
            </a:srgbClr>
          </a:solidFill>
          <a:ln w="11430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500" y="3600577"/>
            <a:ext cx="444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F1B967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1900" y="3475101"/>
            <a:ext cx="55880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1B967"/>
                </a:solidFill>
                <a:latin typeface="Arial"/>
              </a:rPr>
              <a:t>НОВЫЙ РЫНОК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1900" y="3685032"/>
            <a:ext cx="568325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4F6FA"/>
                </a:solidFill>
                <a:latin typeface="Arial"/>
              </a:rPr>
              <a:t>выход туда, где фирма ещё не продавала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300" y="4095750"/>
            <a:ext cx="6572250" cy="6477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7302">
            <a:solidFill>
              <a:srgbClr val="F18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9300" y="4248150"/>
            <a:ext cx="342900" cy="342900"/>
          </a:xfrm>
          <a:prstGeom prst="ellipse">
            <a:avLst/>
          </a:prstGeom>
          <a:solidFill>
            <a:srgbClr val="F18B77">
              <a:alpha val="16000"/>
            </a:srgbClr>
          </a:solidFill>
          <a:ln w="11430">
            <a:solidFill>
              <a:srgbClr val="F18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500" y="4362577"/>
            <a:ext cx="444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F18B77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1900" y="4237101"/>
            <a:ext cx="55880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18B77"/>
                </a:solidFill>
                <a:latin typeface="Arial"/>
              </a:rPr>
              <a:t>НОВЫЙ ИСТОЧНИК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900" y="4447032"/>
            <a:ext cx="568325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4F6FA"/>
                </a:solidFill>
                <a:latin typeface="Arial"/>
              </a:rPr>
              <a:t>сырья или промежуточных ресурсов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" y="4857750"/>
            <a:ext cx="6572250" cy="647700"/>
          </a:xfrm>
          <a:prstGeom prst="roundRect">
            <a:avLst/>
          </a:prstGeom>
          <a:solidFill>
            <a:srgbClr val="071522">
              <a:alpha val="89000"/>
            </a:srgbClr>
          </a:solidFill>
          <a:ln w="7302">
            <a:solidFill>
              <a:srgbClr val="C49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9300" y="5010150"/>
            <a:ext cx="342900" cy="342900"/>
          </a:xfrm>
          <a:prstGeom prst="ellipse">
            <a:avLst/>
          </a:prstGeom>
          <a:solidFill>
            <a:srgbClr val="C49AE2">
              <a:alpha val="16000"/>
            </a:srgbClr>
          </a:solidFill>
          <a:ln w="11430">
            <a:solidFill>
              <a:srgbClr val="C49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500" y="5124577"/>
            <a:ext cx="444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C49AE2"/>
                </a:solidFill>
                <a:latin typeface="Arial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1900" y="4999101"/>
            <a:ext cx="5588000" cy="206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49AE2"/>
                </a:solidFill>
                <a:latin typeface="Arial"/>
              </a:rPr>
              <a:t>НОВАЯ ОРГАНИЗАЦИЯ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1900" y="5209032"/>
            <a:ext cx="568325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4F6FA"/>
                </a:solidFill>
                <a:latin typeface="Arial"/>
              </a:rPr>
              <a:t>изменение структуры отрасли, включая создание или разрушение монополии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5000" y="6375400"/>
            <a:ext cx="10922000" cy="0"/>
          </a:xfrm>
          <a:prstGeom prst="line">
            <a:avLst/>
          </a:prstGeom>
          <a:ln w="7620">
            <a:solidFill>
              <a:srgbClr val="536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5000" y="6463665"/>
            <a:ext cx="10414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A8B6C6"/>
                </a:solidFill>
                <a:latin typeface="Arial"/>
              </a:rPr>
              <a:t>Источник: Schumpeter, Theory of Economic Development, гл. II (1911/12; англ. перевод — 1934).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90250" y="6451727"/>
            <a:ext cx="635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F1B967"/>
                </a:solidFill>
                <a:latin typeface="Arial"/>
              </a:rPr>
              <a:t>03 / 06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257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000" y="6673850"/>
            <a:ext cx="5461000" cy="381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21F">
              <a:alpha val="2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750" y="285750"/>
            <a:ext cx="7112000" cy="5619750"/>
          </a:xfrm>
          <a:prstGeom prst="rect">
            <a:avLst/>
          </a:prstGeom>
          <a:solidFill>
            <a:srgbClr val="091725">
              <a:alpha val="3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711326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1B967"/>
                </a:solidFill>
                <a:latin typeface="Arial"/>
              </a:rPr>
              <a:t>ВАЖНОЕ РАЗЛИЧИЕ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884936"/>
            <a:ext cx="6921500" cy="551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4F6FA"/>
                </a:solidFill>
                <a:latin typeface="Arial"/>
              </a:rPr>
              <a:t>Изобретение ≠ инновация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55725"/>
            <a:ext cx="6858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CDD8E4"/>
                </a:solidFill>
                <a:latin typeface="Arial"/>
              </a:rPr>
              <a:t>Решает не только идея — важно осуществить новую комбинацию.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968500"/>
            <a:ext cx="2762250" cy="1873250"/>
          </a:xfrm>
          <a:prstGeom prst="roundRect">
            <a:avLst/>
          </a:prstGeom>
          <a:solidFill>
            <a:srgbClr val="091725">
              <a:alpha val="87000"/>
            </a:srgbClr>
          </a:solidFill>
          <a:ln w="10160">
            <a:solidFill>
              <a:srgbClr val="8CB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000" y="1968500"/>
            <a:ext cx="44450" cy="1873250"/>
          </a:xfrm>
          <a:prstGeom prst="roundRect">
            <a:avLst/>
          </a:prstGeom>
          <a:solidFill>
            <a:srgbClr val="8CB0DC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2204339"/>
            <a:ext cx="225425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8CB0DC"/>
                </a:solidFill>
                <a:latin typeface="Arial"/>
              </a:rPr>
              <a:t>ИЗОБРЕТАТЕЛЬ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515616"/>
            <a:ext cx="2286000" cy="3543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A"/>
                </a:solidFill>
                <a:latin typeface="Arial"/>
              </a:rPr>
              <a:t>Создаёт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795016"/>
            <a:ext cx="2413000" cy="3543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A"/>
                </a:solidFill>
                <a:latin typeface="Arial"/>
              </a:rPr>
              <a:t>техническую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074416"/>
            <a:ext cx="2413000" cy="3543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4F6FA"/>
                </a:solidFill>
                <a:latin typeface="Arial"/>
              </a:rPr>
              <a:t>возможность.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488182"/>
            <a:ext cx="22860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9C7D7"/>
                </a:solidFill>
                <a:latin typeface="Arial"/>
              </a:rPr>
              <a:t>Идея или прототип.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3750" y="2663698"/>
            <a:ext cx="571500" cy="5708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900" b="1">
                <a:solidFill>
                  <a:srgbClr val="F1B96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750" y="1968500"/>
            <a:ext cx="3111500" cy="1873250"/>
          </a:xfrm>
          <a:prstGeom prst="roundRect">
            <a:avLst/>
          </a:prstGeom>
          <a:solidFill>
            <a:srgbClr val="091725">
              <a:alpha val="88000"/>
            </a:srgbClr>
          </a:solidFill>
          <a:ln w="10160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68750" y="1968500"/>
            <a:ext cx="44450" cy="1873250"/>
          </a:xfrm>
          <a:prstGeom prst="roundRect">
            <a:avLst/>
          </a:prstGeom>
          <a:solidFill>
            <a:srgbClr val="F1B967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2750" y="2204339"/>
            <a:ext cx="2667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1B967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2750" y="2527554"/>
            <a:ext cx="2603500" cy="3346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4F6FA"/>
                </a:solidFill>
                <a:latin typeface="Arial"/>
              </a:rPr>
              <a:t>Организует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2750" y="2806954"/>
            <a:ext cx="2603500" cy="3346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4F6FA"/>
                </a:solidFill>
                <a:latin typeface="Arial"/>
              </a:rPr>
              <a:t>внедрение: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2750" y="3202813"/>
            <a:ext cx="26670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0E7DA"/>
                </a:solidFill>
                <a:latin typeface="Arial"/>
              </a:rPr>
              <a:t>команда + ресурсы + рынок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2750" y="3506089"/>
            <a:ext cx="2667000" cy="187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B9C7D7"/>
                </a:solidFill>
                <a:latin typeface="Arial"/>
              </a:rPr>
              <a:t>Вводит новое в хозяйственную жизнь.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000" y="4445000"/>
            <a:ext cx="2222500" cy="431800"/>
          </a:xfrm>
          <a:prstGeom prst="roundRect">
            <a:avLst/>
          </a:prstGeom>
          <a:solidFill>
            <a:srgbClr val="091725">
              <a:alpha val="87000"/>
            </a:srgbClr>
          </a:solidFill>
          <a:ln w="8890">
            <a:solidFill>
              <a:srgbClr val="66D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" y="4586732"/>
            <a:ext cx="2095499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6D8CD"/>
                </a:solidFill>
                <a:latin typeface="Arial"/>
              </a:rPr>
              <a:t>ЗНАНИЕ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8150" y="4539361"/>
            <a:ext cx="317500" cy="3051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50" b="1">
                <a:solidFill>
                  <a:srgbClr val="F4F6FA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97250" y="4445000"/>
            <a:ext cx="2222500" cy="431800"/>
          </a:xfrm>
          <a:prstGeom prst="roundRect">
            <a:avLst/>
          </a:prstGeom>
          <a:solidFill>
            <a:srgbClr val="091725">
              <a:alpha val="87000"/>
            </a:srgbClr>
          </a:solidFill>
          <a:ln w="8890">
            <a:solidFill>
              <a:srgbClr val="8CB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60750" y="4586732"/>
            <a:ext cx="2095499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8CB0DC"/>
                </a:solidFill>
                <a:latin typeface="Arial"/>
              </a:rPr>
              <a:t>РЕСУРСЫ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40400" y="4539361"/>
            <a:ext cx="317500" cy="3051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50" b="1">
                <a:solidFill>
                  <a:srgbClr val="F4F6FA"/>
                </a:solidFill>
                <a:latin typeface="Arial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9500" y="4445000"/>
            <a:ext cx="2222500" cy="431800"/>
          </a:xfrm>
          <a:prstGeom prst="roundRect">
            <a:avLst/>
          </a:prstGeom>
          <a:solidFill>
            <a:srgbClr val="091725">
              <a:alpha val="87000"/>
            </a:srgbClr>
          </a:solidFill>
          <a:ln w="8890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23000" y="4586732"/>
            <a:ext cx="2095499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1B967"/>
                </a:solidFill>
                <a:latin typeface="Arial"/>
              </a:rPr>
              <a:t>ВНЕДРЕНИЕ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2650" y="4539361"/>
            <a:ext cx="317500" cy="3051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50" b="1">
                <a:solidFill>
                  <a:srgbClr val="F4F6FA"/>
                </a:solidFill>
                <a:latin typeface="Arial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21750" y="4445000"/>
            <a:ext cx="2222500" cy="431800"/>
          </a:xfrm>
          <a:prstGeom prst="roundRect">
            <a:avLst/>
          </a:prstGeom>
          <a:solidFill>
            <a:srgbClr val="091725">
              <a:alpha val="87000"/>
            </a:srgbClr>
          </a:solidFill>
          <a:ln w="8890">
            <a:solidFill>
              <a:srgbClr val="F18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85250" y="4586732"/>
            <a:ext cx="2095499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18B77"/>
                </a:solidFill>
                <a:latin typeface="Arial"/>
              </a:rPr>
              <a:t>РЫНОК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200" y="5234432"/>
            <a:ext cx="1060450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4F6FA"/>
                </a:solidFill>
                <a:latin typeface="Arial"/>
              </a:rPr>
              <a:t>Предприниматель не обязан быть изобретателем или владельцем капитала: важна функция внедрения.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5000" y="6375400"/>
            <a:ext cx="10922000" cy="0"/>
          </a:xfrm>
          <a:prstGeom prst="line">
            <a:avLst/>
          </a:prstGeom>
          <a:ln w="7620">
            <a:solidFill>
              <a:srgbClr val="536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5000" y="6463665"/>
            <a:ext cx="10414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A8B6C6"/>
                </a:solidFill>
                <a:latin typeface="Arial"/>
              </a:rPr>
              <a:t>Источник: Schumpeter, Theory of Economic Development — предприниматель осуществляет новые комбинации.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90250" y="6451727"/>
            <a:ext cx="635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F1B967"/>
                </a:solidFill>
                <a:latin typeface="Arial"/>
              </a:rPr>
              <a:t>04 / 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257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5000" y="6673850"/>
            <a:ext cx="7281333" cy="381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creative-destruc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21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711326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1B967"/>
                </a:solidFill>
                <a:latin typeface="Arial"/>
              </a:rPr>
              <a:t>ДИНАМИКА КАПИТАЛИЗМА  ·  1942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891667"/>
            <a:ext cx="7620000" cy="5610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50" b="1">
                <a:solidFill>
                  <a:srgbClr val="F4F6FA"/>
                </a:solidFill>
                <a:latin typeface="Arial"/>
              </a:rPr>
              <a:t>Созидательное разрушение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1368425"/>
            <a:ext cx="8128000" cy="2460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D2DCE6"/>
                </a:solidFill>
                <a:latin typeface="Arial"/>
              </a:rPr>
              <a:t>Новые решения создают отрасли — и одновременно вытесняют старые.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750" y="2317750"/>
            <a:ext cx="3206750" cy="1682750"/>
          </a:xfrm>
          <a:prstGeom prst="roundRect">
            <a:avLst/>
          </a:prstGeom>
          <a:solidFill>
            <a:srgbClr val="071522">
              <a:alpha val="84000"/>
            </a:srgbClr>
          </a:solidFill>
          <a:ln w="8255">
            <a:solidFill>
              <a:srgbClr val="A67A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750" y="2553970"/>
            <a:ext cx="2667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5AD7B"/>
                </a:solidFill>
                <a:latin typeface="Arial"/>
              </a:rPr>
              <a:t>СТАРЫЙ УКЛАД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750" y="2855087"/>
            <a:ext cx="25400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4F6FA"/>
                </a:solidFill>
                <a:latin typeface="Arial"/>
              </a:rPr>
              <a:t>Продукты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50" y="3140837"/>
            <a:ext cx="25400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4F6FA"/>
                </a:solidFill>
                <a:latin typeface="Arial"/>
              </a:rPr>
              <a:t>Технологии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750" y="3426587"/>
            <a:ext cx="27305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4F6FA"/>
                </a:solidFill>
                <a:latin typeface="Arial"/>
              </a:rPr>
              <a:t>Привычные отрасли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2476500"/>
            <a:ext cx="3079750" cy="1365250"/>
          </a:xfrm>
          <a:prstGeom prst="roundRect">
            <a:avLst/>
          </a:prstGeom>
          <a:solidFill>
            <a:srgbClr val="091725">
              <a:alpha val="78000"/>
            </a:srgbClr>
          </a:solidFill>
          <a:ln w="11430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450" y="2724658"/>
            <a:ext cx="25400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1B967"/>
                </a:solidFill>
                <a:latin typeface="Arial"/>
              </a:rPr>
              <a:t>НОВАЯ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6450" y="2969387"/>
            <a:ext cx="27940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50" b="1">
                <a:solidFill>
                  <a:srgbClr val="F4F6FA"/>
                </a:solidFill>
                <a:latin typeface="Arial"/>
              </a:rPr>
              <a:t>КОМБИНАЦИЯ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6450" y="3373120"/>
            <a:ext cx="2794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CDD7E2"/>
                </a:solidFill>
                <a:latin typeface="Arial"/>
              </a:rPr>
              <a:t>внедрение → конкуренция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6500" y="2816860"/>
            <a:ext cx="444500" cy="590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1B967"/>
                </a:solidFill>
                <a:latin typeface="Arial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750" y="2816860"/>
            <a:ext cx="444500" cy="590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66D8CD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5500" y="2317750"/>
            <a:ext cx="3206750" cy="1682750"/>
          </a:xfrm>
          <a:prstGeom prst="roundRect">
            <a:avLst/>
          </a:prstGeom>
          <a:solidFill>
            <a:srgbClr val="071522">
              <a:alpha val="84000"/>
            </a:srgbClr>
          </a:solidFill>
          <a:ln w="8255">
            <a:solidFill>
              <a:srgbClr val="4D9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99500" y="2553970"/>
            <a:ext cx="2667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6D8CD"/>
                </a:solidFill>
                <a:latin typeface="Arial"/>
              </a:rPr>
              <a:t>НОВЫЙ УКЛАД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99500" y="2855087"/>
            <a:ext cx="27305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4F6FA"/>
                </a:solidFill>
                <a:latin typeface="Arial"/>
              </a:rPr>
              <a:t>Новые продукты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9500" y="3140837"/>
            <a:ext cx="27305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4F6FA"/>
                </a:solidFill>
                <a:latin typeface="Arial"/>
              </a:rPr>
              <a:t>Новые рынки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99500" y="3426587"/>
            <a:ext cx="2730500" cy="265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4F6FA"/>
                </a:solidFill>
                <a:latin typeface="Arial"/>
              </a:rPr>
              <a:t>Новые компании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9500" y="4603750"/>
            <a:ext cx="10033000" cy="698500"/>
          </a:xfrm>
          <a:prstGeom prst="roundRect">
            <a:avLst/>
          </a:prstGeom>
          <a:solidFill>
            <a:srgbClr val="081725">
              <a:alpha val="82000"/>
            </a:srgbClr>
          </a:solidFill>
          <a:ln w="6985">
            <a:solidFill>
              <a:srgbClr val="6175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500" y="4782058"/>
            <a:ext cx="9334500" cy="1771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1B967"/>
                </a:solidFill>
                <a:latin typeface="Arial"/>
              </a:rPr>
              <a:t>СОЗИДАНИЕ И ВЫТЕСНЕНИЕ ИДУТ ОДНОВРЕМЕННО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006213"/>
            <a:ext cx="9334500" cy="2263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4F6FA"/>
                </a:solidFill>
                <a:latin typeface="Arial"/>
              </a:rPr>
              <a:t>Это описание динамики, а не обещание, что любая новая технология автоматически победит.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5000" y="6375400"/>
            <a:ext cx="10922000" cy="0"/>
          </a:xfrm>
          <a:prstGeom prst="line">
            <a:avLst/>
          </a:prstGeom>
          <a:ln w="7620">
            <a:solidFill>
              <a:srgbClr val="536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000" y="6463665"/>
            <a:ext cx="10414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A8B6C6"/>
                </a:solidFill>
                <a:latin typeface="Arial"/>
              </a:rPr>
              <a:t>Источник: Schumpeter, Capitalism, Socialism and Democracy (1942), гл. VII.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0250" y="6451727"/>
            <a:ext cx="635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F1B967"/>
                </a:solidFill>
                <a:latin typeface="Arial"/>
              </a:rPr>
              <a:t>05 / 06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257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5000" y="6673850"/>
            <a:ext cx="9101666" cy="381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new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21F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750" y="285750"/>
            <a:ext cx="11620500" cy="5619750"/>
          </a:xfrm>
          <a:prstGeom prst="rect">
            <a:avLst/>
          </a:prstGeom>
          <a:solidFill>
            <a:srgbClr val="091725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711326"/>
            <a:ext cx="6350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1B967"/>
                </a:solidFill>
                <a:latin typeface="Arial"/>
              </a:rPr>
              <a:t>СВЯЗЬ С СЕГОДНЯШНЕЙ ТЕМОЙ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890143"/>
            <a:ext cx="10096500" cy="5216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50" b="1">
                <a:solidFill>
                  <a:srgbClr val="F4F6FA"/>
                </a:solidFill>
                <a:latin typeface="Arial"/>
              </a:rPr>
              <a:t>Зачем это технологическому стартапу?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1348994"/>
            <a:ext cx="104140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FDAE4"/>
                </a:solidFill>
                <a:latin typeface="Arial"/>
              </a:rPr>
              <a:t>Шумпетер — сильная рамка для инноваций, но не пошаговый гайд по запуску.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250" y="2000250"/>
            <a:ext cx="3429000" cy="2095499"/>
          </a:xfrm>
          <a:prstGeom prst="roundRect">
            <a:avLst/>
          </a:prstGeom>
          <a:solidFill>
            <a:srgbClr val="091725">
              <a:alpha val="86000"/>
            </a:srgbClr>
          </a:solidFill>
          <a:ln w="10160">
            <a:solidFill>
              <a:srgbClr val="66D8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250" y="2000250"/>
            <a:ext cx="44450" cy="2095499"/>
          </a:xfrm>
          <a:prstGeom prst="roundRect">
            <a:avLst/>
          </a:prstGeom>
          <a:solidFill>
            <a:srgbClr val="66D8CD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2242819"/>
            <a:ext cx="301625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6D8CD"/>
                </a:solidFill>
                <a:latin typeface="Arial"/>
              </a:rPr>
              <a:t>01  ·  ВНЕДРЯЙ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5872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A"/>
                </a:solidFill>
                <a:latin typeface="Arial"/>
              </a:rPr>
              <a:t>Технология сама по себе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" y="284759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ещё не экономическая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" y="31079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инновация. Нужны применение,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" y="336829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организация и пользователь.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0" y="2000250"/>
            <a:ext cx="3429000" cy="2095499"/>
          </a:xfrm>
          <a:prstGeom prst="roundRect">
            <a:avLst/>
          </a:prstGeom>
          <a:solidFill>
            <a:srgbClr val="091725">
              <a:alpha val="86000"/>
            </a:srgbClr>
          </a:solidFill>
          <a:ln w="10160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8000" y="2000250"/>
            <a:ext cx="44450" cy="2095499"/>
          </a:xfrm>
          <a:prstGeom prst="roundRect">
            <a:avLst/>
          </a:prstGeom>
          <a:solidFill>
            <a:srgbClr val="F1B967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3900" y="2242819"/>
            <a:ext cx="301625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1B967"/>
                </a:solidFill>
                <a:latin typeface="Arial"/>
              </a:rPr>
              <a:t>02  ·  КОМБИНИРУЙ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3900" y="25872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A"/>
                </a:solidFill>
                <a:latin typeface="Arial"/>
              </a:rPr>
              <a:t>Соедини знание, команду,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900" y="284759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активы и рынок в новую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3900" y="31079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хозяйственную комбинацию.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2749" y="2000250"/>
            <a:ext cx="3429000" cy="2095499"/>
          </a:xfrm>
          <a:prstGeom prst="roundRect">
            <a:avLst/>
          </a:prstGeom>
          <a:solidFill>
            <a:srgbClr val="091725">
              <a:alpha val="86000"/>
            </a:srgbClr>
          </a:solidFill>
          <a:ln w="10160">
            <a:solidFill>
              <a:srgbClr val="F18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32749" y="2000250"/>
            <a:ext cx="44450" cy="2095499"/>
          </a:xfrm>
          <a:prstGeom prst="roundRect">
            <a:avLst/>
          </a:prstGeom>
          <a:solidFill>
            <a:srgbClr val="F18B77">
              <a:alpha val="9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8650" y="2242819"/>
            <a:ext cx="301625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18B77"/>
                </a:solidFill>
                <a:latin typeface="Arial"/>
              </a:rPr>
              <a:t>03  ·  МЫСЛИ СИСТЕМНО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8650" y="25872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4F6FA"/>
                </a:solidFill>
                <a:latin typeface="Arial"/>
              </a:rPr>
              <a:t>Инновация способна менять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8650" y="284759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не только продукт, но 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8650" y="31079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отрасль. Поздние теории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8650" y="336829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добавляют финансы, платформы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8650" y="3628644"/>
            <a:ext cx="2997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6FA"/>
                </a:solidFill>
                <a:latin typeface="Arial"/>
              </a:rPr>
              <a:t>и коммерциализацию.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000" y="4445000"/>
            <a:ext cx="10890250" cy="952500"/>
          </a:xfrm>
          <a:prstGeom prst="roundRect">
            <a:avLst/>
          </a:prstGeom>
          <a:solidFill>
            <a:srgbClr val="081725">
              <a:alpha val="90000"/>
            </a:srgbClr>
          </a:solidFill>
          <a:ln w="9525">
            <a:solidFill>
              <a:srgbClr val="F1B9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" y="4622927"/>
            <a:ext cx="15875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F1B967"/>
                </a:solidFill>
                <a:latin typeface="Arial"/>
              </a:rPr>
              <a:t>ФОРМУЛА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" y="4843399"/>
            <a:ext cx="10382250" cy="285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F4F6FA"/>
                </a:solidFill>
                <a:latin typeface="Arial"/>
              </a:rPr>
              <a:t>НОВОЕ ЗНАНИЕ  →  НОВАЯ КОМБИНАЦИЯ  →  ВНЕДРЕНИЕ  →  ИЗМЕНЕНИЕ РЫНКА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" y="5126482"/>
            <a:ext cx="10382250" cy="216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8D4E0"/>
                </a:solidFill>
                <a:latin typeface="Arial"/>
              </a:rPr>
              <a:t>Именно поэтому Шумпетер — центральная фигура теории инновационного предпринимательства.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5000" y="6375400"/>
            <a:ext cx="10922000" cy="0"/>
          </a:xfrm>
          <a:prstGeom prst="line">
            <a:avLst/>
          </a:prstGeom>
          <a:ln w="7620">
            <a:solidFill>
              <a:srgbClr val="5369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5000" y="6463665"/>
            <a:ext cx="10414000" cy="147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A8B6C6"/>
                </a:solidFill>
                <a:latin typeface="Arial"/>
              </a:rPr>
              <a:t>Современные мосты: Teece (1986); Roberts / MIT; Purdue (1970/72); Bailetti (2012); Nambisan (2017).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90250" y="6451727"/>
            <a:ext cx="635000" cy="167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F1B967"/>
                </a:solidFill>
                <a:latin typeface="Arial"/>
              </a:rPr>
              <a:t>06 / 06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" y="6680200"/>
            <a:ext cx="10922000" cy="25400"/>
          </a:xfrm>
          <a:prstGeom prst="roundRect">
            <a:avLst/>
          </a:prstGeom>
          <a:solidFill>
            <a:srgbClr val="42576D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5000" y="6673850"/>
            <a:ext cx="10922000" cy="38100"/>
          </a:xfrm>
          <a:prstGeom prst="roundRect">
            <a:avLst/>
          </a:prstGeom>
          <a:solidFill>
            <a:srgbClr val="F1B967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Шумпетер: предприниматель как двигатель инноваций</dc:title>
  <dc:subject>Краткая презентация о новых комбинациях и созидательном разрушении</dc:subject>
  <dc:creator>Arena 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