
<file path=[Content_Types].xml><?xml version="1.0" encoding="utf-8"?>
<Types xmlns="http://schemas.openxmlformats.org/package/2006/content-types">
  <Default Extension="glb" ContentType="model/gltf.binary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я расскажу о Йозефе Шумпетере — австрийско-американском экономисте, которого часто называют «пророком инноваций». Именно он поставил предпринимателя в центр экономической теории и придумал понятие «созидательное разрушение».
Насколько он актуален сегодня? С 2009 года еженедельная колонка о бизнесе в журнале The Economist так и называется — «Schumpeter».
Каждый слайд я буду сопровождать «экспонатом» — 3D-предметом, который связан с его жизнью или идеями. Первый — паровоз: главная метафора Шумпетера, к которой мы ещё вернёмся.
План: где он родился и вырос, чем занимался, в чём его главная мысль и что он дал теории предпринимательства.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Йозеф Алоиз Шумпетер родился 8 февраля 1883 года в городке Тршешть — по-немецки Triesch — в Моравии. Тогда это была Австро-Венгрия, сегодня — Чехия.
Самое интересное — дата. 1883 год: умер Карл Маркс и родился Джон Мейнард Кейнс. А Шумпетера всю жизнь сравнивали с обоими: с Марксом — за идею, что капитализм сам себя меняет, с Кейнсом — как главного соперника в объяснении кризисов.
Экспонат — шпуля с шерстяной нитью: он был единственным сыном владельца суконной фабрики. Отец умер, когда Йозефу было четыре года. Мать переехала с ним в Грац, а в 1893 году вышла замуж за генерала, и семья перебралась в Вену — это открыло дорогу в элитное образование.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 1893 по 1901 год Шумпетер учился в Терезиануме — элитной венской школе, где учились дети аристократии. Там он получил классическое образование и выучил несколько языков.
Затем — юридический факультет Венского университета: право и экономика. Учителя — Ойген фон Бём-Баверк и Фридрих фон Визер, классики австрийской школы. В 1906 году, в 23 года, он стал доктором права, потом год провёл в Лондоне.
Самое интересное — с кем он сидел на семинаре Бём-Баверка: с Людвигом фон Мизесом, будущим символом либерализма, и с марксистами Отто Бауэром и Рудольфом Гильфердингом. Учился он у «австрийцев», но не стал их последователем — пошёл своим путём.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Карьера Шумпетера похожа на приключенческий роман. В 1907 году он юрист в Каире — в Смешанном суде Египта, а заодно управляет финансами египетской принцессы; там он пишет первую книгу. В 1909-м — профессор в Черновцах, один из самых молодых в империи.
И вот самое интересное: в Черновцах, в 26 лет, он дрался на шпагах с университетским библиотекарем — тот не выдавал студентам книги, которые Шумпетер задавал. Шумпетер победил, слегка ранив соперника в плечо; студенты получили книги, а дуэлянты потом стали друзьями.
Дальше: Грац и «Теория экономического развития» (1911), лекции в Колумбийском университете (1913), пост министра финансов Австрии (1919, около семи месяцев), Biedermann Bank (1921–1924, крах и долги), Бонн (1925) и трагедия 1926 года — умирают мать и молодая жена Анни. С 1932 года и до конца жизни — Гарвард, с 1939 года — гражданин США. Умер 8 января 1950 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коротко, у Шумпетера было четыре роли. Учёный: экономическое развитие, деловые циклы, история экономической мысли, социология и политика. Министр финансов: в 1919 году около семи месяцев в правительстве новой Австрийской республики. Банкир: в 1921–1924 годах он возглавлял Biedermann Bank; банк рухнул, и Шумпетер на собственном опыте узнал, что такое предпринимательский риск. Профессор Гарварда: президент Эконометрического общества и Американской экономической ассоциации.
Экспонат — цилиндр венского денди: он славился элегантностью и эффектными манерами.
И знаменитая легенда: в юности он хотел стать величайшим экономистом мира, лучшим наездником Австрии и величайшим любовником Вены — и позже шутил, что не вышло только с лошадьми.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Главные труды Шумпетера. «Теория экономического развития» вышла в 1911 году, хотя на титуле стоит 1912-й: предприниматель впервые описан как источник развития экономики. «Деловые циклы» 1939 года объясняют, почему экономика растёт волнами; здесь он назвал длинные волны в честь Николая Кондратьева. «Капитализм, социализм и демократия» 1942 года — самая известная книга, где появляется «созидательное разрушение».
Самое интересное — четвёртая книга, «История экономического анализа». Это больше тысячи двухсот страниц, и Шумпетер не успел её закончить: он умер в 1950 году, а книгу по рукописям собрала и в 1954 году издала его жена, экономист Элизабет Буди Шумпетер. На экспонате это самый толстый том внизу стопки.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мысль Шумпетера: экономика меняется изнутри и скачками. Большинство экономистов того времени изучали равновесие — состояние, когда экономика из года в год повторяет себя. Шумпетер называл это «кругооборотом»: в нём нет развития, а прибыль стремится к нулю.
Развитие начинается, когда кто-то ломает этот круг: вводит новый продукт, новый способ производства, выходит на новый рынок. Это скачок, а не плавный рост.
Лучше всего это показывает его знаменитая фраза — и наш паровоз: сколько ни складывай почтовые кареты, железной дороги не получишь. Новое — это не «больше того же самого», а качественно другое. Эту книгу он опубликовал в 28 лет.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именно Шумпетер называл новым? Он выделил пять «новых комбинаций»: новый продукт или новое качество товара; новый способ производства; новый рынок сбыта; новый источник сырья или полуфабрикатов; и новая организация отрасли — например, создание или разрушение монополии. Экспонат — головоломка, у которой верхний слой повернули: те же детали, но новая комбинация.
Ключевой момент: инновация — это не изобретение. Изобретение может годами лежать без дела; инновация — это когда новое реально внедрено.
Самое интересное: в 1911 году Шумпетер почти не использовал слово «инновация» — он писал «новые комбинации». Слово «инновация» стало у него центральным позже, в «Деловых циклах» 1939 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о главном для нашей темы — о предпринимателе. По Шумпетеру, предприниматель — это не обязательно изобретатель, не обязательно владелец капитала и не просто управляющий. Его функция — осуществить новую комбинацию: соединить идею, людей, ресурсы и кредит так, чтобы новое заработало на рынке. Экспонат — король, а рядом опрокинутая пешка: предприниматель меняет расстановку сил.
Самое интересное — его формулировка: «быть предпринимателем — не профессия и, как правило, не постоянное состояние». Человек остаётся предпринимателем, пока внедряет новое, и перестаёт им быть, когда просто управляет налаженным делом. Поэтому предприниматели, по Шумпетеру, даже не образуют общественный класс.
Что ими движет? Три мотива: мечта основать своё «частное королевство», воля к победе и радость творчества.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Как, по Шумпетеру, работает механизм развития? Сначала появляется новая комбинация. Но у предпринимателя обычно нет денег — их даёт банк. Самое интересное: по Шумпетеру, банк не просто передаёт чужие сбережения — он создаёт новую покупательную силу, по сути «из ничего». Поэтому банкир — «эфор», то есть надзиратель, рыночной экономики: он решает, каким новым комбинациям дать ход. Экспонат — золотые монеты.
Дальше предприниматель внедряет новинку и получает предпринимательскую прибыль — временную награду за новизну. Как только успех заметен, появляется «рой» подражателей: они копируют новинку, старые решения вытесняются, прибыль исчезает, и экономика выходит на новое равновесие — уже на более высоком уровне, до следующего скачка.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книге «Капитализм, социализм и демократия» 1942 года Шумпетер описал своё самое знаменитое понятие — «созидательное разрушение». Новые продукты, технологии и компании не просто добавляются к старым — они их вытесняют: автомобиль вытеснил карету, электричество — паровые машины на фабриках, цифровое фото — плёнку, стриминг — видеопрокат. Экспонат — песочные часы: верхняя колба пустеет, нижняя наполняется.
Важно: это не обещание, что победит любая инновация, а описание того, как экономика постоянно перестраивается.
И самое неожиданное: в той же книге Шумпетер спрашивает: «Может ли капитализм выжить?» — и отвечает: «Нет, не думаю». Причём погубят его, по Шумпетеру, не провалы, а собственные успехи: крупные корпорации и бюрократия делают предпринимателя ненужным. Сам термин встречался и раньше — например, у Вернера Зомбарта, — но знаменитым его сделал именно Шумпетер.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книге «Деловые циклы» 1939 года Шумпетер объяснил, почему экономика растёт волнами. Инновации появляются не равномерно, а кластерами, и каждая такая «гроздь» запускает длинную волну подъёма примерно на 50 лет. Экспонат — маятник Ньютона: импульс передаётся дальше, и движение повторяется.
Шумпетер выделил три волны: промышленная революция с текстилем и паровой машиной; эпоха железных дорог и стали; эпоха электричества, химии и автомобиля. Неошумпетерианцы — Кристофер Фримен, Карлота Перес — продолжили схему: волна нефти и массового производства и волна информационных технологий.
Самое драматичное: волны названы в честь русского экономиста Николая Кондратьева, которого в 1938 году расстреляли в СССР — за год до выхода «Деловых циклов».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Итак, что Шумпетер сделал для теории предпринимательства. Первое: поставил предпринимателя в центр экономики — как двигатель развития, а не просто владельца капитала. Второе: разделил изобретение и инновацию и показал, что предпринимательство — это функция внедрения нового. Третье: объяснил предпринимательскую прибыль как временную награду за новизну.
Четвёртое: у него фактически две модели. В ранней книге инновации делают новые смелые фирмы, в книге 1942 года — крупные корпорации со своими лабораториями. Позже исследователи назвали их «Шумпетер Mark I» и «Mark II». Пятое: он заложил основу экономики инноваций — неошумпетерианская школа, Международное общество Шумпетера (1986), современные идеи о подрывных инновациях и стартапах.
Самое интересное: в 1983 году, к столетию Шумпетера и Кейнса, Питер Друкер написал, что экономику конца XX века будут определять идеи Шумпетера, а не Кейнса. Экспонат — лампа накаливания: символ идеи, которая работает только тогда, когда её включили в сеть.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итог. Кто он: австрийско-американский экономист из Моравии, который успел побыть министром, банкиром и профессором Гарварда. Его главная мысль: экономика развивается скачками, через новые комбинации, которые ломают равновесие, — это созидательное разрушение. Его вклад в предпринимательство: предприниматель — это тот, кто внедряет новое; это функция, а не должность и не капитал.
И последний факт: в Гарварде у него учились будущие нобелевские лауреаты Пол Самуэльсон и Джеймс Тобин. Последний экспонат — шестерня: тот самый «двигатель», который всю презентацию катился по шкале вверху.
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с источниками — вслух не читается.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Relationship Id="rIdM3d1" Type="http://schemas.microsoft.com/office/2017/06/relationships/model3d" Target="../media/model3d1.glb"/><Relationship Id="rIdM3d2" Type="http://schemas.microsoft.com/office/2017/06/relationships/model3d" Target="../media/model3d2.glb"/><Relationship Id="rIdM3d3" Type="http://schemas.microsoft.com/office/2017/06/relationships/model3d" Target="../media/model3d3.glb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2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2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Relationship Id="rIdM3d4" Type="http://schemas.microsoft.com/office/2017/06/relationships/model3d" Target="../media/model3d4.glb"/><Relationship Id="rIdM3d5" Type="http://schemas.microsoft.com/office/2017/06/relationships/model3d" Target="../media/model3d5.glb"/><Relationship Id="rIdM3d6" Type="http://schemas.microsoft.com/office/2017/06/relationships/model3d" Target="../media/model3d6.glb"/><Relationship Id="rIdM3d7" Type="http://schemas.microsoft.com/office/2017/06/relationships/model3d" Target="../media/model3d7.glb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3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Relationship Id="rIdM3d8" Type="http://schemas.microsoft.com/office/2017/06/relationships/model3d" Target="../media/model3d8.glb"/><Relationship Id="rIdM3d9" Type="http://schemas.microsoft.com/office/2017/06/relationships/model3d" Target="../media/model3d9.glb"/><Relationship Id="rIdM3d10" Type="http://schemas.microsoft.com/office/2017/06/relationships/model3d" Target="../media/model3d10.glb"/><Relationship Id="rIdM3d11" Type="http://schemas.microsoft.com/office/2017/06/relationships/model3d" Target="../media/model3d11.glb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4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4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Relationship Id="rIdM3d12" Type="http://schemas.microsoft.com/office/2017/06/relationships/model3d" Target="../media/model3d12.glb"/><Relationship Id="rIdM3d13" Type="http://schemas.microsoft.com/office/2017/06/relationships/model3d" Target="../media/model3d13.glb"/><Relationship Id="rIdM3d14" Type="http://schemas.microsoft.com/office/2017/06/relationships/model3d" Target="../media/model3d14.glb"/><Relationship Id="rIdM3d15" Type="http://schemas.microsoft.com/office/2017/06/relationships/model3d" Target="../media/model3d15.glb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5-2.png"/><Relationship Id="rId3" Type="http://schemas.openxmlformats.org/officeDocument/2006/relationships/image" Target="../media/image-5-3.jpg"/><Relationship Id="rId4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5-6.png"/><Relationship Id="rId7" Type="http://schemas.openxmlformats.org/officeDocument/2006/relationships/image" Target="../media/image-1-6.png"/><Relationship Id="rId8" Type="http://schemas.openxmlformats.org/officeDocument/2006/relationships/image" Target="../media/image-1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Relationship Id="rIdM3d16" Type="http://schemas.microsoft.com/office/2017/06/relationships/model3d" Target="../media/model3d16.glb"/><Relationship Id="rIdM3d17" Type="http://schemas.microsoft.com/office/2017/06/relationships/model3d" Target="../media/model3d17.glb"/><Relationship Id="rIdM3d18" Type="http://schemas.microsoft.com/office/2017/06/relationships/model3d" Target="../media/model3d18.glb"/><Relationship Id="rIdM3d19" Type="http://schemas.microsoft.com/office/2017/06/relationships/model3d" Target="../media/model3d19.glb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6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Relationship Id="rIdM3d20" Type="http://schemas.microsoft.com/office/2017/06/relationships/model3d" Target="../media/model3d20.glb"/><Relationship Id="rIdM3d21" Type="http://schemas.microsoft.com/office/2017/06/relationships/model3d" Target="../media/model3d21.glb"/><Relationship Id="rIdM3d22" Type="http://schemas.microsoft.com/office/2017/06/relationships/model3d" Target="../media/model3d22.glb"/><Relationship Id="rIdM3d23" Type="http://schemas.microsoft.com/office/2017/06/relationships/model3d" Target="../media/model3d23.glb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7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7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Relationship Id="rIdM3d24" Type="http://schemas.microsoft.com/office/2017/06/relationships/model3d" Target="../media/model3d24.glb"/><Relationship Id="rIdM3d25" Type="http://schemas.microsoft.com/office/2017/06/relationships/model3d" Target="../media/model3d25.glb"/><Relationship Id="rIdM3d26" Type="http://schemas.microsoft.com/office/2017/06/relationships/model3d" Target="../media/model3d26.glb"/><Relationship Id="rIdM3d27" Type="http://schemas.microsoft.com/office/2017/06/relationships/model3d" Target="../media/model3d27.glb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8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8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Relationship Id="rIdM3d28" Type="http://schemas.microsoft.com/office/2017/06/relationships/model3d" Target="../media/model3d28.glb"/><Relationship Id="rIdM3d29" Type="http://schemas.microsoft.com/office/2017/06/relationships/model3d" Target="../media/model3d29.glb"/><Relationship Id="rIdM3d30" Type="http://schemas.microsoft.com/office/2017/06/relationships/model3d" Target="../media/model3d30.glb"/><Relationship Id="rIdM3d31" Type="http://schemas.microsoft.com/office/2017/06/relationships/model3d" Target="../media/model3d31.glb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9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9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Relationship Id="rIdM3d32" Type="http://schemas.microsoft.com/office/2017/06/relationships/model3d" Target="../media/model3d32.glb"/><Relationship Id="rIdM3d33" Type="http://schemas.microsoft.com/office/2017/06/relationships/model3d" Target="../media/model3d33.glb"/><Relationship Id="rIdM3d34" Type="http://schemas.microsoft.com/office/2017/06/relationships/model3d" Target="../media/model3d34.glb"/><Relationship Id="rIdM3d35" Type="http://schemas.microsoft.com/office/2017/06/relationships/model3d" Target="../media/model3d35.glb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0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0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Relationship Id="rIdM3d36" Type="http://schemas.microsoft.com/office/2017/06/relationships/model3d" Target="../media/model3d36.glb"/><Relationship Id="rIdM3d37" Type="http://schemas.microsoft.com/office/2017/06/relationships/model3d" Target="../media/model3d37.glb"/><Relationship Id="rIdM3d38" Type="http://schemas.microsoft.com/office/2017/06/relationships/model3d" Target="../media/model3d38.glb"/><Relationship Id="rIdM3d39" Type="http://schemas.microsoft.com/office/2017/06/relationships/model3d" Target="../media/model3d39.glb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1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Relationship Id="rIdM3d40" Type="http://schemas.microsoft.com/office/2017/06/relationships/model3d" Target="../media/model3d40.glb"/><Relationship Id="rIdM3d41" Type="http://schemas.microsoft.com/office/2017/06/relationships/model3d" Target="../media/model3d41.glb"/><Relationship Id="rIdM3d42" Type="http://schemas.microsoft.com/office/2017/06/relationships/model3d" Target="../media/model3d42.glb"/><Relationship Id="rIdM3d43" Type="http://schemas.microsoft.com/office/2017/06/relationships/model3d" Target="../media/model3d43.glb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2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2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Relationship Id="rIdM3d44" Type="http://schemas.microsoft.com/office/2017/06/relationships/model3d" Target="../media/model3d44.glb"/><Relationship Id="rIdM3d45" Type="http://schemas.microsoft.com/office/2017/06/relationships/model3d" Target="../media/model3d45.glb"/><Relationship Id="rIdM3d46" Type="http://schemas.microsoft.com/office/2017/06/relationships/model3d" Target="../media/model3d46.glb"/><Relationship Id="rIdM3d47" Type="http://schemas.microsoft.com/office/2017/06/relationships/model3d" Target="../media/model3d47.glb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3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3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Relationship Id="rIdM3d48" Type="http://schemas.microsoft.com/office/2017/06/relationships/model3d" Target="../media/model3d48.glb"/><Relationship Id="rIdM3d49" Type="http://schemas.microsoft.com/office/2017/06/relationships/model3d" Target="../media/model3d49.glb"/><Relationship Id="rIdM3d50" Type="http://schemas.microsoft.com/office/2017/06/relationships/model3d" Target="../media/model3d50.glb"/><Relationship Id="rIdM3d51" Type="http://schemas.microsoft.com/office/2017/06/relationships/model3d" Target="../media/model3d51.glb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4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4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Relationship Id="rIdM3d52" Type="http://schemas.microsoft.com/office/2017/06/relationships/model3d" Target="../media/model3d52.glb"/><Relationship Id="rIdM3d53" Type="http://schemas.microsoft.com/office/2017/06/relationships/model3d" Target="../media/model3d53.glb"/><Relationship Id="rIdM3d54" Type="http://schemas.microsoft.com/office/2017/06/relationships/model3d" Target="../media/model3d54.glb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5-2.png"/><Relationship Id="rId3" Type="http://schemas.openxmlformats.org/officeDocument/2006/relationships/image" Target="../media/image-1-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Relationship Id="rIdM3d55" Type="http://schemas.microsoft.com/office/2017/06/relationships/model3d" Target="../media/model3d55.glb"/><Relationship Id="rIdM3d56" Type="http://schemas.microsoft.com/office/2017/06/relationships/model3d" Target="../media/model3d56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schumpeter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!!gear">
                <a:extLst>
                  <a:ext uri="{FF2B5EF4-FFF2-40B4-BE49-F238E27FC236}">
                    <a16:creationId xmlns:a16="http://schemas.microsoft.com/office/drawing/2014/main" id="{4DFCF6BF-B70F-8F5F-8CF6-796BFBC4B62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4048" y="62179"/>
              <a:ext cx="603504" cy="603504"/>
            </p:xfrm>
            <a:graphic>
              <a:graphicData uri="http://schemas.microsoft.com/office/drawing/2017/model3d">
                <am3d:model3d r:embed="rIdM3d1">
                  <am3d:spPr>
                    <a:xfrm>
                      <a:off x="0" y="0"/>
                      <a:ext cx="603504" cy="603504"/>
                    </a:xfrm>
                    <a:prstGeom prst="rect">
                      <a:avLst/>
                    </a:prstGeom>
                  </am3d:spPr>
                  <am3d:camera>
                    <am3d:pos x="0" y="0" z="671596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175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840000" az="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6035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!!gear">
                <a:extLst>
                  <a:ext uri="{FF2B5EF4-FFF2-40B4-BE49-F238E27FC236}">
                    <a16:creationId xmlns:a16="http://schemas.microsoft.com/office/drawing/2014/main" id="{4DFCF6BF-B70F-8F5F-8CF6-796BFBC4B62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4048" y="62179"/>
                <a:ext cx="603504" cy="60350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6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 ·  ИННОВАЦИИ  ·  ПРЕДПРИНИМАТЕЛЬСТВО</a:t>
            </a:r>
            <a:endParaRPr lang="en-US" sz="1100" dirty="0"/>
          </a:p>
        </p:txBody>
      </p:sp>
      <p:sp>
        <p:nvSpPr>
          <p:cNvPr id="7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ЙОЗЕФ ШУМПЕТЕР  ·  1883–1950</a:t>
            </a:r>
            <a:endParaRPr lang="en-US" sz="900" dirty="0"/>
          </a:p>
        </p:txBody>
      </p:sp>
      <p:sp>
        <p:nvSpPr>
          <p:cNvPr id="9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15</a:t>
            </a:r>
            <a:endParaRPr lang="en-US" sz="900" dirty="0"/>
          </a:p>
        </p:txBody>
      </p:sp>
      <p:pic>
        <p:nvPicPr>
          <p:cNvPr id="10" name="!!glow" descr="/home/user/omgGame/presentations/schumpeter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030" y="-857250"/>
            <a:ext cx="9944100" cy="9944100"/>
          </a:xfrm>
          <a:prstGeom prst="rect">
            <a:avLst/>
          </a:prstGeom>
        </p:spPr>
      </p:pic>
      <p:sp>
        <p:nvSpPr>
          <p:cNvPr id="11" name="!!ring1"/>
          <p:cNvSpPr/>
          <p:nvPr/>
        </p:nvSpPr>
        <p:spPr>
          <a:xfrm>
            <a:off x="5417820" y="891540"/>
            <a:ext cx="6446520" cy="6446520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2" name="!!ring2"/>
          <p:cNvSpPr/>
          <p:nvPr/>
        </p:nvSpPr>
        <p:spPr>
          <a:xfrm>
            <a:off x="4526280" y="0"/>
            <a:ext cx="8229600" cy="8229600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3" name="!!shadow" descr="/home/user/omgGame/presentations/schumpeter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430" y="5032058"/>
            <a:ext cx="5829300" cy="1457325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!!m-locomotive">
                <a:extLst>
                  <a:ext uri="{FF2B5EF4-FFF2-40B4-BE49-F238E27FC236}">
                    <a16:creationId xmlns:a16="http://schemas.microsoft.com/office/drawing/2014/main" id="{F69EABDF-1874-7FAD-1D4F-D071BAAA8D9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12080" y="685800"/>
              <a:ext cx="6858000" cy="6858000"/>
            </p:xfrm>
            <a:graphic>
              <a:graphicData uri="http://schemas.microsoft.com/office/drawing/2017/model3d">
                <am3d:model3d r:embed="rIdM3d2">
                  <am3d:spPr>
                    <a:xfrm>
                      <a:off x="0" y="0"/>
                      <a:ext cx="6858000" cy="6858000"/>
                    </a:xfrm>
                    <a:prstGeom prst="rect">
                      <a:avLst/>
                    </a:prstGeom>
                  </am3d:spPr>
                  <am3d:camera>
                    <am3d:pos x="0" y="0" z="5793644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9627" d="1000000"/>
                    <am3d:preTrans dx="-3253422" dy="-1102306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92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6858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!!m-locomotive">
                <a:extLst>
                  <a:ext uri="{FF2B5EF4-FFF2-40B4-BE49-F238E27FC236}">
                    <a16:creationId xmlns:a16="http://schemas.microsoft.com/office/drawing/2014/main" id="{F69EABDF-1874-7FAD-1D4F-D071BAAA8D9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12080" y="685800"/>
                <a:ext cx="6858000" cy="6858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fx1_9_0"/>
          <p:cNvSpPr/>
          <p:nvPr/>
        </p:nvSpPr>
        <p:spPr>
          <a:xfrm>
            <a:off x="786384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01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Паровоз — его главная метафора развития</a:t>
            </a:r>
            <a:endParaRPr lang="en-US" sz="900" dirty="0"/>
          </a:p>
        </p:txBody>
      </p:sp>
      <p:sp>
        <p:nvSpPr>
          <p:cNvPr id="16" name="!!title"/>
          <p:cNvSpPr/>
          <p:nvPr/>
        </p:nvSpPr>
        <p:spPr>
          <a:xfrm>
            <a:off x="685800" y="114300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Йозеф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4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Шумпетер</a:t>
            </a:r>
            <a:endParaRPr lang="en-US" sz="5200" dirty="0"/>
          </a:p>
        </p:txBody>
      </p:sp>
      <p:sp>
        <p:nvSpPr>
          <p:cNvPr id="17" name="fx1_1_1"/>
          <p:cNvSpPr/>
          <p:nvPr/>
        </p:nvSpPr>
        <p:spPr>
          <a:xfrm>
            <a:off x="685800" y="3584448"/>
            <a:ext cx="1005840" cy="36576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18" name="fx1_1_2"/>
          <p:cNvSpPr/>
          <p:nvPr/>
        </p:nvSpPr>
        <p:spPr>
          <a:xfrm>
            <a:off x="685800" y="37490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Экономист, который поставил предпринимателя в центр экономической теории</a:t>
            </a:r>
            <a:endParaRPr lang="en-US" sz="1800" dirty="0"/>
          </a:p>
        </p:txBody>
      </p:sp>
      <p:sp>
        <p:nvSpPr>
          <p:cNvPr id="19" name="fx1_2_3"/>
          <p:cNvSpPr/>
          <p:nvPr/>
        </p:nvSpPr>
        <p:spPr>
          <a:xfrm>
            <a:off x="68580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5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1883 — 1950   ·   АВСТРО-ВЕНГРИЯ → США</a:t>
            </a:r>
            <a:endParaRPr lang="en-US" sz="1200" dirty="0"/>
          </a:p>
        </p:txBody>
      </p:sp>
      <p:sp>
        <p:nvSpPr>
          <p:cNvPr id="20" name="fx1_8_4"/>
          <p:cNvSpPr/>
          <p:nvPr/>
        </p:nvSpPr>
        <p:spPr>
          <a:xfrm>
            <a:off x="685800" y="5349240"/>
            <a:ext cx="4846320" cy="841248"/>
          </a:xfrm>
          <a:prstGeom prst="roundRect">
            <a:avLst>
              <a:gd name="adj" fmla="val 8696"/>
            </a:avLst>
          </a:prstGeom>
          <a:solidFill>
            <a:srgbClr val="1B160C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1" name="fx1_8_5"/>
          <p:cNvSpPr/>
          <p:nvPr/>
        </p:nvSpPr>
        <p:spPr>
          <a:xfrm>
            <a:off x="685800" y="5495544"/>
            <a:ext cx="50292" cy="54864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2" name="fx1_8_6"/>
          <p:cNvSpPr/>
          <p:nvPr/>
        </p:nvSpPr>
        <p:spPr>
          <a:xfrm>
            <a:off x="941832" y="521208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23" name="fx1_8_7"/>
          <p:cNvSpPr/>
          <p:nvPr/>
        </p:nvSpPr>
        <p:spPr>
          <a:xfrm>
            <a:off x="941832" y="5212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70C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24" name="fx1_8_8"/>
          <p:cNvSpPr/>
          <p:nvPr/>
        </p:nvSpPr>
        <p:spPr>
          <a:xfrm>
            <a:off x="960120" y="55321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 2009 года колонка о бизнесе в журнале </a:t>
            </a:r>
            <a:pPr algn="l" indent="0" marL="0">
              <a:lnSpc>
                <a:spcPct val="105000"/>
              </a:lnSpc>
              <a:buNone/>
            </a:pPr>
            <a:r>
              <a:rPr lang="en-US" sz="1300" b="1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Economist</a:t>
            </a:r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называется просто — «Schumpeter».</a:t>
            </a:r>
            <a:endParaRPr lang="en-US" sz="13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5" name="!!m-spool">
                <a:extLst>
                  <a:ext uri="{FF2B5EF4-FFF2-40B4-BE49-F238E27FC236}">
                    <a16:creationId xmlns:a16="http://schemas.microsoft.com/office/drawing/2014/main" id="{4DB3B088-6FF9-1023-9A0E-4E35F643756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17320"/>
              <a:ext cx="4297680" cy="4297680"/>
            </p:xfrm>
            <a:graphic>
              <a:graphicData uri="http://schemas.microsoft.com/office/drawing/2017/model3d">
                <am3d:model3d r:embed="rIdM3d3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7542013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73918" d="1000000"/>
                    <am3d:preTrans dx="-4913282" dy="889991" dz="-3422138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34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5" name="!!m-spool">
                <a:extLst>
                  <a:ext uri="{FF2B5EF4-FFF2-40B4-BE49-F238E27FC236}">
                    <a16:creationId xmlns:a16="http://schemas.microsoft.com/office/drawing/2014/main" id="{4DB3B088-6FF9-1023-9A0E-4E35F643756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40335" y="1417320"/>
                <a:ext cx="4297680" cy="4297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2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schumpeter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772864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gear">
                <a:extLst>
                  <a:ext uri="{FF2B5EF4-FFF2-40B4-BE49-F238E27FC236}">
                    <a16:creationId xmlns:a16="http://schemas.microsoft.com/office/drawing/2014/main" id="{B78A4AE1-785C-7856-4D54-BE7E42760F1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56912" y="62179"/>
              <a:ext cx="603504" cy="603504"/>
            </p:xfrm>
            <a:graphic>
              <a:graphicData uri="http://schemas.microsoft.com/office/drawing/2017/model3d">
                <am3d:model3d r:embed="rIdM3d4">
                  <am3d:spPr>
                    <a:xfrm>
                      <a:off x="0" y="0"/>
                      <a:ext cx="603504" cy="603504"/>
                    </a:xfrm>
                    <a:prstGeom prst="rect">
                      <a:avLst/>
                    </a:prstGeom>
                  </am3d:spPr>
                  <am3d:camera>
                    <am3d:pos x="0" y="0" z="671596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175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840000" az="-864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6035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gear">
                <a:extLst>
                  <a:ext uri="{FF2B5EF4-FFF2-40B4-BE49-F238E27FC236}">
                    <a16:creationId xmlns:a16="http://schemas.microsoft.com/office/drawing/2014/main" id="{B78A4AE1-785C-7856-4D54-BE7E42760F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56912" y="62179"/>
                <a:ext cx="603504" cy="60350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ГДЕ РОДИЛСЯ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ЙОЗЕФ ШУМПЕТЕР  ·  1883–1950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900" dirty="0"/>
          </a:p>
        </p:txBody>
      </p:sp>
      <p:pic>
        <p:nvPicPr>
          <p:cNvPr id="11" name="!!glow" descr="/home/user/omgGame/presentations/schumpeter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662" y="84582"/>
            <a:ext cx="6231636" cy="6231636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535570" y="1180490"/>
            <a:ext cx="4039819" cy="4039819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6976872" y="621792"/>
            <a:ext cx="5157216" cy="5157216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schumpeter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385" y="4070680"/>
            <a:ext cx="3352190" cy="838048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spool">
                <a:extLst>
                  <a:ext uri="{FF2B5EF4-FFF2-40B4-BE49-F238E27FC236}">
                    <a16:creationId xmlns:a16="http://schemas.microsoft.com/office/drawing/2014/main" id="{43090780-6B4A-285D-7CE4-B83A59709C0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06640" y="1051560"/>
              <a:ext cx="4297680" cy="4297680"/>
            </p:xfrm>
            <a:graphic>
              <a:graphicData uri="http://schemas.microsoft.com/office/drawing/2017/model3d">
                <am3d:model3d r:embed="rIdM3d5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7542013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73918" d="1000000"/>
                    <am3d:preTrans dx="-4913282" dy="889991" dz="-3422138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132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spool">
                <a:extLst>
                  <a:ext uri="{FF2B5EF4-FFF2-40B4-BE49-F238E27FC236}">
                    <a16:creationId xmlns:a16="http://schemas.microsoft.com/office/drawing/2014/main" id="{43090780-6B4A-285D-7CE4-B83A59709C0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06640" y="1051560"/>
                <a:ext cx="4297680" cy="42976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2_9_0"/>
          <p:cNvSpPr/>
          <p:nvPr/>
        </p:nvSpPr>
        <p:spPr>
          <a:xfrm>
            <a:off x="7772400" y="504840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02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Шпуля шерстяной нити: отец владел суконной фабрикой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Родился в маленьком городке Моравии</a:t>
            </a:r>
            <a:endParaRPr lang="en-US" sz="3600" dirty="0"/>
          </a:p>
        </p:txBody>
      </p:sp>
      <p:sp>
        <p:nvSpPr>
          <p:cNvPr id="18" name="fx2_1_1"/>
          <p:cNvSpPr/>
          <p:nvPr/>
        </p:nvSpPr>
        <p:spPr>
          <a:xfrm>
            <a:off x="685800" y="219456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0E1930">
              <a:alpha val="78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19" name="fx2_1_2"/>
          <p:cNvSpPr/>
          <p:nvPr/>
        </p:nvSpPr>
        <p:spPr>
          <a:xfrm>
            <a:off x="685800" y="2359152"/>
            <a:ext cx="41148" cy="585216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0" name="fx2_1_3"/>
          <p:cNvSpPr/>
          <p:nvPr/>
        </p:nvSpPr>
        <p:spPr>
          <a:xfrm>
            <a:off x="914400" y="2313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РОЖДЕНИЯ</a:t>
            </a:r>
            <a:endParaRPr lang="en-US" sz="950" dirty="0"/>
          </a:p>
        </p:txBody>
      </p:sp>
      <p:sp>
        <p:nvSpPr>
          <p:cNvPr id="21" name="fx2_1_4"/>
          <p:cNvSpPr/>
          <p:nvPr/>
        </p:nvSpPr>
        <p:spPr>
          <a:xfrm>
            <a:off x="914400" y="25237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февраля 1883</a:t>
            </a:r>
            <a:endParaRPr lang="en-US" sz="1650" dirty="0"/>
          </a:p>
        </p:txBody>
      </p:sp>
      <p:sp>
        <p:nvSpPr>
          <p:cNvPr id="22" name="fx2_1_5"/>
          <p:cNvSpPr/>
          <p:nvPr/>
        </p:nvSpPr>
        <p:spPr>
          <a:xfrm>
            <a:off x="914400" y="28254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Тршешть (Triesch), Моравия</a:t>
            </a:r>
            <a:endParaRPr lang="en-US" sz="1050" dirty="0"/>
          </a:p>
        </p:txBody>
      </p:sp>
      <p:sp>
        <p:nvSpPr>
          <p:cNvPr id="23" name="fx2_1_6"/>
          <p:cNvSpPr/>
          <p:nvPr/>
        </p:nvSpPr>
        <p:spPr>
          <a:xfrm>
            <a:off x="3703320" y="219456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0E1930">
              <a:alpha val="78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24" name="fx2_1_7"/>
          <p:cNvSpPr/>
          <p:nvPr/>
        </p:nvSpPr>
        <p:spPr>
          <a:xfrm>
            <a:off x="3703320" y="2359152"/>
            <a:ext cx="41148" cy="585216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5" name="fx2_1_8"/>
          <p:cNvSpPr/>
          <p:nvPr/>
        </p:nvSpPr>
        <p:spPr>
          <a:xfrm>
            <a:off x="3931920" y="23134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СТРАНА</a:t>
            </a:r>
            <a:endParaRPr lang="en-US" sz="950" dirty="0"/>
          </a:p>
        </p:txBody>
      </p:sp>
      <p:sp>
        <p:nvSpPr>
          <p:cNvPr id="26" name="fx2_1_9"/>
          <p:cNvSpPr/>
          <p:nvPr/>
        </p:nvSpPr>
        <p:spPr>
          <a:xfrm>
            <a:off x="3931920" y="25237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Австро-Венгрия</a:t>
            </a:r>
            <a:endParaRPr lang="en-US" sz="1650" dirty="0"/>
          </a:p>
        </p:txBody>
      </p:sp>
      <p:sp>
        <p:nvSpPr>
          <p:cNvPr id="27" name="fx2_1_10"/>
          <p:cNvSpPr/>
          <p:nvPr/>
        </p:nvSpPr>
        <p:spPr>
          <a:xfrm>
            <a:off x="3931920" y="28254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 — Чехия, ≈120 км от Праги</a:t>
            </a:r>
            <a:endParaRPr lang="en-US" sz="1050" dirty="0"/>
          </a:p>
        </p:txBody>
      </p:sp>
      <p:sp>
        <p:nvSpPr>
          <p:cNvPr id="28" name="fx2_2_11"/>
          <p:cNvSpPr/>
          <p:nvPr/>
        </p:nvSpPr>
        <p:spPr>
          <a:xfrm>
            <a:off x="685800" y="3227832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0E1930">
              <a:alpha val="78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29" name="fx2_2_12"/>
          <p:cNvSpPr/>
          <p:nvPr/>
        </p:nvSpPr>
        <p:spPr>
          <a:xfrm>
            <a:off x="685800" y="3392424"/>
            <a:ext cx="41148" cy="585216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0" name="fx2_2_13"/>
          <p:cNvSpPr/>
          <p:nvPr/>
        </p:nvSpPr>
        <p:spPr>
          <a:xfrm>
            <a:off x="914400" y="33467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СЕМЬЯ</a:t>
            </a:r>
            <a:endParaRPr lang="en-US" sz="950" dirty="0"/>
          </a:p>
        </p:txBody>
      </p:sp>
      <p:sp>
        <p:nvSpPr>
          <p:cNvPr id="31" name="fx2_2_14"/>
          <p:cNvSpPr/>
          <p:nvPr/>
        </p:nvSpPr>
        <p:spPr>
          <a:xfrm>
            <a:off x="914400" y="35570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Сын фабриканта</a:t>
            </a:r>
            <a:endParaRPr lang="en-US" sz="1650" dirty="0"/>
          </a:p>
        </p:txBody>
      </p:sp>
      <p:sp>
        <p:nvSpPr>
          <p:cNvPr id="32" name="fx2_2_15"/>
          <p:cNvSpPr/>
          <p:nvPr/>
        </p:nvSpPr>
        <p:spPr>
          <a:xfrm>
            <a:off x="914400" y="3858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отец владел суконной фабрикой</a:t>
            </a:r>
            <a:endParaRPr lang="en-US" sz="1050" dirty="0"/>
          </a:p>
        </p:txBody>
      </p:sp>
      <p:sp>
        <p:nvSpPr>
          <p:cNvPr id="33" name="fx2_2_16"/>
          <p:cNvSpPr/>
          <p:nvPr/>
        </p:nvSpPr>
        <p:spPr>
          <a:xfrm>
            <a:off x="3703320" y="3227832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0E1930">
              <a:alpha val="78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34" name="fx2_2_17"/>
          <p:cNvSpPr/>
          <p:nvPr/>
        </p:nvSpPr>
        <p:spPr>
          <a:xfrm>
            <a:off x="3703320" y="3392424"/>
            <a:ext cx="41148" cy="585216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5" name="fx2_2_18"/>
          <p:cNvSpPr/>
          <p:nvPr/>
        </p:nvSpPr>
        <p:spPr>
          <a:xfrm>
            <a:off x="3931920" y="33467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ДЕТСТВО</a:t>
            </a:r>
            <a:endParaRPr lang="en-US" sz="950" dirty="0"/>
          </a:p>
        </p:txBody>
      </p:sp>
      <p:sp>
        <p:nvSpPr>
          <p:cNvPr id="36" name="fx2_2_19"/>
          <p:cNvSpPr/>
          <p:nvPr/>
        </p:nvSpPr>
        <p:spPr>
          <a:xfrm>
            <a:off x="3931920" y="35570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Отец умер в 1887</a:t>
            </a:r>
            <a:endParaRPr lang="en-US" sz="1650" dirty="0"/>
          </a:p>
        </p:txBody>
      </p:sp>
      <p:sp>
        <p:nvSpPr>
          <p:cNvPr id="37" name="fx2_2_20"/>
          <p:cNvSpPr/>
          <p:nvPr/>
        </p:nvSpPr>
        <p:spPr>
          <a:xfrm>
            <a:off x="3931920" y="3858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Йозефу было всего 4 года</a:t>
            </a:r>
            <a:endParaRPr lang="en-US" sz="1050" dirty="0"/>
          </a:p>
        </p:txBody>
      </p:sp>
      <p:sp>
        <p:nvSpPr>
          <p:cNvPr id="38" name="fx2_3_21"/>
          <p:cNvSpPr/>
          <p:nvPr/>
        </p:nvSpPr>
        <p:spPr>
          <a:xfrm>
            <a:off x="685800" y="4261104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0E1930">
              <a:alpha val="78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39" name="fx2_3_22"/>
          <p:cNvSpPr/>
          <p:nvPr/>
        </p:nvSpPr>
        <p:spPr>
          <a:xfrm>
            <a:off x="685800" y="4425696"/>
            <a:ext cx="41148" cy="585216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40" name="fx2_3_23"/>
          <p:cNvSpPr/>
          <p:nvPr/>
        </p:nvSpPr>
        <p:spPr>
          <a:xfrm>
            <a:off x="914400" y="43799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ПЕРЕЕЗД</a:t>
            </a:r>
            <a:endParaRPr lang="en-US" sz="950" dirty="0"/>
          </a:p>
        </p:txBody>
      </p:sp>
      <p:sp>
        <p:nvSpPr>
          <p:cNvPr id="41" name="fx2_3_24"/>
          <p:cNvSpPr/>
          <p:nvPr/>
        </p:nvSpPr>
        <p:spPr>
          <a:xfrm>
            <a:off x="914400" y="45902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Грац → Вена (1893)</a:t>
            </a:r>
            <a:endParaRPr lang="en-US" sz="1650" dirty="0"/>
          </a:p>
        </p:txBody>
      </p:sp>
      <p:sp>
        <p:nvSpPr>
          <p:cNvPr id="42" name="fx2_3_25"/>
          <p:cNvSpPr/>
          <p:nvPr/>
        </p:nvSpPr>
        <p:spPr>
          <a:xfrm>
            <a:off x="914400" y="4892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мать вышла замуж за генерала</a:t>
            </a:r>
            <a:endParaRPr lang="en-US" sz="1050" dirty="0"/>
          </a:p>
        </p:txBody>
      </p:sp>
      <p:sp>
        <p:nvSpPr>
          <p:cNvPr id="43" name="fx2_3_26"/>
          <p:cNvSpPr/>
          <p:nvPr/>
        </p:nvSpPr>
        <p:spPr>
          <a:xfrm>
            <a:off x="3703320" y="4261104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0E1930">
              <a:alpha val="78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44" name="fx2_3_27"/>
          <p:cNvSpPr/>
          <p:nvPr/>
        </p:nvSpPr>
        <p:spPr>
          <a:xfrm>
            <a:off x="3703320" y="4425696"/>
            <a:ext cx="41148" cy="585216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45" name="fx2_3_28"/>
          <p:cNvSpPr/>
          <p:nvPr/>
        </p:nvSpPr>
        <p:spPr>
          <a:xfrm>
            <a:off x="3931920" y="43799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 И ВЕРА</a:t>
            </a:r>
            <a:endParaRPr lang="en-US" sz="950" dirty="0"/>
          </a:p>
        </p:txBody>
      </p:sp>
      <p:sp>
        <p:nvSpPr>
          <p:cNvPr id="46" name="fx2_3_29"/>
          <p:cNvSpPr/>
          <p:nvPr/>
        </p:nvSpPr>
        <p:spPr>
          <a:xfrm>
            <a:off x="3931920" y="45902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Немецкий, католик</a:t>
            </a:r>
            <a:endParaRPr lang="en-US" sz="1650" dirty="0"/>
          </a:p>
        </p:txBody>
      </p:sp>
      <p:sp>
        <p:nvSpPr>
          <p:cNvPr id="47" name="fx2_3_30"/>
          <p:cNvSpPr/>
          <p:nvPr/>
        </p:nvSpPr>
        <p:spPr>
          <a:xfrm>
            <a:off x="3931920" y="4892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преимущественно чешском городке</a:t>
            </a:r>
            <a:endParaRPr lang="en-US" sz="1050" dirty="0"/>
          </a:p>
        </p:txBody>
      </p:sp>
      <p:sp>
        <p:nvSpPr>
          <p:cNvPr id="48" name="fx2_8_31"/>
          <p:cNvSpPr/>
          <p:nvPr/>
        </p:nvSpPr>
        <p:spPr>
          <a:xfrm>
            <a:off x="685800" y="5440680"/>
            <a:ext cx="5897880" cy="749808"/>
          </a:xfrm>
          <a:prstGeom prst="roundRect">
            <a:avLst>
              <a:gd name="adj" fmla="val 9756"/>
            </a:avLst>
          </a:prstGeom>
          <a:solidFill>
            <a:srgbClr val="1B160C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9" name="fx2_8_32"/>
          <p:cNvSpPr/>
          <p:nvPr/>
        </p:nvSpPr>
        <p:spPr>
          <a:xfrm>
            <a:off x="685800" y="5586984"/>
            <a:ext cx="50292" cy="45720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50" name="fx2_8_33"/>
          <p:cNvSpPr/>
          <p:nvPr/>
        </p:nvSpPr>
        <p:spPr>
          <a:xfrm>
            <a:off x="941832" y="530352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51" name="fx2_8_34"/>
          <p:cNvSpPr/>
          <p:nvPr/>
        </p:nvSpPr>
        <p:spPr>
          <a:xfrm>
            <a:off x="941832" y="53035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70C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52" name="fx2_8_35"/>
          <p:cNvSpPr/>
          <p:nvPr/>
        </p:nvSpPr>
        <p:spPr>
          <a:xfrm>
            <a:off x="960120" y="5623560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1883 — год, когда умер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Карл Маркс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и родился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Джон Мейнард Кейнс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Шумпетера всю жизнь сравнивали с обоими.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3" name="!!m-locomotive">
                <a:extLst>
                  <a:ext uri="{FF2B5EF4-FFF2-40B4-BE49-F238E27FC236}">
                    <a16:creationId xmlns:a16="http://schemas.microsoft.com/office/drawing/2014/main" id="{9431CAA5-C08D-DB64-8626-9C62ECFCC9C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7406640" y="1051560"/>
              <a:ext cx="6858000" cy="6858000"/>
            </p:xfrm>
            <a:graphic>
              <a:graphicData uri="http://schemas.microsoft.com/office/drawing/2017/model3d">
                <am3d:model3d r:embed="rIdM3d6">
                  <am3d:spPr>
                    <a:xfrm>
                      <a:off x="0" y="0"/>
                      <a:ext cx="6858000" cy="6858000"/>
                    </a:xfrm>
                    <a:prstGeom prst="rect">
                      <a:avLst/>
                    </a:prstGeom>
                  </am3d:spPr>
                  <am3d:camera>
                    <am3d:pos x="0" y="0" z="5793644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9627" d="1000000"/>
                    <am3d:preTrans dx="-3253422" dy="-1102306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672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6858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3" name="!!m-locomotive">
                <a:extLst>
                  <a:ext uri="{FF2B5EF4-FFF2-40B4-BE49-F238E27FC236}">
                    <a16:creationId xmlns:a16="http://schemas.microsoft.com/office/drawing/2014/main" id="{9431CAA5-C08D-DB64-8626-9C62ECFCC9C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7406640" y="1051560"/>
                <a:ext cx="6858000" cy="685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4" name="!!m-edu">
                <a:extLst>
                  <a:ext uri="{FF2B5EF4-FFF2-40B4-BE49-F238E27FC236}">
                    <a16:creationId xmlns:a16="http://schemas.microsoft.com/office/drawing/2014/main" id="{65AD8DB7-44D5-CAFE-82F6-FF105614B2A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17320"/>
              <a:ext cx="4572000" cy="4572000"/>
            </p:xfrm>
            <a:graphic>
              <a:graphicData uri="http://schemas.microsoft.com/office/drawing/2017/model3d">
                <am3d:model3d r:embed="rIdM3d7">
                  <am3d:spPr>
                    <a:xfrm>
                      <a:off x="0" y="0"/>
                      <a:ext cx="4572000" cy="4572000"/>
                    </a:xfrm>
                    <a:prstGeom prst="rect">
                      <a:avLst/>
                    </a:prstGeom>
                  </am3d:spPr>
                  <am3d:camera>
                    <am3d:pos x="0" y="0" z="6619068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9527" d="1000000"/>
                    <am3d:preTrans dx="206019" dy="-8142109" dz="-304972"/>
                    <am3d:scale>
                      <am3d:sx n="1000000" d="1000000"/>
                      <am3d:sy n="1000000" d="1000000"/>
                      <am3d:sz n="1000000" d="1000000"/>
                    </am3d:scale>
                    <am3d:rot ax="1080000" ay="336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572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4" name="!!m-edu">
                <a:extLst>
                  <a:ext uri="{FF2B5EF4-FFF2-40B4-BE49-F238E27FC236}">
                    <a16:creationId xmlns:a16="http://schemas.microsoft.com/office/drawing/2014/main" id="{65AD8DB7-44D5-CAFE-82F6-FF105614B2A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417320"/>
                <a:ext cx="4572000" cy="457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schumpeter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1545728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gear">
                <a:extLst>
                  <a:ext uri="{FF2B5EF4-FFF2-40B4-BE49-F238E27FC236}">
                    <a16:creationId xmlns:a16="http://schemas.microsoft.com/office/drawing/2014/main" id="{40F90CAF-B81E-B4AA-54EF-E702B87F1DA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929776" y="62179"/>
              <a:ext cx="603504" cy="603504"/>
            </p:xfrm>
            <a:graphic>
              <a:graphicData uri="http://schemas.microsoft.com/office/drawing/2017/model3d">
                <am3d:model3d r:embed="rIdM3d8">
                  <am3d:spPr>
                    <a:xfrm>
                      <a:off x="0" y="0"/>
                      <a:ext cx="603504" cy="603504"/>
                    </a:xfrm>
                    <a:prstGeom prst="rect">
                      <a:avLst/>
                    </a:prstGeom>
                  </am3d:spPr>
                  <am3d:camera>
                    <am3d:pos x="0" y="0" z="671596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175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840000" az="-1728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6035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gear">
                <a:extLst>
                  <a:ext uri="{FF2B5EF4-FFF2-40B4-BE49-F238E27FC236}">
                    <a16:creationId xmlns:a16="http://schemas.microsoft.com/office/drawing/2014/main" id="{40F90CAF-B81E-B4AA-54EF-E702B87F1DA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29776" y="62179"/>
                <a:ext cx="603504" cy="60350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ОБРАЗОВАНИЕ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ЙОЗЕФ ШУМПЕТЕР  ·  1883–1950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15</a:t>
            </a:r>
            <a:endParaRPr lang="en-US" sz="900" dirty="0"/>
          </a:p>
        </p:txBody>
      </p:sp>
      <p:pic>
        <p:nvPicPr>
          <p:cNvPr id="11" name="!!glow" descr="/home/user/omgGame/presentations/schumpeter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0" y="22860"/>
            <a:ext cx="6629400" cy="6629400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223760" y="1188720"/>
            <a:ext cx="4297680" cy="4297680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6629400" y="594360"/>
            <a:ext cx="5486400" cy="5486400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schumpeter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4171950"/>
            <a:ext cx="3566160" cy="89154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edu">
                <a:extLst>
                  <a:ext uri="{FF2B5EF4-FFF2-40B4-BE49-F238E27FC236}">
                    <a16:creationId xmlns:a16="http://schemas.microsoft.com/office/drawing/2014/main" id="{E6527B4F-6EE8-CFB4-C57B-245F902FBFD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086600" y="1051560"/>
              <a:ext cx="4572000" cy="4572000"/>
            </p:xfrm>
            <a:graphic>
              <a:graphicData uri="http://schemas.microsoft.com/office/drawing/2017/model3d">
                <am3d:model3d r:embed="rIdM3d9">
                  <am3d:spPr>
                    <a:xfrm>
                      <a:off x="0" y="0"/>
                      <a:ext cx="4572000" cy="4572000"/>
                    </a:xfrm>
                    <a:prstGeom prst="rect">
                      <a:avLst/>
                    </a:prstGeom>
                  </am3d:spPr>
                  <am3d:camera>
                    <am3d:pos x="0" y="0" z="6619068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9527" d="1000000"/>
                    <am3d:preTrans dx="206019" dy="-8142109" dz="-304972"/>
                    <am3d:scale>
                      <am3d:sx n="1000000" d="1000000"/>
                      <am3d:sy n="1000000" d="1000000"/>
                      <am3d:sz n="1000000" d="1000000"/>
                    </am3d:scale>
                    <am3d:rot ax="1080000" ay="-144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572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edu">
                <a:extLst>
                  <a:ext uri="{FF2B5EF4-FFF2-40B4-BE49-F238E27FC236}">
                    <a16:creationId xmlns:a16="http://schemas.microsoft.com/office/drawing/2014/main" id="{E6527B4F-6EE8-CFB4-C57B-245F902FBF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86600" y="1051560"/>
                <a:ext cx="4572000" cy="4572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3_9_0"/>
          <p:cNvSpPr/>
          <p:nvPr/>
        </p:nvSpPr>
        <p:spPr>
          <a:xfrm>
            <a:off x="7726680" y="5303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03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Книги и шапочка доктора права (1906)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Элитная школа и Венский университет</a:t>
            </a:r>
            <a:endParaRPr lang="en-US" sz="3600" dirty="0"/>
          </a:p>
        </p:txBody>
      </p:sp>
      <p:sp>
        <p:nvSpPr>
          <p:cNvPr id="18" name="fx3_1_1"/>
          <p:cNvSpPr/>
          <p:nvPr/>
        </p:nvSpPr>
        <p:spPr>
          <a:xfrm>
            <a:off x="795528" y="2395728"/>
            <a:ext cx="91" cy="2304288"/>
          </a:xfrm>
          <a:prstGeom prst="line">
            <a:avLst/>
          </a:prstGeom>
          <a:noFill/>
          <a:ln w="19050">
            <a:solidFill>
              <a:srgbClr val="E3B663">
                <a:alpha val="55000"/>
              </a:srgbClr>
            </a:solidFill>
            <a:prstDash val="solid"/>
          </a:ln>
        </p:spPr>
      </p:sp>
      <p:sp>
        <p:nvSpPr>
          <p:cNvPr id="19" name="fx3_1_2"/>
          <p:cNvSpPr/>
          <p:nvPr/>
        </p:nvSpPr>
        <p:spPr>
          <a:xfrm>
            <a:off x="704088" y="2304288"/>
            <a:ext cx="182880" cy="182880"/>
          </a:xfrm>
          <a:prstGeom prst="ellipse">
            <a:avLst/>
          </a:prstGeom>
          <a:solidFill>
            <a:srgbClr val="070C18"/>
          </a:solidFill>
          <a:ln w="25400">
            <a:solidFill>
              <a:srgbClr val="E3B663"/>
            </a:solidFill>
            <a:prstDash val="solid"/>
          </a:ln>
        </p:spPr>
      </p:sp>
      <p:sp>
        <p:nvSpPr>
          <p:cNvPr id="20" name="fx3_1_3"/>
          <p:cNvSpPr/>
          <p:nvPr/>
        </p:nvSpPr>
        <p:spPr>
          <a:xfrm>
            <a:off x="1143000" y="2267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1893–1901 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Терезианум</a:t>
            </a:r>
            <a:endParaRPr lang="en-US" sz="1300" dirty="0"/>
          </a:p>
        </p:txBody>
      </p:sp>
      <p:sp>
        <p:nvSpPr>
          <p:cNvPr id="21" name="fx3_1_4"/>
          <p:cNvSpPr/>
          <p:nvPr/>
        </p:nvSpPr>
        <p:spPr>
          <a:xfrm>
            <a:off x="1143000" y="2560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Элитная венская гимназия для детей аристократии: классика, несколько языков.</a:t>
            </a:r>
            <a:endParaRPr lang="en-US" sz="1150" dirty="0"/>
          </a:p>
        </p:txBody>
      </p:sp>
      <p:sp>
        <p:nvSpPr>
          <p:cNvPr id="22" name="fx3_2_5"/>
          <p:cNvSpPr/>
          <p:nvPr/>
        </p:nvSpPr>
        <p:spPr>
          <a:xfrm>
            <a:off x="704088" y="3072384"/>
            <a:ext cx="182880" cy="182880"/>
          </a:xfrm>
          <a:prstGeom prst="ellipse">
            <a:avLst/>
          </a:prstGeom>
          <a:solidFill>
            <a:srgbClr val="070C18"/>
          </a:solidFill>
          <a:ln w="25400">
            <a:solidFill>
              <a:srgbClr val="E3B663"/>
            </a:solidFill>
            <a:prstDash val="solid"/>
          </a:ln>
        </p:spPr>
      </p:sp>
      <p:sp>
        <p:nvSpPr>
          <p:cNvPr id="23" name="fx3_2_6"/>
          <p:cNvSpPr/>
          <p:nvPr/>
        </p:nvSpPr>
        <p:spPr>
          <a:xfrm>
            <a:off x="1143000" y="3035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1901–1906 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Венский университет</a:t>
            </a:r>
            <a:endParaRPr lang="en-US" sz="1300" dirty="0"/>
          </a:p>
        </p:txBody>
      </p:sp>
      <p:sp>
        <p:nvSpPr>
          <p:cNvPr id="24" name="fx3_2_7"/>
          <p:cNvSpPr/>
          <p:nvPr/>
        </p:nvSpPr>
        <p:spPr>
          <a:xfrm>
            <a:off x="1143000" y="33284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 и экономика. Учителя — Бём-Баверк и Визер, классики австрийской школы.</a:t>
            </a:r>
            <a:endParaRPr lang="en-US" sz="1150" dirty="0"/>
          </a:p>
        </p:txBody>
      </p:sp>
      <p:sp>
        <p:nvSpPr>
          <p:cNvPr id="25" name="fx3_3_8"/>
          <p:cNvSpPr/>
          <p:nvPr/>
        </p:nvSpPr>
        <p:spPr>
          <a:xfrm>
            <a:off x="704088" y="3840480"/>
            <a:ext cx="182880" cy="182880"/>
          </a:xfrm>
          <a:prstGeom prst="ellipse">
            <a:avLst/>
          </a:prstGeom>
          <a:solidFill>
            <a:srgbClr val="070C18"/>
          </a:solidFill>
          <a:ln w="25400">
            <a:solidFill>
              <a:srgbClr val="E3B663"/>
            </a:solidFill>
            <a:prstDash val="solid"/>
          </a:ln>
        </p:spPr>
      </p:sp>
      <p:sp>
        <p:nvSpPr>
          <p:cNvPr id="26" name="fx3_3_9"/>
          <p:cNvSpPr/>
          <p:nvPr/>
        </p:nvSpPr>
        <p:spPr>
          <a:xfrm>
            <a:off x="1143000" y="3803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1906 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Доктор права в 23 года</a:t>
            </a:r>
            <a:endParaRPr lang="en-US" sz="1300" dirty="0"/>
          </a:p>
        </p:txBody>
      </p:sp>
      <p:sp>
        <p:nvSpPr>
          <p:cNvPr id="27" name="fx3_3_10"/>
          <p:cNvSpPr/>
          <p:nvPr/>
        </p:nvSpPr>
        <p:spPr>
          <a:xfrm>
            <a:off x="1143000" y="40965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из самых молодых докторов в империи.</a:t>
            </a:r>
            <a:endParaRPr lang="en-US" sz="1150" dirty="0"/>
          </a:p>
        </p:txBody>
      </p:sp>
      <p:sp>
        <p:nvSpPr>
          <p:cNvPr id="28" name="fx3_4_11"/>
          <p:cNvSpPr/>
          <p:nvPr/>
        </p:nvSpPr>
        <p:spPr>
          <a:xfrm>
            <a:off x="704088" y="4608576"/>
            <a:ext cx="182880" cy="182880"/>
          </a:xfrm>
          <a:prstGeom prst="ellipse">
            <a:avLst/>
          </a:prstGeom>
          <a:solidFill>
            <a:srgbClr val="070C18"/>
          </a:solidFill>
          <a:ln w="25400">
            <a:solidFill>
              <a:srgbClr val="E3B663"/>
            </a:solidFill>
            <a:prstDash val="solid"/>
          </a:ln>
        </p:spPr>
      </p:sp>
      <p:sp>
        <p:nvSpPr>
          <p:cNvPr id="29" name="fx3_4_12"/>
          <p:cNvSpPr/>
          <p:nvPr/>
        </p:nvSpPr>
        <p:spPr>
          <a:xfrm>
            <a:off x="114300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1906–1907 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Лондон</a:t>
            </a:r>
            <a:endParaRPr lang="en-US" sz="1300" dirty="0"/>
          </a:p>
        </p:txBody>
      </p:sp>
      <p:sp>
        <p:nvSpPr>
          <p:cNvPr id="30" name="fx3_4_13"/>
          <p:cNvSpPr/>
          <p:nvPr/>
        </p:nvSpPr>
        <p:spPr>
          <a:xfrm>
            <a:off x="1143000" y="48646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в Лондонской школе экономики и Британском музее.</a:t>
            </a:r>
            <a:endParaRPr lang="en-US" sz="1150" dirty="0"/>
          </a:p>
        </p:txBody>
      </p:sp>
      <p:sp>
        <p:nvSpPr>
          <p:cNvPr id="31" name="fx3_8_14"/>
          <p:cNvSpPr/>
          <p:nvPr/>
        </p:nvSpPr>
        <p:spPr>
          <a:xfrm>
            <a:off x="685800" y="5376672"/>
            <a:ext cx="5943600" cy="822960"/>
          </a:xfrm>
          <a:prstGeom prst="roundRect">
            <a:avLst>
              <a:gd name="adj" fmla="val 8889"/>
            </a:avLst>
          </a:prstGeom>
          <a:solidFill>
            <a:srgbClr val="1B160C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2" name="fx3_8_15"/>
          <p:cNvSpPr/>
          <p:nvPr/>
        </p:nvSpPr>
        <p:spPr>
          <a:xfrm>
            <a:off x="685800" y="5522976"/>
            <a:ext cx="50292" cy="530352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3" name="fx3_8_16"/>
          <p:cNvSpPr/>
          <p:nvPr/>
        </p:nvSpPr>
        <p:spPr>
          <a:xfrm>
            <a:off x="941832" y="5239512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4" name="fx3_8_17"/>
          <p:cNvSpPr/>
          <p:nvPr/>
        </p:nvSpPr>
        <p:spPr>
          <a:xfrm>
            <a:off x="941832" y="52395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70C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5" name="fx3_8_18"/>
          <p:cNvSpPr/>
          <p:nvPr/>
        </p:nvSpPr>
        <p:spPr>
          <a:xfrm>
            <a:off x="960120" y="55595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 семинаре Бём-Баверка он спорил с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Людвигом фон Мизесом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и будущими лидерами марксизма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Отто Бауэром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и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Рудольфом Гильфердингом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spool">
                <a:extLst>
                  <a:ext uri="{FF2B5EF4-FFF2-40B4-BE49-F238E27FC236}">
                    <a16:creationId xmlns:a16="http://schemas.microsoft.com/office/drawing/2014/main" id="{92506E56-81EA-3911-68EE-BC34EE1E329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846320" y="1417320"/>
              <a:ext cx="4297680" cy="4297680"/>
            </p:xfrm>
            <a:graphic>
              <a:graphicData uri="http://schemas.microsoft.com/office/drawing/2017/model3d">
                <am3d:model3d r:embed="rIdM3d10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7542013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73918" d="1000000"/>
                    <am3d:preTrans dx="-4913282" dy="889991" dz="-3422138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612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spool">
                <a:extLst>
                  <a:ext uri="{FF2B5EF4-FFF2-40B4-BE49-F238E27FC236}">
                    <a16:creationId xmlns:a16="http://schemas.microsoft.com/office/drawing/2014/main" id="{92506E56-81EA-3911-68EE-BC34EE1E329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846320" y="1417320"/>
                <a:ext cx="4297680" cy="42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7" name="!!m-globe">
                <a:extLst>
                  <a:ext uri="{FF2B5EF4-FFF2-40B4-BE49-F238E27FC236}">
                    <a16:creationId xmlns:a16="http://schemas.microsoft.com/office/drawing/2014/main" id="{9B612193-BAF0-4118-42B4-EC8941F1833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685800"/>
              <a:ext cx="3886200" cy="3886200"/>
            </p:xfrm>
            <a:graphic>
              <a:graphicData uri="http://schemas.microsoft.com/office/drawing/2017/model3d">
                <am3d:model3d r:embed="rIdM3d11">
                  <am3d:spPr>
                    <a:xfrm>
                      <a:off x="0" y="0"/>
                      <a:ext cx="3886200" cy="3886200"/>
                    </a:xfrm>
                    <a:prstGeom prst="rect">
                      <a:avLst/>
                    </a:prstGeom>
                  </am3d:spPr>
                  <am3d:camera>
                    <am3d:pos x="0" y="0" z="710734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71790" d="1000000"/>
                    <am3d:preTrans dx="1061825" dy="-773652" dz="2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48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886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7" name="!!m-globe">
                <a:extLst>
                  <a:ext uri="{FF2B5EF4-FFF2-40B4-BE49-F238E27FC236}">
                    <a16:creationId xmlns:a16="http://schemas.microsoft.com/office/drawing/2014/main" id="{9B612193-BAF0-4118-42B4-EC8941F1833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685800"/>
                <a:ext cx="3886200" cy="3886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4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schumpeter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2318592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gear">
                <a:extLst>
                  <a:ext uri="{FF2B5EF4-FFF2-40B4-BE49-F238E27FC236}">
                    <a16:creationId xmlns:a16="http://schemas.microsoft.com/office/drawing/2014/main" id="{1DDE33F2-17F5-81F8-1595-10E12385B4B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02640" y="62179"/>
              <a:ext cx="603504" cy="603504"/>
            </p:xfrm>
            <a:graphic>
              <a:graphicData uri="http://schemas.microsoft.com/office/drawing/2017/model3d">
                <am3d:model3d r:embed="rIdM3d12">
                  <am3d:spPr>
                    <a:xfrm>
                      <a:off x="0" y="0"/>
                      <a:ext cx="603504" cy="603504"/>
                    </a:xfrm>
                    <a:prstGeom prst="rect">
                      <a:avLst/>
                    </a:prstGeom>
                  </am3d:spPr>
                  <am3d:camera>
                    <am3d:pos x="0" y="0" z="671596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175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840000" az="-2592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6035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gear">
                <a:extLst>
                  <a:ext uri="{FF2B5EF4-FFF2-40B4-BE49-F238E27FC236}">
                    <a16:creationId xmlns:a16="http://schemas.microsoft.com/office/drawing/2014/main" id="{1DDE33F2-17F5-81F8-1595-10E12385B4B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02640" y="62179"/>
                <a:ext cx="603504" cy="60350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ЧЕМ ЗАНИМАЛСЯ: КАРЬЕРА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ЙОЗЕФ ШУМПЕТЕР  ·  1883–1950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900" dirty="0"/>
          </a:p>
        </p:txBody>
      </p:sp>
      <p:pic>
        <p:nvPicPr>
          <p:cNvPr id="11" name="!!glow" descr="/home/user/omgGame/presentations/schumpeter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445" y="-554355"/>
            <a:ext cx="5634990" cy="5634990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980426" y="436626"/>
            <a:ext cx="3653028" cy="3653028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475220" y="-68580"/>
            <a:ext cx="4663440" cy="4663440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schumpeter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3370707"/>
            <a:ext cx="2331720" cy="58293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globe">
                <a:extLst>
                  <a:ext uri="{FF2B5EF4-FFF2-40B4-BE49-F238E27FC236}">
                    <a16:creationId xmlns:a16="http://schemas.microsoft.com/office/drawing/2014/main" id="{71634821-15A5-3F75-1E2A-31A34C9C526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863840" y="320040"/>
              <a:ext cx="3886200" cy="3886200"/>
            </p:xfrm>
            <a:graphic>
              <a:graphicData uri="http://schemas.microsoft.com/office/drawing/2017/model3d">
                <am3d:model3d r:embed="rIdM3d13">
                  <am3d:spPr>
                    <a:xfrm>
                      <a:off x="0" y="0"/>
                      <a:ext cx="3886200" cy="3886200"/>
                    </a:xfrm>
                    <a:prstGeom prst="rect">
                      <a:avLst/>
                    </a:prstGeom>
                  </am3d:spPr>
                  <am3d:camera>
                    <am3d:pos x="0" y="0" z="710734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71790" d="1000000"/>
                    <am3d:preTrans dx="1061825" dy="-773652" dz="2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886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globe">
                <a:extLst>
                  <a:ext uri="{FF2B5EF4-FFF2-40B4-BE49-F238E27FC236}">
                    <a16:creationId xmlns:a16="http://schemas.microsoft.com/office/drawing/2014/main" id="{71634821-15A5-3F75-1E2A-31A34C9C526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63840" y="320040"/>
                <a:ext cx="3886200" cy="38862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4_9_0"/>
          <p:cNvSpPr/>
          <p:nvPr/>
        </p:nvSpPr>
        <p:spPr>
          <a:xfrm>
            <a:off x="5257800" y="3291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04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Маршрут: Вена · Каир · Черновцы · Бонн · Гарвард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Путь: от Каира до Гарварда</a:t>
            </a:r>
            <a:endParaRPr lang="en-US" sz="3600" dirty="0"/>
          </a:p>
        </p:txBody>
      </p:sp>
      <p:sp>
        <p:nvSpPr>
          <p:cNvPr id="18" name="fx4_1_1"/>
          <p:cNvSpPr/>
          <p:nvPr/>
        </p:nvSpPr>
        <p:spPr>
          <a:xfrm>
            <a:off x="685800" y="1965960"/>
            <a:ext cx="6675120" cy="1097280"/>
          </a:xfrm>
          <a:prstGeom prst="roundRect">
            <a:avLst>
              <a:gd name="adj" fmla="val 6667"/>
            </a:avLst>
          </a:prstGeom>
          <a:solidFill>
            <a:srgbClr val="1B160C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9" name="fx4_1_2"/>
          <p:cNvSpPr/>
          <p:nvPr/>
        </p:nvSpPr>
        <p:spPr>
          <a:xfrm>
            <a:off x="685800" y="2112264"/>
            <a:ext cx="50292" cy="804672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0" name="fx4_1_3"/>
          <p:cNvSpPr/>
          <p:nvPr/>
        </p:nvSpPr>
        <p:spPr>
          <a:xfrm>
            <a:off x="941832" y="182880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21" name="fx4_1_4"/>
          <p:cNvSpPr/>
          <p:nvPr/>
        </p:nvSpPr>
        <p:spPr>
          <a:xfrm>
            <a:off x="941832" y="18288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70C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22" name="fx4_1_5"/>
          <p:cNvSpPr/>
          <p:nvPr/>
        </p:nvSpPr>
        <p:spPr>
          <a:xfrm>
            <a:off x="960120" y="21488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26 лет он дрался на шпагах с университетским библиотекарем —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чтобы студенты могли брать книги.</a:t>
            </a:r>
            <a:pPr algn="l"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Шумпетер победил, студенты получили книги, а соперники стали друзьями.</a:t>
            </a:r>
            <a:endParaRPr lang="en-US" sz="1350" dirty="0"/>
          </a:p>
        </p:txBody>
      </p:sp>
      <p:sp>
        <p:nvSpPr>
          <p:cNvPr id="23" name="fx4_2_6"/>
          <p:cNvSpPr/>
          <p:nvPr/>
        </p:nvSpPr>
        <p:spPr>
          <a:xfrm>
            <a:off x="1362056" y="4206240"/>
            <a:ext cx="9467583" cy="91"/>
          </a:xfrm>
          <a:prstGeom prst="line">
            <a:avLst/>
          </a:prstGeom>
          <a:noFill/>
          <a:ln w="19050">
            <a:solidFill>
              <a:srgbClr val="E3B663">
                <a:alpha val="65000"/>
              </a:srgbClr>
            </a:solidFill>
            <a:prstDash val="solid"/>
          </a:ln>
        </p:spPr>
      </p:sp>
      <p:sp>
        <p:nvSpPr>
          <p:cNvPr id="24" name="fx4_2_7"/>
          <p:cNvSpPr/>
          <p:nvPr/>
        </p:nvSpPr>
        <p:spPr>
          <a:xfrm>
            <a:off x="1270616" y="4114800"/>
            <a:ext cx="182880" cy="182880"/>
          </a:xfrm>
          <a:prstGeom prst="ellipse">
            <a:avLst/>
          </a:prstGeom>
          <a:solidFill>
            <a:srgbClr val="070C18"/>
          </a:solidFill>
          <a:ln w="25400">
            <a:solidFill>
              <a:srgbClr val="E3B663"/>
            </a:solidFill>
            <a:prstDash val="solid"/>
          </a:ln>
        </p:spPr>
      </p:sp>
      <p:sp>
        <p:nvSpPr>
          <p:cNvPr id="25" name="fx4_2_8"/>
          <p:cNvSpPr/>
          <p:nvPr/>
        </p:nvSpPr>
        <p:spPr>
          <a:xfrm>
            <a:off x="740664" y="4389120"/>
            <a:ext cx="124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1907</a:t>
            </a:r>
            <a:endParaRPr lang="en-US" sz="2000" dirty="0"/>
          </a:p>
        </p:txBody>
      </p:sp>
      <p:sp>
        <p:nvSpPr>
          <p:cNvPr id="26" name="fx4_2_9"/>
          <p:cNvSpPr/>
          <p:nvPr/>
        </p:nvSpPr>
        <p:spPr>
          <a:xfrm>
            <a:off x="740664" y="4791456"/>
            <a:ext cx="124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Каир</a:t>
            </a:r>
            <a:endParaRPr lang="en-US" sz="1250" dirty="0"/>
          </a:p>
        </p:txBody>
      </p:sp>
      <p:sp>
        <p:nvSpPr>
          <p:cNvPr id="27" name="fx4_2_10"/>
          <p:cNvSpPr/>
          <p:nvPr/>
        </p:nvSpPr>
        <p:spPr>
          <a:xfrm>
            <a:off x="740664" y="5084064"/>
            <a:ext cx="1242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Юрист в Смешанном суде Египта; управляет финансами принцессы</a:t>
            </a:r>
            <a:endParaRPr lang="en-US" sz="1000" dirty="0"/>
          </a:p>
        </p:txBody>
      </p:sp>
      <p:sp>
        <p:nvSpPr>
          <p:cNvPr id="28" name="fx4_2_11"/>
          <p:cNvSpPr/>
          <p:nvPr/>
        </p:nvSpPr>
        <p:spPr>
          <a:xfrm>
            <a:off x="2623128" y="4114800"/>
            <a:ext cx="182880" cy="182880"/>
          </a:xfrm>
          <a:prstGeom prst="ellipse">
            <a:avLst/>
          </a:prstGeom>
          <a:solidFill>
            <a:srgbClr val="070C18"/>
          </a:solidFill>
          <a:ln w="25400">
            <a:solidFill>
              <a:srgbClr val="E3B663"/>
            </a:solidFill>
            <a:prstDash val="solid"/>
          </a:ln>
        </p:spPr>
      </p:sp>
      <p:sp>
        <p:nvSpPr>
          <p:cNvPr id="29" name="fx4_2_12"/>
          <p:cNvSpPr/>
          <p:nvPr/>
        </p:nvSpPr>
        <p:spPr>
          <a:xfrm>
            <a:off x="2093176" y="4389120"/>
            <a:ext cx="124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1909</a:t>
            </a:r>
            <a:endParaRPr lang="en-US" sz="2000" dirty="0"/>
          </a:p>
        </p:txBody>
      </p:sp>
      <p:sp>
        <p:nvSpPr>
          <p:cNvPr id="30" name="fx4_2_13"/>
          <p:cNvSpPr/>
          <p:nvPr/>
        </p:nvSpPr>
        <p:spPr>
          <a:xfrm>
            <a:off x="2093176" y="4791456"/>
            <a:ext cx="124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Черновцы</a:t>
            </a:r>
            <a:endParaRPr lang="en-US" sz="1250" dirty="0"/>
          </a:p>
        </p:txBody>
      </p:sp>
      <p:sp>
        <p:nvSpPr>
          <p:cNvPr id="31" name="fx4_2_14"/>
          <p:cNvSpPr/>
          <p:nvPr/>
        </p:nvSpPr>
        <p:spPr>
          <a:xfrm>
            <a:off x="2093176" y="5084064"/>
            <a:ext cx="1242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Профессор в 26 лет — один из самых молодых в империи</a:t>
            </a:r>
            <a:endParaRPr lang="en-US" sz="1000" dirty="0"/>
          </a:p>
        </p:txBody>
      </p:sp>
      <p:sp>
        <p:nvSpPr>
          <p:cNvPr id="32" name="fx4_3_15"/>
          <p:cNvSpPr/>
          <p:nvPr/>
        </p:nvSpPr>
        <p:spPr>
          <a:xfrm>
            <a:off x="3975640" y="4114800"/>
            <a:ext cx="182880" cy="182880"/>
          </a:xfrm>
          <a:prstGeom prst="ellipse">
            <a:avLst/>
          </a:prstGeom>
          <a:solidFill>
            <a:srgbClr val="070C18"/>
          </a:solidFill>
          <a:ln w="25400">
            <a:solidFill>
              <a:srgbClr val="E3B663"/>
            </a:solidFill>
            <a:prstDash val="solid"/>
          </a:ln>
        </p:spPr>
      </p:sp>
      <p:sp>
        <p:nvSpPr>
          <p:cNvPr id="33" name="fx4_3_16"/>
          <p:cNvSpPr/>
          <p:nvPr/>
        </p:nvSpPr>
        <p:spPr>
          <a:xfrm>
            <a:off x="3445688" y="4389120"/>
            <a:ext cx="124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1911</a:t>
            </a:r>
            <a:endParaRPr lang="en-US" sz="2000" dirty="0"/>
          </a:p>
        </p:txBody>
      </p:sp>
      <p:sp>
        <p:nvSpPr>
          <p:cNvPr id="34" name="fx4_3_17"/>
          <p:cNvSpPr/>
          <p:nvPr/>
        </p:nvSpPr>
        <p:spPr>
          <a:xfrm>
            <a:off x="3445688" y="4791456"/>
            <a:ext cx="124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Грац</a:t>
            </a:r>
            <a:endParaRPr lang="en-US" sz="1250" dirty="0"/>
          </a:p>
        </p:txBody>
      </p:sp>
      <p:sp>
        <p:nvSpPr>
          <p:cNvPr id="35" name="fx4_3_18"/>
          <p:cNvSpPr/>
          <p:nvPr/>
        </p:nvSpPr>
        <p:spPr>
          <a:xfrm>
            <a:off x="3445688" y="5084064"/>
            <a:ext cx="1242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Профессор; выходит «Теория экономического развития»</a:t>
            </a:r>
            <a:endParaRPr lang="en-US" sz="1000" dirty="0"/>
          </a:p>
        </p:txBody>
      </p:sp>
      <p:sp>
        <p:nvSpPr>
          <p:cNvPr id="36" name="fx4_3_19"/>
          <p:cNvSpPr/>
          <p:nvPr/>
        </p:nvSpPr>
        <p:spPr>
          <a:xfrm>
            <a:off x="5328152" y="4114800"/>
            <a:ext cx="182880" cy="182880"/>
          </a:xfrm>
          <a:prstGeom prst="ellipse">
            <a:avLst/>
          </a:prstGeom>
          <a:solidFill>
            <a:srgbClr val="070C18"/>
          </a:solidFill>
          <a:ln w="25400">
            <a:solidFill>
              <a:srgbClr val="E3B663"/>
            </a:solidFill>
            <a:prstDash val="solid"/>
          </a:ln>
        </p:spPr>
      </p:sp>
      <p:sp>
        <p:nvSpPr>
          <p:cNvPr id="37" name="fx4_3_20"/>
          <p:cNvSpPr/>
          <p:nvPr/>
        </p:nvSpPr>
        <p:spPr>
          <a:xfrm>
            <a:off x="4798200" y="4389120"/>
            <a:ext cx="124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1913</a:t>
            </a:r>
            <a:endParaRPr lang="en-US" sz="2000" dirty="0"/>
          </a:p>
        </p:txBody>
      </p:sp>
      <p:sp>
        <p:nvSpPr>
          <p:cNvPr id="38" name="fx4_3_21"/>
          <p:cNvSpPr/>
          <p:nvPr/>
        </p:nvSpPr>
        <p:spPr>
          <a:xfrm>
            <a:off x="4798200" y="4791456"/>
            <a:ext cx="124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Нью-Йорк</a:t>
            </a:r>
            <a:endParaRPr lang="en-US" sz="1250" dirty="0"/>
          </a:p>
        </p:txBody>
      </p:sp>
      <p:sp>
        <p:nvSpPr>
          <p:cNvPr id="39" name="fx4_3_22"/>
          <p:cNvSpPr/>
          <p:nvPr/>
        </p:nvSpPr>
        <p:spPr>
          <a:xfrm>
            <a:off x="4798200" y="5084064"/>
            <a:ext cx="1242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Приглашённый профессор Колумбийского университета</a:t>
            </a:r>
            <a:endParaRPr lang="en-US" sz="1000" dirty="0"/>
          </a:p>
        </p:txBody>
      </p:sp>
      <p:sp>
        <p:nvSpPr>
          <p:cNvPr id="40" name="fx4_4_23"/>
          <p:cNvSpPr/>
          <p:nvPr/>
        </p:nvSpPr>
        <p:spPr>
          <a:xfrm>
            <a:off x="6680664" y="4114800"/>
            <a:ext cx="182880" cy="182880"/>
          </a:xfrm>
          <a:prstGeom prst="ellipse">
            <a:avLst/>
          </a:prstGeom>
          <a:solidFill>
            <a:srgbClr val="070C18"/>
          </a:solidFill>
          <a:ln w="25400">
            <a:solidFill>
              <a:srgbClr val="E3B663"/>
            </a:solidFill>
            <a:prstDash val="solid"/>
          </a:ln>
        </p:spPr>
      </p:sp>
      <p:sp>
        <p:nvSpPr>
          <p:cNvPr id="41" name="fx4_4_24"/>
          <p:cNvSpPr/>
          <p:nvPr/>
        </p:nvSpPr>
        <p:spPr>
          <a:xfrm>
            <a:off x="6150712" y="4389120"/>
            <a:ext cx="124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1919</a:t>
            </a:r>
            <a:endParaRPr lang="en-US" sz="2000" dirty="0"/>
          </a:p>
        </p:txBody>
      </p:sp>
      <p:sp>
        <p:nvSpPr>
          <p:cNvPr id="42" name="fx4_4_25"/>
          <p:cNvSpPr/>
          <p:nvPr/>
        </p:nvSpPr>
        <p:spPr>
          <a:xfrm>
            <a:off x="6150712" y="4791456"/>
            <a:ext cx="124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Вена</a:t>
            </a:r>
            <a:endParaRPr lang="en-US" sz="1250" dirty="0"/>
          </a:p>
        </p:txBody>
      </p:sp>
      <p:sp>
        <p:nvSpPr>
          <p:cNvPr id="43" name="fx4_4_26"/>
          <p:cNvSpPr/>
          <p:nvPr/>
        </p:nvSpPr>
        <p:spPr>
          <a:xfrm>
            <a:off x="6150712" y="5084064"/>
            <a:ext cx="1242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Министр финансов Австрии (около 7 месяцев)</a:t>
            </a:r>
            <a:endParaRPr lang="en-US" sz="1000" dirty="0"/>
          </a:p>
        </p:txBody>
      </p:sp>
      <p:sp>
        <p:nvSpPr>
          <p:cNvPr id="44" name="fx4_4_27"/>
          <p:cNvSpPr/>
          <p:nvPr/>
        </p:nvSpPr>
        <p:spPr>
          <a:xfrm>
            <a:off x="8033175" y="4114800"/>
            <a:ext cx="182880" cy="182880"/>
          </a:xfrm>
          <a:prstGeom prst="ellipse">
            <a:avLst/>
          </a:prstGeom>
          <a:solidFill>
            <a:srgbClr val="070C18"/>
          </a:solidFill>
          <a:ln w="25400">
            <a:solidFill>
              <a:srgbClr val="E3B663"/>
            </a:solidFill>
            <a:prstDash val="solid"/>
          </a:ln>
        </p:spPr>
      </p:sp>
      <p:sp>
        <p:nvSpPr>
          <p:cNvPr id="45" name="fx4_4_28"/>
          <p:cNvSpPr/>
          <p:nvPr/>
        </p:nvSpPr>
        <p:spPr>
          <a:xfrm>
            <a:off x="7503224" y="4389120"/>
            <a:ext cx="124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1921</a:t>
            </a:r>
            <a:endParaRPr lang="en-US" sz="2000" dirty="0"/>
          </a:p>
        </p:txBody>
      </p:sp>
      <p:sp>
        <p:nvSpPr>
          <p:cNvPr id="46" name="fx4_4_29"/>
          <p:cNvSpPr/>
          <p:nvPr/>
        </p:nvSpPr>
        <p:spPr>
          <a:xfrm>
            <a:off x="7503224" y="4791456"/>
            <a:ext cx="124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</a:t>
            </a:r>
            <a:endParaRPr lang="en-US" sz="1250" dirty="0"/>
          </a:p>
        </p:txBody>
      </p:sp>
      <p:sp>
        <p:nvSpPr>
          <p:cNvPr id="47" name="fx4_4_30"/>
          <p:cNvSpPr/>
          <p:nvPr/>
        </p:nvSpPr>
        <p:spPr>
          <a:xfrm>
            <a:off x="7503224" y="5084064"/>
            <a:ext cx="1242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Президент Biedermann Bank; крах в 1924, долги</a:t>
            </a:r>
            <a:endParaRPr lang="en-US" sz="1000" dirty="0"/>
          </a:p>
        </p:txBody>
      </p:sp>
      <p:sp>
        <p:nvSpPr>
          <p:cNvPr id="48" name="fx4_5_31"/>
          <p:cNvSpPr/>
          <p:nvPr/>
        </p:nvSpPr>
        <p:spPr>
          <a:xfrm>
            <a:off x="9385687" y="4114800"/>
            <a:ext cx="182880" cy="182880"/>
          </a:xfrm>
          <a:prstGeom prst="ellipse">
            <a:avLst/>
          </a:prstGeom>
          <a:solidFill>
            <a:srgbClr val="070C18"/>
          </a:solidFill>
          <a:ln w="25400">
            <a:solidFill>
              <a:srgbClr val="E3B663"/>
            </a:solidFill>
            <a:prstDash val="solid"/>
          </a:ln>
        </p:spPr>
      </p:sp>
      <p:sp>
        <p:nvSpPr>
          <p:cNvPr id="49" name="fx4_5_32"/>
          <p:cNvSpPr/>
          <p:nvPr/>
        </p:nvSpPr>
        <p:spPr>
          <a:xfrm>
            <a:off x="8855735" y="4389120"/>
            <a:ext cx="124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1925</a:t>
            </a:r>
            <a:endParaRPr lang="en-US" sz="2000" dirty="0"/>
          </a:p>
        </p:txBody>
      </p:sp>
      <p:sp>
        <p:nvSpPr>
          <p:cNvPr id="50" name="fx4_5_33"/>
          <p:cNvSpPr/>
          <p:nvPr/>
        </p:nvSpPr>
        <p:spPr>
          <a:xfrm>
            <a:off x="8855735" y="4791456"/>
            <a:ext cx="124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Бонн</a:t>
            </a:r>
            <a:endParaRPr lang="en-US" sz="1250" dirty="0"/>
          </a:p>
        </p:txBody>
      </p:sp>
      <p:sp>
        <p:nvSpPr>
          <p:cNvPr id="51" name="fx4_5_34"/>
          <p:cNvSpPr/>
          <p:nvPr/>
        </p:nvSpPr>
        <p:spPr>
          <a:xfrm>
            <a:off x="8855735" y="5084064"/>
            <a:ext cx="1242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Профессор; в 1926 умирают мать и жена Анни</a:t>
            </a:r>
            <a:endParaRPr lang="en-US" sz="1000" dirty="0"/>
          </a:p>
        </p:txBody>
      </p:sp>
      <p:sp>
        <p:nvSpPr>
          <p:cNvPr id="52" name="fx4_5_35"/>
          <p:cNvSpPr/>
          <p:nvPr/>
        </p:nvSpPr>
        <p:spPr>
          <a:xfrm>
            <a:off x="10738199" y="4114800"/>
            <a:ext cx="182880" cy="182880"/>
          </a:xfrm>
          <a:prstGeom prst="ellipse">
            <a:avLst/>
          </a:prstGeom>
          <a:solidFill>
            <a:srgbClr val="E3B663"/>
          </a:solidFill>
          <a:ln w="25400">
            <a:solidFill>
              <a:srgbClr val="E3B663"/>
            </a:solidFill>
            <a:prstDash val="solid"/>
          </a:ln>
        </p:spPr>
      </p:sp>
      <p:sp>
        <p:nvSpPr>
          <p:cNvPr id="53" name="fx4_5_36"/>
          <p:cNvSpPr/>
          <p:nvPr/>
        </p:nvSpPr>
        <p:spPr>
          <a:xfrm>
            <a:off x="10208247" y="4389120"/>
            <a:ext cx="124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1932</a:t>
            </a:r>
            <a:endParaRPr lang="en-US" sz="2000" dirty="0"/>
          </a:p>
        </p:txBody>
      </p:sp>
      <p:sp>
        <p:nvSpPr>
          <p:cNvPr id="54" name="fx4_5_37"/>
          <p:cNvSpPr/>
          <p:nvPr/>
        </p:nvSpPr>
        <p:spPr>
          <a:xfrm>
            <a:off x="10208247" y="4791456"/>
            <a:ext cx="124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Гарвард</a:t>
            </a:r>
            <a:endParaRPr lang="en-US" sz="1250" dirty="0"/>
          </a:p>
        </p:txBody>
      </p:sp>
      <p:sp>
        <p:nvSpPr>
          <p:cNvPr id="55" name="fx4_5_38"/>
          <p:cNvSpPr/>
          <p:nvPr/>
        </p:nvSpPr>
        <p:spPr>
          <a:xfrm>
            <a:off x="10208247" y="5084064"/>
            <a:ext cx="1242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Профессор до конца жизни; гражданин США с 1939</a:t>
            </a:r>
            <a:endParaRPr lang="en-US" sz="10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6" name="!!m-edu">
                <a:extLst>
                  <a:ext uri="{FF2B5EF4-FFF2-40B4-BE49-F238E27FC236}">
                    <a16:creationId xmlns:a16="http://schemas.microsoft.com/office/drawing/2014/main" id="{F8AD6BBA-7E68-F881-E88D-AC42B0B9402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120640" y="1417320"/>
              <a:ext cx="4572000" cy="4572000"/>
            </p:xfrm>
            <a:graphic>
              <a:graphicData uri="http://schemas.microsoft.com/office/drawing/2017/model3d">
                <am3d:model3d r:embed="rIdM3d14">
                  <am3d:spPr>
                    <a:xfrm>
                      <a:off x="0" y="0"/>
                      <a:ext cx="4572000" cy="4572000"/>
                    </a:xfrm>
                    <a:prstGeom prst="rect">
                      <a:avLst/>
                    </a:prstGeom>
                  </am3d:spPr>
                  <am3d:camera>
                    <am3d:pos x="0" y="0" z="6619068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9527" d="1000000"/>
                    <am3d:preTrans dx="206019" dy="-8142109" dz="-304972"/>
                    <am3d:scale>
                      <am3d:sx n="1000000" d="1000000"/>
                      <am3d:sy n="1000000" d="1000000"/>
                      <am3d:sz n="1000000" d="1000000"/>
                    </am3d:scale>
                    <am3d:rot ax="1080000" ay="-624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572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6" name="!!m-edu">
                <a:extLst>
                  <a:ext uri="{FF2B5EF4-FFF2-40B4-BE49-F238E27FC236}">
                    <a16:creationId xmlns:a16="http://schemas.microsoft.com/office/drawing/2014/main" id="{F8AD6BBA-7E68-F881-E88D-AC42B0B9402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120640" y="1417320"/>
                <a:ext cx="4572000" cy="45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7" name="!!m-tophat">
                <a:extLst>
                  <a:ext uri="{FF2B5EF4-FFF2-40B4-BE49-F238E27FC236}">
                    <a16:creationId xmlns:a16="http://schemas.microsoft.com/office/drawing/2014/main" id="{D669205F-6381-A289-B8AF-C9554F44846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3977640"/>
              <a:ext cx="2331720" cy="2331720"/>
            </p:xfrm>
            <a:graphic>
              <a:graphicData uri="http://schemas.microsoft.com/office/drawing/2017/model3d">
                <am3d:model3d r:embed="rIdM3d15">
                  <am3d:spPr>
                    <a:xfrm>
                      <a:off x="0" y="0"/>
                      <a:ext cx="2331720" cy="2331720"/>
                    </a:xfrm>
                    <a:prstGeom prst="rect">
                      <a:avLst/>
                    </a:prstGeom>
                  </am3d:spPr>
                  <am3d:camera>
                    <am3d:pos x="0" y="0" z="7266577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91139" d="1000000"/>
                    <am3d:preTrans dx="0" dy="-11591772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36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23317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7" name="!!m-tophat">
                <a:extLst>
                  <a:ext uri="{FF2B5EF4-FFF2-40B4-BE49-F238E27FC236}">
                    <a16:creationId xmlns:a16="http://schemas.microsoft.com/office/drawing/2014/main" id="{D669205F-6381-A289-B8AF-C9554F44846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3977640"/>
                <a:ext cx="2331720" cy="2331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7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7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5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schumpeter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3091456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gear">
                <a:extLst>
                  <a:ext uri="{FF2B5EF4-FFF2-40B4-BE49-F238E27FC236}">
                    <a16:creationId xmlns:a16="http://schemas.microsoft.com/office/drawing/2014/main" id="{3E4DBF10-975D-5FCA-9E5A-F7C25A373F1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75504" y="62179"/>
              <a:ext cx="603504" cy="603504"/>
            </p:xfrm>
            <a:graphic>
              <a:graphicData uri="http://schemas.microsoft.com/office/drawing/2017/model3d">
                <am3d:model3d r:embed="rIdM3d16">
                  <am3d:spPr>
                    <a:xfrm>
                      <a:off x="0" y="0"/>
                      <a:ext cx="603504" cy="603504"/>
                    </a:xfrm>
                    <a:prstGeom prst="rect">
                      <a:avLst/>
                    </a:prstGeom>
                  </am3d:spPr>
                  <am3d:camera>
                    <am3d:pos x="0" y="0" z="671596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175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840000" az="-3456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6035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gear">
                <a:extLst>
                  <a:ext uri="{FF2B5EF4-FFF2-40B4-BE49-F238E27FC236}">
                    <a16:creationId xmlns:a16="http://schemas.microsoft.com/office/drawing/2014/main" id="{3E4DBF10-975D-5FCA-9E5A-F7C25A373F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475504" y="62179"/>
                <a:ext cx="603504" cy="60350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ЧЕМ ЗАНИМАЛСЯ: ЧЕТЫРЕ РОЛИ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ЙОЗЕФ ШУМПЕТЕР  ·  1883–1950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900" dirty="0"/>
          </a:p>
        </p:txBody>
      </p:sp>
      <p:sp>
        <p:nvSpPr>
          <p:cNvPr id="11" name="!!title"/>
          <p:cNvSpPr/>
          <p:nvPr/>
        </p:nvSpPr>
        <p:spPr>
          <a:xfrm>
            <a:off x="685800" y="987552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Учёный, министр, банкир, профессор</a:t>
            </a:r>
            <a:endParaRPr lang="en-US" sz="3600" dirty="0"/>
          </a:p>
        </p:txBody>
      </p:sp>
      <p:sp>
        <p:nvSpPr>
          <p:cNvPr id="12" name="fx5_1_0"/>
          <p:cNvSpPr/>
          <p:nvPr/>
        </p:nvSpPr>
        <p:spPr>
          <a:xfrm>
            <a:off x="8970264" y="1060704"/>
            <a:ext cx="2560320" cy="3726812"/>
          </a:xfrm>
          <a:prstGeom prst="rect">
            <a:avLst/>
          </a:prstGeom>
          <a:solidFill>
            <a:srgbClr val="E3B663">
              <a:alpha val="16000"/>
            </a:srgbClr>
          </a:solidFill>
          <a:ln w="9525">
            <a:solidFill>
              <a:srgbClr val="E3B663">
                <a:alpha val="40000"/>
              </a:srgbClr>
            </a:solidFill>
            <a:prstDash val="solid"/>
          </a:ln>
        </p:spPr>
      </p:sp>
      <p:sp>
        <p:nvSpPr>
          <p:cNvPr id="13" name="fx5_1_1"/>
          <p:cNvSpPr/>
          <p:nvPr/>
        </p:nvSpPr>
        <p:spPr>
          <a:xfrm>
            <a:off x="8769096" y="859536"/>
            <a:ext cx="2670048" cy="3836540"/>
          </a:xfrm>
          <a:prstGeom prst="rect">
            <a:avLst/>
          </a:prstGeom>
          <a:solidFill>
            <a:srgbClr val="070C18"/>
          </a:solidFill>
          <a:ln w="15875">
            <a:solidFill>
              <a:srgbClr val="E3B663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4" name="fx5_1_2" descr="/home/user/omgGame/presentations/schumpeter/assets/portrait-191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914400"/>
            <a:ext cx="2560320" cy="3726812"/>
          </a:xfrm>
          <a:prstGeom prst="rect">
            <a:avLst/>
          </a:prstGeom>
        </p:spPr>
      </p:pic>
      <p:sp>
        <p:nvSpPr>
          <p:cNvPr id="15" name="fx5_1_3"/>
          <p:cNvSpPr/>
          <p:nvPr/>
        </p:nvSpPr>
        <p:spPr>
          <a:xfrm>
            <a:off x="8732520" y="47692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Шумпетер около 1910 г. · Wikimedia Commons</a:t>
            </a:r>
            <a:endParaRPr lang="en-US" sz="850" dirty="0"/>
          </a:p>
        </p:txBody>
      </p:sp>
      <p:pic>
        <p:nvPicPr>
          <p:cNvPr id="16" name="!!glow" descr="/home/user/omgGame/presentations/schumpeter/assets/g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748" y="3378708"/>
            <a:ext cx="2798064" cy="2798064"/>
          </a:xfrm>
          <a:prstGeom prst="rect">
            <a:avLst/>
          </a:prstGeom>
        </p:spPr>
      </p:pic>
      <p:sp>
        <p:nvSpPr>
          <p:cNvPr id="17" name="!!ring1"/>
          <p:cNvSpPr/>
          <p:nvPr/>
        </p:nvSpPr>
        <p:spPr>
          <a:xfrm>
            <a:off x="7430872" y="3681832"/>
            <a:ext cx="2191817" cy="2191817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8" name="!!ring2"/>
          <p:cNvSpPr/>
          <p:nvPr/>
        </p:nvSpPr>
        <p:spPr>
          <a:xfrm>
            <a:off x="7127748" y="3378708"/>
            <a:ext cx="2798064" cy="2798064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9" name="!!shadow" descr="/home/user/omgGame/presentations/schumpeter/assets/shad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0678" y="5086693"/>
            <a:ext cx="1632204" cy="408051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!!m-tophat">
                <a:extLst>
                  <a:ext uri="{FF2B5EF4-FFF2-40B4-BE49-F238E27FC236}">
                    <a16:creationId xmlns:a16="http://schemas.microsoft.com/office/drawing/2014/main" id="{51C51AF5-8CAF-C581-5085-1E2C95A8D57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360920" y="3611880"/>
              <a:ext cx="2331720" cy="2331720"/>
            </p:xfrm>
            <a:graphic>
              <a:graphicData uri="http://schemas.microsoft.com/office/drawing/2017/model3d">
                <am3d:model3d r:embed="rIdM3d17">
                  <am3d:spPr>
                    <a:xfrm>
                      <a:off x="0" y="0"/>
                      <a:ext cx="2331720" cy="2331720"/>
                    </a:xfrm>
                    <a:prstGeom prst="rect">
                      <a:avLst/>
                    </a:prstGeom>
                  </am3d:spPr>
                  <am3d:camera>
                    <am3d:pos x="0" y="0" z="7266577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91139" d="1000000"/>
                    <am3d:preTrans dx="0" dy="-11591772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-12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3317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!!m-tophat">
                <a:extLst>
                  <a:ext uri="{FF2B5EF4-FFF2-40B4-BE49-F238E27FC236}">
                    <a16:creationId xmlns:a16="http://schemas.microsoft.com/office/drawing/2014/main" id="{51C51AF5-8CAF-C581-5085-1E2C95A8D5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60920" y="3611880"/>
                <a:ext cx="2331720" cy="233172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fx5_9_4"/>
          <p:cNvSpPr/>
          <p:nvPr/>
        </p:nvSpPr>
        <p:spPr>
          <a:xfrm>
            <a:off x="7360920" y="5833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05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Цилиндр венского денди</a:t>
            </a:r>
            <a:endParaRPr lang="en-US" sz="900" dirty="0"/>
          </a:p>
        </p:txBody>
      </p:sp>
      <p:sp>
        <p:nvSpPr>
          <p:cNvPr id="22" name="fx5_2_5"/>
          <p:cNvSpPr/>
          <p:nvPr/>
        </p:nvSpPr>
        <p:spPr>
          <a:xfrm>
            <a:off x="685800" y="2148840"/>
            <a:ext cx="3227832" cy="1353312"/>
          </a:xfrm>
          <a:prstGeom prst="roundRect">
            <a:avLst>
              <a:gd name="adj" fmla="val 5405"/>
            </a:avLst>
          </a:prstGeom>
          <a:solidFill>
            <a:srgbClr val="0E1930">
              <a:alpha val="85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23" name="fx5_2_6"/>
          <p:cNvSpPr/>
          <p:nvPr/>
        </p:nvSpPr>
        <p:spPr>
          <a:xfrm>
            <a:off x="886968" y="227685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200" dirty="0"/>
          </a:p>
        </p:txBody>
      </p:sp>
      <p:sp>
        <p:nvSpPr>
          <p:cNvPr id="24" name="fx5_2_7"/>
          <p:cNvSpPr/>
          <p:nvPr/>
        </p:nvSpPr>
        <p:spPr>
          <a:xfrm>
            <a:off x="1417320" y="233172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Учёный-экономист</a:t>
            </a:r>
            <a:endParaRPr lang="en-US" sz="1350" dirty="0"/>
          </a:p>
        </p:txBody>
      </p:sp>
      <p:sp>
        <p:nvSpPr>
          <p:cNvPr id="25" name="fx5_2_8"/>
          <p:cNvSpPr/>
          <p:nvPr/>
        </p:nvSpPr>
        <p:spPr>
          <a:xfrm>
            <a:off x="886968" y="2734056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Теория развития, деловые циклы, история экономической мысли, социология.</a:t>
            </a:r>
            <a:endParaRPr lang="en-US" sz="1100" dirty="0"/>
          </a:p>
        </p:txBody>
      </p:sp>
      <p:sp>
        <p:nvSpPr>
          <p:cNvPr id="26" name="fx5_3_9"/>
          <p:cNvSpPr/>
          <p:nvPr/>
        </p:nvSpPr>
        <p:spPr>
          <a:xfrm>
            <a:off x="4050792" y="2148840"/>
            <a:ext cx="3227832" cy="1353312"/>
          </a:xfrm>
          <a:prstGeom prst="roundRect">
            <a:avLst>
              <a:gd name="adj" fmla="val 5405"/>
            </a:avLst>
          </a:prstGeom>
          <a:solidFill>
            <a:srgbClr val="0E1930">
              <a:alpha val="85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27" name="fx5_3_10"/>
          <p:cNvSpPr/>
          <p:nvPr/>
        </p:nvSpPr>
        <p:spPr>
          <a:xfrm>
            <a:off x="4251960" y="227685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200" dirty="0"/>
          </a:p>
        </p:txBody>
      </p:sp>
      <p:sp>
        <p:nvSpPr>
          <p:cNvPr id="28" name="fx5_3_11"/>
          <p:cNvSpPr/>
          <p:nvPr/>
        </p:nvSpPr>
        <p:spPr>
          <a:xfrm>
            <a:off x="4782312" y="233172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Министр финансов · 1919</a:t>
            </a:r>
            <a:endParaRPr lang="en-US" sz="1350" dirty="0"/>
          </a:p>
        </p:txBody>
      </p:sp>
      <p:sp>
        <p:nvSpPr>
          <p:cNvPr id="29" name="fx5_3_12"/>
          <p:cNvSpPr/>
          <p:nvPr/>
        </p:nvSpPr>
        <p:spPr>
          <a:xfrm>
            <a:off x="4251960" y="2734056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Около семи месяцев в правительстве новой Австрийской республики.</a:t>
            </a:r>
            <a:endParaRPr lang="en-US" sz="1100" dirty="0"/>
          </a:p>
        </p:txBody>
      </p:sp>
      <p:sp>
        <p:nvSpPr>
          <p:cNvPr id="30" name="fx5_4_13"/>
          <p:cNvSpPr/>
          <p:nvPr/>
        </p:nvSpPr>
        <p:spPr>
          <a:xfrm>
            <a:off x="685800" y="3630168"/>
            <a:ext cx="3227832" cy="1353312"/>
          </a:xfrm>
          <a:prstGeom prst="roundRect">
            <a:avLst>
              <a:gd name="adj" fmla="val 5405"/>
            </a:avLst>
          </a:prstGeom>
          <a:solidFill>
            <a:srgbClr val="0E1930">
              <a:alpha val="85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31" name="fx5_4_14"/>
          <p:cNvSpPr/>
          <p:nvPr/>
        </p:nvSpPr>
        <p:spPr>
          <a:xfrm>
            <a:off x="886968" y="375818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200" dirty="0"/>
          </a:p>
        </p:txBody>
      </p:sp>
      <p:sp>
        <p:nvSpPr>
          <p:cNvPr id="32" name="fx5_4_15"/>
          <p:cNvSpPr/>
          <p:nvPr/>
        </p:nvSpPr>
        <p:spPr>
          <a:xfrm>
            <a:off x="1417320" y="381304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Банкир · 1921–1924</a:t>
            </a:r>
            <a:endParaRPr lang="en-US" sz="1350" dirty="0"/>
          </a:p>
        </p:txBody>
      </p:sp>
      <p:sp>
        <p:nvSpPr>
          <p:cNvPr id="33" name="fx5_4_16"/>
          <p:cNvSpPr/>
          <p:nvPr/>
        </p:nvSpPr>
        <p:spPr>
          <a:xfrm>
            <a:off x="886968" y="4215384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Президент Biedermann Bank. Банк рухнул — сам испытал риск и годами отдавал долги.</a:t>
            </a:r>
            <a:endParaRPr lang="en-US" sz="1100" dirty="0"/>
          </a:p>
        </p:txBody>
      </p:sp>
      <p:sp>
        <p:nvSpPr>
          <p:cNvPr id="34" name="fx5_5_17"/>
          <p:cNvSpPr/>
          <p:nvPr/>
        </p:nvSpPr>
        <p:spPr>
          <a:xfrm>
            <a:off x="4050792" y="3630168"/>
            <a:ext cx="3227832" cy="1353312"/>
          </a:xfrm>
          <a:prstGeom prst="roundRect">
            <a:avLst>
              <a:gd name="adj" fmla="val 5405"/>
            </a:avLst>
          </a:prstGeom>
          <a:solidFill>
            <a:srgbClr val="0E1930">
              <a:alpha val="85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35" name="fx5_5_18"/>
          <p:cNvSpPr/>
          <p:nvPr/>
        </p:nvSpPr>
        <p:spPr>
          <a:xfrm>
            <a:off x="4251960" y="375818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200" dirty="0"/>
          </a:p>
        </p:txBody>
      </p:sp>
      <p:sp>
        <p:nvSpPr>
          <p:cNvPr id="36" name="fx5_5_19"/>
          <p:cNvSpPr/>
          <p:nvPr/>
        </p:nvSpPr>
        <p:spPr>
          <a:xfrm>
            <a:off x="4782312" y="381304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Профессор Гарварда</a:t>
            </a:r>
            <a:endParaRPr lang="en-US" sz="1350" dirty="0"/>
          </a:p>
        </p:txBody>
      </p:sp>
      <p:sp>
        <p:nvSpPr>
          <p:cNvPr id="37" name="fx5_5_20"/>
          <p:cNvSpPr/>
          <p:nvPr/>
        </p:nvSpPr>
        <p:spPr>
          <a:xfrm>
            <a:off x="4251960" y="4215384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1932 г. Президент Эконометрического общества и Американской экономической ассоциации.</a:t>
            </a:r>
            <a:endParaRPr lang="en-US" sz="1100" dirty="0"/>
          </a:p>
        </p:txBody>
      </p:sp>
      <p:sp>
        <p:nvSpPr>
          <p:cNvPr id="38" name="fx5_8_21"/>
          <p:cNvSpPr/>
          <p:nvPr/>
        </p:nvSpPr>
        <p:spPr>
          <a:xfrm>
            <a:off x="685800" y="5257800"/>
            <a:ext cx="6592824" cy="932688"/>
          </a:xfrm>
          <a:prstGeom prst="roundRect">
            <a:avLst>
              <a:gd name="adj" fmla="val 7843"/>
            </a:avLst>
          </a:prstGeom>
          <a:solidFill>
            <a:srgbClr val="1B160C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9" name="fx5_8_22"/>
          <p:cNvSpPr/>
          <p:nvPr/>
        </p:nvSpPr>
        <p:spPr>
          <a:xfrm>
            <a:off x="685800" y="5404104"/>
            <a:ext cx="50292" cy="64008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40" name="fx5_8_23"/>
          <p:cNvSpPr/>
          <p:nvPr/>
        </p:nvSpPr>
        <p:spPr>
          <a:xfrm>
            <a:off x="941832" y="512064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41" name="fx5_8_24"/>
          <p:cNvSpPr/>
          <p:nvPr/>
        </p:nvSpPr>
        <p:spPr>
          <a:xfrm>
            <a:off x="941832" y="5120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70C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42" name="fx5_8_25"/>
          <p:cNvSpPr/>
          <p:nvPr/>
        </p:nvSpPr>
        <p:spPr>
          <a:xfrm>
            <a:off x="960120" y="5440680"/>
            <a:ext cx="6135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Легенда: в юности он мечтал стать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величайшим экономистом мира, лучшим наездником Австрии и величайшим любовником Вены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Позже шутил, что не вышло только с лошадьми.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3" name="!!m-globe">
                <a:extLst>
                  <a:ext uri="{FF2B5EF4-FFF2-40B4-BE49-F238E27FC236}">
                    <a16:creationId xmlns:a16="http://schemas.microsoft.com/office/drawing/2014/main" id="{81F0C1E0-CCC3-4E73-FE43-EA648E75845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434840" y="685800"/>
              <a:ext cx="3886200" cy="3886200"/>
            </p:xfrm>
            <a:graphic>
              <a:graphicData uri="http://schemas.microsoft.com/office/drawing/2017/model3d">
                <am3d:model3d r:embed="rIdM3d18">
                  <am3d:spPr>
                    <a:xfrm>
                      <a:off x="0" y="0"/>
                      <a:ext cx="3886200" cy="3886200"/>
                    </a:xfrm>
                    <a:prstGeom prst="rect">
                      <a:avLst/>
                    </a:prstGeom>
                  </am3d:spPr>
                  <am3d:camera>
                    <am3d:pos x="0" y="0" z="710734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71790" d="1000000"/>
                    <am3d:preTrans dx="1061825" dy="-773652" dz="2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48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886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3" name="!!m-globe">
                <a:extLst>
                  <a:ext uri="{FF2B5EF4-FFF2-40B4-BE49-F238E27FC236}">
                    <a16:creationId xmlns:a16="http://schemas.microsoft.com/office/drawing/2014/main" id="{81F0C1E0-CCC3-4E73-FE43-EA648E75845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4434840" y="685800"/>
                <a:ext cx="3886200" cy="38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4" name="!!m-books">
                <a:extLst>
                  <a:ext uri="{FF2B5EF4-FFF2-40B4-BE49-F238E27FC236}">
                    <a16:creationId xmlns:a16="http://schemas.microsoft.com/office/drawing/2014/main" id="{052182F5-56B2-03B5-0A75-65F74E138D8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325880"/>
              <a:ext cx="4663440" cy="4663440"/>
            </p:xfrm>
            <a:graphic>
              <a:graphicData uri="http://schemas.microsoft.com/office/drawing/2017/model3d">
                <am3d:model3d r:embed="rIdM3d19">
                  <am3d:spPr>
                    <a:xfrm>
                      <a:off x="0" y="0"/>
                      <a:ext cx="4663440" cy="4663440"/>
                    </a:xfrm>
                    <a:prstGeom prst="rect">
                      <a:avLst/>
                    </a:prstGeom>
                  </am3d:spPr>
                  <am3d:camera>
                    <am3d:pos x="0" y="0" z="667556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2104" d="1000000"/>
                    <am3d:preTrans dx="79514" dy="-9883400" dz="-1727303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3120000" az="0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46634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4" name="!!m-books">
                <a:extLst>
                  <a:ext uri="{FF2B5EF4-FFF2-40B4-BE49-F238E27FC236}">
                    <a16:creationId xmlns:a16="http://schemas.microsoft.com/office/drawing/2014/main" id="{052182F5-56B2-03B5-0A75-65F74E138D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740335" y="1325880"/>
                <a:ext cx="4663440" cy="4663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6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schumpeter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3864320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gear">
                <a:extLst>
                  <a:ext uri="{FF2B5EF4-FFF2-40B4-BE49-F238E27FC236}">
                    <a16:creationId xmlns:a16="http://schemas.microsoft.com/office/drawing/2014/main" id="{B273BCD9-4A0A-6F36-1D4D-34313E90BF0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48368" y="62179"/>
              <a:ext cx="603504" cy="603504"/>
            </p:xfrm>
            <a:graphic>
              <a:graphicData uri="http://schemas.microsoft.com/office/drawing/2017/model3d">
                <am3d:model3d r:embed="rIdM3d20">
                  <am3d:spPr>
                    <a:xfrm>
                      <a:off x="0" y="0"/>
                      <a:ext cx="603504" cy="603504"/>
                    </a:xfrm>
                    <a:prstGeom prst="rect">
                      <a:avLst/>
                    </a:prstGeom>
                  </am3d:spPr>
                  <am3d:camera>
                    <am3d:pos x="0" y="0" z="671596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175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840000" az="-432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6035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gear">
                <a:extLst>
                  <a:ext uri="{FF2B5EF4-FFF2-40B4-BE49-F238E27FC236}">
                    <a16:creationId xmlns:a16="http://schemas.microsoft.com/office/drawing/2014/main" id="{B273BCD9-4A0A-6F36-1D4D-34313E90B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248368" y="62179"/>
                <a:ext cx="603504" cy="60350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ГЛАВНЫЕ ТРУДЫ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ЙОЗЕФ ШУМПЕТЕР  ·  1883–1950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900" dirty="0"/>
          </a:p>
        </p:txBody>
      </p:sp>
      <p:pic>
        <p:nvPicPr>
          <p:cNvPr id="11" name="!!glow" descr="/home/user/omgGame/presentations/schumpeter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606" y="-89154"/>
            <a:ext cx="6761988" cy="6761988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180783" y="1100023"/>
            <a:ext cx="4383634" cy="4383634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6574536" y="493776"/>
            <a:ext cx="5596128" cy="5596128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schumpeter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858" y="4049649"/>
            <a:ext cx="3637483" cy="909371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books">
                <a:extLst>
                  <a:ext uri="{FF2B5EF4-FFF2-40B4-BE49-F238E27FC236}">
                    <a16:creationId xmlns:a16="http://schemas.microsoft.com/office/drawing/2014/main" id="{C3FF1367-9D36-A2CE-C4F5-CBDB85967FC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040880" y="960120"/>
              <a:ext cx="4663440" cy="4663440"/>
            </p:xfrm>
            <a:graphic>
              <a:graphicData uri="http://schemas.microsoft.com/office/drawing/2017/model3d">
                <am3d:model3d r:embed="rIdM3d21">
                  <am3d:spPr>
                    <a:xfrm>
                      <a:off x="0" y="0"/>
                      <a:ext cx="4663440" cy="4663440"/>
                    </a:xfrm>
                    <a:prstGeom prst="rect">
                      <a:avLst/>
                    </a:prstGeom>
                  </am3d:spPr>
                  <am3d:camera>
                    <am3d:pos x="0" y="0" z="667556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2104" d="1000000"/>
                    <am3d:preTrans dx="79514" dy="-9883400" dz="-1727303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-16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6634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books">
                <a:extLst>
                  <a:ext uri="{FF2B5EF4-FFF2-40B4-BE49-F238E27FC236}">
                    <a16:creationId xmlns:a16="http://schemas.microsoft.com/office/drawing/2014/main" id="{C3FF1367-9D36-A2CE-C4F5-CBDB85967F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40880" y="960120"/>
                <a:ext cx="4663440" cy="46634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6_9_0"/>
          <p:cNvSpPr/>
          <p:nvPr/>
        </p:nvSpPr>
        <p:spPr>
          <a:xfrm>
            <a:off x="7726680" y="5297119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06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главные книги — нижняя толще всех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Четыре книги, которые стоит знать</a:t>
            </a:r>
            <a:endParaRPr lang="en-US" sz="3600" dirty="0"/>
          </a:p>
        </p:txBody>
      </p:sp>
      <p:sp>
        <p:nvSpPr>
          <p:cNvPr id="18" name="fx6_1_1"/>
          <p:cNvSpPr/>
          <p:nvPr/>
        </p:nvSpPr>
        <p:spPr>
          <a:xfrm>
            <a:off x="685800" y="226771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1911/12</a:t>
            </a:r>
            <a:endParaRPr lang="en-US" sz="2100" dirty="0"/>
          </a:p>
        </p:txBody>
      </p:sp>
      <p:sp>
        <p:nvSpPr>
          <p:cNvPr id="19" name="fx6_1_2"/>
          <p:cNvSpPr/>
          <p:nvPr/>
        </p:nvSpPr>
        <p:spPr>
          <a:xfrm>
            <a:off x="2057400" y="22860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«Теория экономического развития»</a:t>
            </a:r>
            <a:endParaRPr lang="en-US" sz="1500" dirty="0"/>
          </a:p>
        </p:txBody>
      </p:sp>
      <p:sp>
        <p:nvSpPr>
          <p:cNvPr id="20" name="fx6_1_3"/>
          <p:cNvSpPr/>
          <p:nvPr/>
        </p:nvSpPr>
        <p:spPr>
          <a:xfrm>
            <a:off x="2057400" y="26243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Предприниматель, инновации и кредит как двигатель развития.</a:t>
            </a:r>
            <a:endParaRPr lang="en-US" sz="1150" dirty="0"/>
          </a:p>
        </p:txBody>
      </p:sp>
      <p:sp>
        <p:nvSpPr>
          <p:cNvPr id="21" name="fx6_2_4"/>
          <p:cNvSpPr/>
          <p:nvPr/>
        </p:nvSpPr>
        <p:spPr>
          <a:xfrm>
            <a:off x="685800" y="2944368"/>
            <a:ext cx="5852160" cy="91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fx6_2_5"/>
          <p:cNvSpPr/>
          <p:nvPr/>
        </p:nvSpPr>
        <p:spPr>
          <a:xfrm>
            <a:off x="685800" y="3035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1939</a:t>
            </a:r>
            <a:endParaRPr lang="en-US" sz="2100" dirty="0"/>
          </a:p>
        </p:txBody>
      </p:sp>
      <p:sp>
        <p:nvSpPr>
          <p:cNvPr id="23" name="fx6_2_6"/>
          <p:cNvSpPr/>
          <p:nvPr/>
        </p:nvSpPr>
        <p:spPr>
          <a:xfrm>
            <a:off x="2057400" y="30540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«Деловые циклы»</a:t>
            </a:r>
            <a:endParaRPr lang="en-US" sz="1500" dirty="0"/>
          </a:p>
        </p:txBody>
      </p:sp>
      <p:sp>
        <p:nvSpPr>
          <p:cNvPr id="24" name="fx6_2_7"/>
          <p:cNvSpPr/>
          <p:nvPr/>
        </p:nvSpPr>
        <p:spPr>
          <a:xfrm>
            <a:off x="2057400" y="33924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экономика растёт волнами; «циклы Кондратьева».</a:t>
            </a:r>
            <a:endParaRPr lang="en-US" sz="1150" dirty="0"/>
          </a:p>
        </p:txBody>
      </p:sp>
      <p:sp>
        <p:nvSpPr>
          <p:cNvPr id="25" name="fx6_3_8"/>
          <p:cNvSpPr/>
          <p:nvPr/>
        </p:nvSpPr>
        <p:spPr>
          <a:xfrm>
            <a:off x="685800" y="3712464"/>
            <a:ext cx="5852160" cy="91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fx6_3_9"/>
          <p:cNvSpPr/>
          <p:nvPr/>
        </p:nvSpPr>
        <p:spPr>
          <a:xfrm>
            <a:off x="685800" y="380390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1942</a:t>
            </a:r>
            <a:endParaRPr lang="en-US" sz="2100" dirty="0"/>
          </a:p>
        </p:txBody>
      </p:sp>
      <p:sp>
        <p:nvSpPr>
          <p:cNvPr id="27" name="fx6_3_10"/>
          <p:cNvSpPr/>
          <p:nvPr/>
        </p:nvSpPr>
        <p:spPr>
          <a:xfrm>
            <a:off x="2057400" y="38221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«Капитализм, социализм и демократия»</a:t>
            </a:r>
            <a:endParaRPr lang="en-US" sz="1500" dirty="0"/>
          </a:p>
        </p:txBody>
      </p:sp>
      <p:sp>
        <p:nvSpPr>
          <p:cNvPr id="28" name="fx6_3_11"/>
          <p:cNvSpPr/>
          <p:nvPr/>
        </p:nvSpPr>
        <p:spPr>
          <a:xfrm>
            <a:off x="2057400" y="4160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«Созидательное разрушение» — его самая известная идея.</a:t>
            </a:r>
            <a:endParaRPr lang="en-US" sz="1150" dirty="0"/>
          </a:p>
        </p:txBody>
      </p:sp>
      <p:sp>
        <p:nvSpPr>
          <p:cNvPr id="29" name="fx6_4_12"/>
          <p:cNvSpPr/>
          <p:nvPr/>
        </p:nvSpPr>
        <p:spPr>
          <a:xfrm>
            <a:off x="685800" y="4480560"/>
            <a:ext cx="5852160" cy="91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fx6_4_13"/>
          <p:cNvSpPr/>
          <p:nvPr/>
        </p:nvSpPr>
        <p:spPr>
          <a:xfrm>
            <a:off x="685800" y="45720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1954</a:t>
            </a:r>
            <a:endParaRPr lang="en-US" sz="2100" dirty="0"/>
          </a:p>
        </p:txBody>
      </p:sp>
      <p:sp>
        <p:nvSpPr>
          <p:cNvPr id="31" name="fx6_4_14"/>
          <p:cNvSpPr/>
          <p:nvPr/>
        </p:nvSpPr>
        <p:spPr>
          <a:xfrm>
            <a:off x="2057400" y="45902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«История экономического анализа»</a:t>
            </a:r>
            <a:endParaRPr lang="en-US" sz="1500" dirty="0"/>
          </a:p>
        </p:txBody>
      </p:sp>
      <p:sp>
        <p:nvSpPr>
          <p:cNvPr id="32" name="fx6_4_15"/>
          <p:cNvSpPr/>
          <p:nvPr/>
        </p:nvSpPr>
        <p:spPr>
          <a:xfrm>
            <a:off x="2057400" y="49286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Огромная история экономической мысли; издана посмертно.</a:t>
            </a:r>
            <a:endParaRPr lang="en-US" sz="1150" dirty="0"/>
          </a:p>
        </p:txBody>
      </p:sp>
      <p:sp>
        <p:nvSpPr>
          <p:cNvPr id="33" name="fx6_8_16"/>
          <p:cNvSpPr/>
          <p:nvPr/>
        </p:nvSpPr>
        <p:spPr>
          <a:xfrm>
            <a:off x="685800" y="5394960"/>
            <a:ext cx="5943600" cy="804672"/>
          </a:xfrm>
          <a:prstGeom prst="roundRect">
            <a:avLst>
              <a:gd name="adj" fmla="val 9091"/>
            </a:avLst>
          </a:prstGeom>
          <a:solidFill>
            <a:srgbClr val="1B160C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4" name="fx6_8_17"/>
          <p:cNvSpPr/>
          <p:nvPr/>
        </p:nvSpPr>
        <p:spPr>
          <a:xfrm>
            <a:off x="685800" y="5541264"/>
            <a:ext cx="50292" cy="51206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5" name="fx6_8_18"/>
          <p:cNvSpPr/>
          <p:nvPr/>
        </p:nvSpPr>
        <p:spPr>
          <a:xfrm>
            <a:off x="941832" y="525780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6" name="fx6_8_19"/>
          <p:cNvSpPr/>
          <p:nvPr/>
        </p:nvSpPr>
        <p:spPr>
          <a:xfrm>
            <a:off x="941832" y="52578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70C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7" name="fx6_8_20"/>
          <p:cNvSpPr/>
          <p:nvPr/>
        </p:nvSpPr>
        <p:spPr>
          <a:xfrm>
            <a:off x="960120" y="557784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«История экономического анализа» —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больше 1200 страниц.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Шумпетер не успел её закончить: книгу по рукописям издала его жена Элизабет (1954).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8" name="!!m-tophat">
                <a:extLst>
                  <a:ext uri="{FF2B5EF4-FFF2-40B4-BE49-F238E27FC236}">
                    <a16:creationId xmlns:a16="http://schemas.microsoft.com/office/drawing/2014/main" id="{A98B453F-F336-F8FD-C74F-7799A0BA87A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2880360" y="3977640"/>
              <a:ext cx="2331720" cy="2331720"/>
            </p:xfrm>
            <a:graphic>
              <a:graphicData uri="http://schemas.microsoft.com/office/drawing/2017/model3d">
                <am3d:model3d r:embed="rIdM3d22">
                  <am3d:spPr>
                    <a:xfrm>
                      <a:off x="0" y="0"/>
                      <a:ext cx="2331720" cy="2331720"/>
                    </a:xfrm>
                    <a:prstGeom prst="rect">
                      <a:avLst/>
                    </a:prstGeom>
                  </am3d:spPr>
                  <am3d:camera>
                    <am3d:pos x="0" y="0" z="7266577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91139" d="1000000"/>
                    <am3d:preTrans dx="0" dy="-11591772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-60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3317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8" name="!!m-tophat">
                <a:extLst>
                  <a:ext uri="{FF2B5EF4-FFF2-40B4-BE49-F238E27FC236}">
                    <a16:creationId xmlns:a16="http://schemas.microsoft.com/office/drawing/2014/main" id="{A98B453F-F336-F8FD-C74F-7799A0BA87A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880360" y="3977640"/>
                <a:ext cx="2331720" cy="233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9" name="!!m-locomotive">
                <a:extLst>
                  <a:ext uri="{FF2B5EF4-FFF2-40B4-BE49-F238E27FC236}">
                    <a16:creationId xmlns:a16="http://schemas.microsoft.com/office/drawing/2014/main" id="{E0736A55-B3ED-E59F-2F61-A6E8DD842CE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554480"/>
              <a:ext cx="6035040" cy="6035040"/>
            </p:xfrm>
            <a:graphic>
              <a:graphicData uri="http://schemas.microsoft.com/office/drawing/2017/model3d">
                <am3d:model3d r:embed="rIdM3d23">
                  <am3d:spPr>
                    <a:xfrm>
                      <a:off x="0" y="0"/>
                      <a:ext cx="6035040" cy="6035040"/>
                    </a:xfrm>
                    <a:prstGeom prst="rect">
                      <a:avLst/>
                    </a:prstGeom>
                  </am3d:spPr>
                  <am3d:camera>
                    <am3d:pos x="0" y="0" z="5793644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9627" d="1000000"/>
                    <am3d:preTrans dx="-3253422" dy="-1102306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684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60350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9" name="!!m-locomotive">
                <a:extLst>
                  <a:ext uri="{FF2B5EF4-FFF2-40B4-BE49-F238E27FC236}">
                    <a16:creationId xmlns:a16="http://schemas.microsoft.com/office/drawing/2014/main" id="{E0736A55-B3ED-E59F-2F61-A6E8DD842CE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554480"/>
                <a:ext cx="6035040" cy="603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7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schumpeter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4637184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gear">
                <a:extLst>
                  <a:ext uri="{FF2B5EF4-FFF2-40B4-BE49-F238E27FC236}">
                    <a16:creationId xmlns:a16="http://schemas.microsoft.com/office/drawing/2014/main" id="{74AA9160-8F14-F5CC-A61A-2B9B6D1693F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021232" y="62179"/>
              <a:ext cx="603504" cy="603504"/>
            </p:xfrm>
            <a:graphic>
              <a:graphicData uri="http://schemas.microsoft.com/office/drawing/2017/model3d">
                <am3d:model3d r:embed="rIdM3d24">
                  <am3d:spPr>
                    <a:xfrm>
                      <a:off x="0" y="0"/>
                      <a:ext cx="603504" cy="603504"/>
                    </a:xfrm>
                    <a:prstGeom prst="rect">
                      <a:avLst/>
                    </a:prstGeom>
                  </am3d:spPr>
                  <am3d:camera>
                    <am3d:pos x="0" y="0" z="671596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175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840000" az="-5184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6035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gear">
                <a:extLst>
                  <a:ext uri="{FF2B5EF4-FFF2-40B4-BE49-F238E27FC236}">
                    <a16:creationId xmlns:a16="http://schemas.microsoft.com/office/drawing/2014/main" id="{74AA9160-8F14-F5CC-A61A-2B9B6D1693F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21232" y="62179"/>
                <a:ext cx="603504" cy="60350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ГЛАВНАЯ МЫСЛЬ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ЙОЗЕФ ШУМПЕТЕР  ·  1883–1950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900" dirty="0"/>
          </a:p>
        </p:txBody>
      </p:sp>
      <p:pic>
        <p:nvPicPr>
          <p:cNvPr id="11" name="!!glow" descr="/home/user/omgGame/presentations/schumpeter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436" y="-169164"/>
            <a:ext cx="8750808" cy="8750808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6170371" y="1369771"/>
            <a:ext cx="5672938" cy="5672938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5385816" y="585216"/>
            <a:ext cx="7242048" cy="7242048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schumpeter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948" y="5013427"/>
            <a:ext cx="5129784" cy="128244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locomotive">
                <a:extLst>
                  <a:ext uri="{FF2B5EF4-FFF2-40B4-BE49-F238E27FC236}">
                    <a16:creationId xmlns:a16="http://schemas.microsoft.com/office/drawing/2014/main" id="{A089AE0E-9A16-DEC7-C17B-B031BE2568E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989320" y="1188720"/>
              <a:ext cx="6035040" cy="6035040"/>
            </p:xfrm>
            <a:graphic>
              <a:graphicData uri="http://schemas.microsoft.com/office/drawing/2017/model3d">
                <am3d:model3d r:embed="rIdM3d25">
                  <am3d:spPr>
                    <a:xfrm>
                      <a:off x="0" y="0"/>
                      <a:ext cx="6035040" cy="6035040"/>
                    </a:xfrm>
                    <a:prstGeom prst="rect">
                      <a:avLst/>
                    </a:prstGeom>
                  </am3d:spPr>
                  <am3d:camera>
                    <am3d:pos x="0" y="0" z="5793644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9627" d="1000000"/>
                    <am3d:preTrans dx="-3253422" dy="-1102306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204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60350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locomotive">
                <a:extLst>
                  <a:ext uri="{FF2B5EF4-FFF2-40B4-BE49-F238E27FC236}">
                    <a16:creationId xmlns:a16="http://schemas.microsoft.com/office/drawing/2014/main" id="{A089AE0E-9A16-DEC7-C17B-B031BE2568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89320" y="1188720"/>
                <a:ext cx="6035040" cy="60350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7_9_0"/>
          <p:cNvSpPr/>
          <p:nvPr/>
        </p:nvSpPr>
        <p:spPr>
          <a:xfrm>
            <a:off x="8138160" y="1600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07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Железная дорога — не «много карет»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Экономика меняется изнутри — скачками</a:t>
            </a:r>
            <a:endParaRPr lang="en-US" sz="3600" dirty="0"/>
          </a:p>
        </p:txBody>
      </p:sp>
      <p:sp>
        <p:nvSpPr>
          <p:cNvPr id="18" name="fx7_1_1"/>
          <p:cNvSpPr/>
          <p:nvPr/>
        </p:nvSpPr>
        <p:spPr>
          <a:xfrm>
            <a:off x="685800" y="2267712"/>
            <a:ext cx="2487168" cy="2011680"/>
          </a:xfrm>
          <a:prstGeom prst="roundRect">
            <a:avLst>
              <a:gd name="adj" fmla="val 3636"/>
            </a:avLst>
          </a:prstGeom>
          <a:solidFill>
            <a:srgbClr val="0E1930">
              <a:alpha val="88000"/>
            </a:srgbClr>
          </a:solidFill>
          <a:ln w="9525">
            <a:solidFill>
              <a:srgbClr val="8090A8">
                <a:alpha val="30000"/>
              </a:srgbClr>
            </a:solidFill>
            <a:prstDash val="solid"/>
          </a:ln>
        </p:spPr>
      </p:sp>
      <p:sp>
        <p:nvSpPr>
          <p:cNvPr id="19" name="fx7_1_2"/>
          <p:cNvSpPr/>
          <p:nvPr/>
        </p:nvSpPr>
        <p:spPr>
          <a:xfrm>
            <a:off x="886968" y="2432304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КРУГООБОРОТ</a:t>
            </a:r>
            <a:endParaRPr lang="en-US" sz="950" dirty="0"/>
          </a:p>
        </p:txBody>
      </p:sp>
      <p:sp>
        <p:nvSpPr>
          <p:cNvPr id="20" name="fx7_1_3"/>
          <p:cNvSpPr/>
          <p:nvPr/>
        </p:nvSpPr>
        <p:spPr>
          <a:xfrm>
            <a:off x="886968" y="265176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Статика</a:t>
            </a:r>
            <a:endParaRPr lang="en-US" sz="2000" dirty="0"/>
          </a:p>
        </p:txBody>
      </p:sp>
      <p:sp>
        <p:nvSpPr>
          <p:cNvPr id="21" name="fx7_1_4"/>
          <p:cNvSpPr/>
          <p:nvPr/>
        </p:nvSpPr>
        <p:spPr>
          <a:xfrm>
            <a:off x="886968" y="3127248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повторяет себя из года в год</a:t>
            </a:r>
            <a:endParaRPr lang="en-US" sz="110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Спрос и предложение в равновесии</a:t>
            </a:r>
            <a:endParaRPr lang="en-US" sz="110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 стремится к нулю</a:t>
            </a:r>
            <a:endParaRPr lang="en-US" sz="1100" dirty="0"/>
          </a:p>
        </p:txBody>
      </p:sp>
      <p:sp>
        <p:nvSpPr>
          <p:cNvPr id="22" name="fx7_2_5"/>
          <p:cNvSpPr/>
          <p:nvPr/>
        </p:nvSpPr>
        <p:spPr>
          <a:xfrm>
            <a:off x="3172968" y="29718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fx7_2_6"/>
          <p:cNvSpPr/>
          <p:nvPr/>
        </p:nvSpPr>
        <p:spPr>
          <a:xfrm>
            <a:off x="3584448" y="2267712"/>
            <a:ext cx="2487168" cy="2011680"/>
          </a:xfrm>
          <a:prstGeom prst="roundRect">
            <a:avLst>
              <a:gd name="adj" fmla="val 3636"/>
            </a:avLst>
          </a:prstGeom>
          <a:solidFill>
            <a:srgbClr val="0E1930">
              <a:alpha val="88000"/>
            </a:srgbClr>
          </a:solidFill>
          <a:ln w="9525">
            <a:solidFill>
              <a:srgbClr val="E3B663">
                <a:alpha val="65000"/>
              </a:srgbClr>
            </a:solidFill>
            <a:prstDash val="solid"/>
          </a:ln>
        </p:spPr>
      </p:sp>
      <p:sp>
        <p:nvSpPr>
          <p:cNvPr id="24" name="fx7_2_7"/>
          <p:cNvSpPr/>
          <p:nvPr/>
        </p:nvSpPr>
        <p:spPr>
          <a:xfrm>
            <a:off x="3785616" y="2432304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62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</a:t>
            </a:r>
            <a:endParaRPr lang="en-US" sz="950" dirty="0"/>
          </a:p>
        </p:txBody>
      </p:sp>
      <p:sp>
        <p:nvSpPr>
          <p:cNvPr id="25" name="fx7_2_8"/>
          <p:cNvSpPr/>
          <p:nvPr/>
        </p:nvSpPr>
        <p:spPr>
          <a:xfrm>
            <a:off x="3785616" y="265176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Динамика</a:t>
            </a:r>
            <a:endParaRPr lang="en-US" sz="2000" dirty="0"/>
          </a:p>
        </p:txBody>
      </p:sp>
      <p:sp>
        <p:nvSpPr>
          <p:cNvPr id="26" name="fx7_2_9"/>
          <p:cNvSpPr/>
          <p:nvPr/>
        </p:nvSpPr>
        <p:spPr>
          <a:xfrm>
            <a:off x="3785616" y="3127248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Предприниматель вводит новое</a:t>
            </a:r>
            <a:endParaRPr lang="en-US" sz="110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Равновесие ломается изнутри</a:t>
            </a:r>
            <a:endParaRPr lang="en-US" sz="110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Появляются прибыль и рост</a:t>
            </a:r>
            <a:endParaRPr lang="en-US" sz="1100" dirty="0"/>
          </a:p>
        </p:txBody>
      </p:sp>
      <p:sp>
        <p:nvSpPr>
          <p:cNvPr id="27" name="fx7_8_10"/>
          <p:cNvSpPr/>
          <p:nvPr/>
        </p:nvSpPr>
        <p:spPr>
          <a:xfrm>
            <a:off x="685800" y="4572000"/>
            <a:ext cx="5394960" cy="1572768"/>
          </a:xfrm>
          <a:prstGeom prst="roundRect">
            <a:avLst>
              <a:gd name="adj" fmla="val 4651"/>
            </a:avLst>
          </a:prstGeom>
          <a:solidFill>
            <a:srgbClr val="1B160C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8" name="fx7_8_11"/>
          <p:cNvSpPr/>
          <p:nvPr/>
        </p:nvSpPr>
        <p:spPr>
          <a:xfrm>
            <a:off x="685800" y="4718304"/>
            <a:ext cx="50292" cy="128016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9" name="fx7_8_12"/>
          <p:cNvSpPr/>
          <p:nvPr/>
        </p:nvSpPr>
        <p:spPr>
          <a:xfrm>
            <a:off x="941832" y="4434840"/>
            <a:ext cx="2569464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0" name="fx7_8_13"/>
          <p:cNvSpPr/>
          <p:nvPr/>
        </p:nvSpPr>
        <p:spPr>
          <a:xfrm>
            <a:off x="941832" y="4434840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70C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САМАЯ ЗНАМЕНИТАЯ ФРАЗА</a:t>
            </a:r>
            <a:endParaRPr lang="en-US" sz="850" dirty="0"/>
          </a:p>
        </p:txBody>
      </p:sp>
      <p:sp>
        <p:nvSpPr>
          <p:cNvPr id="31" name="fx7_8_14"/>
          <p:cNvSpPr/>
          <p:nvPr/>
        </p:nvSpPr>
        <p:spPr>
          <a:xfrm>
            <a:off x="960120" y="4754880"/>
            <a:ext cx="4937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«Складывайте сколько угодно почтовых карет — железной дороги вы так не получите».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3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«Теория экономического развития», 1911. Автору было 28 лет.</a:t>
            </a:r>
            <a:endParaRPr lang="en-US" sz="16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2" name="!!m-books">
                <a:extLst>
                  <a:ext uri="{FF2B5EF4-FFF2-40B4-BE49-F238E27FC236}">
                    <a16:creationId xmlns:a16="http://schemas.microsoft.com/office/drawing/2014/main" id="{A70CD5BA-DADA-CB30-9A98-D94E4A9CB51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212080" y="1325880"/>
              <a:ext cx="4663440" cy="4663440"/>
            </p:xfrm>
            <a:graphic>
              <a:graphicData uri="http://schemas.microsoft.com/office/drawing/2017/model3d">
                <am3d:model3d r:embed="rIdM3d26">
                  <am3d:spPr>
                    <a:xfrm>
                      <a:off x="0" y="0"/>
                      <a:ext cx="4663440" cy="4663440"/>
                    </a:xfrm>
                    <a:prstGeom prst="rect">
                      <a:avLst/>
                    </a:prstGeom>
                  </am3d:spPr>
                  <am3d:camera>
                    <am3d:pos x="0" y="0" z="667556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2104" d="1000000"/>
                    <am3d:preTrans dx="79514" dy="-9883400" dz="-1727303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-64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6634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2" name="!!m-books">
                <a:extLst>
                  <a:ext uri="{FF2B5EF4-FFF2-40B4-BE49-F238E27FC236}">
                    <a16:creationId xmlns:a16="http://schemas.microsoft.com/office/drawing/2014/main" id="{A70CD5BA-DADA-CB30-9A98-D94E4A9CB5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212080" y="1325880"/>
                <a:ext cx="4663440" cy="46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!!m-cube">
                <a:extLst>
                  <a:ext uri="{FF2B5EF4-FFF2-40B4-BE49-F238E27FC236}">
                    <a16:creationId xmlns:a16="http://schemas.microsoft.com/office/drawing/2014/main" id="{27D08E84-C0D7-555E-BF9A-962D987DA50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600200"/>
              <a:ext cx="4114800" cy="4114800"/>
            </p:xfrm>
            <a:graphic>
              <a:graphicData uri="http://schemas.microsoft.com/office/drawing/2017/model3d">
                <am3d:model3d r:embed="rIdM3d27">
                  <am3d:spPr>
                    <a:xfrm>
                      <a:off x="0" y="0"/>
                      <a:ext cx="4114800" cy="4114800"/>
                    </a:xfrm>
                    <a:prstGeom prst="rect">
                      <a:avLst/>
                    </a:prstGeom>
                  </am3d:spPr>
                  <am3d:camera>
                    <am3d:pos x="0" y="0" z="757772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24412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440000" ay="27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1148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!!m-cube">
                <a:extLst>
                  <a:ext uri="{FF2B5EF4-FFF2-40B4-BE49-F238E27FC236}">
                    <a16:creationId xmlns:a16="http://schemas.microsoft.com/office/drawing/2014/main" id="{27D08E84-C0D7-555E-BF9A-962D987DA50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600200"/>
                <a:ext cx="4114800" cy="4114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8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schumpeter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5410048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gear">
                <a:extLst>
                  <a:ext uri="{FF2B5EF4-FFF2-40B4-BE49-F238E27FC236}">
                    <a16:creationId xmlns:a16="http://schemas.microsoft.com/office/drawing/2014/main" id="{39E3A451-1D79-DA1C-BBCC-DA136511013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794096" y="62179"/>
              <a:ext cx="603504" cy="603504"/>
            </p:xfrm>
            <a:graphic>
              <a:graphicData uri="http://schemas.microsoft.com/office/drawing/2017/model3d">
                <am3d:model3d r:embed="rIdM3d28">
                  <am3d:spPr>
                    <a:xfrm>
                      <a:off x="0" y="0"/>
                      <a:ext cx="603504" cy="603504"/>
                    </a:xfrm>
                    <a:prstGeom prst="rect">
                      <a:avLst/>
                    </a:prstGeom>
                  </am3d:spPr>
                  <am3d:camera>
                    <am3d:pos x="0" y="0" z="671596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175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840000" az="-6048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6035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gear">
                <a:extLst>
                  <a:ext uri="{FF2B5EF4-FFF2-40B4-BE49-F238E27FC236}">
                    <a16:creationId xmlns:a16="http://schemas.microsoft.com/office/drawing/2014/main" id="{39E3A451-1D79-DA1C-BBCC-DA13651101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94096" y="62179"/>
                <a:ext cx="603504" cy="60350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ГЛАВНАЯ МЫСЛЬ: ИННОВАЦИЯ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ЙОЗЕФ ШУМПЕТЕР  ·  1883–1950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15</a:t>
            </a:r>
            <a:endParaRPr lang="en-US" sz="900" dirty="0"/>
          </a:p>
        </p:txBody>
      </p:sp>
      <p:pic>
        <p:nvPicPr>
          <p:cNvPr id="11" name="!!glow" descr="/home/user/omgGame/presentations/schumpeter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530" y="308610"/>
            <a:ext cx="5966460" cy="5966460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575804" y="1357884"/>
            <a:ext cx="3867912" cy="3867912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040880" y="822960"/>
            <a:ext cx="4937760" cy="4937760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schumpeter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988" y="4125087"/>
            <a:ext cx="3209544" cy="80238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cube">
                <a:extLst>
                  <a:ext uri="{FF2B5EF4-FFF2-40B4-BE49-F238E27FC236}">
                    <a16:creationId xmlns:a16="http://schemas.microsoft.com/office/drawing/2014/main" id="{1A617C4F-C234-56FA-68A0-1348A4DE5F0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52360" y="1234440"/>
              <a:ext cx="4114800" cy="4114800"/>
            </p:xfrm>
            <a:graphic>
              <a:graphicData uri="http://schemas.microsoft.com/office/drawing/2017/model3d">
                <am3d:model3d r:embed="rIdM3d29">
                  <am3d:spPr>
                    <a:xfrm>
                      <a:off x="0" y="0"/>
                      <a:ext cx="4114800" cy="4114800"/>
                    </a:xfrm>
                    <a:prstGeom prst="rect">
                      <a:avLst/>
                    </a:prstGeom>
                  </am3d:spPr>
                  <am3d:camera>
                    <am3d:pos x="0" y="0" z="757772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24412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440000" ay="-21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1148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cube">
                <a:extLst>
                  <a:ext uri="{FF2B5EF4-FFF2-40B4-BE49-F238E27FC236}">
                    <a16:creationId xmlns:a16="http://schemas.microsoft.com/office/drawing/2014/main" id="{1A617C4F-C234-56FA-68A0-1348A4DE5F0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52360" y="1234440"/>
                <a:ext cx="4114800" cy="41148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8_9_0"/>
          <p:cNvSpPr/>
          <p:nvPr/>
        </p:nvSpPr>
        <p:spPr>
          <a:xfrm>
            <a:off x="7863840" y="50612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08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 же детали — новая комбинация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Пять «новых комбинаций»</a:t>
            </a:r>
            <a:endParaRPr lang="en-US" sz="3600" dirty="0"/>
          </a:p>
        </p:txBody>
      </p:sp>
      <p:sp>
        <p:nvSpPr>
          <p:cNvPr id="18" name="fx8_1_1"/>
          <p:cNvSpPr/>
          <p:nvPr/>
        </p:nvSpPr>
        <p:spPr>
          <a:xfrm>
            <a:off x="685800" y="171907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Инновация — любое из пяти изменений. </a:t>
            </a:r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62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Изобретение ≠ инновация: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важно не придумать, а внедрить.</a:t>
            </a:r>
            <a:endParaRPr lang="en-US" sz="1250" dirty="0"/>
          </a:p>
        </p:txBody>
      </p:sp>
      <p:sp>
        <p:nvSpPr>
          <p:cNvPr id="19" name="fx8_2_2"/>
          <p:cNvSpPr/>
          <p:nvPr/>
        </p:nvSpPr>
        <p:spPr>
          <a:xfrm>
            <a:off x="685800" y="2414016"/>
            <a:ext cx="438912" cy="438912"/>
          </a:xfrm>
          <a:prstGeom prst="ellipse">
            <a:avLst/>
          </a:prstGeom>
          <a:solidFill>
            <a:srgbClr val="0E1930">
              <a:alpha val="90000"/>
            </a:srgbClr>
          </a:solidFill>
          <a:ln w="15875">
            <a:solidFill>
              <a:srgbClr val="E3B663"/>
            </a:solidFill>
            <a:prstDash val="solid"/>
          </a:ln>
        </p:spPr>
      </p:sp>
      <p:sp>
        <p:nvSpPr>
          <p:cNvPr id="20" name="fx8_2_3"/>
          <p:cNvSpPr/>
          <p:nvPr/>
        </p:nvSpPr>
        <p:spPr>
          <a:xfrm>
            <a:off x="685800" y="24140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fx8_2_4"/>
          <p:cNvSpPr/>
          <p:nvPr/>
        </p:nvSpPr>
        <p:spPr>
          <a:xfrm>
            <a:off x="1325880" y="2377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продукт</a:t>
            </a:r>
            <a:endParaRPr lang="en-US" sz="1400" dirty="0"/>
          </a:p>
        </p:txBody>
      </p:sp>
      <p:sp>
        <p:nvSpPr>
          <p:cNvPr id="22" name="fx8_2_5"/>
          <p:cNvSpPr/>
          <p:nvPr/>
        </p:nvSpPr>
        <p:spPr>
          <a:xfrm>
            <a:off x="1325880" y="264261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или новое качество знакомого товара</a:t>
            </a:r>
            <a:endParaRPr lang="en-US" sz="1150" dirty="0"/>
          </a:p>
        </p:txBody>
      </p:sp>
      <p:sp>
        <p:nvSpPr>
          <p:cNvPr id="23" name="fx8_2_6"/>
          <p:cNvSpPr/>
          <p:nvPr/>
        </p:nvSpPr>
        <p:spPr>
          <a:xfrm>
            <a:off x="685800" y="2999232"/>
            <a:ext cx="438912" cy="438912"/>
          </a:xfrm>
          <a:prstGeom prst="ellipse">
            <a:avLst/>
          </a:prstGeom>
          <a:solidFill>
            <a:srgbClr val="0E1930">
              <a:alpha val="90000"/>
            </a:srgbClr>
          </a:solidFill>
          <a:ln w="15875">
            <a:solidFill>
              <a:srgbClr val="E3B663"/>
            </a:solidFill>
            <a:prstDash val="solid"/>
          </a:ln>
        </p:spPr>
      </p:sp>
      <p:sp>
        <p:nvSpPr>
          <p:cNvPr id="24" name="fx8_2_7"/>
          <p:cNvSpPr/>
          <p:nvPr/>
        </p:nvSpPr>
        <p:spPr>
          <a:xfrm>
            <a:off x="685800" y="2999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fx8_2_8"/>
          <p:cNvSpPr/>
          <p:nvPr/>
        </p:nvSpPr>
        <p:spPr>
          <a:xfrm>
            <a:off x="1325880" y="2962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способ производства</a:t>
            </a:r>
            <a:endParaRPr lang="en-US" sz="1400" dirty="0"/>
          </a:p>
        </p:txBody>
      </p:sp>
      <p:sp>
        <p:nvSpPr>
          <p:cNvPr id="26" name="fx8_2_9"/>
          <p:cNvSpPr/>
          <p:nvPr/>
        </p:nvSpPr>
        <p:spPr>
          <a:xfrm>
            <a:off x="1325880" y="322783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 или способ продажи</a:t>
            </a:r>
            <a:endParaRPr lang="en-US" sz="1150" dirty="0"/>
          </a:p>
        </p:txBody>
      </p:sp>
      <p:sp>
        <p:nvSpPr>
          <p:cNvPr id="27" name="fx8_3_10"/>
          <p:cNvSpPr/>
          <p:nvPr/>
        </p:nvSpPr>
        <p:spPr>
          <a:xfrm>
            <a:off x="685800" y="3584448"/>
            <a:ext cx="438912" cy="438912"/>
          </a:xfrm>
          <a:prstGeom prst="ellipse">
            <a:avLst/>
          </a:prstGeom>
          <a:solidFill>
            <a:srgbClr val="0E1930">
              <a:alpha val="90000"/>
            </a:srgbClr>
          </a:solidFill>
          <a:ln w="15875">
            <a:solidFill>
              <a:srgbClr val="E3B663"/>
            </a:solidFill>
            <a:prstDash val="solid"/>
          </a:ln>
        </p:spPr>
      </p:sp>
      <p:sp>
        <p:nvSpPr>
          <p:cNvPr id="28" name="fx8_3_11"/>
          <p:cNvSpPr/>
          <p:nvPr/>
        </p:nvSpPr>
        <p:spPr>
          <a:xfrm>
            <a:off x="685800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fx8_3_12"/>
          <p:cNvSpPr/>
          <p:nvPr/>
        </p:nvSpPr>
        <p:spPr>
          <a:xfrm>
            <a:off x="1325880" y="3547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рынок</a:t>
            </a:r>
            <a:endParaRPr lang="en-US" sz="1400" dirty="0"/>
          </a:p>
        </p:txBody>
      </p:sp>
      <p:sp>
        <p:nvSpPr>
          <p:cNvPr id="30" name="fx8_3_13"/>
          <p:cNvSpPr/>
          <p:nvPr/>
        </p:nvSpPr>
        <p:spPr>
          <a:xfrm>
            <a:off x="1325880" y="38130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отрасль страны раньше не выходила</a:t>
            </a:r>
            <a:endParaRPr lang="en-US" sz="1150" dirty="0"/>
          </a:p>
        </p:txBody>
      </p:sp>
      <p:sp>
        <p:nvSpPr>
          <p:cNvPr id="31" name="fx8_3_14"/>
          <p:cNvSpPr/>
          <p:nvPr/>
        </p:nvSpPr>
        <p:spPr>
          <a:xfrm>
            <a:off x="685800" y="4169664"/>
            <a:ext cx="438912" cy="438912"/>
          </a:xfrm>
          <a:prstGeom prst="ellipse">
            <a:avLst/>
          </a:prstGeom>
          <a:solidFill>
            <a:srgbClr val="0E1930">
              <a:alpha val="90000"/>
            </a:srgbClr>
          </a:solidFill>
          <a:ln w="15875">
            <a:solidFill>
              <a:srgbClr val="E3B663"/>
            </a:solidFill>
            <a:prstDash val="solid"/>
          </a:ln>
        </p:spPr>
      </p:sp>
      <p:sp>
        <p:nvSpPr>
          <p:cNvPr id="32" name="fx8_3_15"/>
          <p:cNvSpPr/>
          <p:nvPr/>
        </p:nvSpPr>
        <p:spPr>
          <a:xfrm>
            <a:off x="685800" y="4169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fx8_3_16"/>
          <p:cNvSpPr/>
          <p:nvPr/>
        </p:nvSpPr>
        <p:spPr>
          <a:xfrm>
            <a:off x="1325880" y="4133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источник сырья</a:t>
            </a:r>
            <a:endParaRPr lang="en-US" sz="1400" dirty="0"/>
          </a:p>
        </p:txBody>
      </p:sp>
      <p:sp>
        <p:nvSpPr>
          <p:cNvPr id="34" name="fx8_3_17"/>
          <p:cNvSpPr/>
          <p:nvPr/>
        </p:nvSpPr>
        <p:spPr>
          <a:xfrm>
            <a:off x="1325880" y="439826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или полуфабрикатов</a:t>
            </a:r>
            <a:endParaRPr lang="en-US" sz="1150" dirty="0"/>
          </a:p>
        </p:txBody>
      </p:sp>
      <p:sp>
        <p:nvSpPr>
          <p:cNvPr id="35" name="fx8_4_18"/>
          <p:cNvSpPr/>
          <p:nvPr/>
        </p:nvSpPr>
        <p:spPr>
          <a:xfrm>
            <a:off x="685800" y="4754880"/>
            <a:ext cx="438912" cy="438912"/>
          </a:xfrm>
          <a:prstGeom prst="ellipse">
            <a:avLst/>
          </a:prstGeom>
          <a:solidFill>
            <a:srgbClr val="0E1930">
              <a:alpha val="90000"/>
            </a:srgbClr>
          </a:solidFill>
          <a:ln w="15875">
            <a:solidFill>
              <a:srgbClr val="E3B663"/>
            </a:solidFill>
            <a:prstDash val="solid"/>
          </a:ln>
        </p:spPr>
      </p:sp>
      <p:sp>
        <p:nvSpPr>
          <p:cNvPr id="36" name="fx8_4_19"/>
          <p:cNvSpPr/>
          <p:nvPr/>
        </p:nvSpPr>
        <p:spPr>
          <a:xfrm>
            <a:off x="685800" y="4754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fx8_4_20"/>
          <p:cNvSpPr/>
          <p:nvPr/>
        </p:nvSpPr>
        <p:spPr>
          <a:xfrm>
            <a:off x="1325880" y="47183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организация отрасли</a:t>
            </a:r>
            <a:endParaRPr lang="en-US" sz="1400" dirty="0"/>
          </a:p>
        </p:txBody>
      </p:sp>
      <p:sp>
        <p:nvSpPr>
          <p:cNvPr id="38" name="fx8_4_21"/>
          <p:cNvSpPr/>
          <p:nvPr/>
        </p:nvSpPr>
        <p:spPr>
          <a:xfrm>
            <a:off x="1325880" y="49834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или разрушение монополии</a:t>
            </a:r>
            <a:endParaRPr lang="en-US" sz="1150" dirty="0"/>
          </a:p>
        </p:txBody>
      </p:sp>
      <p:sp>
        <p:nvSpPr>
          <p:cNvPr id="39" name="fx8_8_22"/>
          <p:cNvSpPr/>
          <p:nvPr/>
        </p:nvSpPr>
        <p:spPr>
          <a:xfrm>
            <a:off x="685800" y="5440680"/>
            <a:ext cx="5943600" cy="749808"/>
          </a:xfrm>
          <a:prstGeom prst="roundRect">
            <a:avLst>
              <a:gd name="adj" fmla="val 9756"/>
            </a:avLst>
          </a:prstGeom>
          <a:solidFill>
            <a:srgbClr val="1B160C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0" name="fx8_8_23"/>
          <p:cNvSpPr/>
          <p:nvPr/>
        </p:nvSpPr>
        <p:spPr>
          <a:xfrm>
            <a:off x="685800" y="5586984"/>
            <a:ext cx="50292" cy="45720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41" name="fx8_8_24"/>
          <p:cNvSpPr/>
          <p:nvPr/>
        </p:nvSpPr>
        <p:spPr>
          <a:xfrm>
            <a:off x="941832" y="530352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42" name="fx8_8_25"/>
          <p:cNvSpPr/>
          <p:nvPr/>
        </p:nvSpPr>
        <p:spPr>
          <a:xfrm>
            <a:off x="941832" y="53035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70C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43" name="fx8_8_26"/>
          <p:cNvSpPr/>
          <p:nvPr/>
        </p:nvSpPr>
        <p:spPr>
          <a:xfrm>
            <a:off x="960120" y="562356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1911 году он почти не говорил «инновация» — писал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«новые комбинации»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Главным это слово стало только в 1939-м.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4" name="!!m-locomotive">
                <a:extLst>
                  <a:ext uri="{FF2B5EF4-FFF2-40B4-BE49-F238E27FC236}">
                    <a16:creationId xmlns:a16="http://schemas.microsoft.com/office/drawing/2014/main" id="{88D725B3-6A97-EDBA-FC1B-4721C379140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6583680" y="1554480"/>
              <a:ext cx="6035040" cy="6035040"/>
            </p:xfrm>
            <a:graphic>
              <a:graphicData uri="http://schemas.microsoft.com/office/drawing/2017/model3d">
                <am3d:model3d r:embed="rIdM3d30">
                  <am3d:spPr>
                    <a:xfrm>
                      <a:off x="0" y="0"/>
                      <a:ext cx="6035040" cy="6035040"/>
                    </a:xfrm>
                    <a:prstGeom prst="rect">
                      <a:avLst/>
                    </a:prstGeom>
                  </am3d:spPr>
                  <am3d:camera>
                    <am3d:pos x="0" y="0" z="5793644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9627" d="1000000"/>
                    <am3d:preTrans dx="-3253422" dy="-1102306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276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60350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4" name="!!m-locomotive">
                <a:extLst>
                  <a:ext uri="{FF2B5EF4-FFF2-40B4-BE49-F238E27FC236}">
                    <a16:creationId xmlns:a16="http://schemas.microsoft.com/office/drawing/2014/main" id="{88D725B3-6A97-EDBA-FC1B-4721C37914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6583680" y="1554480"/>
                <a:ext cx="6035040" cy="603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5" name="!!m-king">
                <a:extLst>
                  <a:ext uri="{FF2B5EF4-FFF2-40B4-BE49-F238E27FC236}">
                    <a16:creationId xmlns:a16="http://schemas.microsoft.com/office/drawing/2014/main" id="{4E19046B-E4A7-9393-D674-FFCD66CECCE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234440"/>
              <a:ext cx="4480560" cy="4480560"/>
            </p:xfrm>
            <a:graphic>
              <a:graphicData uri="http://schemas.microsoft.com/office/drawing/2017/model3d">
                <am3d:model3d r:embed="rIdM3d31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6193096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4078" d="1000000"/>
                    <am3d:preTrans dx="-3241704" dy="-15751394" dz="-1913053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3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5" name="!!m-king">
                <a:extLst>
                  <a:ext uri="{FF2B5EF4-FFF2-40B4-BE49-F238E27FC236}">
                    <a16:creationId xmlns:a16="http://schemas.microsoft.com/office/drawing/2014/main" id="{4E19046B-E4A7-9393-D674-FFCD66CECC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234440"/>
                <a:ext cx="4480560" cy="448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9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schumpeter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6182912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gear">
                <a:extLst>
                  <a:ext uri="{FF2B5EF4-FFF2-40B4-BE49-F238E27FC236}">
                    <a16:creationId xmlns:a16="http://schemas.microsoft.com/office/drawing/2014/main" id="{67E6FB18-9EE2-E53F-9682-45DE0D34A41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6960" y="62179"/>
              <a:ext cx="603504" cy="603504"/>
            </p:xfrm>
            <a:graphic>
              <a:graphicData uri="http://schemas.microsoft.com/office/drawing/2017/model3d">
                <am3d:model3d r:embed="rIdM3d32">
                  <am3d:spPr>
                    <a:xfrm>
                      <a:off x="0" y="0"/>
                      <a:ext cx="603504" cy="603504"/>
                    </a:xfrm>
                    <a:prstGeom prst="rect">
                      <a:avLst/>
                    </a:prstGeom>
                  </am3d:spPr>
                  <am3d:camera>
                    <am3d:pos x="0" y="0" z="671596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175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840000" az="-6912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6035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gear">
                <a:extLst>
                  <a:ext uri="{FF2B5EF4-FFF2-40B4-BE49-F238E27FC236}">
                    <a16:creationId xmlns:a16="http://schemas.microsoft.com/office/drawing/2014/main" id="{67E6FB18-9EE2-E53F-9682-45DE0D34A41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566960" y="62179"/>
                <a:ext cx="603504" cy="60350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ПРЕДПРИНИМАТЕЛЬСТВО: КТО ЭТО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ЙОЗЕФ ШУМПЕТЕР  ·  1883–1950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15</a:t>
            </a:r>
            <a:endParaRPr lang="en-US" sz="900" dirty="0"/>
          </a:p>
        </p:txBody>
      </p:sp>
      <p:pic>
        <p:nvPicPr>
          <p:cNvPr id="11" name="!!glow" descr="/home/user/omgGame/presentations/schumpeter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114" y="-139446"/>
            <a:ext cx="6496812" cy="6496812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769657" y="1003097"/>
            <a:ext cx="4211726" cy="4211726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187184" y="420624"/>
            <a:ext cx="5376672" cy="5376672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schumpeter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102" y="4105885"/>
            <a:ext cx="3494837" cy="873709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king">
                <a:extLst>
                  <a:ext uri="{FF2B5EF4-FFF2-40B4-BE49-F238E27FC236}">
                    <a16:creationId xmlns:a16="http://schemas.microsoft.com/office/drawing/2014/main" id="{ECB23772-9BF0-B764-BF19-C5718895471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635240" y="868680"/>
              <a:ext cx="4480560" cy="4480560"/>
            </p:xfrm>
            <a:graphic>
              <a:graphicData uri="http://schemas.microsoft.com/office/drawing/2017/model3d">
                <am3d:model3d r:embed="rIdM3d33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6193096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4078" d="1000000"/>
                    <am3d:preTrans dx="-3241704" dy="-15751394" dz="-1913053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5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king">
                <a:extLst>
                  <a:ext uri="{FF2B5EF4-FFF2-40B4-BE49-F238E27FC236}">
                    <a16:creationId xmlns:a16="http://schemas.microsoft.com/office/drawing/2014/main" id="{ECB23772-9BF0-B764-BF19-C571889547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35240" y="868680"/>
                <a:ext cx="4480560" cy="448056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9_9_0"/>
          <p:cNvSpPr/>
          <p:nvPr/>
        </p:nvSpPr>
        <p:spPr>
          <a:xfrm>
            <a:off x="8046720" y="5035601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09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Король и опрокинутая пешка: новая расстановка сил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Предприниматель — тот, кто внедряет новое</a:t>
            </a:r>
            <a:endParaRPr lang="en-US" sz="3300" dirty="0"/>
          </a:p>
        </p:txBody>
      </p:sp>
      <p:sp>
        <p:nvSpPr>
          <p:cNvPr id="18" name="fx9_1_1"/>
          <p:cNvSpPr/>
          <p:nvPr/>
        </p:nvSpPr>
        <p:spPr>
          <a:xfrm>
            <a:off x="68580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ОБЯЗАТЕЛЬНО</a:t>
            </a:r>
            <a:endParaRPr lang="en-US" sz="950" dirty="0"/>
          </a:p>
        </p:txBody>
      </p:sp>
      <p:sp>
        <p:nvSpPr>
          <p:cNvPr id="19" name="fx9_1_2"/>
          <p:cNvSpPr/>
          <p:nvPr/>
        </p:nvSpPr>
        <p:spPr>
          <a:xfrm>
            <a:off x="685800" y="2514600"/>
            <a:ext cx="1719072" cy="402336"/>
          </a:xfrm>
          <a:prstGeom prst="roundRect">
            <a:avLst>
              <a:gd name="adj" fmla="val 50000"/>
            </a:avLst>
          </a:prstGeom>
          <a:solidFill>
            <a:srgbClr val="0E1930">
              <a:alpha val="80000"/>
            </a:srgbClr>
          </a:solidFill>
          <a:ln w="9525">
            <a:solidFill>
              <a:srgbClr val="8090A8">
                <a:alpha val="45000"/>
              </a:srgbClr>
            </a:solidFill>
            <a:prstDash val="solid"/>
          </a:ln>
        </p:spPr>
      </p:sp>
      <p:sp>
        <p:nvSpPr>
          <p:cNvPr id="20" name="fx9_1_3"/>
          <p:cNvSpPr/>
          <p:nvPr/>
        </p:nvSpPr>
        <p:spPr>
          <a:xfrm>
            <a:off x="685800" y="251460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77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</a:t>
            </a:r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изобретатель</a:t>
            </a:r>
            <a:endParaRPr lang="en-US" sz="1200" dirty="0"/>
          </a:p>
        </p:txBody>
      </p:sp>
      <p:sp>
        <p:nvSpPr>
          <p:cNvPr id="21" name="fx9_1_4"/>
          <p:cNvSpPr/>
          <p:nvPr/>
        </p:nvSpPr>
        <p:spPr>
          <a:xfrm>
            <a:off x="2514600" y="2514600"/>
            <a:ext cx="1719072" cy="402336"/>
          </a:xfrm>
          <a:prstGeom prst="roundRect">
            <a:avLst>
              <a:gd name="adj" fmla="val 50000"/>
            </a:avLst>
          </a:prstGeom>
          <a:solidFill>
            <a:srgbClr val="0E1930">
              <a:alpha val="80000"/>
            </a:srgbClr>
          </a:solidFill>
          <a:ln w="9525">
            <a:solidFill>
              <a:srgbClr val="8090A8">
                <a:alpha val="45000"/>
              </a:srgbClr>
            </a:solidFill>
            <a:prstDash val="solid"/>
          </a:ln>
        </p:spPr>
      </p:sp>
      <p:sp>
        <p:nvSpPr>
          <p:cNvPr id="22" name="fx9_1_5"/>
          <p:cNvSpPr/>
          <p:nvPr/>
        </p:nvSpPr>
        <p:spPr>
          <a:xfrm>
            <a:off x="2514600" y="251460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77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</a:t>
            </a:r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капиталист</a:t>
            </a:r>
            <a:endParaRPr lang="en-US" sz="1200" dirty="0"/>
          </a:p>
        </p:txBody>
      </p:sp>
      <p:sp>
        <p:nvSpPr>
          <p:cNvPr id="23" name="fx9_1_6"/>
          <p:cNvSpPr/>
          <p:nvPr/>
        </p:nvSpPr>
        <p:spPr>
          <a:xfrm>
            <a:off x="4343400" y="2514600"/>
            <a:ext cx="1719072" cy="402336"/>
          </a:xfrm>
          <a:prstGeom prst="roundRect">
            <a:avLst>
              <a:gd name="adj" fmla="val 50000"/>
            </a:avLst>
          </a:prstGeom>
          <a:solidFill>
            <a:srgbClr val="0E1930">
              <a:alpha val="80000"/>
            </a:srgbClr>
          </a:solidFill>
          <a:ln w="9525">
            <a:solidFill>
              <a:srgbClr val="8090A8">
                <a:alpha val="45000"/>
              </a:srgbClr>
            </a:solidFill>
            <a:prstDash val="solid"/>
          </a:ln>
        </p:spPr>
      </p:sp>
      <p:sp>
        <p:nvSpPr>
          <p:cNvPr id="24" name="fx9_1_7"/>
          <p:cNvSpPr/>
          <p:nvPr/>
        </p:nvSpPr>
        <p:spPr>
          <a:xfrm>
            <a:off x="4343400" y="251460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77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</a:t>
            </a:r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управляющий</a:t>
            </a:r>
            <a:endParaRPr lang="en-US" sz="1200" dirty="0"/>
          </a:p>
        </p:txBody>
      </p:sp>
      <p:sp>
        <p:nvSpPr>
          <p:cNvPr id="25" name="fx9_2_8"/>
          <p:cNvSpPr/>
          <p:nvPr/>
        </p:nvSpPr>
        <p:spPr>
          <a:xfrm>
            <a:off x="685800" y="3108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Его функция — </a:t>
            </a:r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3D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соединить идею, людей, ресурсы и кредит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так, чтобы новая комбинация заработала на рынке.</a:t>
            </a:r>
            <a:endParaRPr lang="en-US" sz="1300" dirty="0"/>
          </a:p>
        </p:txBody>
      </p:sp>
      <p:sp>
        <p:nvSpPr>
          <p:cNvPr id="26" name="fx9_3_9"/>
          <p:cNvSpPr/>
          <p:nvPr/>
        </p:nvSpPr>
        <p:spPr>
          <a:xfrm>
            <a:off x="685800" y="38587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МОТИВА ПО ШУМПЕТЕРУ</a:t>
            </a:r>
            <a:endParaRPr lang="en-US" sz="950" dirty="0"/>
          </a:p>
        </p:txBody>
      </p:sp>
      <p:sp>
        <p:nvSpPr>
          <p:cNvPr id="27" name="fx9_3_10"/>
          <p:cNvSpPr/>
          <p:nvPr/>
        </p:nvSpPr>
        <p:spPr>
          <a:xfrm>
            <a:off x="685800" y="4114800"/>
            <a:ext cx="1719072" cy="987552"/>
          </a:xfrm>
          <a:prstGeom prst="roundRect">
            <a:avLst>
              <a:gd name="adj" fmla="val 7407"/>
            </a:avLst>
          </a:prstGeom>
          <a:solidFill>
            <a:srgbClr val="0E1930">
              <a:alpha val="85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28" name="fx9_3_11"/>
          <p:cNvSpPr/>
          <p:nvPr/>
        </p:nvSpPr>
        <p:spPr>
          <a:xfrm>
            <a:off x="850392" y="42062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29" name="fx9_3_12"/>
          <p:cNvSpPr/>
          <p:nvPr/>
        </p:nvSpPr>
        <p:spPr>
          <a:xfrm>
            <a:off x="850392" y="455371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Мечта о «частном королевстве»</a:t>
            </a:r>
            <a:endParaRPr lang="en-US" sz="1150" dirty="0"/>
          </a:p>
        </p:txBody>
      </p:sp>
      <p:sp>
        <p:nvSpPr>
          <p:cNvPr id="30" name="fx9_3_13"/>
          <p:cNvSpPr/>
          <p:nvPr/>
        </p:nvSpPr>
        <p:spPr>
          <a:xfrm>
            <a:off x="2514600" y="4114800"/>
            <a:ext cx="1719072" cy="987552"/>
          </a:xfrm>
          <a:prstGeom prst="roundRect">
            <a:avLst>
              <a:gd name="adj" fmla="val 7407"/>
            </a:avLst>
          </a:prstGeom>
          <a:solidFill>
            <a:srgbClr val="0E1930">
              <a:alpha val="85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31" name="fx9_3_14"/>
          <p:cNvSpPr/>
          <p:nvPr/>
        </p:nvSpPr>
        <p:spPr>
          <a:xfrm>
            <a:off x="2679192" y="42062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32" name="fx9_3_15"/>
          <p:cNvSpPr/>
          <p:nvPr/>
        </p:nvSpPr>
        <p:spPr>
          <a:xfrm>
            <a:off x="2679192" y="455371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Воля к победе</a:t>
            </a:r>
            <a:endParaRPr lang="en-US" sz="1150" dirty="0"/>
          </a:p>
        </p:txBody>
      </p:sp>
      <p:sp>
        <p:nvSpPr>
          <p:cNvPr id="33" name="fx9_3_16"/>
          <p:cNvSpPr/>
          <p:nvPr/>
        </p:nvSpPr>
        <p:spPr>
          <a:xfrm>
            <a:off x="4343400" y="4114800"/>
            <a:ext cx="1719072" cy="987552"/>
          </a:xfrm>
          <a:prstGeom prst="roundRect">
            <a:avLst>
              <a:gd name="adj" fmla="val 7407"/>
            </a:avLst>
          </a:prstGeom>
          <a:solidFill>
            <a:srgbClr val="0E1930">
              <a:alpha val="85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34" name="fx9_3_17"/>
          <p:cNvSpPr/>
          <p:nvPr/>
        </p:nvSpPr>
        <p:spPr>
          <a:xfrm>
            <a:off x="4507992" y="42062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35" name="fx9_3_18"/>
          <p:cNvSpPr/>
          <p:nvPr/>
        </p:nvSpPr>
        <p:spPr>
          <a:xfrm>
            <a:off x="4507992" y="455371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Радость творчества</a:t>
            </a:r>
            <a:endParaRPr lang="en-US" sz="1150" dirty="0"/>
          </a:p>
        </p:txBody>
      </p:sp>
      <p:sp>
        <p:nvSpPr>
          <p:cNvPr id="36" name="fx9_8_19"/>
          <p:cNvSpPr/>
          <p:nvPr/>
        </p:nvSpPr>
        <p:spPr>
          <a:xfrm>
            <a:off x="685800" y="5394960"/>
            <a:ext cx="5943600" cy="804672"/>
          </a:xfrm>
          <a:prstGeom prst="roundRect">
            <a:avLst>
              <a:gd name="adj" fmla="val 9091"/>
            </a:avLst>
          </a:prstGeom>
          <a:solidFill>
            <a:srgbClr val="1B160C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7" name="fx9_8_20"/>
          <p:cNvSpPr/>
          <p:nvPr/>
        </p:nvSpPr>
        <p:spPr>
          <a:xfrm>
            <a:off x="685800" y="5541264"/>
            <a:ext cx="50292" cy="51206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8" name="fx9_8_21"/>
          <p:cNvSpPr/>
          <p:nvPr/>
        </p:nvSpPr>
        <p:spPr>
          <a:xfrm>
            <a:off x="941832" y="5257800"/>
            <a:ext cx="2761488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9" name="fx9_8_22"/>
          <p:cNvSpPr/>
          <p:nvPr/>
        </p:nvSpPr>
        <p:spPr>
          <a:xfrm>
            <a:off x="941832" y="525780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70C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ЦИТАТА, КОТОРАЯ УДИВЛЯЕТ</a:t>
            </a:r>
            <a:endParaRPr lang="en-US" sz="850" dirty="0"/>
          </a:p>
        </p:txBody>
      </p:sp>
      <p:sp>
        <p:nvSpPr>
          <p:cNvPr id="40" name="fx9_8_23"/>
          <p:cNvSpPr/>
          <p:nvPr/>
        </p:nvSpPr>
        <p:spPr>
          <a:xfrm>
            <a:off x="960120" y="557784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«Быть предпринимателем —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 профессия и, как правило, не постоянное состояние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». Перестал внедрять новое — перестал быть предпринимателем.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1" name="!!m-cube">
                <a:extLst>
                  <a:ext uri="{FF2B5EF4-FFF2-40B4-BE49-F238E27FC236}">
                    <a16:creationId xmlns:a16="http://schemas.microsoft.com/office/drawing/2014/main" id="{7F9C5A0A-08B0-DD09-47D0-CDB23B6077C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663440" y="1600200"/>
              <a:ext cx="4114800" cy="4114800"/>
            </p:xfrm>
            <a:graphic>
              <a:graphicData uri="http://schemas.microsoft.com/office/drawing/2017/model3d">
                <am3d:model3d r:embed="rIdM3d34">
                  <am3d:spPr>
                    <a:xfrm>
                      <a:off x="0" y="0"/>
                      <a:ext cx="4114800" cy="4114800"/>
                    </a:xfrm>
                    <a:prstGeom prst="rect">
                      <a:avLst/>
                    </a:prstGeom>
                  </am3d:spPr>
                  <am3d:camera>
                    <am3d:pos x="0" y="0" z="757772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24412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440000" ay="-69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1148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1" name="!!m-cube">
                <a:extLst>
                  <a:ext uri="{FF2B5EF4-FFF2-40B4-BE49-F238E27FC236}">
                    <a16:creationId xmlns:a16="http://schemas.microsoft.com/office/drawing/2014/main" id="{7F9C5A0A-08B0-DD09-47D0-CDB23B6077C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663440" y="1600200"/>
                <a:ext cx="4114800" cy="411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2" name="!!m-coins">
                <a:extLst>
                  <a:ext uri="{FF2B5EF4-FFF2-40B4-BE49-F238E27FC236}">
                    <a16:creationId xmlns:a16="http://schemas.microsoft.com/office/drawing/2014/main" id="{8051B8FC-A5BA-F156-00FA-369348BEB26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457200"/>
              <a:ext cx="2468880" cy="2468880"/>
            </p:xfrm>
            <a:graphic>
              <a:graphicData uri="http://schemas.microsoft.com/office/drawing/2017/model3d">
                <am3d:model3d r:embed="rIdM3d35">
                  <am3d:spPr>
                    <a:xfrm>
                      <a:off x="0" y="0"/>
                      <a:ext cx="2468880" cy="2468880"/>
                    </a:xfrm>
                    <a:prstGeom prst="rect">
                      <a:avLst/>
                    </a:prstGeom>
                  </am3d:spPr>
                  <am3d:camera>
                    <am3d:pos x="0" y="0" z="627498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2812" d="1000000"/>
                    <am3d:preTrans dx="-1911238" dy="-6950584" dz="-3080098"/>
                    <am3d:scale>
                      <am3d:sx n="1000000" d="1000000"/>
                      <am3d:sy n="1000000" d="1000000"/>
                      <am3d:sz n="1000000" d="1000000"/>
                    </am3d:scale>
                    <am3d:rot ax="1560000" ay="30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24688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2" name="!!m-coins">
                <a:extLst>
                  <a:ext uri="{FF2B5EF4-FFF2-40B4-BE49-F238E27FC236}">
                    <a16:creationId xmlns:a16="http://schemas.microsoft.com/office/drawing/2014/main" id="{8051B8FC-A5BA-F156-00FA-369348BEB26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457200"/>
                <a:ext cx="2468880" cy="2468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0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schumpeter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6955775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gear">
                <a:extLst>
                  <a:ext uri="{FF2B5EF4-FFF2-40B4-BE49-F238E27FC236}">
                    <a16:creationId xmlns:a16="http://schemas.microsoft.com/office/drawing/2014/main" id="{8873290C-5537-A8BC-CC17-8DADCDB91E7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339823" y="62179"/>
              <a:ext cx="603504" cy="603504"/>
            </p:xfrm>
            <a:graphic>
              <a:graphicData uri="http://schemas.microsoft.com/office/drawing/2017/model3d">
                <am3d:model3d r:embed="rIdM3d36">
                  <am3d:spPr>
                    <a:xfrm>
                      <a:off x="0" y="0"/>
                      <a:ext cx="603504" cy="603504"/>
                    </a:xfrm>
                    <a:prstGeom prst="rect">
                      <a:avLst/>
                    </a:prstGeom>
                  </am3d:spPr>
                  <am3d:camera>
                    <am3d:pos x="0" y="0" z="671596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175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840000" az="-7776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6035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gear">
                <a:extLst>
                  <a:ext uri="{FF2B5EF4-FFF2-40B4-BE49-F238E27FC236}">
                    <a16:creationId xmlns:a16="http://schemas.microsoft.com/office/drawing/2014/main" id="{8873290C-5537-A8BC-CC17-8DADCDB91E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339823" y="62179"/>
                <a:ext cx="603504" cy="60350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ПРЕДПРИНИМАТЕЛЬСТВО: МЕХАНИЗМ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ЙОЗЕФ ШУМПЕТЕР  ·  1883–1950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00" dirty="0"/>
          </a:p>
        </p:txBody>
      </p:sp>
      <p:pic>
        <p:nvPicPr>
          <p:cNvPr id="11" name="!!glow" descr="/home/user/omgGame/presentations/schumpeter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828" y="-278892"/>
            <a:ext cx="3209544" cy="3209544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9355226" y="165506"/>
            <a:ext cx="2320747" cy="2320747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9034272" y="-155448"/>
            <a:ext cx="2962656" cy="2962656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schumpeter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48" y="1671523"/>
            <a:ext cx="1975104" cy="49377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coins">
                <a:extLst>
                  <a:ext uri="{FF2B5EF4-FFF2-40B4-BE49-F238E27FC236}">
                    <a16:creationId xmlns:a16="http://schemas.microsoft.com/office/drawing/2014/main" id="{ED6A0CDC-AA66-11F8-5370-C324FF0906D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281160" y="91440"/>
              <a:ext cx="2468880" cy="2468880"/>
            </p:xfrm>
            <a:graphic>
              <a:graphicData uri="http://schemas.microsoft.com/office/drawing/2017/model3d">
                <am3d:model3d r:embed="rIdM3d37">
                  <am3d:spPr>
                    <a:xfrm>
                      <a:off x="0" y="0"/>
                      <a:ext cx="2468880" cy="2468880"/>
                    </a:xfrm>
                    <a:prstGeom prst="rect">
                      <a:avLst/>
                    </a:prstGeom>
                  </am3d:spPr>
                  <am3d:camera>
                    <am3d:pos x="0" y="0" z="627498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2812" d="1000000"/>
                    <am3d:preTrans dx="-1911238" dy="-6950584" dz="-3080098"/>
                    <am3d:scale>
                      <am3d:sx n="1000000" d="1000000"/>
                      <am3d:sy n="1000000" d="1000000"/>
                      <am3d:sz n="1000000" d="1000000"/>
                    </am3d:scale>
                    <am3d:rot ax="1560000" ay="-18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4688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coins">
                <a:extLst>
                  <a:ext uri="{FF2B5EF4-FFF2-40B4-BE49-F238E27FC236}">
                    <a16:creationId xmlns:a16="http://schemas.microsoft.com/office/drawing/2014/main" id="{ED6A0CDC-AA66-11F8-5370-C324FF0906D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81160" y="91440"/>
                <a:ext cx="2468880" cy="24688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0_9_0"/>
          <p:cNvSpPr/>
          <p:nvPr/>
        </p:nvSpPr>
        <p:spPr>
          <a:xfrm>
            <a:off x="9281160" y="2212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10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 — топливо инноваций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инновация двигает экономику</a:t>
            </a:r>
            <a:endParaRPr lang="en-US" sz="3600" dirty="0"/>
          </a:p>
        </p:txBody>
      </p:sp>
      <p:sp>
        <p:nvSpPr>
          <p:cNvPr id="18" name="fx10_1_1"/>
          <p:cNvSpPr/>
          <p:nvPr/>
        </p:nvSpPr>
        <p:spPr>
          <a:xfrm>
            <a:off x="685800" y="17007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из «Теории экономического развития» (1911/12)</a:t>
            </a:r>
            <a:endParaRPr lang="en-US" sz="1300" dirty="0"/>
          </a:p>
        </p:txBody>
      </p:sp>
      <p:sp>
        <p:nvSpPr>
          <p:cNvPr id="19" name="fx10_2_2"/>
          <p:cNvSpPr/>
          <p:nvPr/>
        </p:nvSpPr>
        <p:spPr>
          <a:xfrm>
            <a:off x="685800" y="2331720"/>
            <a:ext cx="1650949" cy="2514600"/>
          </a:xfrm>
          <a:prstGeom prst="roundRect">
            <a:avLst>
              <a:gd name="adj" fmla="val 4431"/>
            </a:avLst>
          </a:prstGeom>
          <a:solidFill>
            <a:srgbClr val="0E1930">
              <a:alpha val="95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0" name="fx10_2_3"/>
          <p:cNvSpPr/>
          <p:nvPr/>
        </p:nvSpPr>
        <p:spPr>
          <a:xfrm>
            <a:off x="685800" y="2331720"/>
            <a:ext cx="1650949" cy="4572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1" name="fx10_2_4"/>
          <p:cNvSpPr/>
          <p:nvPr/>
        </p:nvSpPr>
        <p:spPr>
          <a:xfrm>
            <a:off x="850392" y="24780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500" dirty="0"/>
          </a:p>
        </p:txBody>
      </p:sp>
      <p:sp>
        <p:nvSpPr>
          <p:cNvPr id="22" name="fx10_2_5"/>
          <p:cNvSpPr/>
          <p:nvPr/>
        </p:nvSpPr>
        <p:spPr>
          <a:xfrm>
            <a:off x="850392" y="2971800"/>
            <a:ext cx="13766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комбинация</a:t>
            </a:r>
            <a:endParaRPr lang="en-US" sz="1300" dirty="0"/>
          </a:p>
        </p:txBody>
      </p:sp>
      <p:sp>
        <p:nvSpPr>
          <p:cNvPr id="23" name="fx10_2_6"/>
          <p:cNvSpPr/>
          <p:nvPr/>
        </p:nvSpPr>
        <p:spPr>
          <a:xfrm>
            <a:off x="850392" y="3493008"/>
            <a:ext cx="13766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нового продукта, способа, рынка, сырья или организации</a:t>
            </a:r>
            <a:endParaRPr lang="en-US" sz="1050" dirty="0"/>
          </a:p>
        </p:txBody>
      </p:sp>
      <p:sp>
        <p:nvSpPr>
          <p:cNvPr id="24" name="fx10_2_7"/>
          <p:cNvSpPr/>
          <p:nvPr/>
        </p:nvSpPr>
        <p:spPr>
          <a:xfrm rot="5400000">
            <a:off x="2368753" y="3749040"/>
            <a:ext cx="118872" cy="146304"/>
          </a:xfrm>
          <a:prstGeom prst="triangle">
            <a:avLst/>
          </a:prstGeom>
          <a:solidFill>
            <a:srgbClr val="E3B663">
              <a:alpha val="80000"/>
            </a:srgbClr>
          </a:solidFill>
          <a:ln/>
        </p:spPr>
      </p:sp>
      <p:sp>
        <p:nvSpPr>
          <p:cNvPr id="25" name="fx10_3_8"/>
          <p:cNvSpPr/>
          <p:nvPr/>
        </p:nvSpPr>
        <p:spPr>
          <a:xfrm>
            <a:off x="2519629" y="2414016"/>
            <a:ext cx="1650949" cy="2432304"/>
          </a:xfrm>
          <a:prstGeom prst="roundRect">
            <a:avLst>
              <a:gd name="adj" fmla="val 4431"/>
            </a:avLst>
          </a:prstGeom>
          <a:solidFill>
            <a:srgbClr val="2A2210"/>
          </a:solidFill>
          <a:ln w="9525">
            <a:solidFill>
              <a:srgbClr val="E3B663">
                <a:alpha val="8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6" name="fx10_3_9"/>
          <p:cNvSpPr/>
          <p:nvPr/>
        </p:nvSpPr>
        <p:spPr>
          <a:xfrm>
            <a:off x="2519629" y="2414016"/>
            <a:ext cx="1650949" cy="4572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7" name="fx10_3_10"/>
          <p:cNvSpPr/>
          <p:nvPr/>
        </p:nvSpPr>
        <p:spPr>
          <a:xfrm>
            <a:off x="2684221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500" dirty="0"/>
          </a:p>
        </p:txBody>
      </p:sp>
      <p:sp>
        <p:nvSpPr>
          <p:cNvPr id="28" name="fx10_3_11"/>
          <p:cNvSpPr/>
          <p:nvPr/>
        </p:nvSpPr>
        <p:spPr>
          <a:xfrm>
            <a:off x="2684221" y="3054096"/>
            <a:ext cx="13766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 банка</a:t>
            </a:r>
            <a:endParaRPr lang="en-US" sz="1300" dirty="0"/>
          </a:p>
        </p:txBody>
      </p:sp>
      <p:sp>
        <p:nvSpPr>
          <p:cNvPr id="29" name="fx10_3_12"/>
          <p:cNvSpPr/>
          <p:nvPr/>
        </p:nvSpPr>
        <p:spPr>
          <a:xfrm>
            <a:off x="2684221" y="3575304"/>
            <a:ext cx="13766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 создаёт покупательную силу и финансирует внедрение</a:t>
            </a:r>
            <a:endParaRPr lang="en-US" sz="1050" dirty="0"/>
          </a:p>
        </p:txBody>
      </p:sp>
      <p:sp>
        <p:nvSpPr>
          <p:cNvPr id="30" name="fx10_3_13"/>
          <p:cNvSpPr/>
          <p:nvPr/>
        </p:nvSpPr>
        <p:spPr>
          <a:xfrm rot="5400000">
            <a:off x="4202582" y="3749040"/>
            <a:ext cx="118872" cy="146304"/>
          </a:xfrm>
          <a:prstGeom prst="triangle">
            <a:avLst/>
          </a:prstGeom>
          <a:solidFill>
            <a:srgbClr val="E3B663">
              <a:alpha val="80000"/>
            </a:srgbClr>
          </a:solidFill>
          <a:ln/>
        </p:spPr>
      </p:sp>
      <p:sp>
        <p:nvSpPr>
          <p:cNvPr id="31" name="fx10_4_14"/>
          <p:cNvSpPr/>
          <p:nvPr/>
        </p:nvSpPr>
        <p:spPr>
          <a:xfrm>
            <a:off x="4353458" y="2496312"/>
            <a:ext cx="1650949" cy="2350008"/>
          </a:xfrm>
          <a:prstGeom prst="roundRect">
            <a:avLst>
              <a:gd name="adj" fmla="val 4431"/>
            </a:avLst>
          </a:prstGeom>
          <a:solidFill>
            <a:srgbClr val="0E1930">
              <a:alpha val="95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2" name="fx10_4_15"/>
          <p:cNvSpPr/>
          <p:nvPr/>
        </p:nvSpPr>
        <p:spPr>
          <a:xfrm>
            <a:off x="4353458" y="2496312"/>
            <a:ext cx="1650949" cy="4572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3" name="fx10_4_16"/>
          <p:cNvSpPr/>
          <p:nvPr/>
        </p:nvSpPr>
        <p:spPr>
          <a:xfrm>
            <a:off x="4518050" y="26426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500" dirty="0"/>
          </a:p>
        </p:txBody>
      </p:sp>
      <p:sp>
        <p:nvSpPr>
          <p:cNvPr id="34" name="fx10_4_17"/>
          <p:cNvSpPr/>
          <p:nvPr/>
        </p:nvSpPr>
        <p:spPr>
          <a:xfrm>
            <a:off x="4518050" y="3136392"/>
            <a:ext cx="13766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</a:t>
            </a:r>
            <a:endParaRPr lang="en-US" sz="1300" dirty="0"/>
          </a:p>
        </p:txBody>
      </p:sp>
      <p:sp>
        <p:nvSpPr>
          <p:cNvPr id="35" name="fx10_4_18"/>
          <p:cNvSpPr/>
          <p:nvPr/>
        </p:nvSpPr>
        <p:spPr>
          <a:xfrm>
            <a:off x="4518050" y="3657600"/>
            <a:ext cx="13766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Предприниматель перестраивает производство и выходит на рынок</a:t>
            </a:r>
            <a:endParaRPr lang="en-US" sz="1050" dirty="0"/>
          </a:p>
        </p:txBody>
      </p:sp>
      <p:sp>
        <p:nvSpPr>
          <p:cNvPr id="36" name="fx10_4_19"/>
          <p:cNvSpPr/>
          <p:nvPr/>
        </p:nvSpPr>
        <p:spPr>
          <a:xfrm rot="5400000">
            <a:off x="6036412" y="3749040"/>
            <a:ext cx="118872" cy="146304"/>
          </a:xfrm>
          <a:prstGeom prst="triangle">
            <a:avLst/>
          </a:prstGeom>
          <a:solidFill>
            <a:srgbClr val="E3B663">
              <a:alpha val="80000"/>
            </a:srgbClr>
          </a:solidFill>
          <a:ln/>
        </p:spPr>
      </p:sp>
      <p:sp>
        <p:nvSpPr>
          <p:cNvPr id="37" name="fx10_5_20"/>
          <p:cNvSpPr/>
          <p:nvPr/>
        </p:nvSpPr>
        <p:spPr>
          <a:xfrm>
            <a:off x="6187288" y="2578608"/>
            <a:ext cx="1650949" cy="2267712"/>
          </a:xfrm>
          <a:prstGeom prst="roundRect">
            <a:avLst>
              <a:gd name="adj" fmla="val 4431"/>
            </a:avLst>
          </a:prstGeom>
          <a:solidFill>
            <a:srgbClr val="0E1930">
              <a:alpha val="95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8" name="fx10_5_21"/>
          <p:cNvSpPr/>
          <p:nvPr/>
        </p:nvSpPr>
        <p:spPr>
          <a:xfrm>
            <a:off x="6187288" y="2578608"/>
            <a:ext cx="1650949" cy="45720"/>
          </a:xfrm>
          <a:prstGeom prst="rect">
            <a:avLst/>
          </a:prstGeom>
          <a:solidFill>
            <a:srgbClr val="62D4F0"/>
          </a:solidFill>
          <a:ln/>
        </p:spPr>
      </p:sp>
      <p:sp>
        <p:nvSpPr>
          <p:cNvPr id="39" name="fx10_5_22"/>
          <p:cNvSpPr/>
          <p:nvPr/>
        </p:nvSpPr>
        <p:spPr>
          <a:xfrm>
            <a:off x="6351880" y="27249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62D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500" dirty="0"/>
          </a:p>
        </p:txBody>
      </p:sp>
      <p:sp>
        <p:nvSpPr>
          <p:cNvPr id="40" name="fx10_5_23"/>
          <p:cNvSpPr/>
          <p:nvPr/>
        </p:nvSpPr>
        <p:spPr>
          <a:xfrm>
            <a:off x="6351880" y="3218688"/>
            <a:ext cx="13766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</a:t>
            </a:r>
            <a:endParaRPr lang="en-US" sz="1300" dirty="0"/>
          </a:p>
        </p:txBody>
      </p:sp>
      <p:sp>
        <p:nvSpPr>
          <p:cNvPr id="41" name="fx10_5_24"/>
          <p:cNvSpPr/>
          <p:nvPr/>
        </p:nvSpPr>
        <p:spPr>
          <a:xfrm>
            <a:off x="6351880" y="3739896"/>
            <a:ext cx="13766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Временная награда за новизну, пока нет конкурентов</a:t>
            </a:r>
            <a:endParaRPr lang="en-US" sz="1050" dirty="0"/>
          </a:p>
        </p:txBody>
      </p:sp>
      <p:sp>
        <p:nvSpPr>
          <p:cNvPr id="42" name="fx10_5_25"/>
          <p:cNvSpPr/>
          <p:nvPr/>
        </p:nvSpPr>
        <p:spPr>
          <a:xfrm rot="5400000">
            <a:off x="7870241" y="3749040"/>
            <a:ext cx="118872" cy="146304"/>
          </a:xfrm>
          <a:prstGeom prst="triangle">
            <a:avLst/>
          </a:prstGeom>
          <a:solidFill>
            <a:srgbClr val="E3B663">
              <a:alpha val="80000"/>
            </a:srgbClr>
          </a:solidFill>
          <a:ln/>
        </p:spPr>
      </p:sp>
      <p:sp>
        <p:nvSpPr>
          <p:cNvPr id="43" name="fx10_6_26"/>
          <p:cNvSpPr/>
          <p:nvPr/>
        </p:nvSpPr>
        <p:spPr>
          <a:xfrm>
            <a:off x="8021117" y="2660904"/>
            <a:ext cx="1650949" cy="2185416"/>
          </a:xfrm>
          <a:prstGeom prst="roundRect">
            <a:avLst>
              <a:gd name="adj" fmla="val 4431"/>
            </a:avLst>
          </a:prstGeom>
          <a:solidFill>
            <a:srgbClr val="0E1930">
              <a:alpha val="95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4" name="fx10_6_27"/>
          <p:cNvSpPr/>
          <p:nvPr/>
        </p:nvSpPr>
        <p:spPr>
          <a:xfrm>
            <a:off x="8021117" y="2660904"/>
            <a:ext cx="1650949" cy="45720"/>
          </a:xfrm>
          <a:prstGeom prst="rect">
            <a:avLst/>
          </a:prstGeom>
          <a:solidFill>
            <a:srgbClr val="62D4F0"/>
          </a:solidFill>
          <a:ln/>
        </p:spPr>
      </p:sp>
      <p:sp>
        <p:nvSpPr>
          <p:cNvPr id="45" name="fx10_6_28"/>
          <p:cNvSpPr/>
          <p:nvPr/>
        </p:nvSpPr>
        <p:spPr>
          <a:xfrm>
            <a:off x="8185709" y="28072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62D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500" dirty="0"/>
          </a:p>
        </p:txBody>
      </p:sp>
      <p:sp>
        <p:nvSpPr>
          <p:cNvPr id="46" name="fx10_6_29"/>
          <p:cNvSpPr/>
          <p:nvPr/>
        </p:nvSpPr>
        <p:spPr>
          <a:xfrm>
            <a:off x="8185709" y="3300984"/>
            <a:ext cx="13766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Рой подражателей</a:t>
            </a:r>
            <a:endParaRPr lang="en-US" sz="1300" dirty="0"/>
          </a:p>
        </p:txBody>
      </p:sp>
      <p:sp>
        <p:nvSpPr>
          <p:cNvPr id="47" name="fx10_6_30"/>
          <p:cNvSpPr/>
          <p:nvPr/>
        </p:nvSpPr>
        <p:spPr>
          <a:xfrm>
            <a:off x="8185709" y="3822192"/>
            <a:ext cx="13766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фирмы копируют успех, старое вытесняется</a:t>
            </a:r>
            <a:endParaRPr lang="en-US" sz="1050" dirty="0"/>
          </a:p>
        </p:txBody>
      </p:sp>
      <p:sp>
        <p:nvSpPr>
          <p:cNvPr id="48" name="fx10_6_31"/>
          <p:cNvSpPr/>
          <p:nvPr/>
        </p:nvSpPr>
        <p:spPr>
          <a:xfrm rot="5400000">
            <a:off x="9704070" y="3749040"/>
            <a:ext cx="118872" cy="146304"/>
          </a:xfrm>
          <a:prstGeom prst="triangle">
            <a:avLst/>
          </a:prstGeom>
          <a:solidFill>
            <a:srgbClr val="E3B663">
              <a:alpha val="80000"/>
            </a:srgbClr>
          </a:solidFill>
          <a:ln/>
        </p:spPr>
      </p:sp>
      <p:sp>
        <p:nvSpPr>
          <p:cNvPr id="49" name="fx10_7_32"/>
          <p:cNvSpPr/>
          <p:nvPr/>
        </p:nvSpPr>
        <p:spPr>
          <a:xfrm>
            <a:off x="9854946" y="2743200"/>
            <a:ext cx="1650949" cy="2103120"/>
          </a:xfrm>
          <a:prstGeom prst="roundRect">
            <a:avLst>
              <a:gd name="adj" fmla="val 4431"/>
            </a:avLst>
          </a:prstGeom>
          <a:solidFill>
            <a:srgbClr val="0E1930">
              <a:alpha val="95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50" name="fx10_7_33"/>
          <p:cNvSpPr/>
          <p:nvPr/>
        </p:nvSpPr>
        <p:spPr>
          <a:xfrm>
            <a:off x="9854946" y="2743200"/>
            <a:ext cx="1650949" cy="45720"/>
          </a:xfrm>
          <a:prstGeom prst="rect">
            <a:avLst/>
          </a:prstGeom>
          <a:solidFill>
            <a:srgbClr val="62D4F0"/>
          </a:solidFill>
          <a:ln/>
        </p:spPr>
      </p:sp>
      <p:sp>
        <p:nvSpPr>
          <p:cNvPr id="51" name="fx10_7_34"/>
          <p:cNvSpPr/>
          <p:nvPr/>
        </p:nvSpPr>
        <p:spPr>
          <a:xfrm>
            <a:off x="10019538" y="28895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62D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500" dirty="0"/>
          </a:p>
        </p:txBody>
      </p:sp>
      <p:sp>
        <p:nvSpPr>
          <p:cNvPr id="52" name="fx10_7_35"/>
          <p:cNvSpPr/>
          <p:nvPr/>
        </p:nvSpPr>
        <p:spPr>
          <a:xfrm>
            <a:off x="10019538" y="3383280"/>
            <a:ext cx="13766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Новое равновесие</a:t>
            </a:r>
            <a:endParaRPr lang="en-US" sz="1300" dirty="0"/>
          </a:p>
        </p:txBody>
      </p:sp>
      <p:sp>
        <p:nvSpPr>
          <p:cNvPr id="53" name="fx10_7_36"/>
          <p:cNvSpPr/>
          <p:nvPr/>
        </p:nvSpPr>
        <p:spPr>
          <a:xfrm>
            <a:off x="10019538" y="3904488"/>
            <a:ext cx="13766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на более высоком уровне — до следующего скачка</a:t>
            </a:r>
            <a:endParaRPr lang="en-US" sz="1050" dirty="0"/>
          </a:p>
        </p:txBody>
      </p:sp>
      <p:sp>
        <p:nvSpPr>
          <p:cNvPr id="54" name="fx10_8_37"/>
          <p:cNvSpPr/>
          <p:nvPr/>
        </p:nvSpPr>
        <p:spPr>
          <a:xfrm>
            <a:off x="685800" y="5166360"/>
            <a:ext cx="5272888" cy="1005840"/>
          </a:xfrm>
          <a:prstGeom prst="roundRect">
            <a:avLst>
              <a:gd name="adj" fmla="val 7273"/>
            </a:avLst>
          </a:prstGeom>
          <a:solidFill>
            <a:srgbClr val="0E1930">
              <a:alpha val="78000"/>
            </a:srgbClr>
          </a:solidFill>
          <a:ln w="9525">
            <a:solidFill>
              <a:srgbClr val="62D4F0">
                <a:alpha val="45000"/>
              </a:srgbClr>
            </a:solidFill>
            <a:prstDash val="solid"/>
          </a:ln>
        </p:spPr>
      </p:sp>
      <p:sp>
        <p:nvSpPr>
          <p:cNvPr id="55" name="fx10_8_38"/>
          <p:cNvSpPr/>
          <p:nvPr/>
        </p:nvSpPr>
        <p:spPr>
          <a:xfrm>
            <a:off x="914400" y="516636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62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 временна: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подражатели «роем» копируют новинку, и рынок приходит к новому равновесию.</a:t>
            </a:r>
            <a:endParaRPr lang="en-US" sz="1250" dirty="0"/>
          </a:p>
        </p:txBody>
      </p:sp>
      <p:sp>
        <p:nvSpPr>
          <p:cNvPr id="56" name="fx10_9_39"/>
          <p:cNvSpPr/>
          <p:nvPr/>
        </p:nvSpPr>
        <p:spPr>
          <a:xfrm>
            <a:off x="6233008" y="5166360"/>
            <a:ext cx="5272888" cy="1005840"/>
          </a:xfrm>
          <a:prstGeom prst="roundRect">
            <a:avLst>
              <a:gd name="adj" fmla="val 7273"/>
            </a:avLst>
          </a:prstGeom>
          <a:solidFill>
            <a:srgbClr val="1B160C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57" name="fx10_9_40"/>
          <p:cNvSpPr/>
          <p:nvPr/>
        </p:nvSpPr>
        <p:spPr>
          <a:xfrm>
            <a:off x="6233008" y="5312664"/>
            <a:ext cx="50292" cy="713232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58" name="fx10_9_41"/>
          <p:cNvSpPr/>
          <p:nvPr/>
        </p:nvSpPr>
        <p:spPr>
          <a:xfrm>
            <a:off x="6489040" y="502920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59" name="fx10_9_42"/>
          <p:cNvSpPr/>
          <p:nvPr/>
        </p:nvSpPr>
        <p:spPr>
          <a:xfrm>
            <a:off x="6489040" y="50292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70C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60" name="fx10_9_43"/>
          <p:cNvSpPr/>
          <p:nvPr/>
        </p:nvSpPr>
        <p:spPr>
          <a:xfrm>
            <a:off x="6507328" y="534924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Банк, по Шумпетеру, создаёт покупательную силу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«из ничего»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поэтому банкир — «эфор» (надзиратель) рыночной экономики.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1" name="!!m-king">
                <a:extLst>
                  <a:ext uri="{FF2B5EF4-FFF2-40B4-BE49-F238E27FC236}">
                    <a16:creationId xmlns:a16="http://schemas.microsoft.com/office/drawing/2014/main" id="{7FDEC73E-D69B-F8A4-0036-6C029748CCC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029200" y="1234440"/>
              <a:ext cx="4480560" cy="4480560"/>
            </p:xfrm>
            <a:graphic>
              <a:graphicData uri="http://schemas.microsoft.com/office/drawing/2017/model3d">
                <am3d:model3d r:embed="rIdM3d38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6193096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4078" d="1000000"/>
                    <am3d:preTrans dx="-3241704" dy="-15751394" dz="-1913053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63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1" name="!!m-king">
                <a:extLst>
                  <a:ext uri="{FF2B5EF4-FFF2-40B4-BE49-F238E27FC236}">
                    <a16:creationId xmlns:a16="http://schemas.microsoft.com/office/drawing/2014/main" id="{7FDEC73E-D69B-F8A4-0036-6C029748CCC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029200" y="1234440"/>
                <a:ext cx="4480560" cy="448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2" name="!!m-hourglass">
                <a:extLst>
                  <a:ext uri="{FF2B5EF4-FFF2-40B4-BE49-F238E27FC236}">
                    <a16:creationId xmlns:a16="http://schemas.microsoft.com/office/drawing/2014/main" id="{9496D50E-9F6C-8451-8801-561E26ED679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234440"/>
              <a:ext cx="4206240" cy="4206240"/>
            </p:xfrm>
            <a:graphic>
              <a:graphicData uri="http://schemas.microsoft.com/office/drawing/2017/model3d">
                <am3d:model3d r:embed="rIdM3d39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6329077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04225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36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2" name="!!m-hourglass">
                <a:extLst>
                  <a:ext uri="{FF2B5EF4-FFF2-40B4-BE49-F238E27FC236}">
                    <a16:creationId xmlns:a16="http://schemas.microsoft.com/office/drawing/2014/main" id="{9496D50E-9F6C-8451-8801-561E26ED679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234440"/>
                <a:ext cx="4206240" cy="420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7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7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7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7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7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7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7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7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70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70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700" decel="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700" decel="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16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schumpeter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7728639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gear">
                <a:extLst>
                  <a:ext uri="{FF2B5EF4-FFF2-40B4-BE49-F238E27FC236}">
                    <a16:creationId xmlns:a16="http://schemas.microsoft.com/office/drawing/2014/main" id="{7FAB0481-B39E-ED95-66E5-77B0D730678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112687" y="62179"/>
              <a:ext cx="603504" cy="603504"/>
            </p:xfrm>
            <a:graphic>
              <a:graphicData uri="http://schemas.microsoft.com/office/drawing/2017/model3d">
                <am3d:model3d r:embed="rIdM3d40">
                  <am3d:spPr>
                    <a:xfrm>
                      <a:off x="0" y="0"/>
                      <a:ext cx="603504" cy="603504"/>
                    </a:xfrm>
                    <a:prstGeom prst="rect">
                      <a:avLst/>
                    </a:prstGeom>
                  </am3d:spPr>
                  <am3d:camera>
                    <am3d:pos x="0" y="0" z="671596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175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840000" az="-864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6035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gear">
                <a:extLst>
                  <a:ext uri="{FF2B5EF4-FFF2-40B4-BE49-F238E27FC236}">
                    <a16:creationId xmlns:a16="http://schemas.microsoft.com/office/drawing/2014/main" id="{7FAB0481-B39E-ED95-66E5-77B0D730678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112687" y="62179"/>
                <a:ext cx="603504" cy="60350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ГЛАВНАЯ ИДЕЯ 1942 ГОДА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ЙОЗЕФ ШУМПЕТЕР  ·  1883–1950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00" dirty="0"/>
          </a:p>
        </p:txBody>
      </p:sp>
      <p:pic>
        <p:nvPicPr>
          <p:cNvPr id="11" name="!!glow" descr="/home/user/omgGame/presentations/schumpeter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716" y="-77724"/>
            <a:ext cx="6099048" cy="6099048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944307" y="994867"/>
            <a:ext cx="3953866" cy="3953866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397496" y="448056"/>
            <a:ext cx="5047488" cy="5047488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schumpeter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368" y="4170578"/>
            <a:ext cx="2523744" cy="63093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hourglass">
                <a:extLst>
                  <a:ext uri="{FF2B5EF4-FFF2-40B4-BE49-F238E27FC236}">
                    <a16:creationId xmlns:a16="http://schemas.microsoft.com/office/drawing/2014/main" id="{25C9541E-69B0-AE8E-8C1F-25F209F153C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818120" y="868680"/>
              <a:ext cx="4206240" cy="4206240"/>
            </p:xfrm>
            <a:graphic>
              <a:graphicData uri="http://schemas.microsoft.com/office/drawing/2017/model3d">
                <am3d:model3d r:embed="rIdM3d41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6329077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04225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2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hourglass">
                <a:extLst>
                  <a:ext uri="{FF2B5EF4-FFF2-40B4-BE49-F238E27FC236}">
                    <a16:creationId xmlns:a16="http://schemas.microsoft.com/office/drawing/2014/main" id="{25C9541E-69B0-AE8E-8C1F-25F209F153C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18120" y="868680"/>
                <a:ext cx="4206240" cy="42062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1_9_0"/>
          <p:cNvSpPr/>
          <p:nvPr/>
        </p:nvSpPr>
        <p:spPr>
          <a:xfrm>
            <a:off x="8275320" y="4780483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11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Новое наполняется, пока старое утекает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Созидательное разрушение</a:t>
            </a:r>
            <a:endParaRPr lang="en-US" sz="3600" dirty="0"/>
          </a:p>
        </p:txBody>
      </p:sp>
      <p:sp>
        <p:nvSpPr>
          <p:cNvPr id="18" name="fx11_1_1"/>
          <p:cNvSpPr/>
          <p:nvPr/>
        </p:nvSpPr>
        <p:spPr>
          <a:xfrm>
            <a:off x="685800" y="17373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i="1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«Процесс созидательного разрушения — это основной факт капитализма»</a:t>
            </a:r>
            <a:endParaRPr lang="en-US" sz="1600" dirty="0"/>
          </a:p>
        </p:txBody>
      </p:sp>
      <p:sp>
        <p:nvSpPr>
          <p:cNvPr id="19" name="fx11_1_2"/>
          <p:cNvSpPr/>
          <p:nvPr/>
        </p:nvSpPr>
        <p:spPr>
          <a:xfrm>
            <a:off x="685800" y="2377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«Капитализм, социализм и демократия», 1942, гл. VII</a:t>
            </a:r>
            <a:endParaRPr lang="en-US" sz="1050" dirty="0"/>
          </a:p>
        </p:txBody>
      </p:sp>
      <p:sp>
        <p:nvSpPr>
          <p:cNvPr id="20" name="fx11_2_3"/>
          <p:cNvSpPr/>
          <p:nvPr/>
        </p:nvSpPr>
        <p:spPr>
          <a:xfrm>
            <a:off x="685800" y="2834640"/>
            <a:ext cx="3200400" cy="475488"/>
          </a:xfrm>
          <a:prstGeom prst="roundRect">
            <a:avLst>
              <a:gd name="adj" fmla="val 50000"/>
            </a:avLst>
          </a:prstGeom>
          <a:solidFill>
            <a:srgbClr val="070C18">
              <a:alpha val="75000"/>
            </a:srgbClr>
          </a:solidFill>
          <a:ln w="9525">
            <a:solidFill>
              <a:srgbClr val="E3B663">
                <a:alpha val="45000"/>
              </a:srgbClr>
            </a:solidFill>
            <a:prstDash val="solid"/>
          </a:ln>
        </p:spPr>
      </p:sp>
      <p:sp>
        <p:nvSpPr>
          <p:cNvPr id="21" name="fx11_2_4"/>
          <p:cNvSpPr/>
          <p:nvPr/>
        </p:nvSpPr>
        <p:spPr>
          <a:xfrm>
            <a:off x="685800" y="28346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Карета</a:t>
            </a:r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автомобиль</a:t>
            </a:r>
            <a:endParaRPr lang="en-US" sz="1300" dirty="0"/>
          </a:p>
        </p:txBody>
      </p:sp>
      <p:sp>
        <p:nvSpPr>
          <p:cNvPr id="22" name="fx11_2_5"/>
          <p:cNvSpPr/>
          <p:nvPr/>
        </p:nvSpPr>
        <p:spPr>
          <a:xfrm>
            <a:off x="4023360" y="2834640"/>
            <a:ext cx="3200400" cy="475488"/>
          </a:xfrm>
          <a:prstGeom prst="roundRect">
            <a:avLst>
              <a:gd name="adj" fmla="val 50000"/>
            </a:avLst>
          </a:prstGeom>
          <a:solidFill>
            <a:srgbClr val="070C18">
              <a:alpha val="75000"/>
            </a:srgbClr>
          </a:solidFill>
          <a:ln w="9525">
            <a:solidFill>
              <a:srgbClr val="E3B663">
                <a:alpha val="45000"/>
              </a:srgbClr>
            </a:solidFill>
            <a:prstDash val="solid"/>
          </a:ln>
        </p:spPr>
      </p:sp>
      <p:sp>
        <p:nvSpPr>
          <p:cNvPr id="23" name="fx11_2_6"/>
          <p:cNvSpPr/>
          <p:nvPr/>
        </p:nvSpPr>
        <p:spPr>
          <a:xfrm>
            <a:off x="4023360" y="28346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</a:t>
            </a:r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электричество</a:t>
            </a:r>
            <a:endParaRPr lang="en-US" sz="1300" dirty="0"/>
          </a:p>
        </p:txBody>
      </p:sp>
      <p:sp>
        <p:nvSpPr>
          <p:cNvPr id="24" name="fx11_3_7"/>
          <p:cNvSpPr/>
          <p:nvPr/>
        </p:nvSpPr>
        <p:spPr>
          <a:xfrm>
            <a:off x="685800" y="3438144"/>
            <a:ext cx="3200400" cy="475488"/>
          </a:xfrm>
          <a:prstGeom prst="roundRect">
            <a:avLst>
              <a:gd name="adj" fmla="val 50000"/>
            </a:avLst>
          </a:prstGeom>
          <a:solidFill>
            <a:srgbClr val="070C18">
              <a:alpha val="75000"/>
            </a:srgbClr>
          </a:solidFill>
          <a:ln w="9525">
            <a:solidFill>
              <a:srgbClr val="E3B663">
                <a:alpha val="45000"/>
              </a:srgbClr>
            </a:solidFill>
            <a:prstDash val="solid"/>
          </a:ln>
        </p:spPr>
      </p:sp>
      <p:sp>
        <p:nvSpPr>
          <p:cNvPr id="25" name="fx11_3_8"/>
          <p:cNvSpPr/>
          <p:nvPr/>
        </p:nvSpPr>
        <p:spPr>
          <a:xfrm>
            <a:off x="685800" y="343814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Плёнка</a:t>
            </a:r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цифровое фото</a:t>
            </a:r>
            <a:endParaRPr lang="en-US" sz="1300" dirty="0"/>
          </a:p>
        </p:txBody>
      </p:sp>
      <p:sp>
        <p:nvSpPr>
          <p:cNvPr id="26" name="fx11_3_9"/>
          <p:cNvSpPr/>
          <p:nvPr/>
        </p:nvSpPr>
        <p:spPr>
          <a:xfrm>
            <a:off x="4023360" y="3438144"/>
            <a:ext cx="3200400" cy="475488"/>
          </a:xfrm>
          <a:prstGeom prst="roundRect">
            <a:avLst>
              <a:gd name="adj" fmla="val 50000"/>
            </a:avLst>
          </a:prstGeom>
          <a:solidFill>
            <a:srgbClr val="070C18">
              <a:alpha val="75000"/>
            </a:srgbClr>
          </a:solidFill>
          <a:ln w="9525">
            <a:solidFill>
              <a:srgbClr val="E3B663">
                <a:alpha val="45000"/>
              </a:srgbClr>
            </a:solidFill>
            <a:prstDash val="solid"/>
          </a:ln>
        </p:spPr>
      </p:sp>
      <p:sp>
        <p:nvSpPr>
          <p:cNvPr id="27" name="fx11_3_10"/>
          <p:cNvSpPr/>
          <p:nvPr/>
        </p:nvSpPr>
        <p:spPr>
          <a:xfrm>
            <a:off x="4023360" y="343814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Видеопрокат</a:t>
            </a:r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стриминг</a:t>
            </a:r>
            <a:endParaRPr lang="en-US" sz="1300" dirty="0"/>
          </a:p>
        </p:txBody>
      </p:sp>
      <p:sp>
        <p:nvSpPr>
          <p:cNvPr id="28" name="fx11_4_11"/>
          <p:cNvSpPr/>
          <p:nvPr/>
        </p:nvSpPr>
        <p:spPr>
          <a:xfrm>
            <a:off x="685800" y="4160520"/>
            <a:ext cx="6537960" cy="685800"/>
          </a:xfrm>
          <a:prstGeom prst="roundRect">
            <a:avLst>
              <a:gd name="adj" fmla="val 10667"/>
            </a:avLst>
          </a:prstGeom>
          <a:solidFill>
            <a:srgbClr val="0E1930">
              <a:alpha val="85000"/>
            </a:srgbClr>
          </a:solidFill>
          <a:ln w="9525">
            <a:solidFill>
              <a:srgbClr val="62D4F0">
                <a:alpha val="45000"/>
              </a:srgbClr>
            </a:solidFill>
            <a:prstDash val="solid"/>
          </a:ln>
        </p:spPr>
      </p:sp>
      <p:sp>
        <p:nvSpPr>
          <p:cNvPr id="29" name="fx11_4_12"/>
          <p:cNvSpPr/>
          <p:nvPr/>
        </p:nvSpPr>
        <p:spPr>
          <a:xfrm>
            <a:off x="914400" y="416052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62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обещание успеха: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гарантия, что победит любая новинка, а описание постоянной перестройки экономики.</a:t>
            </a:r>
            <a:endParaRPr lang="en-US" sz="1150" dirty="0"/>
          </a:p>
        </p:txBody>
      </p:sp>
      <p:sp>
        <p:nvSpPr>
          <p:cNvPr id="30" name="fx11_8_13"/>
          <p:cNvSpPr/>
          <p:nvPr/>
        </p:nvSpPr>
        <p:spPr>
          <a:xfrm>
            <a:off x="685800" y="5166360"/>
            <a:ext cx="6537960" cy="1024128"/>
          </a:xfrm>
          <a:prstGeom prst="roundRect">
            <a:avLst>
              <a:gd name="adj" fmla="val 7143"/>
            </a:avLst>
          </a:prstGeom>
          <a:solidFill>
            <a:srgbClr val="1B160C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1" name="fx11_8_14"/>
          <p:cNvSpPr/>
          <p:nvPr/>
        </p:nvSpPr>
        <p:spPr>
          <a:xfrm>
            <a:off x="685800" y="5312664"/>
            <a:ext cx="50292" cy="73152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2" name="fx11_8_15"/>
          <p:cNvSpPr/>
          <p:nvPr/>
        </p:nvSpPr>
        <p:spPr>
          <a:xfrm>
            <a:off x="941832" y="502920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3" name="fx11_8_16"/>
          <p:cNvSpPr/>
          <p:nvPr/>
        </p:nvSpPr>
        <p:spPr>
          <a:xfrm>
            <a:off x="941832" y="50292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70C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4" name="fx11_8_17"/>
          <p:cNvSpPr/>
          <p:nvPr/>
        </p:nvSpPr>
        <p:spPr>
          <a:xfrm>
            <a:off x="960120" y="5349240"/>
            <a:ext cx="6080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«Может ли капитализм выжить?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Нет, не думаю»</a:t>
            </a:r>
            <a:pPr algn="l"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По Шумпетеру, его погубят не провалы, а собственные успехи.</a:t>
            </a:r>
            <a:endParaRPr lang="en-US" sz="13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!!m-coins">
                <a:extLst>
                  <a:ext uri="{FF2B5EF4-FFF2-40B4-BE49-F238E27FC236}">
                    <a16:creationId xmlns:a16="http://schemas.microsoft.com/office/drawing/2014/main" id="{191E552C-52A4-EA32-DFDD-7E379FF78B5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017520" y="457200"/>
              <a:ext cx="2468880" cy="2468880"/>
            </p:xfrm>
            <a:graphic>
              <a:graphicData uri="http://schemas.microsoft.com/office/drawing/2017/model3d">
                <am3d:model3d r:embed="rIdM3d42">
                  <am3d:spPr>
                    <a:xfrm>
                      <a:off x="0" y="0"/>
                      <a:ext cx="2468880" cy="2468880"/>
                    </a:xfrm>
                    <a:prstGeom prst="rect">
                      <a:avLst/>
                    </a:prstGeom>
                  </am3d:spPr>
                  <am3d:camera>
                    <am3d:pos x="0" y="0" z="627498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2812" d="1000000"/>
                    <am3d:preTrans dx="-1911238" dy="-6950584" dz="-3080098"/>
                    <am3d:scale>
                      <am3d:sx n="1000000" d="1000000"/>
                      <am3d:sy n="1000000" d="1000000"/>
                      <am3d:sz n="1000000" d="1000000"/>
                    </am3d:scale>
                    <am3d:rot ax="1560000" ay="-66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4688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!!m-coins">
                <a:extLst>
                  <a:ext uri="{FF2B5EF4-FFF2-40B4-BE49-F238E27FC236}">
                    <a16:creationId xmlns:a16="http://schemas.microsoft.com/office/drawing/2014/main" id="{191E552C-52A4-EA32-DFDD-7E379FF78B5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3017520" y="457200"/>
                <a:ext cx="2468880" cy="246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cradle">
                <a:extLst>
                  <a:ext uri="{FF2B5EF4-FFF2-40B4-BE49-F238E27FC236}">
                    <a16:creationId xmlns:a16="http://schemas.microsoft.com/office/drawing/2014/main" id="{A71A9E24-0A4C-CF1C-3E28-78DE45D2B4B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457200"/>
              <a:ext cx="2697480" cy="2697480"/>
            </p:xfrm>
            <a:graphic>
              <a:graphicData uri="http://schemas.microsoft.com/office/drawing/2017/model3d">
                <am3d:model3d r:embed="rIdM3d43">
                  <am3d:spPr>
                    <a:xfrm>
                      <a:off x="0" y="0"/>
                      <a:ext cx="2697480" cy="2697480"/>
                    </a:xfrm>
                    <a:prstGeom prst="rect">
                      <a:avLst/>
                    </a:prstGeom>
                  </am3d:spPr>
                  <am3d:camera>
                    <am3d:pos x="0" y="0" z="575112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87447" d="1000000"/>
                    <am3d:preTrans dx="1610217" dy="-1027573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30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cradle">
                <a:extLst>
                  <a:ext uri="{FF2B5EF4-FFF2-40B4-BE49-F238E27FC236}">
                    <a16:creationId xmlns:a16="http://schemas.microsoft.com/office/drawing/2014/main" id="{A71A9E24-0A4C-CF1C-3E28-78DE45D2B4B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457200"/>
                <a:ext cx="2697480" cy="2697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2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schumpeter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8501503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gear">
                <a:extLst>
                  <a:ext uri="{FF2B5EF4-FFF2-40B4-BE49-F238E27FC236}">
                    <a16:creationId xmlns:a16="http://schemas.microsoft.com/office/drawing/2014/main" id="{89B0C454-D3CF-C970-1E24-DA7115F8CF5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885551" y="62179"/>
              <a:ext cx="603504" cy="603504"/>
            </p:xfrm>
            <a:graphic>
              <a:graphicData uri="http://schemas.microsoft.com/office/drawing/2017/model3d">
                <am3d:model3d r:embed="rIdM3d44">
                  <am3d:spPr>
                    <a:xfrm>
                      <a:off x="0" y="0"/>
                      <a:ext cx="603504" cy="603504"/>
                    </a:xfrm>
                    <a:prstGeom prst="rect">
                      <a:avLst/>
                    </a:prstGeom>
                  </am3d:spPr>
                  <am3d:camera>
                    <am3d:pos x="0" y="0" z="671596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175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840000" az="-9504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6035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gear">
                <a:extLst>
                  <a:ext uri="{FF2B5EF4-FFF2-40B4-BE49-F238E27FC236}">
                    <a16:creationId xmlns:a16="http://schemas.microsoft.com/office/drawing/2014/main" id="{89B0C454-D3CF-C970-1E24-DA7115F8CF5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885551" y="62179"/>
                <a:ext cx="603504" cy="60350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ВОЛНЫ ИННОВАЦИЙ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ЙОЗЕФ ШУМПЕТЕР  ·  1883–1950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00" dirty="0"/>
          </a:p>
        </p:txBody>
      </p:sp>
      <p:pic>
        <p:nvPicPr>
          <p:cNvPr id="11" name="!!glow" descr="/home/user/omgGame/presentations/schumpeter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778" y="-313182"/>
            <a:ext cx="3506724" cy="3506724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8996324" y="172364"/>
            <a:ext cx="2535631" cy="2535631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8645652" y="-178308"/>
            <a:ext cx="3236976" cy="3236976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schumpeter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123" y="1932470"/>
            <a:ext cx="2104034" cy="526009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cradle">
                <a:extLst>
                  <a:ext uri="{FF2B5EF4-FFF2-40B4-BE49-F238E27FC236}">
                    <a16:creationId xmlns:a16="http://schemas.microsoft.com/office/drawing/2014/main" id="{009C1E9A-02A1-1E9C-3A81-1539D11A1B7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915400" y="91440"/>
              <a:ext cx="2697480" cy="2697480"/>
            </p:xfrm>
            <a:graphic>
              <a:graphicData uri="http://schemas.microsoft.com/office/drawing/2017/model3d">
                <am3d:model3d r:embed="rIdM3d45">
                  <am3d:spPr>
                    <a:xfrm>
                      <a:off x="0" y="0"/>
                      <a:ext cx="2697480" cy="2697480"/>
                    </a:xfrm>
                    <a:prstGeom prst="rect">
                      <a:avLst/>
                    </a:prstGeom>
                  </am3d:spPr>
                  <am3d:camera>
                    <am3d:pos x="0" y="0" z="575112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87447" d="1000000"/>
                    <am3d:preTrans dx="1610217" dy="-1027573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-18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cradle">
                <a:extLst>
                  <a:ext uri="{FF2B5EF4-FFF2-40B4-BE49-F238E27FC236}">
                    <a16:creationId xmlns:a16="http://schemas.microsoft.com/office/drawing/2014/main" id="{009C1E9A-02A1-1E9C-3A81-1539D11A1B7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15400" y="91440"/>
                <a:ext cx="2697480" cy="26974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2_9_0"/>
          <p:cNvSpPr/>
          <p:nvPr/>
        </p:nvSpPr>
        <p:spPr>
          <a:xfrm>
            <a:off x="6492240" y="896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12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Импульс, который повторяется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Экономика растёт волнами</a:t>
            </a:r>
            <a:endParaRPr lang="en-US" sz="3600" dirty="0"/>
          </a:p>
        </p:txBody>
      </p:sp>
      <p:sp>
        <p:nvSpPr>
          <p:cNvPr id="18" name="fx12_1_1"/>
          <p:cNvSpPr/>
          <p:nvPr/>
        </p:nvSpPr>
        <p:spPr>
          <a:xfrm>
            <a:off x="685800" y="17007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«Деловые циклы» (1939): кластеры инноваций запускают длинные волны ≈ 50 лет</a:t>
            </a:r>
            <a:endParaRPr lang="en-US" sz="1300" dirty="0"/>
          </a:p>
        </p:txBody>
      </p:sp>
      <p:sp>
        <p:nvSpPr>
          <p:cNvPr id="19" name="fx12_2_2"/>
          <p:cNvSpPr/>
          <p:nvPr/>
        </p:nvSpPr>
        <p:spPr>
          <a:xfrm>
            <a:off x="685800" y="443484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fx12_2_3"/>
          <p:cNvSpPr/>
          <p:nvPr/>
        </p:nvSpPr>
        <p:spPr>
          <a:xfrm>
            <a:off x="685800" y="3003804"/>
            <a:ext cx="2164019" cy="1431036"/>
          </a:xfrm>
          <a:custGeom>
            <a:avLst/>
            <a:gdLst/>
            <a:ahLst/>
            <a:cxnLst/>
            <a:rect l="l" t="t" r="r" b="b"/>
            <a:pathLst>
              <a:path w="2164019" h="1431036">
                <a:moveTo>
                  <a:pt x="0" y="1431036"/>
                </a:moveTo>
                <a:lnTo>
                  <a:pt x="60112" y="1308191"/>
                </a:lnTo>
                <a:lnTo>
                  <a:pt x="120223" y="1186256"/>
                </a:lnTo>
                <a:lnTo>
                  <a:pt x="180335" y="1066134"/>
                </a:lnTo>
                <a:lnTo>
                  <a:pt x="240447" y="948713"/>
                </a:lnTo>
                <a:lnTo>
                  <a:pt x="300558" y="834863"/>
                </a:lnTo>
                <a:lnTo>
                  <a:pt x="360670" y="725424"/>
                </a:lnTo>
                <a:lnTo>
                  <a:pt x="420781" y="621205"/>
                </a:lnTo>
                <a:lnTo>
                  <a:pt x="480893" y="522973"/>
                </a:lnTo>
                <a:lnTo>
                  <a:pt x="541005" y="431450"/>
                </a:lnTo>
                <a:lnTo>
                  <a:pt x="601116" y="347309"/>
                </a:lnTo>
                <a:lnTo>
                  <a:pt x="661228" y="271165"/>
                </a:lnTo>
                <a:lnTo>
                  <a:pt x="721340" y="203572"/>
                </a:lnTo>
                <a:lnTo>
                  <a:pt x="781451" y="145018"/>
                </a:lnTo>
                <a:lnTo>
                  <a:pt x="841563" y="95926"/>
                </a:lnTo>
                <a:lnTo>
                  <a:pt x="901675" y="56642"/>
                </a:lnTo>
                <a:lnTo>
                  <a:pt x="961786" y="27442"/>
                </a:lnTo>
                <a:lnTo>
                  <a:pt x="1021898" y="8521"/>
                </a:lnTo>
                <a:lnTo>
                  <a:pt x="1082010" y="0"/>
                </a:lnTo>
                <a:lnTo>
                  <a:pt x="1142121" y="1917"/>
                </a:lnTo>
                <a:lnTo>
                  <a:pt x="1202233" y="14234"/>
                </a:lnTo>
                <a:lnTo>
                  <a:pt x="1262344" y="36830"/>
                </a:lnTo>
                <a:lnTo>
                  <a:pt x="1322456" y="69510"/>
                </a:lnTo>
                <a:lnTo>
                  <a:pt x="1382568" y="111998"/>
                </a:lnTo>
                <a:lnTo>
                  <a:pt x="1442679" y="163948"/>
                </a:lnTo>
                <a:lnTo>
                  <a:pt x="1502791" y="224937"/>
                </a:lnTo>
                <a:lnTo>
                  <a:pt x="1562903" y="294477"/>
                </a:lnTo>
                <a:lnTo>
                  <a:pt x="1623014" y="372014"/>
                </a:lnTo>
                <a:lnTo>
                  <a:pt x="1683126" y="456933"/>
                </a:lnTo>
                <a:lnTo>
                  <a:pt x="1743238" y="548561"/>
                </a:lnTo>
                <a:lnTo>
                  <a:pt x="1803349" y="646176"/>
                </a:lnTo>
                <a:lnTo>
                  <a:pt x="1863461" y="749011"/>
                </a:lnTo>
                <a:lnTo>
                  <a:pt x="1923572" y="856257"/>
                </a:lnTo>
                <a:lnTo>
                  <a:pt x="1983684" y="967074"/>
                </a:lnTo>
                <a:lnTo>
                  <a:pt x="2043796" y="1080592"/>
                </a:lnTo>
                <a:lnTo>
                  <a:pt x="2103907" y="1195923"/>
                </a:lnTo>
                <a:lnTo>
                  <a:pt x="2164019" y="1312164"/>
                </a:lnTo>
              </a:path>
            </a:pathLst>
          </a:custGeom>
          <a:ln w="114300">
            <a:solidFill>
              <a:srgbClr val="E3B663">
                <a:alpha val="15000"/>
              </a:srgbClr>
            </a:solidFill>
            <a:prstDash val="solid"/>
          </a:ln>
        </p:spPr>
      </p:sp>
      <p:sp>
        <p:nvSpPr>
          <p:cNvPr id="21" name="fx12_2_4"/>
          <p:cNvSpPr/>
          <p:nvPr/>
        </p:nvSpPr>
        <p:spPr>
          <a:xfrm>
            <a:off x="685800" y="3003804"/>
            <a:ext cx="2164019" cy="1431036"/>
          </a:xfrm>
          <a:custGeom>
            <a:avLst/>
            <a:gdLst/>
            <a:ahLst/>
            <a:cxnLst/>
            <a:rect l="l" t="t" r="r" b="b"/>
            <a:pathLst>
              <a:path w="2164019" h="1431036">
                <a:moveTo>
                  <a:pt x="0" y="1431036"/>
                </a:moveTo>
                <a:lnTo>
                  <a:pt x="60112" y="1308191"/>
                </a:lnTo>
                <a:lnTo>
                  <a:pt x="120223" y="1186256"/>
                </a:lnTo>
                <a:lnTo>
                  <a:pt x="180335" y="1066134"/>
                </a:lnTo>
                <a:lnTo>
                  <a:pt x="240447" y="948713"/>
                </a:lnTo>
                <a:lnTo>
                  <a:pt x="300558" y="834863"/>
                </a:lnTo>
                <a:lnTo>
                  <a:pt x="360670" y="725424"/>
                </a:lnTo>
                <a:lnTo>
                  <a:pt x="420781" y="621205"/>
                </a:lnTo>
                <a:lnTo>
                  <a:pt x="480893" y="522973"/>
                </a:lnTo>
                <a:lnTo>
                  <a:pt x="541005" y="431450"/>
                </a:lnTo>
                <a:lnTo>
                  <a:pt x="601116" y="347309"/>
                </a:lnTo>
                <a:lnTo>
                  <a:pt x="661228" y="271165"/>
                </a:lnTo>
                <a:lnTo>
                  <a:pt x="721340" y="203572"/>
                </a:lnTo>
                <a:lnTo>
                  <a:pt x="781451" y="145018"/>
                </a:lnTo>
                <a:lnTo>
                  <a:pt x="841563" y="95926"/>
                </a:lnTo>
                <a:lnTo>
                  <a:pt x="901675" y="56642"/>
                </a:lnTo>
                <a:lnTo>
                  <a:pt x="961786" y="27442"/>
                </a:lnTo>
                <a:lnTo>
                  <a:pt x="1021898" y="8521"/>
                </a:lnTo>
                <a:lnTo>
                  <a:pt x="1082010" y="0"/>
                </a:lnTo>
                <a:lnTo>
                  <a:pt x="1142121" y="1917"/>
                </a:lnTo>
                <a:lnTo>
                  <a:pt x="1202233" y="14234"/>
                </a:lnTo>
                <a:lnTo>
                  <a:pt x="1262344" y="36830"/>
                </a:lnTo>
                <a:lnTo>
                  <a:pt x="1322456" y="69510"/>
                </a:lnTo>
                <a:lnTo>
                  <a:pt x="1382568" y="111998"/>
                </a:lnTo>
                <a:lnTo>
                  <a:pt x="1442679" y="163948"/>
                </a:lnTo>
                <a:lnTo>
                  <a:pt x="1502791" y="224937"/>
                </a:lnTo>
                <a:lnTo>
                  <a:pt x="1562903" y="294477"/>
                </a:lnTo>
                <a:lnTo>
                  <a:pt x="1623014" y="372014"/>
                </a:lnTo>
                <a:lnTo>
                  <a:pt x="1683126" y="456933"/>
                </a:lnTo>
                <a:lnTo>
                  <a:pt x="1743238" y="548561"/>
                </a:lnTo>
                <a:lnTo>
                  <a:pt x="1803349" y="646176"/>
                </a:lnTo>
                <a:lnTo>
                  <a:pt x="1863461" y="749011"/>
                </a:lnTo>
                <a:lnTo>
                  <a:pt x="1923572" y="856257"/>
                </a:lnTo>
                <a:lnTo>
                  <a:pt x="1983684" y="967074"/>
                </a:lnTo>
                <a:lnTo>
                  <a:pt x="2043796" y="1080592"/>
                </a:lnTo>
                <a:lnTo>
                  <a:pt x="2103907" y="1195923"/>
                </a:lnTo>
                <a:lnTo>
                  <a:pt x="2164019" y="1312164"/>
                </a:lnTo>
              </a:path>
            </a:pathLst>
          </a:custGeom>
          <a:ln w="34925">
            <a:solidFill>
              <a:srgbClr val="E3B663"/>
            </a:solidFill>
            <a:prstDash val="solid"/>
          </a:ln>
        </p:spPr>
      </p:sp>
      <p:sp>
        <p:nvSpPr>
          <p:cNvPr id="22" name="fx12_2_5"/>
          <p:cNvSpPr/>
          <p:nvPr/>
        </p:nvSpPr>
        <p:spPr>
          <a:xfrm>
            <a:off x="685800" y="3447288"/>
            <a:ext cx="2164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400" dirty="0"/>
          </a:p>
        </p:txBody>
      </p:sp>
      <p:sp>
        <p:nvSpPr>
          <p:cNvPr id="23" name="fx12_2_6"/>
          <p:cNvSpPr/>
          <p:nvPr/>
        </p:nvSpPr>
        <p:spPr>
          <a:xfrm>
            <a:off x="777240" y="4562856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1787–1842</a:t>
            </a:r>
            <a:endParaRPr lang="en-US" sz="1250" dirty="0"/>
          </a:p>
        </p:txBody>
      </p:sp>
      <p:sp>
        <p:nvSpPr>
          <p:cNvPr id="24" name="fx12_2_7"/>
          <p:cNvSpPr/>
          <p:nvPr/>
        </p:nvSpPr>
        <p:spPr>
          <a:xfrm>
            <a:off x="777240" y="4837176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Текстиль, паровая машина, железо</a:t>
            </a:r>
            <a:endParaRPr lang="en-US" sz="1100" dirty="0"/>
          </a:p>
        </p:txBody>
      </p:sp>
      <p:sp>
        <p:nvSpPr>
          <p:cNvPr id="25" name="fx12_3_8"/>
          <p:cNvSpPr/>
          <p:nvPr/>
        </p:nvSpPr>
        <p:spPr>
          <a:xfrm>
            <a:off x="2849819" y="2884932"/>
            <a:ext cx="2164019" cy="1431036"/>
          </a:xfrm>
          <a:custGeom>
            <a:avLst/>
            <a:gdLst/>
            <a:ahLst/>
            <a:cxnLst/>
            <a:rect l="l" t="t" r="r" b="b"/>
            <a:pathLst>
              <a:path w="2164019" h="1431036">
                <a:moveTo>
                  <a:pt x="0" y="1431036"/>
                </a:moveTo>
                <a:lnTo>
                  <a:pt x="60112" y="1308191"/>
                </a:lnTo>
                <a:lnTo>
                  <a:pt x="120223" y="1186256"/>
                </a:lnTo>
                <a:lnTo>
                  <a:pt x="180335" y="1066134"/>
                </a:lnTo>
                <a:lnTo>
                  <a:pt x="240447" y="948713"/>
                </a:lnTo>
                <a:lnTo>
                  <a:pt x="300558" y="834863"/>
                </a:lnTo>
                <a:lnTo>
                  <a:pt x="360670" y="725424"/>
                </a:lnTo>
                <a:lnTo>
                  <a:pt x="420781" y="621205"/>
                </a:lnTo>
                <a:lnTo>
                  <a:pt x="480893" y="522973"/>
                </a:lnTo>
                <a:lnTo>
                  <a:pt x="541005" y="431450"/>
                </a:lnTo>
                <a:lnTo>
                  <a:pt x="601116" y="347309"/>
                </a:lnTo>
                <a:lnTo>
                  <a:pt x="661228" y="271165"/>
                </a:lnTo>
                <a:lnTo>
                  <a:pt x="721340" y="203572"/>
                </a:lnTo>
                <a:lnTo>
                  <a:pt x="781451" y="145018"/>
                </a:lnTo>
                <a:lnTo>
                  <a:pt x="841563" y="95926"/>
                </a:lnTo>
                <a:lnTo>
                  <a:pt x="901675" y="56642"/>
                </a:lnTo>
                <a:lnTo>
                  <a:pt x="961786" y="27442"/>
                </a:lnTo>
                <a:lnTo>
                  <a:pt x="1021898" y="8521"/>
                </a:lnTo>
                <a:lnTo>
                  <a:pt x="1082010" y="0"/>
                </a:lnTo>
                <a:lnTo>
                  <a:pt x="1142121" y="1917"/>
                </a:lnTo>
                <a:lnTo>
                  <a:pt x="1202233" y="14234"/>
                </a:lnTo>
                <a:lnTo>
                  <a:pt x="1262344" y="36830"/>
                </a:lnTo>
                <a:lnTo>
                  <a:pt x="1322456" y="69510"/>
                </a:lnTo>
                <a:lnTo>
                  <a:pt x="1382568" y="111998"/>
                </a:lnTo>
                <a:lnTo>
                  <a:pt x="1442679" y="163948"/>
                </a:lnTo>
                <a:lnTo>
                  <a:pt x="1502791" y="224937"/>
                </a:lnTo>
                <a:lnTo>
                  <a:pt x="1562903" y="294477"/>
                </a:lnTo>
                <a:lnTo>
                  <a:pt x="1623014" y="372014"/>
                </a:lnTo>
                <a:lnTo>
                  <a:pt x="1683126" y="456933"/>
                </a:lnTo>
                <a:lnTo>
                  <a:pt x="1743238" y="548561"/>
                </a:lnTo>
                <a:lnTo>
                  <a:pt x="1803349" y="646176"/>
                </a:lnTo>
                <a:lnTo>
                  <a:pt x="1863461" y="749011"/>
                </a:lnTo>
                <a:lnTo>
                  <a:pt x="1923572" y="856257"/>
                </a:lnTo>
                <a:lnTo>
                  <a:pt x="1983684" y="967074"/>
                </a:lnTo>
                <a:lnTo>
                  <a:pt x="2043796" y="1080592"/>
                </a:lnTo>
                <a:lnTo>
                  <a:pt x="2103907" y="1195923"/>
                </a:lnTo>
                <a:lnTo>
                  <a:pt x="2164019" y="1312164"/>
                </a:lnTo>
              </a:path>
            </a:pathLst>
          </a:custGeom>
          <a:ln w="114300">
            <a:solidFill>
              <a:srgbClr val="E3B663">
                <a:alpha val="15000"/>
              </a:srgbClr>
            </a:solidFill>
            <a:prstDash val="solid"/>
          </a:ln>
        </p:spPr>
      </p:sp>
      <p:sp>
        <p:nvSpPr>
          <p:cNvPr id="26" name="fx12_3_9"/>
          <p:cNvSpPr/>
          <p:nvPr/>
        </p:nvSpPr>
        <p:spPr>
          <a:xfrm>
            <a:off x="2849819" y="2884932"/>
            <a:ext cx="2164019" cy="1431036"/>
          </a:xfrm>
          <a:custGeom>
            <a:avLst/>
            <a:gdLst/>
            <a:ahLst/>
            <a:cxnLst/>
            <a:rect l="l" t="t" r="r" b="b"/>
            <a:pathLst>
              <a:path w="2164019" h="1431036">
                <a:moveTo>
                  <a:pt x="0" y="1431036"/>
                </a:moveTo>
                <a:lnTo>
                  <a:pt x="60112" y="1308191"/>
                </a:lnTo>
                <a:lnTo>
                  <a:pt x="120223" y="1186256"/>
                </a:lnTo>
                <a:lnTo>
                  <a:pt x="180335" y="1066134"/>
                </a:lnTo>
                <a:lnTo>
                  <a:pt x="240447" y="948713"/>
                </a:lnTo>
                <a:lnTo>
                  <a:pt x="300558" y="834863"/>
                </a:lnTo>
                <a:lnTo>
                  <a:pt x="360670" y="725424"/>
                </a:lnTo>
                <a:lnTo>
                  <a:pt x="420781" y="621205"/>
                </a:lnTo>
                <a:lnTo>
                  <a:pt x="480893" y="522973"/>
                </a:lnTo>
                <a:lnTo>
                  <a:pt x="541005" y="431450"/>
                </a:lnTo>
                <a:lnTo>
                  <a:pt x="601116" y="347309"/>
                </a:lnTo>
                <a:lnTo>
                  <a:pt x="661228" y="271165"/>
                </a:lnTo>
                <a:lnTo>
                  <a:pt x="721340" y="203572"/>
                </a:lnTo>
                <a:lnTo>
                  <a:pt x="781451" y="145018"/>
                </a:lnTo>
                <a:lnTo>
                  <a:pt x="841563" y="95926"/>
                </a:lnTo>
                <a:lnTo>
                  <a:pt x="901675" y="56642"/>
                </a:lnTo>
                <a:lnTo>
                  <a:pt x="961786" y="27442"/>
                </a:lnTo>
                <a:lnTo>
                  <a:pt x="1021898" y="8521"/>
                </a:lnTo>
                <a:lnTo>
                  <a:pt x="1082010" y="0"/>
                </a:lnTo>
                <a:lnTo>
                  <a:pt x="1142121" y="1917"/>
                </a:lnTo>
                <a:lnTo>
                  <a:pt x="1202233" y="14234"/>
                </a:lnTo>
                <a:lnTo>
                  <a:pt x="1262344" y="36830"/>
                </a:lnTo>
                <a:lnTo>
                  <a:pt x="1322456" y="69510"/>
                </a:lnTo>
                <a:lnTo>
                  <a:pt x="1382568" y="111998"/>
                </a:lnTo>
                <a:lnTo>
                  <a:pt x="1442679" y="163948"/>
                </a:lnTo>
                <a:lnTo>
                  <a:pt x="1502791" y="224937"/>
                </a:lnTo>
                <a:lnTo>
                  <a:pt x="1562903" y="294477"/>
                </a:lnTo>
                <a:lnTo>
                  <a:pt x="1623014" y="372014"/>
                </a:lnTo>
                <a:lnTo>
                  <a:pt x="1683126" y="456933"/>
                </a:lnTo>
                <a:lnTo>
                  <a:pt x="1743238" y="548561"/>
                </a:lnTo>
                <a:lnTo>
                  <a:pt x="1803349" y="646176"/>
                </a:lnTo>
                <a:lnTo>
                  <a:pt x="1863461" y="749011"/>
                </a:lnTo>
                <a:lnTo>
                  <a:pt x="1923572" y="856257"/>
                </a:lnTo>
                <a:lnTo>
                  <a:pt x="1983684" y="967074"/>
                </a:lnTo>
                <a:lnTo>
                  <a:pt x="2043796" y="1080592"/>
                </a:lnTo>
                <a:lnTo>
                  <a:pt x="2103907" y="1195923"/>
                </a:lnTo>
                <a:lnTo>
                  <a:pt x="2164019" y="1312164"/>
                </a:lnTo>
              </a:path>
            </a:pathLst>
          </a:custGeom>
          <a:ln w="34925">
            <a:solidFill>
              <a:srgbClr val="E3B663"/>
            </a:solidFill>
            <a:prstDash val="solid"/>
          </a:ln>
        </p:spPr>
      </p:sp>
      <p:sp>
        <p:nvSpPr>
          <p:cNvPr id="27" name="fx12_3_10"/>
          <p:cNvSpPr/>
          <p:nvPr/>
        </p:nvSpPr>
        <p:spPr>
          <a:xfrm>
            <a:off x="2849819" y="3328416"/>
            <a:ext cx="2164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400" dirty="0"/>
          </a:p>
        </p:txBody>
      </p:sp>
      <p:sp>
        <p:nvSpPr>
          <p:cNvPr id="28" name="fx12_3_11"/>
          <p:cNvSpPr/>
          <p:nvPr/>
        </p:nvSpPr>
        <p:spPr>
          <a:xfrm>
            <a:off x="2941259" y="4562856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1843–1897</a:t>
            </a:r>
            <a:endParaRPr lang="en-US" sz="1250" dirty="0"/>
          </a:p>
        </p:txBody>
      </p:sp>
      <p:sp>
        <p:nvSpPr>
          <p:cNvPr id="29" name="fx12_3_12"/>
          <p:cNvSpPr/>
          <p:nvPr/>
        </p:nvSpPr>
        <p:spPr>
          <a:xfrm>
            <a:off x="2941259" y="4837176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Железные дороги и сталь</a:t>
            </a:r>
            <a:endParaRPr lang="en-US" sz="1100" dirty="0"/>
          </a:p>
        </p:txBody>
      </p:sp>
      <p:sp>
        <p:nvSpPr>
          <p:cNvPr id="30" name="fx12_4_13"/>
          <p:cNvSpPr/>
          <p:nvPr/>
        </p:nvSpPr>
        <p:spPr>
          <a:xfrm>
            <a:off x="5013838" y="2766060"/>
            <a:ext cx="2164019" cy="1431036"/>
          </a:xfrm>
          <a:custGeom>
            <a:avLst/>
            <a:gdLst/>
            <a:ahLst/>
            <a:cxnLst/>
            <a:rect l="l" t="t" r="r" b="b"/>
            <a:pathLst>
              <a:path w="2164019" h="1431036">
                <a:moveTo>
                  <a:pt x="0" y="1431036"/>
                </a:moveTo>
                <a:lnTo>
                  <a:pt x="60112" y="1308191"/>
                </a:lnTo>
                <a:lnTo>
                  <a:pt x="120223" y="1186256"/>
                </a:lnTo>
                <a:lnTo>
                  <a:pt x="180335" y="1066134"/>
                </a:lnTo>
                <a:lnTo>
                  <a:pt x="240447" y="948713"/>
                </a:lnTo>
                <a:lnTo>
                  <a:pt x="300558" y="834863"/>
                </a:lnTo>
                <a:lnTo>
                  <a:pt x="360670" y="725424"/>
                </a:lnTo>
                <a:lnTo>
                  <a:pt x="420781" y="621205"/>
                </a:lnTo>
                <a:lnTo>
                  <a:pt x="480893" y="522973"/>
                </a:lnTo>
                <a:lnTo>
                  <a:pt x="541005" y="431450"/>
                </a:lnTo>
                <a:lnTo>
                  <a:pt x="601116" y="347309"/>
                </a:lnTo>
                <a:lnTo>
                  <a:pt x="661228" y="271165"/>
                </a:lnTo>
                <a:lnTo>
                  <a:pt x="721340" y="203572"/>
                </a:lnTo>
                <a:lnTo>
                  <a:pt x="781451" y="145018"/>
                </a:lnTo>
                <a:lnTo>
                  <a:pt x="841563" y="95926"/>
                </a:lnTo>
                <a:lnTo>
                  <a:pt x="901675" y="56642"/>
                </a:lnTo>
                <a:lnTo>
                  <a:pt x="961786" y="27442"/>
                </a:lnTo>
                <a:lnTo>
                  <a:pt x="1021898" y="8521"/>
                </a:lnTo>
                <a:lnTo>
                  <a:pt x="1082010" y="0"/>
                </a:lnTo>
                <a:lnTo>
                  <a:pt x="1142121" y="1917"/>
                </a:lnTo>
                <a:lnTo>
                  <a:pt x="1202233" y="14234"/>
                </a:lnTo>
                <a:lnTo>
                  <a:pt x="1262344" y="36830"/>
                </a:lnTo>
                <a:lnTo>
                  <a:pt x="1322456" y="69510"/>
                </a:lnTo>
                <a:lnTo>
                  <a:pt x="1382568" y="111998"/>
                </a:lnTo>
                <a:lnTo>
                  <a:pt x="1442679" y="163948"/>
                </a:lnTo>
                <a:lnTo>
                  <a:pt x="1502791" y="224937"/>
                </a:lnTo>
                <a:lnTo>
                  <a:pt x="1562903" y="294477"/>
                </a:lnTo>
                <a:lnTo>
                  <a:pt x="1623014" y="372014"/>
                </a:lnTo>
                <a:lnTo>
                  <a:pt x="1683126" y="456933"/>
                </a:lnTo>
                <a:lnTo>
                  <a:pt x="1743238" y="548561"/>
                </a:lnTo>
                <a:lnTo>
                  <a:pt x="1803349" y="646176"/>
                </a:lnTo>
                <a:lnTo>
                  <a:pt x="1863461" y="749011"/>
                </a:lnTo>
                <a:lnTo>
                  <a:pt x="1923572" y="856257"/>
                </a:lnTo>
                <a:lnTo>
                  <a:pt x="1983684" y="967074"/>
                </a:lnTo>
                <a:lnTo>
                  <a:pt x="2043796" y="1080592"/>
                </a:lnTo>
                <a:lnTo>
                  <a:pt x="2103907" y="1195923"/>
                </a:lnTo>
                <a:lnTo>
                  <a:pt x="2164019" y="1312164"/>
                </a:lnTo>
              </a:path>
            </a:pathLst>
          </a:custGeom>
          <a:ln w="114300">
            <a:solidFill>
              <a:srgbClr val="E3B663">
                <a:alpha val="15000"/>
              </a:srgbClr>
            </a:solidFill>
            <a:prstDash val="solid"/>
          </a:ln>
        </p:spPr>
      </p:sp>
      <p:sp>
        <p:nvSpPr>
          <p:cNvPr id="31" name="fx12_4_14"/>
          <p:cNvSpPr/>
          <p:nvPr/>
        </p:nvSpPr>
        <p:spPr>
          <a:xfrm>
            <a:off x="5013838" y="2766060"/>
            <a:ext cx="2164019" cy="1431036"/>
          </a:xfrm>
          <a:custGeom>
            <a:avLst/>
            <a:gdLst/>
            <a:ahLst/>
            <a:cxnLst/>
            <a:rect l="l" t="t" r="r" b="b"/>
            <a:pathLst>
              <a:path w="2164019" h="1431036">
                <a:moveTo>
                  <a:pt x="0" y="1431036"/>
                </a:moveTo>
                <a:lnTo>
                  <a:pt x="60112" y="1308191"/>
                </a:lnTo>
                <a:lnTo>
                  <a:pt x="120223" y="1186256"/>
                </a:lnTo>
                <a:lnTo>
                  <a:pt x="180335" y="1066134"/>
                </a:lnTo>
                <a:lnTo>
                  <a:pt x="240447" y="948713"/>
                </a:lnTo>
                <a:lnTo>
                  <a:pt x="300558" y="834863"/>
                </a:lnTo>
                <a:lnTo>
                  <a:pt x="360670" y="725424"/>
                </a:lnTo>
                <a:lnTo>
                  <a:pt x="420781" y="621205"/>
                </a:lnTo>
                <a:lnTo>
                  <a:pt x="480893" y="522973"/>
                </a:lnTo>
                <a:lnTo>
                  <a:pt x="541005" y="431450"/>
                </a:lnTo>
                <a:lnTo>
                  <a:pt x="601116" y="347309"/>
                </a:lnTo>
                <a:lnTo>
                  <a:pt x="661228" y="271165"/>
                </a:lnTo>
                <a:lnTo>
                  <a:pt x="721340" y="203572"/>
                </a:lnTo>
                <a:lnTo>
                  <a:pt x="781451" y="145018"/>
                </a:lnTo>
                <a:lnTo>
                  <a:pt x="841563" y="95926"/>
                </a:lnTo>
                <a:lnTo>
                  <a:pt x="901675" y="56642"/>
                </a:lnTo>
                <a:lnTo>
                  <a:pt x="961786" y="27442"/>
                </a:lnTo>
                <a:lnTo>
                  <a:pt x="1021898" y="8521"/>
                </a:lnTo>
                <a:lnTo>
                  <a:pt x="1082010" y="0"/>
                </a:lnTo>
                <a:lnTo>
                  <a:pt x="1142121" y="1917"/>
                </a:lnTo>
                <a:lnTo>
                  <a:pt x="1202233" y="14234"/>
                </a:lnTo>
                <a:lnTo>
                  <a:pt x="1262344" y="36830"/>
                </a:lnTo>
                <a:lnTo>
                  <a:pt x="1322456" y="69510"/>
                </a:lnTo>
                <a:lnTo>
                  <a:pt x="1382568" y="111998"/>
                </a:lnTo>
                <a:lnTo>
                  <a:pt x="1442679" y="163948"/>
                </a:lnTo>
                <a:lnTo>
                  <a:pt x="1502791" y="224937"/>
                </a:lnTo>
                <a:lnTo>
                  <a:pt x="1562903" y="294477"/>
                </a:lnTo>
                <a:lnTo>
                  <a:pt x="1623014" y="372014"/>
                </a:lnTo>
                <a:lnTo>
                  <a:pt x="1683126" y="456933"/>
                </a:lnTo>
                <a:lnTo>
                  <a:pt x="1743238" y="548561"/>
                </a:lnTo>
                <a:lnTo>
                  <a:pt x="1803349" y="646176"/>
                </a:lnTo>
                <a:lnTo>
                  <a:pt x="1863461" y="749011"/>
                </a:lnTo>
                <a:lnTo>
                  <a:pt x="1923572" y="856257"/>
                </a:lnTo>
                <a:lnTo>
                  <a:pt x="1983684" y="967074"/>
                </a:lnTo>
                <a:lnTo>
                  <a:pt x="2043796" y="1080592"/>
                </a:lnTo>
                <a:lnTo>
                  <a:pt x="2103907" y="1195923"/>
                </a:lnTo>
                <a:lnTo>
                  <a:pt x="2164019" y="1312164"/>
                </a:lnTo>
              </a:path>
            </a:pathLst>
          </a:custGeom>
          <a:ln w="34925">
            <a:solidFill>
              <a:srgbClr val="E3B663"/>
            </a:solidFill>
            <a:prstDash val="solid"/>
          </a:ln>
        </p:spPr>
      </p:sp>
      <p:sp>
        <p:nvSpPr>
          <p:cNvPr id="32" name="fx12_4_15"/>
          <p:cNvSpPr/>
          <p:nvPr/>
        </p:nvSpPr>
        <p:spPr>
          <a:xfrm>
            <a:off x="5013838" y="3209544"/>
            <a:ext cx="2164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400" dirty="0"/>
          </a:p>
        </p:txBody>
      </p:sp>
      <p:sp>
        <p:nvSpPr>
          <p:cNvPr id="33" name="fx12_4_16"/>
          <p:cNvSpPr/>
          <p:nvPr/>
        </p:nvSpPr>
        <p:spPr>
          <a:xfrm>
            <a:off x="5105278" y="4562856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1898–1940-е</a:t>
            </a:r>
            <a:endParaRPr lang="en-US" sz="1250" dirty="0"/>
          </a:p>
        </p:txBody>
      </p:sp>
      <p:sp>
        <p:nvSpPr>
          <p:cNvPr id="34" name="fx12_4_17"/>
          <p:cNvSpPr/>
          <p:nvPr/>
        </p:nvSpPr>
        <p:spPr>
          <a:xfrm>
            <a:off x="5105278" y="4837176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Электричество, химия, автомобиль</a:t>
            </a:r>
            <a:endParaRPr lang="en-US" sz="1100" dirty="0"/>
          </a:p>
        </p:txBody>
      </p:sp>
      <p:sp>
        <p:nvSpPr>
          <p:cNvPr id="35" name="fx12_5_18"/>
          <p:cNvSpPr/>
          <p:nvPr/>
        </p:nvSpPr>
        <p:spPr>
          <a:xfrm>
            <a:off x="7177857" y="2647188"/>
            <a:ext cx="2164019" cy="1431036"/>
          </a:xfrm>
          <a:custGeom>
            <a:avLst/>
            <a:gdLst/>
            <a:ahLst/>
            <a:cxnLst/>
            <a:rect l="l" t="t" r="r" b="b"/>
            <a:pathLst>
              <a:path w="2164019" h="1431036">
                <a:moveTo>
                  <a:pt x="0" y="1431036"/>
                </a:moveTo>
                <a:lnTo>
                  <a:pt x="60112" y="1308191"/>
                </a:lnTo>
                <a:lnTo>
                  <a:pt x="120223" y="1186256"/>
                </a:lnTo>
                <a:lnTo>
                  <a:pt x="180335" y="1066134"/>
                </a:lnTo>
                <a:lnTo>
                  <a:pt x="240447" y="948713"/>
                </a:lnTo>
                <a:lnTo>
                  <a:pt x="300558" y="834863"/>
                </a:lnTo>
                <a:lnTo>
                  <a:pt x="360670" y="725424"/>
                </a:lnTo>
                <a:lnTo>
                  <a:pt x="420781" y="621205"/>
                </a:lnTo>
                <a:lnTo>
                  <a:pt x="480893" y="522973"/>
                </a:lnTo>
                <a:lnTo>
                  <a:pt x="541005" y="431450"/>
                </a:lnTo>
                <a:lnTo>
                  <a:pt x="601116" y="347309"/>
                </a:lnTo>
                <a:lnTo>
                  <a:pt x="661228" y="271165"/>
                </a:lnTo>
                <a:lnTo>
                  <a:pt x="721340" y="203572"/>
                </a:lnTo>
                <a:lnTo>
                  <a:pt x="781451" y="145018"/>
                </a:lnTo>
                <a:lnTo>
                  <a:pt x="841563" y="95926"/>
                </a:lnTo>
                <a:lnTo>
                  <a:pt x="901675" y="56642"/>
                </a:lnTo>
                <a:lnTo>
                  <a:pt x="961786" y="27442"/>
                </a:lnTo>
                <a:lnTo>
                  <a:pt x="1021898" y="8521"/>
                </a:lnTo>
                <a:lnTo>
                  <a:pt x="1082010" y="0"/>
                </a:lnTo>
                <a:lnTo>
                  <a:pt x="1142121" y="1917"/>
                </a:lnTo>
                <a:lnTo>
                  <a:pt x="1202233" y="14234"/>
                </a:lnTo>
                <a:lnTo>
                  <a:pt x="1262344" y="36830"/>
                </a:lnTo>
                <a:lnTo>
                  <a:pt x="1322456" y="69510"/>
                </a:lnTo>
                <a:lnTo>
                  <a:pt x="1382568" y="111998"/>
                </a:lnTo>
                <a:lnTo>
                  <a:pt x="1442679" y="163948"/>
                </a:lnTo>
                <a:lnTo>
                  <a:pt x="1502791" y="224937"/>
                </a:lnTo>
                <a:lnTo>
                  <a:pt x="1562903" y="294477"/>
                </a:lnTo>
                <a:lnTo>
                  <a:pt x="1623014" y="372014"/>
                </a:lnTo>
                <a:lnTo>
                  <a:pt x="1683126" y="456933"/>
                </a:lnTo>
                <a:lnTo>
                  <a:pt x="1743238" y="548561"/>
                </a:lnTo>
                <a:lnTo>
                  <a:pt x="1803349" y="646176"/>
                </a:lnTo>
                <a:lnTo>
                  <a:pt x="1863461" y="749011"/>
                </a:lnTo>
                <a:lnTo>
                  <a:pt x="1923572" y="856257"/>
                </a:lnTo>
                <a:lnTo>
                  <a:pt x="1983684" y="967074"/>
                </a:lnTo>
                <a:lnTo>
                  <a:pt x="2043796" y="1080592"/>
                </a:lnTo>
                <a:lnTo>
                  <a:pt x="2103907" y="1195923"/>
                </a:lnTo>
                <a:lnTo>
                  <a:pt x="2164019" y="1312164"/>
                </a:lnTo>
              </a:path>
            </a:pathLst>
          </a:custGeom>
          <a:ln w="114300">
            <a:solidFill>
              <a:srgbClr val="62D4F0">
                <a:alpha val="15000"/>
              </a:srgbClr>
            </a:solidFill>
            <a:prstDash val="solid"/>
          </a:ln>
        </p:spPr>
      </p:sp>
      <p:sp>
        <p:nvSpPr>
          <p:cNvPr id="36" name="fx12_5_19"/>
          <p:cNvSpPr/>
          <p:nvPr/>
        </p:nvSpPr>
        <p:spPr>
          <a:xfrm>
            <a:off x="7177857" y="2647188"/>
            <a:ext cx="2164019" cy="1431036"/>
          </a:xfrm>
          <a:custGeom>
            <a:avLst/>
            <a:gdLst/>
            <a:ahLst/>
            <a:cxnLst/>
            <a:rect l="l" t="t" r="r" b="b"/>
            <a:pathLst>
              <a:path w="2164019" h="1431036">
                <a:moveTo>
                  <a:pt x="0" y="1431036"/>
                </a:moveTo>
                <a:lnTo>
                  <a:pt x="60112" y="1308191"/>
                </a:lnTo>
                <a:lnTo>
                  <a:pt x="120223" y="1186256"/>
                </a:lnTo>
                <a:lnTo>
                  <a:pt x="180335" y="1066134"/>
                </a:lnTo>
                <a:lnTo>
                  <a:pt x="240447" y="948713"/>
                </a:lnTo>
                <a:lnTo>
                  <a:pt x="300558" y="834863"/>
                </a:lnTo>
                <a:lnTo>
                  <a:pt x="360670" y="725424"/>
                </a:lnTo>
                <a:lnTo>
                  <a:pt x="420781" y="621205"/>
                </a:lnTo>
                <a:lnTo>
                  <a:pt x="480893" y="522973"/>
                </a:lnTo>
                <a:lnTo>
                  <a:pt x="541005" y="431450"/>
                </a:lnTo>
                <a:lnTo>
                  <a:pt x="601116" y="347309"/>
                </a:lnTo>
                <a:lnTo>
                  <a:pt x="661228" y="271165"/>
                </a:lnTo>
                <a:lnTo>
                  <a:pt x="721340" y="203572"/>
                </a:lnTo>
                <a:lnTo>
                  <a:pt x="781451" y="145018"/>
                </a:lnTo>
                <a:lnTo>
                  <a:pt x="841563" y="95926"/>
                </a:lnTo>
                <a:lnTo>
                  <a:pt x="901675" y="56642"/>
                </a:lnTo>
                <a:lnTo>
                  <a:pt x="961786" y="27442"/>
                </a:lnTo>
                <a:lnTo>
                  <a:pt x="1021898" y="8521"/>
                </a:lnTo>
                <a:lnTo>
                  <a:pt x="1082010" y="0"/>
                </a:lnTo>
                <a:lnTo>
                  <a:pt x="1142121" y="1917"/>
                </a:lnTo>
                <a:lnTo>
                  <a:pt x="1202233" y="14234"/>
                </a:lnTo>
                <a:lnTo>
                  <a:pt x="1262344" y="36830"/>
                </a:lnTo>
                <a:lnTo>
                  <a:pt x="1322456" y="69510"/>
                </a:lnTo>
                <a:lnTo>
                  <a:pt x="1382568" y="111998"/>
                </a:lnTo>
                <a:lnTo>
                  <a:pt x="1442679" y="163948"/>
                </a:lnTo>
                <a:lnTo>
                  <a:pt x="1502791" y="224937"/>
                </a:lnTo>
                <a:lnTo>
                  <a:pt x="1562903" y="294477"/>
                </a:lnTo>
                <a:lnTo>
                  <a:pt x="1623014" y="372014"/>
                </a:lnTo>
                <a:lnTo>
                  <a:pt x="1683126" y="456933"/>
                </a:lnTo>
                <a:lnTo>
                  <a:pt x="1743238" y="548561"/>
                </a:lnTo>
                <a:lnTo>
                  <a:pt x="1803349" y="646176"/>
                </a:lnTo>
                <a:lnTo>
                  <a:pt x="1863461" y="749011"/>
                </a:lnTo>
                <a:lnTo>
                  <a:pt x="1923572" y="856257"/>
                </a:lnTo>
                <a:lnTo>
                  <a:pt x="1983684" y="967074"/>
                </a:lnTo>
                <a:lnTo>
                  <a:pt x="2043796" y="1080592"/>
                </a:lnTo>
                <a:lnTo>
                  <a:pt x="2103907" y="1195923"/>
                </a:lnTo>
                <a:lnTo>
                  <a:pt x="2164019" y="1312164"/>
                </a:lnTo>
              </a:path>
            </a:pathLst>
          </a:custGeom>
          <a:ln w="34925">
            <a:solidFill>
              <a:srgbClr val="62D4F0"/>
            </a:solidFill>
            <a:prstDash val="dash"/>
          </a:ln>
        </p:spPr>
      </p:sp>
      <p:sp>
        <p:nvSpPr>
          <p:cNvPr id="37" name="fx12_5_20"/>
          <p:cNvSpPr/>
          <p:nvPr/>
        </p:nvSpPr>
        <p:spPr>
          <a:xfrm>
            <a:off x="7177857" y="3090672"/>
            <a:ext cx="2164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62D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400" dirty="0"/>
          </a:p>
        </p:txBody>
      </p:sp>
      <p:sp>
        <p:nvSpPr>
          <p:cNvPr id="38" name="fx12_5_21"/>
          <p:cNvSpPr/>
          <p:nvPr/>
        </p:nvSpPr>
        <p:spPr>
          <a:xfrm>
            <a:off x="7269297" y="4562856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 век</a:t>
            </a:r>
            <a:endParaRPr lang="en-US" sz="1250" dirty="0"/>
          </a:p>
        </p:txBody>
      </p:sp>
      <p:sp>
        <p:nvSpPr>
          <p:cNvPr id="39" name="fx12_5_22"/>
          <p:cNvSpPr/>
          <p:nvPr/>
        </p:nvSpPr>
        <p:spPr>
          <a:xfrm>
            <a:off x="7269297" y="4837176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Нефть, массовое производство</a:t>
            </a:r>
            <a:endParaRPr lang="en-US" sz="1100" dirty="0"/>
          </a:p>
        </p:txBody>
      </p:sp>
      <p:sp>
        <p:nvSpPr>
          <p:cNvPr id="40" name="fx12_6_23"/>
          <p:cNvSpPr/>
          <p:nvPr/>
        </p:nvSpPr>
        <p:spPr>
          <a:xfrm>
            <a:off x="9341876" y="2528316"/>
            <a:ext cx="2164019" cy="1431036"/>
          </a:xfrm>
          <a:custGeom>
            <a:avLst/>
            <a:gdLst/>
            <a:ahLst/>
            <a:cxnLst/>
            <a:rect l="l" t="t" r="r" b="b"/>
            <a:pathLst>
              <a:path w="2164019" h="1431036">
                <a:moveTo>
                  <a:pt x="0" y="1431036"/>
                </a:moveTo>
                <a:lnTo>
                  <a:pt x="60112" y="1308191"/>
                </a:lnTo>
                <a:lnTo>
                  <a:pt x="120223" y="1186256"/>
                </a:lnTo>
                <a:lnTo>
                  <a:pt x="180335" y="1066134"/>
                </a:lnTo>
                <a:lnTo>
                  <a:pt x="240447" y="948713"/>
                </a:lnTo>
                <a:lnTo>
                  <a:pt x="300558" y="834863"/>
                </a:lnTo>
                <a:lnTo>
                  <a:pt x="360670" y="725424"/>
                </a:lnTo>
                <a:lnTo>
                  <a:pt x="420781" y="621205"/>
                </a:lnTo>
                <a:lnTo>
                  <a:pt x="480893" y="522973"/>
                </a:lnTo>
                <a:lnTo>
                  <a:pt x="541005" y="431450"/>
                </a:lnTo>
                <a:lnTo>
                  <a:pt x="601116" y="347309"/>
                </a:lnTo>
                <a:lnTo>
                  <a:pt x="661228" y="271165"/>
                </a:lnTo>
                <a:lnTo>
                  <a:pt x="721340" y="203572"/>
                </a:lnTo>
                <a:lnTo>
                  <a:pt x="781451" y="145018"/>
                </a:lnTo>
                <a:lnTo>
                  <a:pt x="841563" y="95926"/>
                </a:lnTo>
                <a:lnTo>
                  <a:pt x="901675" y="56642"/>
                </a:lnTo>
                <a:lnTo>
                  <a:pt x="961786" y="27442"/>
                </a:lnTo>
                <a:lnTo>
                  <a:pt x="1021898" y="8521"/>
                </a:lnTo>
                <a:lnTo>
                  <a:pt x="1082010" y="0"/>
                </a:lnTo>
                <a:lnTo>
                  <a:pt x="1142121" y="1917"/>
                </a:lnTo>
                <a:lnTo>
                  <a:pt x="1202233" y="14234"/>
                </a:lnTo>
                <a:lnTo>
                  <a:pt x="1262344" y="36830"/>
                </a:lnTo>
                <a:lnTo>
                  <a:pt x="1322456" y="69510"/>
                </a:lnTo>
                <a:lnTo>
                  <a:pt x="1382568" y="111998"/>
                </a:lnTo>
                <a:lnTo>
                  <a:pt x="1442679" y="163948"/>
                </a:lnTo>
                <a:lnTo>
                  <a:pt x="1502791" y="224937"/>
                </a:lnTo>
                <a:lnTo>
                  <a:pt x="1562903" y="294477"/>
                </a:lnTo>
                <a:lnTo>
                  <a:pt x="1623014" y="372014"/>
                </a:lnTo>
                <a:lnTo>
                  <a:pt x="1683126" y="456933"/>
                </a:lnTo>
                <a:lnTo>
                  <a:pt x="1743238" y="548561"/>
                </a:lnTo>
                <a:lnTo>
                  <a:pt x="1803349" y="646176"/>
                </a:lnTo>
                <a:lnTo>
                  <a:pt x="1863461" y="749011"/>
                </a:lnTo>
                <a:lnTo>
                  <a:pt x="1923572" y="856257"/>
                </a:lnTo>
                <a:lnTo>
                  <a:pt x="1983684" y="967074"/>
                </a:lnTo>
                <a:lnTo>
                  <a:pt x="2043796" y="1080592"/>
                </a:lnTo>
                <a:lnTo>
                  <a:pt x="2103907" y="1195923"/>
                </a:lnTo>
                <a:lnTo>
                  <a:pt x="2164019" y="1312164"/>
                </a:lnTo>
              </a:path>
            </a:pathLst>
          </a:custGeom>
          <a:ln w="114300">
            <a:solidFill>
              <a:srgbClr val="62D4F0">
                <a:alpha val="15000"/>
              </a:srgbClr>
            </a:solidFill>
            <a:prstDash val="solid"/>
          </a:ln>
        </p:spPr>
      </p:sp>
      <p:sp>
        <p:nvSpPr>
          <p:cNvPr id="41" name="fx12_6_24"/>
          <p:cNvSpPr/>
          <p:nvPr/>
        </p:nvSpPr>
        <p:spPr>
          <a:xfrm>
            <a:off x="9341876" y="2528316"/>
            <a:ext cx="2164019" cy="1431036"/>
          </a:xfrm>
          <a:custGeom>
            <a:avLst/>
            <a:gdLst/>
            <a:ahLst/>
            <a:cxnLst/>
            <a:rect l="l" t="t" r="r" b="b"/>
            <a:pathLst>
              <a:path w="2164019" h="1431036">
                <a:moveTo>
                  <a:pt x="0" y="1431036"/>
                </a:moveTo>
                <a:lnTo>
                  <a:pt x="60112" y="1308191"/>
                </a:lnTo>
                <a:lnTo>
                  <a:pt x="120223" y="1186256"/>
                </a:lnTo>
                <a:lnTo>
                  <a:pt x="180335" y="1066134"/>
                </a:lnTo>
                <a:lnTo>
                  <a:pt x="240447" y="948713"/>
                </a:lnTo>
                <a:lnTo>
                  <a:pt x="300558" y="834863"/>
                </a:lnTo>
                <a:lnTo>
                  <a:pt x="360670" y="725424"/>
                </a:lnTo>
                <a:lnTo>
                  <a:pt x="420781" y="621205"/>
                </a:lnTo>
                <a:lnTo>
                  <a:pt x="480893" y="522973"/>
                </a:lnTo>
                <a:lnTo>
                  <a:pt x="541005" y="431450"/>
                </a:lnTo>
                <a:lnTo>
                  <a:pt x="601116" y="347309"/>
                </a:lnTo>
                <a:lnTo>
                  <a:pt x="661228" y="271165"/>
                </a:lnTo>
                <a:lnTo>
                  <a:pt x="721340" y="203572"/>
                </a:lnTo>
                <a:lnTo>
                  <a:pt x="781451" y="145018"/>
                </a:lnTo>
                <a:lnTo>
                  <a:pt x="841563" y="95926"/>
                </a:lnTo>
                <a:lnTo>
                  <a:pt x="901675" y="56642"/>
                </a:lnTo>
                <a:lnTo>
                  <a:pt x="961786" y="27442"/>
                </a:lnTo>
                <a:lnTo>
                  <a:pt x="1021898" y="8521"/>
                </a:lnTo>
                <a:lnTo>
                  <a:pt x="1082010" y="0"/>
                </a:lnTo>
                <a:lnTo>
                  <a:pt x="1142121" y="1917"/>
                </a:lnTo>
                <a:lnTo>
                  <a:pt x="1202233" y="14234"/>
                </a:lnTo>
                <a:lnTo>
                  <a:pt x="1262344" y="36830"/>
                </a:lnTo>
                <a:lnTo>
                  <a:pt x="1322456" y="69510"/>
                </a:lnTo>
                <a:lnTo>
                  <a:pt x="1382568" y="111998"/>
                </a:lnTo>
                <a:lnTo>
                  <a:pt x="1442679" y="163948"/>
                </a:lnTo>
                <a:lnTo>
                  <a:pt x="1502791" y="224937"/>
                </a:lnTo>
                <a:lnTo>
                  <a:pt x="1562903" y="294477"/>
                </a:lnTo>
                <a:lnTo>
                  <a:pt x="1623014" y="372014"/>
                </a:lnTo>
                <a:lnTo>
                  <a:pt x="1683126" y="456933"/>
                </a:lnTo>
                <a:lnTo>
                  <a:pt x="1743238" y="548561"/>
                </a:lnTo>
                <a:lnTo>
                  <a:pt x="1803349" y="646176"/>
                </a:lnTo>
                <a:lnTo>
                  <a:pt x="1863461" y="749011"/>
                </a:lnTo>
                <a:lnTo>
                  <a:pt x="1923572" y="856257"/>
                </a:lnTo>
                <a:lnTo>
                  <a:pt x="1983684" y="967074"/>
                </a:lnTo>
                <a:lnTo>
                  <a:pt x="2043796" y="1080592"/>
                </a:lnTo>
                <a:lnTo>
                  <a:pt x="2103907" y="1195923"/>
                </a:lnTo>
                <a:lnTo>
                  <a:pt x="2164019" y="1312164"/>
                </a:lnTo>
              </a:path>
            </a:pathLst>
          </a:custGeom>
          <a:ln w="34925">
            <a:solidFill>
              <a:srgbClr val="62D4F0"/>
            </a:solidFill>
            <a:prstDash val="dash"/>
          </a:ln>
        </p:spPr>
      </p:sp>
      <p:sp>
        <p:nvSpPr>
          <p:cNvPr id="42" name="fx12_6_25"/>
          <p:cNvSpPr/>
          <p:nvPr/>
        </p:nvSpPr>
        <p:spPr>
          <a:xfrm>
            <a:off x="9341876" y="2971800"/>
            <a:ext cx="2164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62D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400" dirty="0"/>
          </a:p>
        </p:txBody>
      </p:sp>
      <p:sp>
        <p:nvSpPr>
          <p:cNvPr id="43" name="fx12_6_26"/>
          <p:cNvSpPr/>
          <p:nvPr/>
        </p:nvSpPr>
        <p:spPr>
          <a:xfrm>
            <a:off x="9433316" y="4562856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1970-х</a:t>
            </a:r>
            <a:endParaRPr lang="en-US" sz="1250" dirty="0"/>
          </a:p>
        </p:txBody>
      </p:sp>
      <p:sp>
        <p:nvSpPr>
          <p:cNvPr id="44" name="fx12_6_27"/>
          <p:cNvSpPr/>
          <p:nvPr/>
        </p:nvSpPr>
        <p:spPr>
          <a:xfrm>
            <a:off x="9433316" y="4837176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Микроэлектроника, интернет</a:t>
            </a:r>
            <a:endParaRPr lang="en-US" sz="1100" dirty="0"/>
          </a:p>
        </p:txBody>
      </p:sp>
      <p:sp>
        <p:nvSpPr>
          <p:cNvPr id="45" name="fx12_7_28"/>
          <p:cNvSpPr/>
          <p:nvPr/>
        </p:nvSpPr>
        <p:spPr>
          <a:xfrm>
            <a:off x="685800" y="535838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I–III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датировка Шумпетера (1939).   </a:t>
            </a:r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2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IV–V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продолжение у неошумпетерианцев (К. Фримен, К. Перес).</a:t>
            </a:r>
            <a:endParaRPr lang="en-US" sz="1050" dirty="0"/>
          </a:p>
        </p:txBody>
      </p:sp>
      <p:sp>
        <p:nvSpPr>
          <p:cNvPr id="46" name="fx12_8_29"/>
          <p:cNvSpPr/>
          <p:nvPr/>
        </p:nvSpPr>
        <p:spPr>
          <a:xfrm>
            <a:off x="5806440" y="5358384"/>
            <a:ext cx="5699455" cy="841248"/>
          </a:xfrm>
          <a:prstGeom prst="roundRect">
            <a:avLst>
              <a:gd name="adj" fmla="val 8696"/>
            </a:avLst>
          </a:prstGeom>
          <a:solidFill>
            <a:srgbClr val="1B160C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7" name="fx12_8_30"/>
          <p:cNvSpPr/>
          <p:nvPr/>
        </p:nvSpPr>
        <p:spPr>
          <a:xfrm>
            <a:off x="5806440" y="5504688"/>
            <a:ext cx="50292" cy="54864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48" name="fx12_8_31"/>
          <p:cNvSpPr/>
          <p:nvPr/>
        </p:nvSpPr>
        <p:spPr>
          <a:xfrm>
            <a:off x="6062472" y="5221224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49" name="fx12_8_32"/>
          <p:cNvSpPr/>
          <p:nvPr/>
        </p:nvSpPr>
        <p:spPr>
          <a:xfrm>
            <a:off x="6062472" y="522122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70C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50" name="fx12_8_33"/>
          <p:cNvSpPr/>
          <p:nvPr/>
        </p:nvSpPr>
        <p:spPr>
          <a:xfrm>
            <a:off x="6080760" y="5541264"/>
            <a:ext cx="5242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Николая Кондратьева, в честь которого названы волны,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расстреляли в СССР в 1938 году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за год до выхода книги.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1" name="!!m-hourglass">
                <a:extLst>
                  <a:ext uri="{FF2B5EF4-FFF2-40B4-BE49-F238E27FC236}">
                    <a16:creationId xmlns:a16="http://schemas.microsoft.com/office/drawing/2014/main" id="{63EDFD68-DC25-2D34-B162-E3375DB7992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754880" y="1234440"/>
              <a:ext cx="4206240" cy="4206240"/>
            </p:xfrm>
            <a:graphic>
              <a:graphicData uri="http://schemas.microsoft.com/office/drawing/2017/model3d">
                <am3d:model3d r:embed="rIdM3d46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6329077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04225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60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1" name="!!m-hourglass">
                <a:extLst>
                  <a:ext uri="{FF2B5EF4-FFF2-40B4-BE49-F238E27FC236}">
                    <a16:creationId xmlns:a16="http://schemas.microsoft.com/office/drawing/2014/main" id="{63EDFD68-DC25-2D34-B162-E3375DB799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754880" y="1234440"/>
                <a:ext cx="4206240" cy="420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2" name="!!m-bulb">
                <a:extLst>
                  <a:ext uri="{FF2B5EF4-FFF2-40B4-BE49-F238E27FC236}">
                    <a16:creationId xmlns:a16="http://schemas.microsoft.com/office/drawing/2014/main" id="{C3B6619C-6DB4-916D-CCE3-736747C618C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143000"/>
              <a:ext cx="4572000" cy="4572000"/>
            </p:xfrm>
            <a:graphic>
              <a:graphicData uri="http://schemas.microsoft.com/office/drawing/2017/model3d">
                <am3d:model3d r:embed="rIdM3d47">
                  <am3d:spPr>
                    <a:xfrm>
                      <a:off x="0" y="0"/>
                      <a:ext cx="4572000" cy="4572000"/>
                    </a:xfrm>
                    <a:prstGeom prst="rect">
                      <a:avLst/>
                    </a:prstGeom>
                  </am3d:spPr>
                  <am3d:camera>
                    <am3d:pos x="0" y="0" z="616303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29927" d="1000000"/>
                    <am3d:preTrans dx="0" dy="-564963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36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572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2" name="!!m-bulb">
                <a:extLst>
                  <a:ext uri="{FF2B5EF4-FFF2-40B4-BE49-F238E27FC236}">
                    <a16:creationId xmlns:a16="http://schemas.microsoft.com/office/drawing/2014/main" id="{C3B6619C-6DB4-916D-CCE3-736747C618C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143000"/>
                <a:ext cx="4572000" cy="457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schumpeter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9274367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gear">
                <a:extLst>
                  <a:ext uri="{FF2B5EF4-FFF2-40B4-BE49-F238E27FC236}">
                    <a16:creationId xmlns:a16="http://schemas.microsoft.com/office/drawing/2014/main" id="{7F71921D-6B2D-830F-A278-0B43E57BBC2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658415" y="62179"/>
              <a:ext cx="603504" cy="603504"/>
            </p:xfrm>
            <a:graphic>
              <a:graphicData uri="http://schemas.microsoft.com/office/drawing/2017/model3d">
                <am3d:model3d r:embed="rIdM3d48">
                  <am3d:spPr>
                    <a:xfrm>
                      <a:off x="0" y="0"/>
                      <a:ext cx="603504" cy="603504"/>
                    </a:xfrm>
                    <a:prstGeom prst="rect">
                      <a:avLst/>
                    </a:prstGeom>
                  </am3d:spPr>
                  <am3d:camera>
                    <am3d:pos x="0" y="0" z="671596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175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840000" az="-10368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6035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gear">
                <a:extLst>
                  <a:ext uri="{FF2B5EF4-FFF2-40B4-BE49-F238E27FC236}">
                    <a16:creationId xmlns:a16="http://schemas.microsoft.com/office/drawing/2014/main" id="{7F71921D-6B2D-830F-A278-0B43E57BBC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658415" y="62179"/>
                <a:ext cx="603504" cy="60350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ВКЛАД В ПРЕДПРИНИМАТЕЛЬСТВО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ЙОЗЕФ ШУМПЕТЕР  ·  1883–1950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00" dirty="0"/>
          </a:p>
        </p:txBody>
      </p:sp>
      <p:pic>
        <p:nvPicPr>
          <p:cNvPr id="11" name="!!glow" descr="/home/user/omgGame/presentations/schumpeter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-251460"/>
            <a:ext cx="6629400" cy="6629400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635240" y="914400"/>
            <a:ext cx="4297680" cy="4297680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040880" y="320040"/>
            <a:ext cx="5486400" cy="5486400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schumpeter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4331970"/>
            <a:ext cx="2286000" cy="57150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bulb">
                <a:extLst>
                  <a:ext uri="{FF2B5EF4-FFF2-40B4-BE49-F238E27FC236}">
                    <a16:creationId xmlns:a16="http://schemas.microsoft.com/office/drawing/2014/main" id="{5698ECF7-5E53-78A1-6CEF-DF2D94120E2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98080" y="777240"/>
              <a:ext cx="4572000" cy="4572000"/>
            </p:xfrm>
            <a:graphic>
              <a:graphicData uri="http://schemas.microsoft.com/office/drawing/2017/model3d">
                <am3d:model3d r:embed="rIdM3d49">
                  <am3d:spPr>
                    <a:xfrm>
                      <a:off x="0" y="0"/>
                      <a:ext cx="4572000" cy="4572000"/>
                    </a:xfrm>
                    <a:prstGeom prst="rect">
                      <a:avLst/>
                    </a:prstGeom>
                  </am3d:spPr>
                  <am3d:camera>
                    <am3d:pos x="0" y="0" z="616303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29927" d="1000000"/>
                    <am3d:preTrans dx="0" dy="-564963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2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572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bulb">
                <a:extLst>
                  <a:ext uri="{FF2B5EF4-FFF2-40B4-BE49-F238E27FC236}">
                    <a16:creationId xmlns:a16="http://schemas.microsoft.com/office/drawing/2014/main" id="{5698ECF7-5E53-78A1-6CEF-DF2D94120E2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98080" y="777240"/>
                <a:ext cx="4572000" cy="4572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3_9_0"/>
          <p:cNvSpPr/>
          <p:nvPr/>
        </p:nvSpPr>
        <p:spPr>
          <a:xfrm>
            <a:off x="8138160" y="5029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13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работает, только когда её «включили»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Шумпетер дал предпринимательству</a:t>
            </a:r>
            <a:endParaRPr lang="en-US" sz="3600" dirty="0"/>
          </a:p>
        </p:txBody>
      </p:sp>
      <p:sp>
        <p:nvSpPr>
          <p:cNvPr id="18" name="fx13_1_1"/>
          <p:cNvSpPr/>
          <p:nvPr/>
        </p:nvSpPr>
        <p:spPr>
          <a:xfrm>
            <a:off x="685800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fx13_1_2"/>
          <p:cNvSpPr/>
          <p:nvPr/>
        </p:nvSpPr>
        <p:spPr>
          <a:xfrm>
            <a:off x="1280160" y="22128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Предприниматель — в центре экономики</a:t>
            </a:r>
            <a:endParaRPr lang="en-US" sz="1400" dirty="0"/>
          </a:p>
        </p:txBody>
      </p:sp>
      <p:sp>
        <p:nvSpPr>
          <p:cNvPr id="20" name="fx13_1_3"/>
          <p:cNvSpPr/>
          <p:nvPr/>
        </p:nvSpPr>
        <p:spPr>
          <a:xfrm>
            <a:off x="1280160" y="24871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владелец капитала, а двигатель развития.</a:t>
            </a:r>
            <a:endParaRPr lang="en-US" sz="1150" dirty="0"/>
          </a:p>
        </p:txBody>
      </p:sp>
      <p:sp>
        <p:nvSpPr>
          <p:cNvPr id="21" name="fx13_2_4"/>
          <p:cNvSpPr/>
          <p:nvPr/>
        </p:nvSpPr>
        <p:spPr>
          <a:xfrm>
            <a:off x="685800" y="27980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fx13_2_5"/>
          <p:cNvSpPr/>
          <p:nvPr/>
        </p:nvSpPr>
        <p:spPr>
          <a:xfrm>
            <a:off x="1280160" y="2834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Инновация ≠ изобретение</a:t>
            </a:r>
            <a:endParaRPr lang="en-US" sz="1400" dirty="0"/>
          </a:p>
        </p:txBody>
      </p:sp>
      <p:sp>
        <p:nvSpPr>
          <p:cNvPr id="23" name="fx13_2_6"/>
          <p:cNvSpPr/>
          <p:nvPr/>
        </p:nvSpPr>
        <p:spPr>
          <a:xfrm>
            <a:off x="1280160" y="3108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Предпринимательство — функция внедрения нового.</a:t>
            </a:r>
            <a:endParaRPr lang="en-US" sz="1150" dirty="0"/>
          </a:p>
        </p:txBody>
      </p:sp>
      <p:sp>
        <p:nvSpPr>
          <p:cNvPr id="24" name="fx13_3_7"/>
          <p:cNvSpPr/>
          <p:nvPr/>
        </p:nvSpPr>
        <p:spPr>
          <a:xfrm>
            <a:off x="685800" y="34198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fx13_3_8"/>
          <p:cNvSpPr/>
          <p:nvPr/>
        </p:nvSpPr>
        <p:spPr>
          <a:xfrm>
            <a:off x="1280160" y="3456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Объяснение прибыли</a:t>
            </a:r>
            <a:endParaRPr lang="en-US" sz="1400" dirty="0"/>
          </a:p>
        </p:txBody>
      </p:sp>
      <p:sp>
        <p:nvSpPr>
          <p:cNvPr id="26" name="fx13_3_9"/>
          <p:cNvSpPr/>
          <p:nvPr/>
        </p:nvSpPr>
        <p:spPr>
          <a:xfrm>
            <a:off x="1280160" y="37307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Временная награда за новизну, которую съедает конкуренция.</a:t>
            </a:r>
            <a:endParaRPr lang="en-US" sz="1150" dirty="0"/>
          </a:p>
        </p:txBody>
      </p:sp>
      <p:sp>
        <p:nvSpPr>
          <p:cNvPr id="27" name="fx13_4_10"/>
          <p:cNvSpPr/>
          <p:nvPr/>
        </p:nvSpPr>
        <p:spPr>
          <a:xfrm>
            <a:off x="685800" y="4041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fx13_4_11"/>
          <p:cNvSpPr/>
          <p:nvPr/>
        </p:nvSpPr>
        <p:spPr>
          <a:xfrm>
            <a:off x="1280160" y="40782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модели: Mark I и Mark II</a:t>
            </a:r>
            <a:endParaRPr lang="en-US" sz="1400" dirty="0"/>
          </a:p>
        </p:txBody>
      </p:sp>
      <p:sp>
        <p:nvSpPr>
          <p:cNvPr id="29" name="fx13_4_12"/>
          <p:cNvSpPr/>
          <p:nvPr/>
        </p:nvSpPr>
        <p:spPr>
          <a:xfrm>
            <a:off x="1280160" y="43525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смелые фирмы (1911) и R&amp;D корпораций (1942).</a:t>
            </a:r>
            <a:endParaRPr lang="en-US" sz="1150" dirty="0"/>
          </a:p>
        </p:txBody>
      </p:sp>
      <p:sp>
        <p:nvSpPr>
          <p:cNvPr id="30" name="fx13_5_13"/>
          <p:cNvSpPr/>
          <p:nvPr/>
        </p:nvSpPr>
        <p:spPr>
          <a:xfrm>
            <a:off x="685800" y="4663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fx13_5_14"/>
          <p:cNvSpPr/>
          <p:nvPr/>
        </p:nvSpPr>
        <p:spPr>
          <a:xfrm>
            <a:off x="1280160" y="47000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экономики инноваций</a:t>
            </a:r>
            <a:endParaRPr lang="en-US" sz="1400" dirty="0"/>
          </a:p>
        </p:txBody>
      </p:sp>
      <p:sp>
        <p:nvSpPr>
          <p:cNvPr id="32" name="fx13_5_15"/>
          <p:cNvSpPr/>
          <p:nvPr/>
        </p:nvSpPr>
        <p:spPr>
          <a:xfrm>
            <a:off x="1280160" y="49743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Неошумпетерианцы, общество Шумпетера (1986), стартапы.</a:t>
            </a:r>
            <a:endParaRPr lang="en-US" sz="1150" dirty="0"/>
          </a:p>
        </p:txBody>
      </p:sp>
      <p:sp>
        <p:nvSpPr>
          <p:cNvPr id="33" name="fx13_8_16"/>
          <p:cNvSpPr/>
          <p:nvPr/>
        </p:nvSpPr>
        <p:spPr>
          <a:xfrm>
            <a:off x="685800" y="5440680"/>
            <a:ext cx="6035040" cy="749808"/>
          </a:xfrm>
          <a:prstGeom prst="roundRect">
            <a:avLst>
              <a:gd name="adj" fmla="val 9756"/>
            </a:avLst>
          </a:prstGeom>
          <a:solidFill>
            <a:srgbClr val="1B160C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4" name="fx13_8_17"/>
          <p:cNvSpPr/>
          <p:nvPr/>
        </p:nvSpPr>
        <p:spPr>
          <a:xfrm>
            <a:off x="685800" y="5586984"/>
            <a:ext cx="50292" cy="45720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5" name="fx13_8_18"/>
          <p:cNvSpPr/>
          <p:nvPr/>
        </p:nvSpPr>
        <p:spPr>
          <a:xfrm>
            <a:off x="941832" y="530352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6" name="fx13_8_19"/>
          <p:cNvSpPr/>
          <p:nvPr/>
        </p:nvSpPr>
        <p:spPr>
          <a:xfrm>
            <a:off x="941832" y="53035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70C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7" name="fx13_8_20"/>
          <p:cNvSpPr/>
          <p:nvPr/>
        </p:nvSpPr>
        <p:spPr>
          <a:xfrm>
            <a:off x="960120" y="5623560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1983 году Питер Друкер предсказал: конец XX века будет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веком Шумпетера, а не Кейнса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8" name="!!m-cradle">
                <a:extLst>
                  <a:ext uri="{FF2B5EF4-FFF2-40B4-BE49-F238E27FC236}">
                    <a16:creationId xmlns:a16="http://schemas.microsoft.com/office/drawing/2014/main" id="{4C280798-8338-2DE8-7918-55A91A22E17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246120" y="457200"/>
              <a:ext cx="2697480" cy="2697480"/>
            </p:xfrm>
            <a:graphic>
              <a:graphicData uri="http://schemas.microsoft.com/office/drawing/2017/model3d">
                <am3d:model3d r:embed="rIdM3d50">
                  <am3d:spPr>
                    <a:xfrm>
                      <a:off x="0" y="0"/>
                      <a:ext cx="2697480" cy="2697480"/>
                    </a:xfrm>
                    <a:prstGeom prst="rect">
                      <a:avLst/>
                    </a:prstGeom>
                  </am3d:spPr>
                  <am3d:camera>
                    <am3d:pos x="0" y="0" z="575112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87447" d="1000000"/>
                    <am3d:preTrans dx="1610217" dy="-1027573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-66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8" name="!!m-cradle">
                <a:extLst>
                  <a:ext uri="{FF2B5EF4-FFF2-40B4-BE49-F238E27FC236}">
                    <a16:creationId xmlns:a16="http://schemas.microsoft.com/office/drawing/2014/main" id="{4C280798-8338-2DE8-7918-55A91A22E17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3246120" y="457200"/>
                <a:ext cx="2697480" cy="269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9" name="!!m-gear">
                <a:extLst>
                  <a:ext uri="{FF2B5EF4-FFF2-40B4-BE49-F238E27FC236}">
                    <a16:creationId xmlns:a16="http://schemas.microsoft.com/office/drawing/2014/main" id="{F9AB50F7-156E-67FD-D3B6-CF9D3104E40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051560"/>
              <a:ext cx="4297680" cy="4297680"/>
            </p:xfrm>
            <a:graphic>
              <a:graphicData uri="http://schemas.microsoft.com/office/drawing/2017/model3d">
                <am3d:model3d r:embed="rIdM3d51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6740181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175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3000000" az="-240000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9" name="!!m-gear">
                <a:extLst>
                  <a:ext uri="{FF2B5EF4-FFF2-40B4-BE49-F238E27FC236}">
                    <a16:creationId xmlns:a16="http://schemas.microsoft.com/office/drawing/2014/main" id="{F9AB50F7-156E-67FD-D3B6-CF9D3104E40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051560"/>
                <a:ext cx="4297680" cy="4297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4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schumpeter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10047231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gear">
                <a:extLst>
                  <a:ext uri="{FF2B5EF4-FFF2-40B4-BE49-F238E27FC236}">
                    <a16:creationId xmlns:a16="http://schemas.microsoft.com/office/drawing/2014/main" id="{2740E74A-BC31-84D0-29AF-4700080C612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431279" y="62179"/>
              <a:ext cx="603504" cy="603504"/>
            </p:xfrm>
            <a:graphic>
              <a:graphicData uri="http://schemas.microsoft.com/office/drawing/2017/model3d">
                <am3d:model3d r:embed="rIdM3d52">
                  <am3d:spPr>
                    <a:xfrm>
                      <a:off x="0" y="0"/>
                      <a:ext cx="603504" cy="603504"/>
                    </a:xfrm>
                    <a:prstGeom prst="rect">
                      <a:avLst/>
                    </a:prstGeom>
                  </am3d:spPr>
                  <am3d:camera>
                    <am3d:pos x="0" y="0" z="671596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175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840000" az="-11232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6035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gear">
                <a:extLst>
                  <a:ext uri="{FF2B5EF4-FFF2-40B4-BE49-F238E27FC236}">
                    <a16:creationId xmlns:a16="http://schemas.microsoft.com/office/drawing/2014/main" id="{2740E74A-BC31-84D0-29AF-4700080C612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431279" y="62179"/>
                <a:ext cx="603504" cy="60350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ЙОЗЕФ ШУМПЕТЕР  ·  1883–1950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  <p:pic>
        <p:nvPicPr>
          <p:cNvPr id="11" name="!!glow" descr="/home/user/omgGame/presentations/schumpeter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382" y="-281178"/>
            <a:ext cx="6231636" cy="6231636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581290" y="814730"/>
            <a:ext cx="4039819" cy="4039819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022592" y="256032"/>
            <a:ext cx="5157216" cy="5157216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schumpeter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4059479"/>
            <a:ext cx="2578608" cy="644652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gear">
                <a:extLst>
                  <a:ext uri="{FF2B5EF4-FFF2-40B4-BE49-F238E27FC236}">
                    <a16:creationId xmlns:a16="http://schemas.microsoft.com/office/drawing/2014/main" id="{0896E60C-B9A4-38FE-176D-010570B051B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52360" y="685800"/>
              <a:ext cx="4297680" cy="4297680"/>
            </p:xfrm>
            <a:graphic>
              <a:graphicData uri="http://schemas.microsoft.com/office/drawing/2017/model3d">
                <am3d:model3d r:embed="rIdM3d53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6740181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175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1800000" az="-240000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gear">
                <a:extLst>
                  <a:ext uri="{FF2B5EF4-FFF2-40B4-BE49-F238E27FC236}">
                    <a16:creationId xmlns:a16="http://schemas.microsoft.com/office/drawing/2014/main" id="{0896E60C-B9A4-38FE-176D-010570B051B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52360" y="685800"/>
                <a:ext cx="4297680" cy="42976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4_9_0"/>
          <p:cNvSpPr/>
          <p:nvPr/>
        </p:nvSpPr>
        <p:spPr>
          <a:xfrm>
            <a:off x="7680960" y="4572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14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Шестерня — двигатель, который катился всю презентацию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Главное за 30 секунд</a:t>
            </a:r>
            <a:endParaRPr lang="en-US" sz="3600" dirty="0"/>
          </a:p>
        </p:txBody>
      </p:sp>
      <p:sp>
        <p:nvSpPr>
          <p:cNvPr id="18" name="fx14_1_1"/>
          <p:cNvSpPr/>
          <p:nvPr/>
        </p:nvSpPr>
        <p:spPr>
          <a:xfrm>
            <a:off x="685800" y="1874520"/>
            <a:ext cx="5943600" cy="1024128"/>
          </a:xfrm>
          <a:prstGeom prst="roundRect">
            <a:avLst>
              <a:gd name="adj" fmla="val 7143"/>
            </a:avLst>
          </a:prstGeom>
          <a:solidFill>
            <a:srgbClr val="0E1930">
              <a:alpha val="75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19" name="fx14_1_2"/>
          <p:cNvSpPr/>
          <p:nvPr/>
        </p:nvSpPr>
        <p:spPr>
          <a:xfrm>
            <a:off x="685800" y="2057400"/>
            <a:ext cx="45720" cy="658368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0" name="fx14_1_3"/>
          <p:cNvSpPr/>
          <p:nvPr/>
        </p:nvSpPr>
        <p:spPr>
          <a:xfrm>
            <a:off x="960120" y="200253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</a:t>
            </a:r>
            <a:endParaRPr lang="en-US" sz="950" dirty="0"/>
          </a:p>
        </p:txBody>
      </p:sp>
      <p:sp>
        <p:nvSpPr>
          <p:cNvPr id="21" name="fx14_1_4"/>
          <p:cNvSpPr/>
          <p:nvPr/>
        </p:nvSpPr>
        <p:spPr>
          <a:xfrm>
            <a:off x="960120" y="224028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Австрийско-американский экономист из Моравии (1883–1950): министр, банкир, профессор Гарварда.</a:t>
            </a:r>
            <a:endParaRPr lang="en-US" sz="1450" dirty="0"/>
          </a:p>
        </p:txBody>
      </p:sp>
      <p:sp>
        <p:nvSpPr>
          <p:cNvPr id="22" name="fx14_2_5"/>
          <p:cNvSpPr/>
          <p:nvPr/>
        </p:nvSpPr>
        <p:spPr>
          <a:xfrm>
            <a:off x="685800" y="3044952"/>
            <a:ext cx="5943600" cy="1024128"/>
          </a:xfrm>
          <a:prstGeom prst="roundRect">
            <a:avLst>
              <a:gd name="adj" fmla="val 7143"/>
            </a:avLst>
          </a:prstGeom>
          <a:solidFill>
            <a:srgbClr val="0E1930">
              <a:alpha val="75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23" name="fx14_2_6"/>
          <p:cNvSpPr/>
          <p:nvPr/>
        </p:nvSpPr>
        <p:spPr>
          <a:xfrm>
            <a:off x="685800" y="3227832"/>
            <a:ext cx="45720" cy="658368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4" name="fx14_2_7"/>
          <p:cNvSpPr/>
          <p:nvPr/>
        </p:nvSpPr>
        <p:spPr>
          <a:xfrm>
            <a:off x="960120" y="3172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МЫСЛЬ</a:t>
            </a:r>
            <a:endParaRPr lang="en-US" sz="950" dirty="0"/>
          </a:p>
        </p:txBody>
      </p:sp>
      <p:sp>
        <p:nvSpPr>
          <p:cNvPr id="25" name="fx14_2_8"/>
          <p:cNvSpPr/>
          <p:nvPr/>
        </p:nvSpPr>
        <p:spPr>
          <a:xfrm>
            <a:off x="960120" y="3410712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Экономика развивается скачками: новые комбинации ломают равновесие — «созидательное разрушение».</a:t>
            </a:r>
            <a:endParaRPr lang="en-US" sz="1450" dirty="0"/>
          </a:p>
        </p:txBody>
      </p:sp>
      <p:sp>
        <p:nvSpPr>
          <p:cNvPr id="26" name="fx14_3_9"/>
          <p:cNvSpPr/>
          <p:nvPr/>
        </p:nvSpPr>
        <p:spPr>
          <a:xfrm>
            <a:off x="685800" y="4215384"/>
            <a:ext cx="5943600" cy="1024128"/>
          </a:xfrm>
          <a:prstGeom prst="roundRect">
            <a:avLst>
              <a:gd name="adj" fmla="val 7143"/>
            </a:avLst>
          </a:prstGeom>
          <a:solidFill>
            <a:srgbClr val="0E1930">
              <a:alpha val="75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27" name="fx14_3_10"/>
          <p:cNvSpPr/>
          <p:nvPr/>
        </p:nvSpPr>
        <p:spPr>
          <a:xfrm>
            <a:off x="685800" y="4398264"/>
            <a:ext cx="45720" cy="658368"/>
          </a:xfrm>
          <a:prstGeom prst="rect">
            <a:avLst/>
          </a:prstGeom>
          <a:solidFill>
            <a:srgbClr val="62D4F0"/>
          </a:solidFill>
          <a:ln/>
        </p:spPr>
      </p:sp>
      <p:sp>
        <p:nvSpPr>
          <p:cNvPr id="28" name="fx14_3_11"/>
          <p:cNvSpPr/>
          <p:nvPr/>
        </p:nvSpPr>
        <p:spPr>
          <a:xfrm>
            <a:off x="960120" y="4343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62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ВКЛАД В ПРЕДПРИНИМАТЕЛЬСТВО</a:t>
            </a:r>
            <a:endParaRPr lang="en-US" sz="950" dirty="0"/>
          </a:p>
        </p:txBody>
      </p:sp>
      <p:sp>
        <p:nvSpPr>
          <p:cNvPr id="29" name="fx14_3_12"/>
          <p:cNvSpPr/>
          <p:nvPr/>
        </p:nvSpPr>
        <p:spPr>
          <a:xfrm>
            <a:off x="960120" y="4581144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Предприниматель — тот, кто внедряет новое. Это функция, а не должность и не капитал.</a:t>
            </a:r>
            <a:endParaRPr lang="en-US" sz="1450" dirty="0"/>
          </a:p>
        </p:txBody>
      </p:sp>
      <p:sp>
        <p:nvSpPr>
          <p:cNvPr id="30" name="fx14_5_13"/>
          <p:cNvSpPr/>
          <p:nvPr/>
        </p:nvSpPr>
        <p:spPr>
          <a:xfrm>
            <a:off x="685800" y="54864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2600" dirty="0"/>
          </a:p>
        </p:txBody>
      </p:sp>
      <p:sp>
        <p:nvSpPr>
          <p:cNvPr id="31" name="fx14_4_14"/>
          <p:cNvSpPr/>
          <p:nvPr/>
        </p:nvSpPr>
        <p:spPr>
          <a:xfrm>
            <a:off x="7086600" y="5257800"/>
            <a:ext cx="4419295" cy="932688"/>
          </a:xfrm>
          <a:prstGeom prst="roundRect">
            <a:avLst>
              <a:gd name="adj" fmla="val 7843"/>
            </a:avLst>
          </a:prstGeom>
          <a:solidFill>
            <a:srgbClr val="1B160C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2" name="fx14_4_15"/>
          <p:cNvSpPr/>
          <p:nvPr/>
        </p:nvSpPr>
        <p:spPr>
          <a:xfrm>
            <a:off x="7086600" y="5404104"/>
            <a:ext cx="50292" cy="64008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3" name="fx14_4_16"/>
          <p:cNvSpPr/>
          <p:nvPr/>
        </p:nvSpPr>
        <p:spPr>
          <a:xfrm>
            <a:off x="7342632" y="512064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4" name="fx14_4_17"/>
          <p:cNvSpPr/>
          <p:nvPr/>
        </p:nvSpPr>
        <p:spPr>
          <a:xfrm>
            <a:off x="7342632" y="5120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70C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5" name="fx14_4_18"/>
          <p:cNvSpPr/>
          <p:nvPr/>
        </p:nvSpPr>
        <p:spPr>
          <a:xfrm>
            <a:off x="7360920" y="5440680"/>
            <a:ext cx="3962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Его студентами в Гарварде были будущие нобелевские лауреаты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Пол Самуэльсон и Джеймс Тобин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bulb">
                <a:extLst>
                  <a:ext uri="{FF2B5EF4-FFF2-40B4-BE49-F238E27FC236}">
                    <a16:creationId xmlns:a16="http://schemas.microsoft.com/office/drawing/2014/main" id="{0FCA3C8E-69FC-E7BA-7C3E-9F98B9BEE5E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120640" y="1143000"/>
              <a:ext cx="4572000" cy="4572000"/>
            </p:xfrm>
            <a:graphic>
              <a:graphicData uri="http://schemas.microsoft.com/office/drawing/2017/model3d">
                <am3d:model3d r:embed="rIdM3d54">
                  <am3d:spPr>
                    <a:xfrm>
                      <a:off x="0" y="0"/>
                      <a:ext cx="4572000" cy="4572000"/>
                    </a:xfrm>
                    <a:prstGeom prst="rect">
                      <a:avLst/>
                    </a:prstGeom>
                  </am3d:spPr>
                  <am3d:camera>
                    <am3d:pos x="0" y="0" z="6163030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29927" d="1000000"/>
                    <am3d:preTrans dx="0" dy="-564963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60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572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bulb">
                <a:extLst>
                  <a:ext uri="{FF2B5EF4-FFF2-40B4-BE49-F238E27FC236}">
                    <a16:creationId xmlns:a16="http://schemas.microsoft.com/office/drawing/2014/main" id="{0FCA3C8E-69FC-E7BA-7C3E-9F98B9BEE5E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120640" y="1143000"/>
                <a:ext cx="4572000" cy="457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0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5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schumpeter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10820095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gear">
                <a:extLst>
                  <a:ext uri="{FF2B5EF4-FFF2-40B4-BE49-F238E27FC236}">
                    <a16:creationId xmlns:a16="http://schemas.microsoft.com/office/drawing/2014/main" id="{918F5CEF-4EDB-3BE8-51F0-75C6DB550D1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204143" y="62179"/>
              <a:ext cx="603504" cy="603504"/>
            </p:xfrm>
            <a:graphic>
              <a:graphicData uri="http://schemas.microsoft.com/office/drawing/2017/model3d">
                <am3d:model3d r:embed="rIdM3d55">
                  <am3d:spPr>
                    <a:xfrm>
                      <a:off x="0" y="0"/>
                      <a:ext cx="603504" cy="603504"/>
                    </a:xfrm>
                    <a:prstGeom prst="rect">
                      <a:avLst/>
                    </a:prstGeom>
                  </am3d:spPr>
                  <am3d:camera>
                    <am3d:pos x="0" y="0" z="671596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175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840000" az="-12096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6035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gear">
                <a:extLst>
                  <a:ext uri="{FF2B5EF4-FFF2-40B4-BE49-F238E27FC236}">
                    <a16:creationId xmlns:a16="http://schemas.microsoft.com/office/drawing/2014/main" id="{918F5CEF-4EDB-3BE8-51F0-75C6DB550D1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204143" y="62179"/>
                <a:ext cx="603504" cy="60350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ПРОВЕРКИ ФАКТОВ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ЙОЗЕФ ШУМПЕТЕР  ·  1883–1950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900" dirty="0"/>
          </a:p>
        </p:txBody>
      </p:sp>
      <p:sp>
        <p:nvSpPr>
          <p:cNvPr id="11" name="!!title"/>
          <p:cNvSpPr/>
          <p:nvPr/>
        </p:nvSpPr>
        <p:spPr>
          <a:xfrm>
            <a:off x="685800" y="98755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Источники</a:t>
            </a:r>
            <a:endParaRPr lang="en-US" sz="3400" dirty="0"/>
          </a:p>
        </p:txBody>
      </p:sp>
      <p:sp>
        <p:nvSpPr>
          <p:cNvPr id="12" name="fx15_1_0"/>
          <p:cNvSpPr/>
          <p:nvPr/>
        </p:nvSpPr>
        <p:spPr>
          <a:xfrm>
            <a:off x="685800" y="178308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БИОГРАФИЯ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McCraw T. Prophet of Innovation: Joseph Schumpeter and Creative Destruction (2007)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HBS Working Knowledge — Rediscovering Schumpeter (интервью с McCraw, 2007)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Swedberg R. Joseph A. Schumpeter: His Life and Work (1991)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EBSCO Research Starters; Encyclopedia.com; HET Website (The New School)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McCloskey D. Talking Capitalism: Schumpeter and Galbraith</a:t>
            </a:r>
            <a:endParaRPr lang="en-US" sz="10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ФАКТЫ НА СЛАЙДАХ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Economist — колонка «Schumpeter» (с 2009)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Drucker P. Modern Prophets: Schumpeter or Keynes? (1983)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Econ — Great economists: Joseph Schumpeter</a:t>
            </a:r>
            <a:endParaRPr lang="en-US" sz="1000" dirty="0"/>
          </a:p>
        </p:txBody>
      </p:sp>
      <p:sp>
        <p:nvSpPr>
          <p:cNvPr id="13" name="fx15_2_1"/>
          <p:cNvSpPr/>
          <p:nvPr/>
        </p:nvSpPr>
        <p:spPr>
          <a:xfrm>
            <a:off x="6263640" y="178308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ТРУДЫ ШУМПЕТЕРА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 der wirtschaftlichen Entwicklung (1911/12), гл. II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Cycles (1939)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Capitalism, Socialism and Democracy (1942), гл. VII и пролог ч. II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of Economic Analysis (1954)</a:t>
            </a:r>
            <a:endParaRPr lang="en-US" sz="10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НАСЛЕДИЕ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Freeman C., Perez C. — длинные волны и техно-экономические парадигмы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J. A. Schumpeter Society (осн. 1986)</a:t>
            </a:r>
            <a:endParaRPr lang="en-US" sz="10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ИЗОБРАЖЕНИЯ И 3D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Портрет около 1910 г. — Wikimedia Commons, общественное достояние.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14 3D-экспонатов смоделированы в Blender специально для этой презентации (models/).</a:t>
            </a:r>
            <a:endParaRPr lang="en-US" sz="10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!!m-gear">
                <a:extLst>
                  <a:ext uri="{FF2B5EF4-FFF2-40B4-BE49-F238E27FC236}">
                    <a16:creationId xmlns:a16="http://schemas.microsoft.com/office/drawing/2014/main" id="{CFE412BA-693D-58FA-B422-8E1B96CDBE5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846320" y="1051560"/>
              <a:ext cx="4297680" cy="4297680"/>
            </p:xfrm>
            <a:graphic>
              <a:graphicData uri="http://schemas.microsoft.com/office/drawing/2017/model3d">
                <am3d:model3d r:embed="rIdM3d56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6740181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175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6600000" az="-24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!!m-gear">
                <a:extLst>
                  <a:ext uri="{FF2B5EF4-FFF2-40B4-BE49-F238E27FC236}">
                    <a16:creationId xmlns:a16="http://schemas.microsoft.com/office/drawing/2014/main" id="{CFE412BA-693D-58FA-B422-8E1B96CDBE5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4846320" y="1051560"/>
                <a:ext cx="4297680" cy="4297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Йозеф Шумпетер — 3D-презентация</dc:title>
  <dc:subject>Биография, главная мысль и вклад в теорию предпринимательства</dc:subject>
  <dc:creator>omgGame</dc:creator>
  <cp:lastModifiedBy>omgGame</cp:lastModifiedBy>
  <cp:revision>1</cp:revision>
  <dcterms:created xsi:type="dcterms:W3CDTF">2026-10-06T14:08:27Z</dcterms:created>
  <dcterms:modified xsi:type="dcterms:W3CDTF">2026-10-06T14:08:27Z</dcterms:modified>
</cp:coreProperties>
</file>