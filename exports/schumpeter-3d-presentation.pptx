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hero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112000" cy="6858000"/>
          </a:xfrm>
          <a:prstGeom prst="rect">
            <a:avLst/>
          </a:prstGeom>
          <a:solidFill>
            <a:srgbClr val="06111D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0250" y="648906"/>
            <a:ext cx="9525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9B866"/>
                </a:solidFill>
                <a:latin typeface="Arial"/>
              </a:rPr>
              <a:t>ЭКОНОМИКА · ПРЕДПРИНИМАТЕЛЬСТВО · ИННОВАЦИИ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1434083"/>
            <a:ext cx="5397500" cy="11948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3F6FA"/>
                </a:solidFill>
                <a:latin typeface="Arial"/>
              </a:rPr>
              <a:t>Йозеф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2278761"/>
            <a:ext cx="5969000" cy="1045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900" b="1">
                <a:solidFill>
                  <a:srgbClr val="F3F6FA"/>
                </a:solidFill>
                <a:latin typeface="Arial"/>
              </a:rPr>
              <a:t>Шумпетер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600" y="3206750"/>
            <a:ext cx="1174750" cy="31750"/>
          </a:xfrm>
          <a:prstGeom prst="roundRect">
            <a:avLst/>
          </a:prstGeom>
          <a:solidFill>
            <a:srgbClr val="E9B866">
              <a:alpha val="1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600" y="3463163"/>
            <a:ext cx="6159500" cy="6559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6E0EA"/>
                </a:solidFill>
                <a:latin typeface="Arial"/>
              </a:rPr>
              <a:t>Экономист, который объяснил,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6E0EA"/>
                </a:solidFill>
                <a:latin typeface="Arial"/>
              </a:rPr>
              <a:t>как предприниматель меняет рынок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4549140"/>
            <a:ext cx="63500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FCBD8"/>
                </a:solidFill>
                <a:latin typeface="Arial"/>
              </a:rPr>
              <a:t>1883–1950  ·  Трешть, Моравия — Гарвард, США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5697601"/>
            <a:ext cx="61595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9B866"/>
                </a:solidFill>
                <a:latin typeface="Arial"/>
              </a:rPr>
              <a:t>НОВАЯ КОМБИНАЦИЯ  →  ВНЕДРЕНИЕ  →  ПЕРЕМЕНЫ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5988812"/>
            <a:ext cx="5397500" cy="170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B8C4D1"/>
                </a:solidFill>
                <a:latin typeface="Arial"/>
              </a:rPr>
              <a:t>8 слайдов · около 4 минут · без анимации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timeline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2300" y="566356"/>
            <a:ext cx="9525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9B866"/>
                </a:solidFill>
                <a:latin typeface="Arial"/>
              </a:rPr>
              <a:t>БИОГРАФИЯ · КЛЮЧЕВЫЕ ДАТЫ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300" y="728853"/>
            <a:ext cx="7112000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3F6FA"/>
                </a:solidFill>
                <a:latin typeface="Arial"/>
              </a:rPr>
              <a:t>От Моравии до Гарварда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350" y="1165923"/>
            <a:ext cx="7937500" cy="24536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D9E4"/>
                </a:solidFill>
                <a:latin typeface="Arial"/>
              </a:rPr>
              <a:t>Путь экономиста, профессора, министра и банкира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04900" y="2667000"/>
            <a:ext cx="0" cy="1200150"/>
          </a:xfrm>
          <a:prstGeom prst="line">
            <a:avLst/>
          </a:prstGeom>
          <a:ln w="11430">
            <a:solidFill>
              <a:srgbClr val="57D3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9899" y="1600200"/>
            <a:ext cx="1270000" cy="1066800"/>
          </a:xfrm>
          <a:prstGeom prst="roundRect">
            <a:avLst/>
          </a:prstGeom>
          <a:solidFill>
            <a:srgbClr val="06111D">
              <a:alpha val="56999"/>
            </a:srgbClr>
          </a:solidFill>
          <a:ln w="6350">
            <a:solidFill>
              <a:srgbClr val="425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1650" y="1668462"/>
            <a:ext cx="1206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7D3CA"/>
                </a:solidFill>
                <a:latin typeface="Arial"/>
              </a:rPr>
              <a:t>1883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500" y="1911350"/>
            <a:ext cx="304800" cy="19050"/>
          </a:xfrm>
          <a:prstGeom prst="roundRect">
            <a:avLst/>
          </a:prstGeom>
          <a:solidFill>
            <a:srgbClr val="57D3CA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7525" y="2007806"/>
            <a:ext cx="1174750" cy="4867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Родился в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Трешть, Моравия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(ныне Чехия)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7300" y="4210050"/>
            <a:ext cx="0" cy="260350"/>
          </a:xfrm>
          <a:prstGeom prst="line">
            <a:avLst/>
          </a:prstGeom>
          <a:ln w="11430">
            <a:solidFill>
              <a:srgbClr val="E9B8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892300" y="4470400"/>
            <a:ext cx="1270000" cy="1104900"/>
          </a:xfrm>
          <a:prstGeom prst="roundRect">
            <a:avLst/>
          </a:prstGeom>
          <a:solidFill>
            <a:srgbClr val="06111D">
              <a:alpha val="56999"/>
            </a:srgbClr>
          </a:solidFill>
          <a:ln w="6350">
            <a:solidFill>
              <a:srgbClr val="425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4049" y="4538662"/>
            <a:ext cx="1206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9B866"/>
                </a:solidFill>
                <a:latin typeface="Arial"/>
              </a:rPr>
              <a:t>1906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4900" y="4781550"/>
            <a:ext cx="304800" cy="19050"/>
          </a:xfrm>
          <a:prstGeom prst="roundRect">
            <a:avLst/>
          </a:prstGeom>
          <a:solidFill>
            <a:srgbClr val="E9B866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39925" y="4878006"/>
            <a:ext cx="1174750" cy="4867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Доктор права,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Венский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университет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49700" y="2667000"/>
            <a:ext cx="0" cy="939800"/>
          </a:xfrm>
          <a:prstGeom prst="line">
            <a:avLst/>
          </a:prstGeom>
          <a:ln w="11430">
            <a:solidFill>
              <a:srgbClr val="57D3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14700" y="1600200"/>
            <a:ext cx="1270000" cy="1066800"/>
          </a:xfrm>
          <a:prstGeom prst="roundRect">
            <a:avLst/>
          </a:prstGeom>
          <a:solidFill>
            <a:srgbClr val="06111D">
              <a:alpha val="56999"/>
            </a:srgbClr>
          </a:solidFill>
          <a:ln w="6350">
            <a:solidFill>
              <a:srgbClr val="425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46450" y="1668462"/>
            <a:ext cx="1206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7D3CA"/>
                </a:solidFill>
                <a:latin typeface="Arial"/>
              </a:rPr>
              <a:t>1911/12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97300" y="1911350"/>
            <a:ext cx="304800" cy="19050"/>
          </a:xfrm>
          <a:prstGeom prst="roundRect">
            <a:avLst/>
          </a:prstGeom>
          <a:solidFill>
            <a:srgbClr val="57D3CA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2325" y="2007806"/>
            <a:ext cx="1174750" cy="4867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«Теория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экономического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развития»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72100" y="3943350"/>
            <a:ext cx="0" cy="527050"/>
          </a:xfrm>
          <a:prstGeom prst="line">
            <a:avLst/>
          </a:prstGeom>
          <a:ln w="11430">
            <a:solidFill>
              <a:srgbClr val="E9B8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737100" y="4470400"/>
            <a:ext cx="1270000" cy="1104900"/>
          </a:xfrm>
          <a:prstGeom prst="roundRect">
            <a:avLst/>
          </a:prstGeom>
          <a:solidFill>
            <a:srgbClr val="06111D">
              <a:alpha val="56999"/>
            </a:srgbClr>
          </a:solidFill>
          <a:ln w="6350">
            <a:solidFill>
              <a:srgbClr val="425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68850" y="4538662"/>
            <a:ext cx="1206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9B866"/>
                </a:solidFill>
                <a:latin typeface="Arial"/>
              </a:rPr>
              <a:t>1919–24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9700" y="4781550"/>
            <a:ext cx="304800" cy="19050"/>
          </a:xfrm>
          <a:prstGeom prst="roundRect">
            <a:avLst/>
          </a:prstGeom>
          <a:solidFill>
            <a:srgbClr val="E9B866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4725" y="4878006"/>
            <a:ext cx="1174750" cy="4867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Министр (1919);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глава Biedermann Bank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(1921–24)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794500" y="2667000"/>
            <a:ext cx="0" cy="673100"/>
          </a:xfrm>
          <a:prstGeom prst="line">
            <a:avLst/>
          </a:prstGeom>
          <a:ln w="11430">
            <a:solidFill>
              <a:srgbClr val="57D3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59500" y="1600200"/>
            <a:ext cx="1270000" cy="1066800"/>
          </a:xfrm>
          <a:prstGeom prst="roundRect">
            <a:avLst/>
          </a:prstGeom>
          <a:solidFill>
            <a:srgbClr val="06111D">
              <a:alpha val="56999"/>
            </a:srgbClr>
          </a:solidFill>
          <a:ln w="6350">
            <a:solidFill>
              <a:srgbClr val="425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1250" y="1668462"/>
            <a:ext cx="1206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7D3CA"/>
                </a:solidFill>
                <a:latin typeface="Arial"/>
              </a:rPr>
              <a:t>1925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42100" y="1911350"/>
            <a:ext cx="304800" cy="19050"/>
          </a:xfrm>
          <a:prstGeom prst="roundRect">
            <a:avLst/>
          </a:prstGeom>
          <a:solidFill>
            <a:srgbClr val="57D3CA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07125" y="2007806"/>
            <a:ext cx="1174750" cy="3406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Профессор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в Бонне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16900" y="3683000"/>
            <a:ext cx="0" cy="787400"/>
          </a:xfrm>
          <a:prstGeom prst="line">
            <a:avLst/>
          </a:prstGeom>
          <a:ln w="11430">
            <a:solidFill>
              <a:srgbClr val="E9B8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581899" y="4470400"/>
            <a:ext cx="1270000" cy="1104900"/>
          </a:xfrm>
          <a:prstGeom prst="roundRect">
            <a:avLst/>
          </a:prstGeom>
          <a:solidFill>
            <a:srgbClr val="06111D">
              <a:alpha val="56999"/>
            </a:srgbClr>
          </a:solidFill>
          <a:ln w="6350">
            <a:solidFill>
              <a:srgbClr val="425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13650" y="4538662"/>
            <a:ext cx="1206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9B866"/>
                </a:solidFill>
                <a:latin typeface="Arial"/>
              </a:rPr>
              <a:t>1932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4500" y="4781550"/>
            <a:ext cx="304800" cy="19050"/>
          </a:xfrm>
          <a:prstGeom prst="roundRect">
            <a:avLst/>
          </a:prstGeom>
          <a:solidFill>
            <a:srgbClr val="E9B866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29525" y="4878006"/>
            <a:ext cx="1174750" cy="3406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Профессор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Гарварда, США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639300" y="2667000"/>
            <a:ext cx="0" cy="419100"/>
          </a:xfrm>
          <a:prstGeom prst="line">
            <a:avLst/>
          </a:prstGeom>
          <a:ln w="11430">
            <a:solidFill>
              <a:srgbClr val="57D3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004300" y="1600200"/>
            <a:ext cx="1270000" cy="1066800"/>
          </a:xfrm>
          <a:prstGeom prst="roundRect">
            <a:avLst/>
          </a:prstGeom>
          <a:solidFill>
            <a:srgbClr val="06111D">
              <a:alpha val="56999"/>
            </a:srgbClr>
          </a:solidFill>
          <a:ln w="6350">
            <a:solidFill>
              <a:srgbClr val="425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36050" y="1668462"/>
            <a:ext cx="1206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7D3CA"/>
                </a:solidFill>
                <a:latin typeface="Arial"/>
              </a:rPr>
              <a:t>1942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86900" y="1911350"/>
            <a:ext cx="304800" cy="19050"/>
          </a:xfrm>
          <a:prstGeom prst="roundRect">
            <a:avLst/>
          </a:prstGeom>
          <a:solidFill>
            <a:srgbClr val="57D3CA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1925" y="2007806"/>
            <a:ext cx="1174750" cy="4867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«Капитализм,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социализм 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демократия»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061700" y="3435350"/>
            <a:ext cx="0" cy="1035050"/>
          </a:xfrm>
          <a:prstGeom prst="line">
            <a:avLst/>
          </a:prstGeom>
          <a:ln w="11430">
            <a:solidFill>
              <a:srgbClr val="E9B8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0426700" y="4470400"/>
            <a:ext cx="1270000" cy="1104900"/>
          </a:xfrm>
          <a:prstGeom prst="roundRect">
            <a:avLst/>
          </a:prstGeom>
          <a:solidFill>
            <a:srgbClr val="06111D">
              <a:alpha val="56999"/>
            </a:srgbClr>
          </a:solidFill>
          <a:ln w="6350">
            <a:solidFill>
              <a:srgbClr val="4256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58450" y="4538662"/>
            <a:ext cx="1206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9B866"/>
                </a:solidFill>
                <a:latin typeface="Arial"/>
              </a:rPr>
              <a:t>1950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909300" y="4781550"/>
            <a:ext cx="304800" cy="19050"/>
          </a:xfrm>
          <a:prstGeom prst="roundRect">
            <a:avLst/>
          </a:prstGeom>
          <a:solidFill>
            <a:srgbClr val="E9B866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74325" y="4878006"/>
            <a:ext cx="1174750" cy="4867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Умер в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Коннектикуте,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3F6FA"/>
                </a:solidFill>
                <a:latin typeface="Arial"/>
              </a:rPr>
              <a:t>США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760656"/>
            <a:ext cx="9017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4DDE7"/>
                </a:solidFill>
                <a:latin typeface="Arial"/>
              </a:rPr>
              <a:t>1911/12 — альтернативная датировка одного первого немецкого издания.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4200" y="6381750"/>
            <a:ext cx="11023600" cy="0"/>
          </a:xfrm>
          <a:prstGeom prst="line">
            <a:avLst/>
          </a:prstGeom>
          <a:ln w="7620">
            <a:solidFill>
              <a:srgbClr val="7080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22300" y="6476873"/>
            <a:ext cx="10096500" cy="149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3BFCC"/>
                </a:solidFill>
                <a:latin typeface="Arial"/>
              </a:rPr>
              <a:t>Биография: Oxford University Press; EBSCO; Britannica. Датировка книги: предисловие Шумпетера и рецензия 1913 года.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90250" y="6465062"/>
            <a:ext cx="635000" cy="170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9B866"/>
                </a:solidFill>
                <a:latin typeface="Arial"/>
              </a:rPr>
              <a:t>02 / 08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4200" y="6692900"/>
            <a:ext cx="11023600" cy="25400"/>
          </a:xfrm>
          <a:prstGeom prst="roundRect">
            <a:avLst/>
          </a:prstGeom>
          <a:solidFill>
            <a:srgbClr val="33485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4200" y="6686550"/>
            <a:ext cx="2755900" cy="38100"/>
          </a:xfrm>
          <a:prstGeom prst="roundRect">
            <a:avLst/>
          </a:prstGeom>
          <a:solidFill>
            <a:srgbClr val="E9B866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thought-timeline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2300" y="560006"/>
            <a:ext cx="9525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9B866"/>
                </a:solidFill>
                <a:latin typeface="Arial"/>
              </a:rPr>
              <a:t>ИСТОРИЯ ИДЕЙ · МЕЖДУНАРОДНАЯ И РОССИЙСКАЯ ЛИНИИ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300" y="757936"/>
            <a:ext cx="10985500" cy="5120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3F6FA"/>
                </a:solidFill>
                <a:latin typeface="Arial"/>
              </a:rPr>
              <a:t>От ранних размышлений к теории предпринимателя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350" y="1184529"/>
            <a:ext cx="10795000" cy="2346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DCE6"/>
                </a:solidFill>
                <a:latin typeface="Arial"/>
              </a:rPr>
              <a:t>Античность — предыстория, а не готовая теория предпринимательской функции.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52500" y="2616200"/>
            <a:ext cx="0" cy="1212850"/>
          </a:xfrm>
          <a:prstGeom prst="line">
            <a:avLst/>
          </a:prstGeom>
          <a:ln w="10795">
            <a:solidFill>
              <a:srgbClr val="57D3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06375" y="1638300"/>
            <a:ext cx="1492250" cy="977900"/>
          </a:xfrm>
          <a:prstGeom prst="roundRect">
            <a:avLst/>
          </a:prstGeom>
          <a:solidFill>
            <a:srgbClr val="06111D">
              <a:alpha val="69000"/>
            </a:srgbClr>
          </a:solidFill>
          <a:ln w="6350">
            <a:solidFill>
              <a:srgbClr val="435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525" y="1741106"/>
            <a:ext cx="137795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7D3CA"/>
                </a:solidFill>
                <a:latin typeface="Arial"/>
              </a:rPr>
              <a:t>АНТИЧНОСТЬ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930400"/>
            <a:ext cx="304800" cy="19050"/>
          </a:xfrm>
          <a:prstGeom prst="roundRect">
            <a:avLst/>
          </a:prstGeom>
          <a:solidFill>
            <a:srgbClr val="57D3CA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75" y="2026412"/>
            <a:ext cx="1339850" cy="579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Ксенофонт · Платон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Аристотель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Хозяйство и управление —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предыстория.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30500" y="4552950"/>
            <a:ext cx="0" cy="88900"/>
          </a:xfrm>
          <a:prstGeom prst="line">
            <a:avLst/>
          </a:prstGeom>
          <a:ln w="10795">
            <a:solidFill>
              <a:srgbClr val="E9B8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936749" y="4641850"/>
            <a:ext cx="1587500" cy="1003300"/>
          </a:xfrm>
          <a:prstGeom prst="roundRect">
            <a:avLst/>
          </a:prstGeom>
          <a:solidFill>
            <a:srgbClr val="06111D">
              <a:alpha val="69000"/>
            </a:srgbClr>
          </a:solidFill>
          <a:ln w="6350">
            <a:solidFill>
              <a:srgbClr val="435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93899" y="4744656"/>
            <a:ext cx="14732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9B866"/>
                </a:solidFill>
                <a:latin typeface="Arial"/>
              </a:rPr>
              <a:t>1755 · КАНТИЛЬОН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78100" y="4933950"/>
            <a:ext cx="304800" cy="19050"/>
          </a:xfrm>
          <a:prstGeom prst="roundRect">
            <a:avLst/>
          </a:prstGeom>
          <a:solidFill>
            <a:srgbClr val="E9B866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2950" y="5029962"/>
            <a:ext cx="1435100" cy="3124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Неопределённые будущие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цены и выручка.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30750" y="2616200"/>
            <a:ext cx="0" cy="1498600"/>
          </a:xfrm>
          <a:prstGeom prst="line">
            <a:avLst/>
          </a:prstGeom>
          <a:ln w="10795">
            <a:solidFill>
              <a:srgbClr val="57D3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68750" y="1638300"/>
            <a:ext cx="1524000" cy="977900"/>
          </a:xfrm>
          <a:prstGeom prst="roundRect">
            <a:avLst/>
          </a:prstGeom>
          <a:solidFill>
            <a:srgbClr val="06111D">
              <a:alpha val="69000"/>
            </a:srgbClr>
          </a:solidFill>
          <a:ln w="6350">
            <a:solidFill>
              <a:srgbClr val="435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5900" y="1741106"/>
            <a:ext cx="14097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7D3CA"/>
                </a:solidFill>
                <a:latin typeface="Arial"/>
              </a:rPr>
              <a:t>1803 · СЭЙ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8350" y="1930400"/>
            <a:ext cx="304800" cy="19050"/>
          </a:xfrm>
          <a:prstGeom prst="roundRect">
            <a:avLst/>
          </a:prstGeom>
          <a:solidFill>
            <a:srgbClr val="57D3CA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4949" y="2026412"/>
            <a:ext cx="1371600" cy="4457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Предприниматель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организует производство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и соединяет ресурсы.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794500" y="4546600"/>
            <a:ext cx="0" cy="38100"/>
          </a:xfrm>
          <a:prstGeom prst="line">
            <a:avLst/>
          </a:prstGeom>
          <a:ln w="10795">
            <a:solidFill>
              <a:srgbClr val="E9B8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61000" y="4546600"/>
            <a:ext cx="2667000" cy="1104900"/>
          </a:xfrm>
          <a:prstGeom prst="roundRect">
            <a:avLst/>
          </a:prstGeom>
          <a:solidFill>
            <a:srgbClr val="06111D">
              <a:alpha val="76000"/>
            </a:srgbClr>
          </a:solidFill>
          <a:ln w="10795">
            <a:solidFill>
              <a:srgbClr val="E9B8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8150" y="4637595"/>
            <a:ext cx="2552700" cy="2026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9B866"/>
                </a:solidFill>
                <a:latin typeface="Arial"/>
              </a:rPr>
              <a:t>1911/12 · ШУМПЕТЕР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42100" y="4838700"/>
            <a:ext cx="304800" cy="19050"/>
          </a:xfrm>
          <a:prstGeom prst="roundRect">
            <a:avLst/>
          </a:prstGeom>
          <a:solidFill>
            <a:srgbClr val="E9B866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37200" y="4922901"/>
            <a:ext cx="2514600" cy="50863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3F6FA"/>
                </a:solidFill>
                <a:latin typeface="Arial"/>
              </a:rPr>
              <a:t>Осуществляет «новые комбинации» —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3F6FA"/>
                </a:solidFill>
                <a:latin typeface="Arial"/>
              </a:rPr>
              <a:t>и связывает действие предпринимателя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3F6FA"/>
                </a:solidFill>
                <a:latin typeface="Arial"/>
              </a:rPr>
              <a:t>с экономическим развитием.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12250" y="2616200"/>
            <a:ext cx="0" cy="1574799"/>
          </a:xfrm>
          <a:prstGeom prst="line">
            <a:avLst/>
          </a:prstGeom>
          <a:ln w="10795">
            <a:solidFill>
              <a:srgbClr val="57D3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302625" y="1638300"/>
            <a:ext cx="1619250" cy="977900"/>
          </a:xfrm>
          <a:prstGeom prst="roundRect">
            <a:avLst/>
          </a:prstGeom>
          <a:solidFill>
            <a:srgbClr val="06111D">
              <a:alpha val="69000"/>
            </a:srgbClr>
          </a:solidFill>
          <a:ln w="6350">
            <a:solidFill>
              <a:srgbClr val="435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9775" y="1741106"/>
            <a:ext cx="150495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7D3CA"/>
                </a:solidFill>
                <a:latin typeface="Arial"/>
              </a:rPr>
              <a:t>1921 · ФРЭНК НАЙТ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59850" y="1930400"/>
            <a:ext cx="304800" cy="19050"/>
          </a:xfrm>
          <a:prstGeom prst="roundRect">
            <a:avLst/>
          </a:prstGeom>
          <a:solidFill>
            <a:srgbClr val="57D3CA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78825" y="2026412"/>
            <a:ext cx="1466850" cy="3124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Различает измеримый риск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и неопределённость.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049000" y="4521200"/>
            <a:ext cx="0" cy="120650"/>
          </a:xfrm>
          <a:prstGeom prst="line">
            <a:avLst/>
          </a:prstGeom>
          <a:ln w="10795">
            <a:solidFill>
              <a:srgbClr val="57D3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921875" y="4641850"/>
            <a:ext cx="2254250" cy="1003300"/>
          </a:xfrm>
          <a:prstGeom prst="roundRect">
            <a:avLst/>
          </a:prstGeom>
          <a:solidFill>
            <a:srgbClr val="06111D">
              <a:alpha val="69000"/>
            </a:srgbClr>
          </a:solidFill>
          <a:ln w="6350">
            <a:solidFill>
              <a:srgbClr val="435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79025" y="4744656"/>
            <a:ext cx="213995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7D3CA"/>
                </a:solidFill>
                <a:latin typeface="Arial"/>
              </a:rPr>
              <a:t>1986–2020-е · НОВЫЕ ПОЛЯ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896600" y="4933950"/>
            <a:ext cx="304800" cy="19050"/>
          </a:xfrm>
          <a:prstGeom prst="roundRect">
            <a:avLst/>
          </a:prstGeom>
          <a:solidFill>
            <a:srgbClr val="57D3CA">
              <a:alpha val="9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98075" y="5029962"/>
            <a:ext cx="2101850" cy="579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Тис · Байлетти · Намбисан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Земцов · Чепуренко · Рубин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Технологические и цифровые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F3F6FA"/>
                </a:solidFill>
                <a:latin typeface="Arial"/>
              </a:rPr>
              <a:t>фирмы и российские экосистемы.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5786056"/>
            <a:ext cx="10287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3F6FA"/>
                </a:solidFill>
                <a:latin typeface="Arial"/>
              </a:rPr>
              <a:t>Шумпетер в центре — потому что связал действие предпринимателя с развитием и перестройкой экономики.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4200" y="6381750"/>
            <a:ext cx="11023600" cy="0"/>
          </a:xfrm>
          <a:prstGeom prst="line">
            <a:avLst/>
          </a:prstGeom>
          <a:ln w="7620">
            <a:solidFill>
              <a:srgbClr val="7080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2300" y="6476873"/>
            <a:ext cx="10096500" cy="149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3BFCC"/>
                </a:solidFill>
                <a:latin typeface="Arial"/>
              </a:rPr>
              <a:t>Опорные тексты: Xenophon; Cantillon (1755); Say (1803); Schumpeter (1911/12); Knight (1921). Российские авторы — в источниках.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90250" y="6465062"/>
            <a:ext cx="635000" cy="170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9B866"/>
                </a:solidFill>
                <a:latin typeface="Arial"/>
              </a:rPr>
              <a:t>03 / 08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4200" y="6692900"/>
            <a:ext cx="11023600" cy="25400"/>
          </a:xfrm>
          <a:prstGeom prst="roundRect">
            <a:avLst/>
          </a:prstGeom>
          <a:solidFill>
            <a:srgbClr val="33485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84200" y="6686550"/>
            <a:ext cx="4133849" cy="38100"/>
          </a:xfrm>
          <a:prstGeom prst="roundRect">
            <a:avLst/>
          </a:prstGeom>
          <a:solidFill>
            <a:srgbClr val="E9B866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hero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381999" cy="6413500"/>
          </a:xfrm>
          <a:prstGeom prst="rect">
            <a:avLst/>
          </a:prstGeom>
          <a:solidFill>
            <a:srgbClr val="06111D">
              <a:alpha val="4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585406"/>
            <a:ext cx="9525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9B866"/>
                </a:solidFill>
                <a:latin typeface="Arial"/>
              </a:rPr>
              <a:t>НЕ ТОЛЬКО ТЕОРИЯ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791908"/>
            <a:ext cx="7746999" cy="5654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>
                <a:solidFill>
                  <a:srgbClr val="F3F6FA"/>
                </a:solidFill>
                <a:latin typeface="Arial"/>
              </a:rPr>
              <a:t>Экономист. Министр. Банкир.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050" y="1242568"/>
            <a:ext cx="7810499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AE4"/>
                </a:solidFill>
                <a:latin typeface="Arial"/>
              </a:rPr>
              <a:t>Шумпетер изучал экономику и сам успел поработать внутри неё.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850" y="1922462"/>
            <a:ext cx="444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7D3CA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6500" y="1957450"/>
            <a:ext cx="50800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7D3CA"/>
                </a:solidFill>
                <a:latin typeface="Arial"/>
              </a:rPr>
              <a:t>УНИВЕРСИТЕТЫ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6500" y="2213229"/>
            <a:ext cx="6572250" cy="4438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3F6FA"/>
                </a:solidFill>
                <a:latin typeface="Arial"/>
              </a:rPr>
              <a:t>Преподавал в Черновцах, Граце, Бонне и Гарварде.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3F6FA"/>
                </a:solidFill>
                <a:latin typeface="Arial"/>
              </a:rPr>
              <a:t>Исследовал экономическое развитие, циклы и историю мысли.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06500" y="2984500"/>
            <a:ext cx="6603999" cy="0"/>
          </a:xfrm>
          <a:prstGeom prst="line">
            <a:avLst/>
          </a:prstGeom>
          <a:ln w="6350">
            <a:solidFill>
              <a:srgbClr val="637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850" y="3033712"/>
            <a:ext cx="444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9B866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6500" y="3068701"/>
            <a:ext cx="50800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9B866"/>
                </a:solidFill>
                <a:latin typeface="Arial"/>
              </a:rPr>
              <a:t>ГОСУДАРСТВО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6500" y="3324479"/>
            <a:ext cx="6572250" cy="2533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3F6FA"/>
                </a:solidFill>
                <a:latin typeface="Arial"/>
              </a:rPr>
              <a:t>В 1919 году недолго занимал пост министра финансов Австрии.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06500" y="4095750"/>
            <a:ext cx="6603999" cy="0"/>
          </a:xfrm>
          <a:prstGeom prst="line">
            <a:avLst/>
          </a:prstGeom>
          <a:ln w="6350">
            <a:solidFill>
              <a:srgbClr val="637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850" y="4049712"/>
            <a:ext cx="4445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C927B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4084700"/>
            <a:ext cx="50800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C927B"/>
                </a:solidFill>
                <a:latin typeface="Arial"/>
              </a:rPr>
              <a:t>БАНКОВСКОЕ ДЕЛО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6500" y="4340479"/>
            <a:ext cx="6572250" cy="4438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3F6FA"/>
                </a:solidFill>
                <a:latin typeface="Arial"/>
              </a:rPr>
              <a:t>В 1921–1924 годах возглавлял Biedermann Bank в Вене.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3F6FA"/>
                </a:solidFill>
                <a:latin typeface="Arial"/>
              </a:rPr>
              <a:t>После его краха вернулся к университетской работе.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06500" y="5111750"/>
            <a:ext cx="6603999" cy="0"/>
          </a:xfrm>
          <a:prstGeom prst="line">
            <a:avLst/>
          </a:prstGeom>
          <a:ln w="6350">
            <a:solidFill>
              <a:srgbClr val="6376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84200" y="6381750"/>
            <a:ext cx="11023600" cy="0"/>
          </a:xfrm>
          <a:prstGeom prst="line">
            <a:avLst/>
          </a:prstGeom>
          <a:ln w="7620">
            <a:solidFill>
              <a:srgbClr val="7080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2300" y="6476873"/>
            <a:ext cx="10096500" cy="149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3BFCC"/>
                </a:solidFill>
                <a:latin typeface="Arial"/>
              </a:rPr>
              <a:t>Источники биографических дат и карьеры: Oxford University Press; EBSCO Research Starters.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90250" y="6465062"/>
            <a:ext cx="635000" cy="170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9B866"/>
                </a:solidFill>
                <a:latin typeface="Arial"/>
              </a:rPr>
              <a:t>04 / 08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4200" y="6692900"/>
            <a:ext cx="11023600" cy="25400"/>
          </a:xfrm>
          <a:prstGeom prst="roundRect">
            <a:avLst/>
          </a:prstGeom>
          <a:solidFill>
            <a:srgbClr val="33485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84200" y="6686550"/>
            <a:ext cx="5511800" cy="38100"/>
          </a:xfrm>
          <a:prstGeom prst="roundRect">
            <a:avLst/>
          </a:prstGeom>
          <a:solidFill>
            <a:srgbClr val="E9B866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combinations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667500" cy="6223000"/>
          </a:xfrm>
          <a:prstGeom prst="rect">
            <a:avLst/>
          </a:prstGeom>
          <a:solidFill>
            <a:srgbClr val="06111D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2300" y="566356"/>
            <a:ext cx="9525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9B866"/>
                </a:solidFill>
                <a:latin typeface="Arial"/>
              </a:rPr>
              <a:t>ГЛАВНАЯ ИДЕЯ · 1911/12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" y="778319"/>
            <a:ext cx="5842000" cy="920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3F6FA"/>
                </a:solidFill>
                <a:latin typeface="Arial"/>
              </a:rPr>
              <a:t>Пять способов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3F6FA"/>
                </a:solidFill>
                <a:latin typeface="Arial"/>
              </a:rPr>
              <a:t>изменить экономику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350" y="1718373"/>
            <a:ext cx="5905500" cy="24536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DCE6"/>
                </a:solidFill>
                <a:latin typeface="Arial"/>
              </a:rPr>
              <a:t>Шумпетер называл их «новыми комбинациями».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2430018"/>
            <a:ext cx="3810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7D3CA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6500" y="2435923"/>
            <a:ext cx="4826000" cy="24536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3F6FA"/>
                </a:solidFill>
                <a:latin typeface="Arial"/>
              </a:rPr>
              <a:t>Новый продукт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06500" y="2787650"/>
            <a:ext cx="4381500" cy="0"/>
          </a:xfrm>
          <a:prstGeom prst="line">
            <a:avLst/>
          </a:prstGeom>
          <a:ln w="6350">
            <a:solidFill>
              <a:srgbClr val="697B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1200" y="3026918"/>
            <a:ext cx="3810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9B866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6500" y="3032823"/>
            <a:ext cx="4826000" cy="24536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3F6FA"/>
                </a:solidFill>
                <a:latin typeface="Arial"/>
              </a:rPr>
              <a:t>Новый способ производства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06500" y="3384550"/>
            <a:ext cx="4381500" cy="0"/>
          </a:xfrm>
          <a:prstGeom prst="line">
            <a:avLst/>
          </a:prstGeom>
          <a:ln w="6350">
            <a:solidFill>
              <a:srgbClr val="697B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1200" y="3623817"/>
            <a:ext cx="3810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7D3CA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6500" y="3629723"/>
            <a:ext cx="4826000" cy="24536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3F6FA"/>
                </a:solidFill>
                <a:latin typeface="Arial"/>
              </a:rPr>
              <a:t>Новый рынок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06500" y="3981450"/>
            <a:ext cx="4381500" cy="0"/>
          </a:xfrm>
          <a:prstGeom prst="line">
            <a:avLst/>
          </a:prstGeom>
          <a:ln w="6350">
            <a:solidFill>
              <a:srgbClr val="697B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1200" y="4220717"/>
            <a:ext cx="3810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9B866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6500" y="4226623"/>
            <a:ext cx="4826000" cy="24536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3F6FA"/>
                </a:solidFill>
                <a:latin typeface="Arial"/>
              </a:rPr>
              <a:t>Новый источник сырья и полуфабрикатов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06500" y="4578350"/>
            <a:ext cx="4381500" cy="0"/>
          </a:xfrm>
          <a:prstGeom prst="line">
            <a:avLst/>
          </a:prstGeom>
          <a:ln w="6350">
            <a:solidFill>
              <a:srgbClr val="697B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1200" y="4817617"/>
            <a:ext cx="3810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7D3CA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4823523"/>
            <a:ext cx="4826000" cy="24536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3F6FA"/>
                </a:solidFill>
                <a:latin typeface="Arial"/>
              </a:rPr>
              <a:t>Новая организация отрасли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06500" y="5175250"/>
            <a:ext cx="4381500" cy="0"/>
          </a:xfrm>
          <a:prstGeom prst="line">
            <a:avLst/>
          </a:prstGeom>
          <a:ln w="6350">
            <a:solidFill>
              <a:srgbClr val="697B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5000" y="5735701"/>
            <a:ext cx="80010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2DCE6"/>
                </a:solidFill>
                <a:latin typeface="Arial"/>
              </a:rPr>
              <a:t>Это возможные формы нововведения, а не пять шагов запуска стартапа.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4200" y="6381750"/>
            <a:ext cx="11023600" cy="0"/>
          </a:xfrm>
          <a:prstGeom prst="line">
            <a:avLst/>
          </a:prstGeom>
          <a:ln w="7620">
            <a:solidFill>
              <a:srgbClr val="7080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2300" y="6476873"/>
            <a:ext cx="10096500" cy="149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3BFCC"/>
                </a:solidFill>
                <a:latin typeface="Arial"/>
              </a:rPr>
              <a:t>Schumpeter, The Theory of Economic Development, гл. II; англ. перевод 1934 года.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90250" y="6465062"/>
            <a:ext cx="635000" cy="170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9B866"/>
                </a:solidFill>
                <a:latin typeface="Arial"/>
              </a:rPr>
              <a:t>05 / 08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4200" y="6692900"/>
            <a:ext cx="11023600" cy="25400"/>
          </a:xfrm>
          <a:prstGeom prst="roundRect">
            <a:avLst/>
          </a:prstGeom>
          <a:solidFill>
            <a:srgbClr val="33485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4200" y="6686550"/>
            <a:ext cx="6889750" cy="38100"/>
          </a:xfrm>
          <a:prstGeom prst="roundRect">
            <a:avLst/>
          </a:prstGeom>
          <a:solidFill>
            <a:srgbClr val="E9B866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implementatio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2300" y="585406"/>
            <a:ext cx="9525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9B866"/>
                </a:solidFill>
                <a:latin typeface="Arial"/>
              </a:rPr>
              <a:t>ВКЛАД В ТЕОРИЮ ПРЕДПРИНИМАТЕЛЬСТВА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300" y="786447"/>
            <a:ext cx="10160000" cy="586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>
                <a:solidFill>
                  <a:srgbClr val="F3F6FA"/>
                </a:solidFill>
                <a:latin typeface="Arial"/>
              </a:rPr>
              <a:t>Придумать — мало. Нужно внедрить.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1261618"/>
            <a:ext cx="104140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3DDE7"/>
                </a:solidFill>
                <a:latin typeface="Arial"/>
              </a:rPr>
              <a:t>Предприниматель осуществляет новую комбинацию — соединяет знания, ресурсы и рынок.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6250" y="2260600"/>
            <a:ext cx="2159000" cy="558800"/>
          </a:xfrm>
          <a:prstGeom prst="roundRect">
            <a:avLst/>
          </a:prstGeom>
          <a:solidFill>
            <a:srgbClr val="06111D">
              <a:alpha val="72000"/>
            </a:srgbClr>
          </a:solidFill>
          <a:ln w="6350">
            <a:solidFill>
              <a:srgbClr val="5063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50" y="2357501"/>
            <a:ext cx="20066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7D3CA"/>
                </a:solidFill>
                <a:latin typeface="Arial"/>
              </a:rPr>
              <a:t>ВОЗМОЖНОСТЬ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560701"/>
            <a:ext cx="20066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3F6FA"/>
                </a:solidFill>
                <a:latin typeface="Arial"/>
              </a:rPr>
              <a:t>изобретение или идея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9750" y="2260600"/>
            <a:ext cx="2984500" cy="558800"/>
          </a:xfrm>
          <a:prstGeom prst="roundRect">
            <a:avLst/>
          </a:prstGeom>
          <a:solidFill>
            <a:srgbClr val="06111D">
              <a:alpha val="72000"/>
            </a:srgbClr>
          </a:solidFill>
          <a:ln w="6350">
            <a:solidFill>
              <a:srgbClr val="5063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950" y="235750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9B866"/>
                </a:solidFill>
                <a:latin typeface="Arial"/>
              </a:rPr>
              <a:t>ПРЕДПРИНИМАТЕЛЬ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950" y="256070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3F6FA"/>
                </a:solidFill>
                <a:latin typeface="Arial"/>
              </a:rPr>
              <a:t>организует внедрение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4750" y="2260600"/>
            <a:ext cx="2667000" cy="558800"/>
          </a:xfrm>
          <a:prstGeom prst="roundRect">
            <a:avLst/>
          </a:prstGeom>
          <a:solidFill>
            <a:srgbClr val="06111D">
              <a:alpha val="72000"/>
            </a:srgbClr>
          </a:solidFill>
          <a:ln w="6350">
            <a:solidFill>
              <a:srgbClr val="5063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70950" y="2357501"/>
            <a:ext cx="25146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7D3CA"/>
                </a:solidFill>
                <a:latin typeface="Arial"/>
              </a:rPr>
              <a:t>ИЗМЕНЕНИЕ РЫНКА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0950" y="2560701"/>
            <a:ext cx="25146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3F6FA"/>
                </a:solidFill>
                <a:latin typeface="Arial"/>
              </a:rPr>
              <a:t>новое входит в жизнь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500" y="5578728"/>
            <a:ext cx="10096500" cy="2346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F6FA"/>
                </a:solidFill>
                <a:latin typeface="Arial"/>
              </a:rPr>
              <a:t>Он не обязан быть изобретателем или владельцем капитала: важна функция осуществления.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4200" y="6381750"/>
            <a:ext cx="11023600" cy="0"/>
          </a:xfrm>
          <a:prstGeom prst="line">
            <a:avLst/>
          </a:prstGeom>
          <a:ln w="7620">
            <a:solidFill>
              <a:srgbClr val="7080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2300" y="6476873"/>
            <a:ext cx="10096500" cy="149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3BFCC"/>
                </a:solidFill>
                <a:latin typeface="Arial"/>
              </a:rPr>
              <a:t>Schumpeter, The Theory of Economic Development, гл. II: новые комбинации и функция предпринимателя.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90250" y="6465062"/>
            <a:ext cx="635000" cy="170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9B866"/>
                </a:solidFill>
                <a:latin typeface="Arial"/>
              </a:rPr>
              <a:t>06 / 08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4200" y="6692900"/>
            <a:ext cx="11023600" cy="25400"/>
          </a:xfrm>
          <a:prstGeom prst="roundRect">
            <a:avLst/>
          </a:prstGeom>
          <a:solidFill>
            <a:srgbClr val="33485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4200" y="6686550"/>
            <a:ext cx="8267699" cy="38100"/>
          </a:xfrm>
          <a:prstGeom prst="roundRect">
            <a:avLst/>
          </a:prstGeom>
          <a:solidFill>
            <a:srgbClr val="E9B866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creative-destruction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2300" y="585406"/>
            <a:ext cx="9525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9B866"/>
                </a:solidFill>
                <a:latin typeface="Arial"/>
              </a:rPr>
              <a:t>ДИНАМИКА КАПИТАЛИЗМА · 1942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300" y="780986"/>
            <a:ext cx="8128000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3F6FA"/>
                </a:solidFill>
                <a:latin typeface="Arial"/>
              </a:rPr>
              <a:t>Созидательное разрушение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1256157"/>
            <a:ext cx="8381999" cy="277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3DDE7"/>
                </a:solidFill>
                <a:latin typeface="Arial"/>
              </a:rPr>
              <a:t>Новое создаёт рынки — и вытесняет прежние решения.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250" y="4806950"/>
            <a:ext cx="3206750" cy="482600"/>
          </a:xfrm>
          <a:prstGeom prst="roundRect">
            <a:avLst/>
          </a:prstGeom>
          <a:solidFill>
            <a:srgbClr val="06111D">
              <a:alpha val="78000"/>
            </a:srgbClr>
          </a:solidFill>
          <a:ln w="6350">
            <a:solidFill>
              <a:srgbClr val="866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750" y="4897501"/>
            <a:ext cx="26035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9B866"/>
                </a:solidFill>
                <a:latin typeface="Arial"/>
              </a:rPr>
              <a:t>СТАРЫЙ УКЛАД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750" y="5081651"/>
            <a:ext cx="27305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3F6FA"/>
                </a:solidFill>
                <a:latin typeface="Arial"/>
              </a:rPr>
              <a:t>продукты · технологии · привычки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1999" y="4806950"/>
            <a:ext cx="3206750" cy="482600"/>
          </a:xfrm>
          <a:prstGeom prst="roundRect">
            <a:avLst/>
          </a:prstGeom>
          <a:solidFill>
            <a:srgbClr val="06111D">
              <a:alpha val="78000"/>
            </a:srgbClr>
          </a:solidFill>
          <a:ln w="6350">
            <a:solidFill>
              <a:srgbClr val="4C9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0" y="4897501"/>
            <a:ext cx="26035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7D3CA"/>
                </a:solidFill>
                <a:latin typeface="Arial"/>
              </a:rPr>
              <a:t>НОВЫЙ УКЛАД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0" y="5081651"/>
            <a:ext cx="27305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3F6FA"/>
                </a:solidFill>
                <a:latin typeface="Arial"/>
              </a:rPr>
              <a:t>компании · продукты · рынки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93899" y="5537200"/>
            <a:ext cx="8204199" cy="457200"/>
          </a:xfrm>
          <a:prstGeom prst="roundRect">
            <a:avLst/>
          </a:prstGeom>
          <a:solidFill>
            <a:srgbClr val="06111D">
              <a:alpha val="78000"/>
            </a:srgbClr>
          </a:solidFill>
          <a:ln w="6350">
            <a:solidFill>
              <a:srgbClr val="5063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22500" y="5698934"/>
            <a:ext cx="7746999" cy="2240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3F6FA"/>
                </a:solidFill>
                <a:latin typeface="Arial"/>
              </a:rPr>
              <a:t>Это описание постоянной перестройки, а не гарантия победы любой новинки.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4200" y="6381750"/>
            <a:ext cx="11023600" cy="0"/>
          </a:xfrm>
          <a:prstGeom prst="line">
            <a:avLst/>
          </a:prstGeom>
          <a:ln w="7620">
            <a:solidFill>
              <a:srgbClr val="7080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22300" y="6476873"/>
            <a:ext cx="10096500" cy="149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3BFCC"/>
                </a:solidFill>
                <a:latin typeface="Arial"/>
              </a:rPr>
              <a:t>Schumpeter, Capitalism, Socialism and Democracy (1942), гл. VII.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90250" y="6465062"/>
            <a:ext cx="635000" cy="170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9B866"/>
                </a:solidFill>
                <a:latin typeface="Arial"/>
              </a:rPr>
              <a:t>07 / 08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200" y="6692900"/>
            <a:ext cx="11023600" cy="25400"/>
          </a:xfrm>
          <a:prstGeom prst="roundRect">
            <a:avLst/>
          </a:prstGeom>
          <a:solidFill>
            <a:srgbClr val="33485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84200" y="6686550"/>
            <a:ext cx="9645650" cy="38100"/>
          </a:xfrm>
          <a:prstGeom prst="roundRect">
            <a:avLst/>
          </a:prstGeom>
          <a:solidFill>
            <a:srgbClr val="E9B866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humpeter-v2-hero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11D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746999" cy="6477000"/>
          </a:xfrm>
          <a:prstGeom prst="rect">
            <a:avLst/>
          </a:prstGeom>
          <a:solidFill>
            <a:srgbClr val="06111D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29856"/>
            <a:ext cx="9525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9B866"/>
                </a:solidFill>
                <a:latin typeface="Arial"/>
              </a:rPr>
              <a:t>ГЛАВНЫЙ ВЫВОД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918463"/>
            <a:ext cx="7048500" cy="935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3F6FA"/>
                </a:solidFill>
                <a:latin typeface="Arial"/>
              </a:rPr>
              <a:t>Что Шумпетер дал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3F6FA"/>
                </a:solidFill>
                <a:latin typeface="Arial"/>
              </a:rPr>
              <a:t>теории предпринимательства?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400" y="2104263"/>
            <a:ext cx="6921500" cy="6813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2E9F0"/>
                </a:solidFill>
                <a:latin typeface="Arial"/>
              </a:rPr>
              <a:t>Предприниматель — тот, кто превращает новое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2E9F0"/>
                </a:solidFill>
                <a:latin typeface="Arial"/>
              </a:rPr>
              <a:t>в экономическое изменение.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66750" y="3168650"/>
            <a:ext cx="4540250" cy="0"/>
          </a:xfrm>
          <a:prstGeom prst="line">
            <a:avLst/>
          </a:prstGeom>
          <a:ln w="22225">
            <a:solidFill>
              <a:srgbClr val="E9B8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0400" y="3501390"/>
            <a:ext cx="2095499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7D3CA"/>
                </a:solidFill>
                <a:latin typeface="Arial"/>
              </a:rPr>
              <a:t>НОВАЯ КОМБИНАЦИЯ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0950" y="3443224"/>
            <a:ext cx="381000" cy="341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9B866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0" y="3501390"/>
            <a:ext cx="15875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9B866"/>
                </a:solidFill>
                <a:latin typeface="Arial"/>
              </a:rPr>
              <a:t>ВНЕДРЕНИЕ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6900" y="3443224"/>
            <a:ext cx="381000" cy="341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9B866"/>
                </a:solidFill>
                <a:latin typeface="Arial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0300" y="3501390"/>
            <a:ext cx="2476500" cy="213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7D3CA"/>
                </a:solidFill>
                <a:latin typeface="Arial"/>
              </a:rPr>
              <a:t>ИЗМЕНЕНИЕ РЫНКА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4410773"/>
            <a:ext cx="6667500" cy="4975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8D4DF"/>
                </a:solidFill>
                <a:latin typeface="Arial"/>
              </a:rPr>
              <a:t>Эта идея помогает анализировать стартапы,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8D4DF"/>
                </a:solidFill>
                <a:latin typeface="Arial"/>
              </a:rPr>
              <a:t>но не заменяет современную инструкцию по запуску.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5684901"/>
            <a:ext cx="67945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9B866"/>
                </a:solidFill>
                <a:latin typeface="Arial"/>
              </a:rPr>
              <a:t>НЕ ПРОСТО ПРИДУМАТЬ. ОРГАНИЗОВАТЬ. ВНЕДРИТЬ.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4200" y="6381750"/>
            <a:ext cx="11023600" cy="0"/>
          </a:xfrm>
          <a:prstGeom prst="line">
            <a:avLst/>
          </a:prstGeom>
          <a:ln w="7620">
            <a:solidFill>
              <a:srgbClr val="7080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00" y="6476873"/>
            <a:ext cx="10096500" cy="149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3BFCC"/>
                </a:solidFill>
                <a:latin typeface="Arial"/>
              </a:rPr>
              <a:t>Итог: Шумпетер — ключевая фигура теории инновационного предпринимательства, не автор стартап-методики.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90250" y="6465062"/>
            <a:ext cx="635000" cy="170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9B866"/>
                </a:solidFill>
                <a:latin typeface="Arial"/>
              </a:rPr>
              <a:t>08 / 08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4200" y="6692900"/>
            <a:ext cx="11023600" cy="25400"/>
          </a:xfrm>
          <a:prstGeom prst="roundRect">
            <a:avLst/>
          </a:prstGeom>
          <a:solidFill>
            <a:srgbClr val="33485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84200" y="6686550"/>
            <a:ext cx="11023600" cy="38100"/>
          </a:xfrm>
          <a:prstGeom prst="roundRect">
            <a:avLst/>
          </a:prstGeom>
          <a:solidFill>
            <a:srgbClr val="E9B866">
              <a:alpha val="9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Йозеф Шумпетер: предприниматель как двигатель изменений</dc:title>
  <dc:subject>Биография, теория новых комбинаций и вклад в теорию предпринимательства</dc:subject>
  <dc:creator>Arena Agent</dc:creator>
  <cp:keywords>Шумпетер, предпринимательство, инновации, временная линия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