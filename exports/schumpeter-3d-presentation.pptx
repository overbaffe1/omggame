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hero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604000" cy="6223000"/>
          </a:xfrm>
          <a:prstGeom prst="rect">
            <a:avLst/>
          </a:prstGeom>
          <a:solidFill>
            <a:srgbClr val="071827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609727"/>
            <a:ext cx="6350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E7B66D"/>
                </a:solidFill>
                <a:latin typeface="Arial"/>
              </a:rPr>
              <a:t>ЭКОНОМИЧЕСКАЯ МЫСЛЬ  ·  ПРЕДПРИНИМАТЕЛЬСТВО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427226"/>
            <a:ext cx="5207000" cy="944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5F6F8"/>
                </a:solidFill>
                <a:latin typeface="Arial"/>
              </a:rPr>
              <a:t>Йозеф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149602"/>
            <a:ext cx="5715000" cy="905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F5F6F8"/>
                </a:solidFill>
                <a:latin typeface="Arial"/>
              </a:rPr>
              <a:t>Шумпетер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2953004"/>
            <a:ext cx="5588000" cy="3346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65D8D0"/>
                </a:solidFill>
                <a:latin typeface="Arial"/>
              </a:rPr>
              <a:t>Предприниматель как сила перемен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3367913"/>
            <a:ext cx="5715000" cy="2263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D8E1EA"/>
                </a:solidFill>
                <a:latin typeface="Arial"/>
              </a:rPr>
              <a:t>8 февраля 1883 — 8 января 1950  ·  Třešť, Моравия (ныне Чехия)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665220"/>
            <a:ext cx="5715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1CCDA"/>
                </a:solidFill>
                <a:latin typeface="Arial"/>
              </a:rPr>
              <a:t>Экономист  ·  профессор  ·  министр финансов Австрии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300" y="4381500"/>
            <a:ext cx="4889500" cy="482600"/>
          </a:xfrm>
          <a:prstGeom prst="roundRect">
            <a:avLst/>
          </a:prstGeom>
          <a:solidFill>
            <a:srgbClr val="0A1A29">
              <a:alpha val="86000"/>
            </a:srgbClr>
          </a:solidFill>
          <a:ln w="7620">
            <a:solidFill>
              <a:srgbClr val="58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0750" y="4572000"/>
            <a:ext cx="101600" cy="101600"/>
          </a:xfrm>
          <a:prstGeom prst="ellipse">
            <a:avLst/>
          </a:prstGeom>
          <a:solidFill>
            <a:srgbClr val="E7B66D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2050" y="4530725"/>
            <a:ext cx="431800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5F6F8"/>
                </a:solidFill>
                <a:latin typeface="Arial"/>
              </a:rPr>
              <a:t>Идея → внедрение → изменение рынка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708396"/>
            <a:ext cx="63500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D0D8E1"/>
                </a:solidFill>
                <a:latin typeface="Arial"/>
              </a:rPr>
              <a:t>БИОГРАФИЯ  →  ВРЕМЕННАЯ ЛИНИЯ  →  ТЕОРИЯ  →  ВКЛАД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3250" y="6350000"/>
            <a:ext cx="10985500" cy="0"/>
          </a:xfrm>
          <a:prstGeom prst="line">
            <a:avLst/>
          </a:prstGeom>
          <a:ln w="7620">
            <a:solidFill>
              <a:srgbClr val="637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000" y="6456934"/>
            <a:ext cx="10160000" cy="137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B5C0CC"/>
                </a:solidFill>
                <a:latin typeface="Arial"/>
              </a:rPr>
              <a:t>Биография: EBSCO Research Starters; Austrian Information. Главные работы: 1911/12 и 1942.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6750" y="6444996"/>
            <a:ext cx="698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E7B66D"/>
                </a:solidFill>
                <a:latin typeface="Arial"/>
              </a:rPr>
              <a:t>01 / 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00" y="6667500"/>
            <a:ext cx="10922000" cy="25400"/>
          </a:xfrm>
          <a:prstGeom prst="roundRect">
            <a:avLst/>
          </a:prstGeom>
          <a:solidFill>
            <a:srgbClr val="445A6D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000" y="6661150"/>
            <a:ext cx="1560285" cy="38100"/>
          </a:xfrm>
          <a:prstGeom prst="roundRect">
            <a:avLst/>
          </a:prstGeom>
          <a:solidFill>
            <a:srgbClr val="E7B66D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biography-timeline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647827"/>
            <a:ext cx="6350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E7B66D"/>
                </a:solidFill>
                <a:latin typeface="Arial"/>
              </a:rPr>
              <a:t>ЖИЗНЬ И КАРЬЕРА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813943"/>
            <a:ext cx="7620000" cy="5216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50" b="1">
                <a:solidFill>
                  <a:srgbClr val="F5F6F8"/>
                </a:solidFill>
                <a:latin typeface="Arial"/>
              </a:rPr>
              <a:t>От Моравии до Гарварда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900" y="1278382"/>
            <a:ext cx="10160000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1DCE7"/>
                </a:solidFill>
                <a:latin typeface="Arial"/>
              </a:rPr>
              <a:t>Шесть поворотных этапов: учёба, университеты, политика, банк и новая академическая жизнь.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79500" y="5111750"/>
            <a:ext cx="10033000" cy="0"/>
          </a:xfrm>
          <a:prstGeom prst="line">
            <a:avLst/>
          </a:prstGeom>
          <a:ln w="101600">
            <a:solidFill>
              <a:srgbClr val="1024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79500" y="5080000"/>
            <a:ext cx="10033000" cy="0"/>
          </a:xfrm>
          <a:prstGeom prst="line">
            <a:avLst/>
          </a:prstGeom>
          <a:ln w="25400">
            <a:solidFill>
              <a:srgbClr val="E7B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22250" y="2127250"/>
            <a:ext cx="1778000" cy="2146300"/>
          </a:xfrm>
          <a:prstGeom prst="roundRect">
            <a:avLst/>
          </a:prstGeom>
          <a:solidFill>
            <a:srgbClr val="071827">
              <a:alpha val="88000"/>
            </a:srgbClr>
          </a:solidFill>
          <a:ln w="8890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22250" y="2127250"/>
            <a:ext cx="38100" cy="2146300"/>
          </a:xfrm>
          <a:prstGeom prst="roundRect">
            <a:avLst/>
          </a:prstGeom>
          <a:solidFill>
            <a:srgbClr val="E7B66D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650" y="2288413"/>
            <a:ext cx="1485900" cy="2263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E7B66D"/>
                </a:solidFill>
                <a:latin typeface="Arial"/>
              </a:rPr>
              <a:t>1883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650" y="2579370"/>
            <a:ext cx="14859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5F6F8"/>
                </a:solidFill>
                <a:latin typeface="Arial"/>
              </a:rPr>
              <a:t>Třešť · Моравия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650" y="2838450"/>
            <a:ext cx="1473200" cy="0"/>
          </a:xfrm>
          <a:prstGeom prst="line">
            <a:avLst/>
          </a:prstGeom>
          <a:ln w="6985">
            <a:solidFill>
              <a:srgbClr val="5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4650" y="29816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1">
                <a:solidFill>
                  <a:srgbClr val="C1CCDA"/>
                </a:solidFill>
                <a:latin typeface="Arial"/>
              </a:rPr>
              <a:t>Родился в Моравии,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650" y="31975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тогда Австро-Венгрии;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650" y="34134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сегодня — Чехия.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11250" y="4279900"/>
            <a:ext cx="0" cy="660400"/>
          </a:xfrm>
          <a:prstGeom prst="line">
            <a:avLst/>
          </a:prstGeom>
          <a:ln w="13970">
            <a:solidFill>
              <a:srgbClr val="E7B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927100" y="4895850"/>
            <a:ext cx="368300" cy="368300"/>
          </a:xfrm>
          <a:prstGeom prst="ellipse">
            <a:avLst/>
          </a:prstGeom>
          <a:solidFill>
            <a:srgbClr val="E7B66D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1550" y="4940300"/>
            <a:ext cx="279400" cy="279400"/>
          </a:xfrm>
          <a:prstGeom prst="ellipse">
            <a:avLst/>
          </a:prstGeom>
          <a:solidFill>
            <a:srgbClr val="0A1A29">
              <a:alpha val="98000"/>
            </a:srgbClr>
          </a:solidFill>
          <a:ln w="12700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28700" y="4997450"/>
            <a:ext cx="165100" cy="165100"/>
          </a:xfrm>
          <a:prstGeom prst="ellipse">
            <a:avLst/>
          </a:prstGeom>
          <a:solidFill>
            <a:srgbClr val="E7B66D">
              <a:alpha val="98000"/>
            </a:srgbClr>
          </a:solidFill>
          <a:ln w="8890">
            <a:solidFill>
              <a:srgbClr val="FFE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6673" y="5029708"/>
            <a:ext cx="36576" cy="36576"/>
          </a:xfrm>
          <a:prstGeom prst="ellipse">
            <a:avLst/>
          </a:prstGeom>
          <a:solidFill>
            <a:srgbClr val="FFF1CF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90750" y="2127250"/>
            <a:ext cx="1778000" cy="2146300"/>
          </a:xfrm>
          <a:prstGeom prst="roundRect">
            <a:avLst/>
          </a:prstGeom>
          <a:solidFill>
            <a:srgbClr val="071827">
              <a:alpha val="88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190750" y="2127250"/>
            <a:ext cx="38100" cy="2146300"/>
          </a:xfrm>
          <a:prstGeom prst="roundRect">
            <a:avLst/>
          </a:prstGeom>
          <a:solidFill>
            <a:srgbClr val="65D8D0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43150" y="2288413"/>
            <a:ext cx="1485900" cy="2263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5D8D0"/>
                </a:solidFill>
                <a:latin typeface="Arial"/>
              </a:rPr>
              <a:t>1901–06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43150" y="2579370"/>
            <a:ext cx="14859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5F6F8"/>
                </a:solidFill>
                <a:latin typeface="Arial"/>
              </a:rPr>
              <a:t>Вена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343150" y="2838450"/>
            <a:ext cx="1473199" cy="0"/>
          </a:xfrm>
          <a:prstGeom prst="line">
            <a:avLst/>
          </a:prstGeom>
          <a:ln w="6985">
            <a:solidFill>
              <a:srgbClr val="5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343150" y="29816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1">
                <a:solidFill>
                  <a:srgbClr val="C1CCDA"/>
                </a:solidFill>
                <a:latin typeface="Arial"/>
              </a:rPr>
              <a:t>Изучал право 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43150" y="31975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экономику. Доктор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43150" y="34134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права — в 1906 году.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079750" y="4279900"/>
            <a:ext cx="0" cy="660400"/>
          </a:xfrm>
          <a:prstGeom prst="line">
            <a:avLst/>
          </a:prstGeom>
          <a:ln w="13970">
            <a:solidFill>
              <a:srgbClr val="65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895600" y="4895850"/>
            <a:ext cx="368300" cy="368300"/>
          </a:xfrm>
          <a:prstGeom prst="ellipse">
            <a:avLst/>
          </a:prstGeom>
          <a:solidFill>
            <a:srgbClr val="65D8D0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940050" y="4940300"/>
            <a:ext cx="279400" cy="279400"/>
          </a:xfrm>
          <a:prstGeom prst="ellipse">
            <a:avLst/>
          </a:prstGeom>
          <a:solidFill>
            <a:srgbClr val="0A1A29">
              <a:alpha val="98000"/>
            </a:srgbClr>
          </a:solidFill>
          <a:ln w="1270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997200" y="4997450"/>
            <a:ext cx="165100" cy="165100"/>
          </a:xfrm>
          <a:prstGeom prst="ellipse">
            <a:avLst/>
          </a:prstGeom>
          <a:solidFill>
            <a:srgbClr val="65D8D0">
              <a:alpha val="98000"/>
            </a:srgbClr>
          </a:solidFill>
          <a:ln w="8890">
            <a:solidFill>
              <a:srgbClr val="FFE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035173" y="5029708"/>
            <a:ext cx="36576" cy="36576"/>
          </a:xfrm>
          <a:prstGeom prst="ellipse">
            <a:avLst/>
          </a:prstGeom>
          <a:solidFill>
            <a:srgbClr val="FFF1CF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159249" y="2127250"/>
            <a:ext cx="1778000" cy="2146300"/>
          </a:xfrm>
          <a:prstGeom prst="roundRect">
            <a:avLst/>
          </a:prstGeom>
          <a:solidFill>
            <a:srgbClr val="071827">
              <a:alpha val="88000"/>
            </a:srgbClr>
          </a:solidFill>
          <a:ln w="8890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159249" y="2127250"/>
            <a:ext cx="38100" cy="2146300"/>
          </a:xfrm>
          <a:prstGeom prst="roundRect">
            <a:avLst/>
          </a:prstGeom>
          <a:solidFill>
            <a:srgbClr val="E7B66D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1650" y="2288413"/>
            <a:ext cx="1485900" cy="2263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E7B66D"/>
                </a:solidFill>
                <a:latin typeface="Arial"/>
              </a:rPr>
              <a:t>1909–14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1650" y="2579370"/>
            <a:ext cx="14859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5F6F8"/>
                </a:solidFill>
                <a:latin typeface="Arial"/>
              </a:rPr>
              <a:t>Черновцы → Грац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311650" y="2838450"/>
            <a:ext cx="1473200" cy="0"/>
          </a:xfrm>
          <a:prstGeom prst="line">
            <a:avLst/>
          </a:prstGeom>
          <a:ln w="6985">
            <a:solidFill>
              <a:srgbClr val="5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311650" y="29816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1">
                <a:solidFill>
                  <a:srgbClr val="C1CCDA"/>
                </a:solidFill>
                <a:latin typeface="Arial"/>
              </a:rPr>
              <a:t>Профессор в Черновцах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1650" y="31975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и Граце. Публикует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1650" y="34134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«Теорию экономического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1650" y="36293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развития» — 1911/12.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48250" y="4279900"/>
            <a:ext cx="0" cy="660400"/>
          </a:xfrm>
          <a:prstGeom prst="line">
            <a:avLst/>
          </a:prstGeom>
          <a:ln w="13970">
            <a:solidFill>
              <a:srgbClr val="E7B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864100" y="4895850"/>
            <a:ext cx="368300" cy="368300"/>
          </a:xfrm>
          <a:prstGeom prst="ellipse">
            <a:avLst/>
          </a:prstGeom>
          <a:solidFill>
            <a:srgbClr val="E7B66D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908550" y="4940300"/>
            <a:ext cx="279400" cy="279400"/>
          </a:xfrm>
          <a:prstGeom prst="ellipse">
            <a:avLst/>
          </a:prstGeom>
          <a:solidFill>
            <a:srgbClr val="0A1A29">
              <a:alpha val="98000"/>
            </a:srgbClr>
          </a:solidFill>
          <a:ln w="12700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65700" y="4997450"/>
            <a:ext cx="165100" cy="165100"/>
          </a:xfrm>
          <a:prstGeom prst="ellipse">
            <a:avLst/>
          </a:prstGeom>
          <a:solidFill>
            <a:srgbClr val="E7B66D">
              <a:alpha val="98000"/>
            </a:srgbClr>
          </a:solidFill>
          <a:ln w="8890">
            <a:solidFill>
              <a:srgbClr val="FFE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003673" y="5029708"/>
            <a:ext cx="36576" cy="36576"/>
          </a:xfrm>
          <a:prstGeom prst="ellipse">
            <a:avLst/>
          </a:prstGeom>
          <a:solidFill>
            <a:srgbClr val="FFF1CF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127750" y="2127250"/>
            <a:ext cx="1778000" cy="2146300"/>
          </a:xfrm>
          <a:prstGeom prst="roundRect">
            <a:avLst/>
          </a:prstGeom>
          <a:solidFill>
            <a:srgbClr val="071827">
              <a:alpha val="88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27750" y="2127250"/>
            <a:ext cx="38100" cy="2146300"/>
          </a:xfrm>
          <a:prstGeom prst="roundRect">
            <a:avLst/>
          </a:prstGeom>
          <a:solidFill>
            <a:srgbClr val="65D8D0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0150" y="2288413"/>
            <a:ext cx="1485900" cy="2263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5D8D0"/>
                </a:solidFill>
                <a:latin typeface="Arial"/>
              </a:rPr>
              <a:t>1919–24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80150" y="2579370"/>
            <a:ext cx="14859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5F6F8"/>
                </a:solidFill>
                <a:latin typeface="Arial"/>
              </a:rPr>
              <a:t>Министр · банкир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280150" y="2838450"/>
            <a:ext cx="1473199" cy="0"/>
          </a:xfrm>
          <a:prstGeom prst="line">
            <a:avLst/>
          </a:prstGeom>
          <a:ln w="6985">
            <a:solidFill>
              <a:srgbClr val="5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280150" y="29816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1">
                <a:solidFill>
                  <a:srgbClr val="C1CCDA"/>
                </a:solidFill>
                <a:latin typeface="Arial"/>
              </a:rPr>
              <a:t>Министр финансов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80150" y="31975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Австрии (1919); глава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80150" y="34134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Biedermann Bank,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80150" y="36293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обанкротившегося в 1924.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016750" y="4279900"/>
            <a:ext cx="0" cy="660400"/>
          </a:xfrm>
          <a:prstGeom prst="line">
            <a:avLst/>
          </a:prstGeom>
          <a:ln w="13970">
            <a:solidFill>
              <a:srgbClr val="65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6832600" y="4895850"/>
            <a:ext cx="368300" cy="368300"/>
          </a:xfrm>
          <a:prstGeom prst="ellipse">
            <a:avLst/>
          </a:prstGeom>
          <a:solidFill>
            <a:srgbClr val="65D8D0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77050" y="4940300"/>
            <a:ext cx="279400" cy="279400"/>
          </a:xfrm>
          <a:prstGeom prst="ellipse">
            <a:avLst/>
          </a:prstGeom>
          <a:solidFill>
            <a:srgbClr val="0A1A29">
              <a:alpha val="98000"/>
            </a:srgbClr>
          </a:solidFill>
          <a:ln w="1270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934200" y="4997450"/>
            <a:ext cx="165100" cy="165100"/>
          </a:xfrm>
          <a:prstGeom prst="ellipse">
            <a:avLst/>
          </a:prstGeom>
          <a:solidFill>
            <a:srgbClr val="65D8D0">
              <a:alpha val="98000"/>
            </a:srgbClr>
          </a:solidFill>
          <a:ln w="8890">
            <a:solidFill>
              <a:srgbClr val="FFE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72172" y="5029708"/>
            <a:ext cx="36576" cy="36576"/>
          </a:xfrm>
          <a:prstGeom prst="ellipse">
            <a:avLst/>
          </a:prstGeom>
          <a:solidFill>
            <a:srgbClr val="FFF1CF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096249" y="2127250"/>
            <a:ext cx="1778000" cy="2146300"/>
          </a:xfrm>
          <a:prstGeom prst="roundRect">
            <a:avLst/>
          </a:prstGeom>
          <a:solidFill>
            <a:srgbClr val="071827">
              <a:alpha val="88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096249" y="2127250"/>
            <a:ext cx="38100" cy="2146300"/>
          </a:xfrm>
          <a:prstGeom prst="roundRect">
            <a:avLst/>
          </a:prstGeom>
          <a:solidFill>
            <a:srgbClr val="65D8D0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48650" y="2288413"/>
            <a:ext cx="1485900" cy="2263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5D8D0"/>
                </a:solidFill>
                <a:latin typeface="Arial"/>
              </a:rPr>
              <a:t>1925–32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48650" y="2579370"/>
            <a:ext cx="14859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5F6F8"/>
                </a:solidFill>
                <a:latin typeface="Arial"/>
              </a:rPr>
              <a:t>Бонн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248650" y="2838450"/>
            <a:ext cx="1473200" cy="0"/>
          </a:xfrm>
          <a:prstGeom prst="line">
            <a:avLst/>
          </a:prstGeom>
          <a:ln w="6985">
            <a:solidFill>
              <a:srgbClr val="5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248650" y="29816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1">
                <a:solidFill>
                  <a:srgbClr val="C1CCDA"/>
                </a:solidFill>
                <a:latin typeface="Arial"/>
              </a:rPr>
              <a:t>Преподаёт экономику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48650" y="31975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в Бонне; затем снова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48650" y="34134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переезжает в США.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985250" y="4279900"/>
            <a:ext cx="0" cy="660400"/>
          </a:xfrm>
          <a:prstGeom prst="line">
            <a:avLst/>
          </a:prstGeom>
          <a:ln w="13970">
            <a:solidFill>
              <a:srgbClr val="65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8801100" y="4895850"/>
            <a:ext cx="368300" cy="368300"/>
          </a:xfrm>
          <a:prstGeom prst="ellipse">
            <a:avLst/>
          </a:prstGeom>
          <a:solidFill>
            <a:srgbClr val="65D8D0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845550" y="4940300"/>
            <a:ext cx="279400" cy="279400"/>
          </a:xfrm>
          <a:prstGeom prst="ellipse">
            <a:avLst/>
          </a:prstGeom>
          <a:solidFill>
            <a:srgbClr val="0A1A29">
              <a:alpha val="98000"/>
            </a:srgbClr>
          </a:solidFill>
          <a:ln w="1270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902700" y="4997450"/>
            <a:ext cx="165100" cy="165100"/>
          </a:xfrm>
          <a:prstGeom prst="ellipse">
            <a:avLst/>
          </a:prstGeom>
          <a:solidFill>
            <a:srgbClr val="65D8D0">
              <a:alpha val="98000"/>
            </a:srgbClr>
          </a:solidFill>
          <a:ln w="8890">
            <a:solidFill>
              <a:srgbClr val="FFE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940672" y="5029708"/>
            <a:ext cx="36576" cy="36576"/>
          </a:xfrm>
          <a:prstGeom prst="ellipse">
            <a:avLst/>
          </a:prstGeom>
          <a:solidFill>
            <a:srgbClr val="FFF1CF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0064750" y="2127250"/>
            <a:ext cx="1778000" cy="2146300"/>
          </a:xfrm>
          <a:prstGeom prst="roundRect">
            <a:avLst/>
          </a:prstGeom>
          <a:solidFill>
            <a:srgbClr val="071827">
              <a:alpha val="88000"/>
            </a:srgbClr>
          </a:solidFill>
          <a:ln w="8890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0064750" y="2127250"/>
            <a:ext cx="38100" cy="2146300"/>
          </a:xfrm>
          <a:prstGeom prst="roundRect">
            <a:avLst/>
          </a:prstGeom>
          <a:solidFill>
            <a:srgbClr val="E7B66D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17150" y="2288413"/>
            <a:ext cx="1485900" cy="2263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E7B66D"/>
                </a:solidFill>
                <a:latin typeface="Arial"/>
              </a:rPr>
              <a:t>1932–50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17150" y="2579370"/>
            <a:ext cx="14859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5F6F8"/>
                </a:solidFill>
                <a:latin typeface="Arial"/>
              </a:rPr>
              <a:t>Гарвард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0217150" y="2838450"/>
            <a:ext cx="1473200" cy="0"/>
          </a:xfrm>
          <a:prstGeom prst="line">
            <a:avLst/>
          </a:prstGeom>
          <a:ln w="6985">
            <a:solidFill>
              <a:srgbClr val="5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217150" y="29816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1">
                <a:solidFill>
                  <a:srgbClr val="C1CCDA"/>
                </a:solidFill>
                <a:latin typeface="Arial"/>
              </a:rPr>
              <a:t>Преподаёт в Гарварде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17150" y="31975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с 1932 года. «Капитализм,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17150" y="34134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социализм и демократия»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217150" y="3629342"/>
            <a:ext cx="1485900" cy="172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5" b="0">
                <a:solidFill>
                  <a:srgbClr val="C1CCDA"/>
                </a:solidFill>
                <a:latin typeface="Arial"/>
              </a:rPr>
              <a:t>(1942); умер в 1950-м.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0953750" y="4279900"/>
            <a:ext cx="0" cy="660400"/>
          </a:xfrm>
          <a:prstGeom prst="line">
            <a:avLst/>
          </a:prstGeom>
          <a:ln w="13970">
            <a:solidFill>
              <a:srgbClr val="E7B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/>
          <p:cNvSpPr/>
          <p:nvPr/>
        </p:nvSpPr>
        <p:spPr>
          <a:xfrm>
            <a:off x="10769600" y="4895850"/>
            <a:ext cx="368300" cy="368300"/>
          </a:xfrm>
          <a:prstGeom prst="ellipse">
            <a:avLst/>
          </a:prstGeom>
          <a:solidFill>
            <a:srgbClr val="E7B66D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814050" y="4940300"/>
            <a:ext cx="279400" cy="279400"/>
          </a:xfrm>
          <a:prstGeom prst="ellipse">
            <a:avLst/>
          </a:prstGeom>
          <a:solidFill>
            <a:srgbClr val="0A1A29">
              <a:alpha val="98000"/>
            </a:srgbClr>
          </a:solidFill>
          <a:ln w="12700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871200" y="4997450"/>
            <a:ext cx="165100" cy="165100"/>
          </a:xfrm>
          <a:prstGeom prst="ellipse">
            <a:avLst/>
          </a:prstGeom>
          <a:solidFill>
            <a:srgbClr val="E7B66D">
              <a:alpha val="98000"/>
            </a:srgbClr>
          </a:solidFill>
          <a:ln w="8890">
            <a:solidFill>
              <a:srgbClr val="FFE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0909173" y="5029708"/>
            <a:ext cx="36576" cy="36576"/>
          </a:xfrm>
          <a:prstGeom prst="ellipse">
            <a:avLst/>
          </a:prstGeom>
          <a:solidFill>
            <a:srgbClr val="FFF1CF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09600" y="5402834"/>
            <a:ext cx="6350000" cy="137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C4CFD9"/>
                </a:solidFill>
                <a:latin typeface="Arial"/>
              </a:rPr>
              <a:t>РОЖДЕНИЕ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61450" y="5402834"/>
            <a:ext cx="1397000" cy="137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700" b="1">
                <a:solidFill>
                  <a:srgbClr val="C4CFD9"/>
                </a:solidFill>
                <a:latin typeface="Arial"/>
              </a:rPr>
              <a:t>АКАДЕМИЧЕСКОЕ НАСЛЕДИЕ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03250" y="6350000"/>
            <a:ext cx="10985500" cy="0"/>
          </a:xfrm>
          <a:prstGeom prst="line">
            <a:avLst/>
          </a:prstGeom>
          <a:ln w="7620">
            <a:solidFill>
              <a:srgbClr val="637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635000" y="6456934"/>
            <a:ext cx="10160000" cy="137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B5C0CC"/>
                </a:solidFill>
                <a:latin typeface="Arial"/>
              </a:rPr>
              <a:t>Биографические опоры: EBSCO Research Starters; Austrian Information; Oxford Learning Link.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826750" y="6444996"/>
            <a:ext cx="698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E7B66D"/>
                </a:solidFill>
                <a:latin typeface="Arial"/>
              </a:rPr>
              <a:t>02 / 07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5000" y="6667500"/>
            <a:ext cx="10922000" cy="25400"/>
          </a:xfrm>
          <a:prstGeom prst="roundRect">
            <a:avLst/>
          </a:prstGeom>
          <a:solidFill>
            <a:srgbClr val="445A6D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35000" y="6661150"/>
            <a:ext cx="3120571" cy="38100"/>
          </a:xfrm>
          <a:prstGeom prst="roundRect">
            <a:avLst/>
          </a:prstGeom>
          <a:solidFill>
            <a:srgbClr val="E7B66D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trepreneurship-thought-timeline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667500" cy="6127750"/>
          </a:xfrm>
          <a:prstGeom prst="rect">
            <a:avLst/>
          </a:prstGeom>
          <a:solidFill>
            <a:srgbClr val="071827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0700" y="635127"/>
            <a:ext cx="6350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E7B66D"/>
                </a:solidFill>
                <a:latin typeface="Arial"/>
              </a:rPr>
              <a:t>МЕСТО В ИСТОРИИ ИДЕЙ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0700" y="848233"/>
            <a:ext cx="5715000" cy="4232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50" b="1">
                <a:solidFill>
                  <a:srgbClr val="F5F6F8"/>
                </a:solidFill>
                <a:latin typeface="Arial"/>
              </a:rPr>
              <a:t>На временной линии предпринимательства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1258189"/>
            <a:ext cx="565150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BD6E0"/>
                </a:solidFill>
                <a:latin typeface="Arial"/>
              </a:rPr>
              <a:t>От ранних размышлений о хозяйстве — к теории инноваций и современным исследованиям.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1200" y="1898650"/>
            <a:ext cx="0" cy="3663950"/>
          </a:xfrm>
          <a:prstGeom prst="line">
            <a:avLst/>
          </a:prstGeom>
          <a:ln w="20320">
            <a:solidFill>
              <a:srgbClr val="E7B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4250" y="2203450"/>
            <a:ext cx="5111750" cy="0"/>
          </a:xfrm>
          <a:prstGeom prst="line">
            <a:avLst/>
          </a:prstGeom>
          <a:ln w="6350">
            <a:solidFill>
              <a:srgbClr val="728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66750" y="1866899"/>
            <a:ext cx="88900" cy="88900"/>
          </a:xfrm>
          <a:prstGeom prst="ellipse">
            <a:avLst/>
          </a:prstGeom>
          <a:solidFill>
            <a:srgbClr val="65D8D0">
              <a:alpha val="98000"/>
            </a:srgbClr>
          </a:solidFill>
          <a:ln w="8890">
            <a:solidFill>
              <a:srgbClr val="FFE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0974" y="1877313"/>
            <a:ext cx="25400" cy="25400"/>
          </a:xfrm>
          <a:prstGeom prst="ellipse">
            <a:avLst/>
          </a:prstGeom>
          <a:solidFill>
            <a:srgbClr val="FFF1CF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4250" y="1790827"/>
            <a:ext cx="117475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65D8D0"/>
                </a:solidFill>
                <a:latin typeface="Arial"/>
              </a:rPr>
              <a:t>IV в. до н. э.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0750" y="1772920"/>
            <a:ext cx="3873499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5F6F8"/>
                </a:solidFill>
                <a:latin typeface="Arial"/>
              </a:rPr>
              <a:t>Ксенофонт · Платон · Аристотель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0750" y="1987677"/>
            <a:ext cx="3873499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D2DCE5"/>
                </a:solidFill>
                <a:latin typeface="Arial"/>
              </a:rPr>
              <a:t>Ранние размышления о ведении хозяйства и управлении.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84250" y="2876550"/>
            <a:ext cx="5111750" cy="0"/>
          </a:xfrm>
          <a:prstGeom prst="line">
            <a:avLst/>
          </a:prstGeom>
          <a:ln w="6350">
            <a:solidFill>
              <a:srgbClr val="728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66750" y="2540000"/>
            <a:ext cx="88900" cy="88900"/>
          </a:xfrm>
          <a:prstGeom prst="ellipse">
            <a:avLst/>
          </a:prstGeom>
          <a:solidFill>
            <a:srgbClr val="91B5E2">
              <a:alpha val="98000"/>
            </a:srgbClr>
          </a:solidFill>
          <a:ln w="8890">
            <a:solidFill>
              <a:srgbClr val="FFE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0974" y="2550414"/>
            <a:ext cx="25400" cy="25400"/>
          </a:xfrm>
          <a:prstGeom prst="ellipse">
            <a:avLst/>
          </a:prstGeom>
          <a:solidFill>
            <a:srgbClr val="FFF1CF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4250" y="2463927"/>
            <a:ext cx="117475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1B5E2"/>
                </a:solidFill>
                <a:latin typeface="Arial"/>
              </a:rPr>
              <a:t>1755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2446020"/>
            <a:ext cx="3873499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5F6F8"/>
                </a:solidFill>
                <a:latin typeface="Arial"/>
              </a:rPr>
              <a:t>Ричард Кантильон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0750" y="2660776"/>
            <a:ext cx="3873499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D2DCE5"/>
                </a:solidFill>
                <a:latin typeface="Arial"/>
              </a:rPr>
              <a:t>Предприниматель действует при неопределённости будущих цен и дохода.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84250" y="3549650"/>
            <a:ext cx="5111750" cy="0"/>
          </a:xfrm>
          <a:prstGeom prst="line">
            <a:avLst/>
          </a:prstGeom>
          <a:ln w="6350">
            <a:solidFill>
              <a:srgbClr val="728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666750" y="3213100"/>
            <a:ext cx="88900" cy="88900"/>
          </a:xfrm>
          <a:prstGeom prst="ellipse">
            <a:avLst/>
          </a:prstGeom>
          <a:solidFill>
            <a:srgbClr val="91B5E2">
              <a:alpha val="98000"/>
            </a:srgbClr>
          </a:solidFill>
          <a:ln w="8890">
            <a:solidFill>
              <a:srgbClr val="FFE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0974" y="3223514"/>
            <a:ext cx="25400" cy="25400"/>
          </a:xfrm>
          <a:prstGeom prst="ellipse">
            <a:avLst/>
          </a:prstGeom>
          <a:solidFill>
            <a:srgbClr val="FFF1CF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4250" y="3137027"/>
            <a:ext cx="117475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1B5E2"/>
                </a:solidFill>
                <a:latin typeface="Arial"/>
              </a:rPr>
              <a:t>1803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0750" y="3119120"/>
            <a:ext cx="3873499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5F6F8"/>
                </a:solidFill>
                <a:latin typeface="Arial"/>
              </a:rPr>
              <a:t>Жан-Батист Сэй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0750" y="3333876"/>
            <a:ext cx="3873499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D2DCE5"/>
                </a:solidFill>
                <a:latin typeface="Arial"/>
              </a:rPr>
              <a:t>Предприниматель организует производство и соединяет факторы.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6400" y="3676649"/>
            <a:ext cx="5867400" cy="584200"/>
          </a:xfrm>
          <a:prstGeom prst="roundRect">
            <a:avLst/>
          </a:prstGeom>
          <a:solidFill>
            <a:srgbClr val="142538">
              <a:alpha val="90000"/>
            </a:srgbClr>
          </a:solidFill>
          <a:ln w="10160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27050" y="3746500"/>
            <a:ext cx="368300" cy="368300"/>
          </a:xfrm>
          <a:prstGeom prst="ellipse">
            <a:avLst/>
          </a:prstGeom>
          <a:solidFill>
            <a:srgbClr val="E7B66D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71500" y="3790949"/>
            <a:ext cx="279400" cy="279400"/>
          </a:xfrm>
          <a:prstGeom prst="ellipse">
            <a:avLst/>
          </a:prstGeom>
          <a:solidFill>
            <a:srgbClr val="0A1A29">
              <a:alpha val="98000"/>
            </a:srgbClr>
          </a:solidFill>
          <a:ln w="12700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8650" y="3848099"/>
            <a:ext cx="165100" cy="165100"/>
          </a:xfrm>
          <a:prstGeom prst="ellipse">
            <a:avLst/>
          </a:prstGeom>
          <a:solidFill>
            <a:srgbClr val="E7B66D">
              <a:alpha val="98000"/>
            </a:srgbClr>
          </a:solidFill>
          <a:ln w="8890">
            <a:solidFill>
              <a:srgbClr val="FFE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6623" y="3880358"/>
            <a:ext cx="36576" cy="36576"/>
          </a:xfrm>
          <a:prstGeom prst="ellipse">
            <a:avLst/>
          </a:prstGeom>
          <a:solidFill>
            <a:srgbClr val="FFF1CF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4250" y="3810127"/>
            <a:ext cx="117475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E7B66D"/>
                </a:solidFill>
                <a:latin typeface="Arial"/>
              </a:rPr>
              <a:t>1911/12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90750" y="3780282"/>
            <a:ext cx="3873499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5F6F8"/>
                </a:solidFill>
                <a:latin typeface="Arial"/>
              </a:rPr>
              <a:t>Йозеф Шумпетер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0750" y="4006977"/>
            <a:ext cx="3873499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D2DCE5"/>
                </a:solidFill>
                <a:latin typeface="Arial"/>
              </a:rPr>
              <a:t>Осуществление «новых комбинаций» становится двигателем экономического развития.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84250" y="4895850"/>
            <a:ext cx="5111750" cy="0"/>
          </a:xfrm>
          <a:prstGeom prst="line">
            <a:avLst/>
          </a:prstGeom>
          <a:ln w="6350">
            <a:solidFill>
              <a:srgbClr val="728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66750" y="4559300"/>
            <a:ext cx="88900" cy="88900"/>
          </a:xfrm>
          <a:prstGeom prst="ellipse">
            <a:avLst/>
          </a:prstGeom>
          <a:solidFill>
            <a:srgbClr val="91B5E2">
              <a:alpha val="98000"/>
            </a:srgbClr>
          </a:solidFill>
          <a:ln w="8890">
            <a:solidFill>
              <a:srgbClr val="FFE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80974" y="4569714"/>
            <a:ext cx="25400" cy="25400"/>
          </a:xfrm>
          <a:prstGeom prst="ellipse">
            <a:avLst/>
          </a:prstGeom>
          <a:solidFill>
            <a:srgbClr val="FFF1CF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4250" y="4483226"/>
            <a:ext cx="117475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1B5E2"/>
                </a:solidFill>
                <a:latin typeface="Arial"/>
              </a:rPr>
              <a:t>1921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4465320"/>
            <a:ext cx="3873499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5F6F8"/>
                </a:solidFill>
                <a:latin typeface="Arial"/>
              </a:rPr>
              <a:t>Фрэнк Найт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0750" y="4680077"/>
            <a:ext cx="3873499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D2DCE5"/>
                </a:solidFill>
                <a:latin typeface="Arial"/>
              </a:rPr>
              <a:t>Различает измеримый риск и неопределённость.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84250" y="5568950"/>
            <a:ext cx="5111750" cy="0"/>
          </a:xfrm>
          <a:prstGeom prst="line">
            <a:avLst/>
          </a:prstGeom>
          <a:ln w="6350">
            <a:solidFill>
              <a:srgbClr val="728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666750" y="5232400"/>
            <a:ext cx="88900" cy="88900"/>
          </a:xfrm>
          <a:prstGeom prst="ellipse">
            <a:avLst/>
          </a:prstGeom>
          <a:solidFill>
            <a:srgbClr val="65D8D0">
              <a:alpha val="98000"/>
            </a:srgbClr>
          </a:solidFill>
          <a:ln w="8890">
            <a:solidFill>
              <a:srgbClr val="FFE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0974" y="5242814"/>
            <a:ext cx="25400" cy="25400"/>
          </a:xfrm>
          <a:prstGeom prst="ellipse">
            <a:avLst/>
          </a:prstGeom>
          <a:solidFill>
            <a:srgbClr val="FFF1CF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4250" y="5156327"/>
            <a:ext cx="117475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65D8D0"/>
                </a:solidFill>
                <a:latin typeface="Arial"/>
              </a:rPr>
              <a:t>1986–2017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0750" y="5138420"/>
            <a:ext cx="3873499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5F6F8"/>
                </a:solidFill>
                <a:latin typeface="Arial"/>
              </a:rPr>
              <a:t>Тис · Байлетти · Намбисан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0750" y="5353177"/>
            <a:ext cx="3873499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D2DCE5"/>
                </a:solidFill>
                <a:latin typeface="Arial"/>
              </a:rPr>
              <a:t>Коммерциализация технологий, технологическое и цифровое предпринимательство.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500" y="5793168"/>
            <a:ext cx="5715000" cy="132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75" b="1">
                <a:solidFill>
                  <a:srgbClr val="B5C2CF"/>
                </a:solidFill>
                <a:latin typeface="Arial"/>
              </a:rPr>
              <a:t>АНТИЧНОСТЬ ЗДЕСЬ — ПРЕДЫСТОРИЯ, А НЕ ГОТОВАЯ ТЕОРИЯ ПРЕДПРИНИМАТЕЛЬСКОЙ ФУНКЦИИ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03250" y="6350000"/>
            <a:ext cx="10985500" cy="0"/>
          </a:xfrm>
          <a:prstGeom prst="line">
            <a:avLst/>
          </a:prstGeom>
          <a:ln w="7620">
            <a:solidFill>
              <a:srgbClr val="637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35000" y="6456934"/>
            <a:ext cx="10160000" cy="137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B5C0CC"/>
                </a:solidFill>
                <a:latin typeface="Arial"/>
              </a:rPr>
              <a:t>Ориентиры: Xenophon / Plato / Aristotle; Cantillon (1755); Say (1803); Schumpeter (1911/12); Knight (1921); Teece, Bailetti, Nambisan.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26750" y="6444996"/>
            <a:ext cx="698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E7B66D"/>
                </a:solidFill>
                <a:latin typeface="Arial"/>
              </a:rPr>
              <a:t>03 / 07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5000" y="6667500"/>
            <a:ext cx="10922000" cy="25400"/>
          </a:xfrm>
          <a:prstGeom prst="roundRect">
            <a:avLst/>
          </a:prstGeom>
          <a:solidFill>
            <a:srgbClr val="445A6D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35000" y="6661150"/>
            <a:ext cx="4680857" cy="38100"/>
          </a:xfrm>
          <a:prstGeom prst="roundRect">
            <a:avLst/>
          </a:prstGeom>
          <a:solidFill>
            <a:srgbClr val="E7B66D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five-combinations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2250" y="222250"/>
            <a:ext cx="6604000" cy="5842000"/>
          </a:xfrm>
          <a:prstGeom prst="rect">
            <a:avLst/>
          </a:prstGeom>
          <a:solidFill>
            <a:srgbClr val="071827">
              <a:alpha val="5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660527"/>
            <a:ext cx="6350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E7B66D"/>
                </a:solidFill>
                <a:latin typeface="Arial"/>
              </a:rPr>
              <a:t>ГЛАВНАЯ ТЕОРЕТИЧЕСКАЯ ИДЕЯ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827405"/>
            <a:ext cx="5715000" cy="541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750" b="1">
                <a:solidFill>
                  <a:srgbClr val="F5F6F8"/>
                </a:solidFill>
                <a:latin typeface="Arial"/>
              </a:rPr>
              <a:t>Пять новых комбинаций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900" y="1309750"/>
            <a:ext cx="5842000" cy="206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D1DCE7"/>
                </a:solidFill>
                <a:latin typeface="Arial"/>
              </a:rPr>
              <a:t>Инновация шире, чем новое изобретение: у неё пять конкретных форм.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4200" y="1854200"/>
            <a:ext cx="5969000" cy="654050"/>
          </a:xfrm>
          <a:prstGeom prst="roundRect">
            <a:avLst/>
          </a:prstGeom>
          <a:solidFill>
            <a:srgbClr val="071522">
              <a:alpha val="88000"/>
            </a:srgbClr>
          </a:solidFill>
          <a:ln w="6985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3900" y="2019300"/>
            <a:ext cx="317500" cy="317500"/>
          </a:xfrm>
          <a:prstGeom prst="ellipse">
            <a:avLst/>
          </a:prstGeom>
          <a:solidFill>
            <a:srgbClr val="E7B66D">
              <a:alpha val="16000"/>
            </a:srgbClr>
          </a:solidFill>
          <a:ln w="10795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400" y="2126615"/>
            <a:ext cx="4445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50" b="1">
                <a:solidFill>
                  <a:srgbClr val="E7B66D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4750" y="2007489"/>
            <a:ext cx="508000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7B66D"/>
                </a:solidFill>
                <a:latin typeface="Arial"/>
              </a:rPr>
              <a:t>НОВЫЙ ПРОДУКТ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4750" y="2220023"/>
            <a:ext cx="5143500" cy="1820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25" b="0">
                <a:solidFill>
                  <a:srgbClr val="F5F6F8"/>
                </a:solidFill>
                <a:latin typeface="Arial"/>
              </a:rPr>
              <a:t>товар или новое качество знакомого продукта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200" y="2635250"/>
            <a:ext cx="5969000" cy="654050"/>
          </a:xfrm>
          <a:prstGeom prst="roundRect">
            <a:avLst/>
          </a:prstGeom>
          <a:solidFill>
            <a:srgbClr val="071522">
              <a:alpha val="88000"/>
            </a:srgbClr>
          </a:solidFill>
          <a:ln w="6985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3900" y="2800350"/>
            <a:ext cx="317500" cy="317500"/>
          </a:xfrm>
          <a:prstGeom prst="ellipse">
            <a:avLst/>
          </a:prstGeom>
          <a:solidFill>
            <a:srgbClr val="65D8D0">
              <a:alpha val="16000"/>
            </a:srgbClr>
          </a:solidFill>
          <a:ln w="10795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" y="2907664"/>
            <a:ext cx="4445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50" b="1">
                <a:solidFill>
                  <a:srgbClr val="65D8D0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4750" y="2788539"/>
            <a:ext cx="508000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65D8D0"/>
                </a:solidFill>
                <a:latin typeface="Arial"/>
              </a:rPr>
              <a:t>НОВЫЙ МЕТОД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4750" y="3001073"/>
            <a:ext cx="5143500" cy="1820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25" b="0">
                <a:solidFill>
                  <a:srgbClr val="F5F6F8"/>
                </a:solidFill>
                <a:latin typeface="Arial"/>
              </a:rPr>
              <a:t>способ производства или коммерческого применения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200" y="3416300"/>
            <a:ext cx="5969000" cy="654050"/>
          </a:xfrm>
          <a:prstGeom prst="roundRect">
            <a:avLst/>
          </a:prstGeom>
          <a:solidFill>
            <a:srgbClr val="071522">
              <a:alpha val="88000"/>
            </a:srgbClr>
          </a:solidFill>
          <a:ln w="6985">
            <a:solidFill>
              <a:srgbClr val="91B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3900" y="3581400"/>
            <a:ext cx="317500" cy="317500"/>
          </a:xfrm>
          <a:prstGeom prst="ellipse">
            <a:avLst/>
          </a:prstGeom>
          <a:solidFill>
            <a:srgbClr val="91B5E2">
              <a:alpha val="16000"/>
            </a:srgbClr>
          </a:solidFill>
          <a:ln w="10795">
            <a:solidFill>
              <a:srgbClr val="91B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400" y="3688714"/>
            <a:ext cx="4445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50" b="1">
                <a:solidFill>
                  <a:srgbClr val="91B5E2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4750" y="3569589"/>
            <a:ext cx="508000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91B5E2"/>
                </a:solidFill>
                <a:latin typeface="Arial"/>
              </a:rPr>
              <a:t>НОВЫЙ РЫНОК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4750" y="3782123"/>
            <a:ext cx="5143500" cy="1820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25" b="0">
                <a:solidFill>
                  <a:srgbClr val="F5F6F8"/>
                </a:solidFill>
                <a:latin typeface="Arial"/>
              </a:rPr>
              <a:t>выход туда, где фирма ещё не продавала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4200" y="4197350"/>
            <a:ext cx="5969000" cy="654050"/>
          </a:xfrm>
          <a:prstGeom prst="roundRect">
            <a:avLst/>
          </a:prstGeom>
          <a:solidFill>
            <a:srgbClr val="071522">
              <a:alpha val="88000"/>
            </a:srgbClr>
          </a:solidFill>
          <a:ln w="6985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3900" y="4362450"/>
            <a:ext cx="317500" cy="317500"/>
          </a:xfrm>
          <a:prstGeom prst="ellipse">
            <a:avLst/>
          </a:prstGeom>
          <a:solidFill>
            <a:srgbClr val="65D8D0">
              <a:alpha val="16000"/>
            </a:srgbClr>
          </a:solidFill>
          <a:ln w="10795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400" y="4469765"/>
            <a:ext cx="4445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50" b="1">
                <a:solidFill>
                  <a:srgbClr val="65D8D0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4750" y="4350639"/>
            <a:ext cx="508000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65D8D0"/>
                </a:solidFill>
                <a:latin typeface="Arial"/>
              </a:rPr>
              <a:t>НОВЫЙ ИСТОЧНИК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4750" y="4563173"/>
            <a:ext cx="5143500" cy="1820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25" b="0">
                <a:solidFill>
                  <a:srgbClr val="F5F6F8"/>
                </a:solidFill>
                <a:latin typeface="Arial"/>
              </a:rPr>
              <a:t>сырьё или промежуточные ресурсы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4200" y="4978400"/>
            <a:ext cx="5969000" cy="654050"/>
          </a:xfrm>
          <a:prstGeom prst="roundRect">
            <a:avLst/>
          </a:prstGeom>
          <a:solidFill>
            <a:srgbClr val="071522">
              <a:alpha val="88000"/>
            </a:srgbClr>
          </a:solidFill>
          <a:ln w="6985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23900" y="5143500"/>
            <a:ext cx="317500" cy="317500"/>
          </a:xfrm>
          <a:prstGeom prst="ellipse">
            <a:avLst/>
          </a:prstGeom>
          <a:solidFill>
            <a:srgbClr val="E7B66D">
              <a:alpha val="16000"/>
            </a:srgbClr>
          </a:solidFill>
          <a:ln w="10795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400" y="5250815"/>
            <a:ext cx="4445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50" b="1">
                <a:solidFill>
                  <a:srgbClr val="E7B66D"/>
                </a:solidFill>
                <a:latin typeface="Arial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4750" y="5131689"/>
            <a:ext cx="508000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7B66D"/>
                </a:solidFill>
                <a:latin typeface="Arial"/>
              </a:rPr>
              <a:t>НОВАЯ ОРГАНИЗАЦИЯ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4750" y="5344223"/>
            <a:ext cx="5143500" cy="1820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25" b="0">
                <a:solidFill>
                  <a:srgbClr val="F5F6F8"/>
                </a:solidFill>
                <a:latin typeface="Arial"/>
              </a:rPr>
              <a:t>структура отрасли — например, создание или разрушение монополии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3250" y="6350000"/>
            <a:ext cx="10985500" cy="0"/>
          </a:xfrm>
          <a:prstGeom prst="line">
            <a:avLst/>
          </a:prstGeom>
          <a:ln w="7620">
            <a:solidFill>
              <a:srgbClr val="637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5000" y="6456934"/>
            <a:ext cx="10160000" cy="137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B5C0CC"/>
                </a:solidFill>
                <a:latin typeface="Arial"/>
              </a:rPr>
              <a:t>Schumpeter, The Theory of Economic Development, гл. II (1911/12; англ. перевод — 1934).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6750" y="6444996"/>
            <a:ext cx="698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E7B66D"/>
                </a:solidFill>
                <a:latin typeface="Arial"/>
              </a:rPr>
              <a:t>04 / 07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000" y="6667500"/>
            <a:ext cx="10922000" cy="25400"/>
          </a:xfrm>
          <a:prstGeom prst="roundRect">
            <a:avLst/>
          </a:prstGeom>
          <a:solidFill>
            <a:srgbClr val="445A6D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5000" y="6661150"/>
            <a:ext cx="6241142" cy="38100"/>
          </a:xfrm>
          <a:prstGeom prst="roundRect">
            <a:avLst/>
          </a:prstGeom>
          <a:solidFill>
            <a:srgbClr val="E7B66D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hero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2250" y="222250"/>
            <a:ext cx="11525250" cy="5715000"/>
          </a:xfrm>
          <a:prstGeom prst="rect">
            <a:avLst/>
          </a:prstGeom>
          <a:solidFill>
            <a:srgbClr val="071827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660527"/>
            <a:ext cx="6350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E7B66D"/>
                </a:solidFill>
                <a:latin typeface="Arial"/>
              </a:rPr>
              <a:t>ПРЕДПРИНИМАТЕЛЬСКАЯ ФУНКЦИЯ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845312"/>
            <a:ext cx="9842500" cy="511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5F6F8"/>
                </a:solidFill>
                <a:latin typeface="Arial"/>
              </a:rPr>
              <a:t>Не просто изобрести — внедрить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900" y="1316482"/>
            <a:ext cx="10160000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1DCE6"/>
                </a:solidFill>
                <a:latin typeface="Arial"/>
              </a:rPr>
              <a:t>Предприниматель соединяет новое знание с ресурсами и рынком — и меняет привычный порядок.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2190750"/>
            <a:ext cx="3079750" cy="1905000"/>
          </a:xfrm>
          <a:prstGeom prst="roundRect">
            <a:avLst/>
          </a:prstGeom>
          <a:solidFill>
            <a:srgbClr val="071827">
              <a:alpha val="88000"/>
            </a:srgbClr>
          </a:solidFill>
          <a:ln w="8890">
            <a:solidFill>
              <a:srgbClr val="91B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5000" y="2190750"/>
            <a:ext cx="38100" cy="1905000"/>
          </a:xfrm>
          <a:prstGeom prst="roundRect">
            <a:avLst/>
          </a:prstGeom>
          <a:solidFill>
            <a:srgbClr val="91B5E2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900" y="2419858"/>
            <a:ext cx="2667000" cy="1771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1B5E2"/>
                </a:solidFill>
                <a:latin typeface="Arial"/>
              </a:rPr>
              <a:t>ВОЗМОЖНОСТЬ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900" y="2784856"/>
            <a:ext cx="2667000" cy="2559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5F6F8"/>
                </a:solidFill>
                <a:latin typeface="Arial"/>
              </a:rPr>
              <a:t>Изобретатель или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" y="3038856"/>
            <a:ext cx="2667000" cy="2559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5F6F8"/>
                </a:solidFill>
                <a:latin typeface="Arial"/>
              </a:rPr>
              <a:t>исследователь создаёт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900" y="3292856"/>
            <a:ext cx="2667000" cy="2559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5F6F8"/>
                </a:solidFill>
                <a:latin typeface="Arial"/>
              </a:rPr>
              <a:t>техническое решение.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900" y="3766058"/>
            <a:ext cx="2667000" cy="1771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3D0DD"/>
                </a:solidFill>
                <a:latin typeface="Arial"/>
              </a:rPr>
              <a:t>Но этого ещё мало.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98900" y="3155950"/>
            <a:ext cx="431800" cy="0"/>
          </a:xfrm>
          <a:prstGeom prst="line">
            <a:avLst/>
          </a:prstGeom>
          <a:ln w="31750">
            <a:solidFill>
              <a:srgbClr val="E7B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00500" y="3041650"/>
            <a:ext cx="228600" cy="228600"/>
          </a:xfrm>
          <a:prstGeom prst="ellipse">
            <a:avLst/>
          </a:prstGeom>
          <a:solidFill>
            <a:srgbClr val="101F2D">
              <a:alpha val="100000"/>
            </a:srgbClr>
          </a:solidFill>
          <a:ln w="12700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3675" y="3027680"/>
            <a:ext cx="222250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E7B66D"/>
                </a:solidFill>
                <a:latin typeface="Arial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0250" y="2190750"/>
            <a:ext cx="3079750" cy="1905000"/>
          </a:xfrm>
          <a:prstGeom prst="roundRect">
            <a:avLst/>
          </a:prstGeom>
          <a:solidFill>
            <a:srgbClr val="071827">
              <a:alpha val="88000"/>
            </a:srgbClr>
          </a:solidFill>
          <a:ln w="8890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40250" y="2190750"/>
            <a:ext cx="38100" cy="1905000"/>
          </a:xfrm>
          <a:prstGeom prst="roundRect">
            <a:avLst/>
          </a:prstGeom>
          <a:solidFill>
            <a:srgbClr val="E7B66D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6150" y="2419858"/>
            <a:ext cx="2667000" cy="1771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7B66D"/>
                </a:solidFill>
                <a:latin typeface="Arial"/>
              </a:rPr>
              <a:t>НОВАЯ КОМБИНАЦИЯ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6150" y="2784856"/>
            <a:ext cx="2667000" cy="2559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5F6F8"/>
                </a:solidFill>
                <a:latin typeface="Arial"/>
              </a:rPr>
              <a:t>Предприниматель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6150" y="3038856"/>
            <a:ext cx="2667000" cy="2559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5F6F8"/>
                </a:solidFill>
                <a:latin typeface="Arial"/>
              </a:rPr>
              <a:t>соединяет знание, людей,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6150" y="3292856"/>
            <a:ext cx="2667000" cy="2559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5F6F8"/>
                </a:solidFill>
                <a:latin typeface="Arial"/>
              </a:rPr>
              <a:t>ресурсы и применение.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6150" y="3766058"/>
            <a:ext cx="2667000" cy="1771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3D0DD"/>
                </a:solidFill>
                <a:latin typeface="Arial"/>
              </a:rPr>
              <a:t>Это ключевая функция.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04149" y="3155950"/>
            <a:ext cx="431801" cy="0"/>
          </a:xfrm>
          <a:prstGeom prst="line">
            <a:avLst/>
          </a:prstGeom>
          <a:ln w="31750">
            <a:solidFill>
              <a:srgbClr val="E7B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905750" y="3041650"/>
            <a:ext cx="228600" cy="228600"/>
          </a:xfrm>
          <a:prstGeom prst="ellipse">
            <a:avLst/>
          </a:prstGeom>
          <a:solidFill>
            <a:srgbClr val="101F2D">
              <a:alpha val="100000"/>
            </a:srgbClr>
          </a:solidFill>
          <a:ln w="12700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925" y="3027680"/>
            <a:ext cx="222250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E7B66D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45500" y="2190750"/>
            <a:ext cx="3079750" cy="1905000"/>
          </a:xfrm>
          <a:prstGeom prst="roundRect">
            <a:avLst/>
          </a:prstGeom>
          <a:solidFill>
            <a:srgbClr val="071827">
              <a:alpha val="88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445500" y="2190750"/>
            <a:ext cx="38100" cy="1905000"/>
          </a:xfrm>
          <a:prstGeom prst="roundRect">
            <a:avLst/>
          </a:prstGeom>
          <a:solidFill>
            <a:srgbClr val="65D8D0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1400" y="2419858"/>
            <a:ext cx="2667000" cy="1771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5D8D0"/>
                </a:solidFill>
                <a:latin typeface="Arial"/>
              </a:rPr>
              <a:t>ВНЕДРЕНИЕ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1400" y="2784856"/>
            <a:ext cx="2667000" cy="2559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5F6F8"/>
                </a:solidFill>
                <a:latin typeface="Arial"/>
              </a:rPr>
              <a:t>Новый продукт, метод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1400" y="3038856"/>
            <a:ext cx="2667000" cy="2559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5F6F8"/>
                </a:solidFill>
                <a:latin typeface="Arial"/>
              </a:rPr>
              <a:t>или организация входит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61400" y="3292856"/>
            <a:ext cx="2667000" cy="2559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5F6F8"/>
                </a:solidFill>
                <a:latin typeface="Arial"/>
              </a:rPr>
              <a:t>в хозяйственную жизнь.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1400" y="3766058"/>
            <a:ext cx="2667000" cy="1771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3D0DD"/>
                </a:solidFill>
                <a:latin typeface="Arial"/>
              </a:rPr>
              <a:t>Меняются рынок и отрасль.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4700" y="4508500"/>
            <a:ext cx="10636250" cy="685800"/>
          </a:xfrm>
          <a:prstGeom prst="roundRect">
            <a:avLst/>
          </a:prstGeom>
          <a:solidFill>
            <a:srgbClr val="091927">
              <a:alpha val="90000"/>
            </a:srgbClr>
          </a:solidFill>
          <a:ln w="7620">
            <a:solidFill>
              <a:srgbClr val="617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6000" y="4698746"/>
            <a:ext cx="11430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E7B66D"/>
                </a:solidFill>
                <a:latin typeface="Arial"/>
              </a:rPr>
              <a:t>ВАЖНО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000" y="4923282"/>
            <a:ext cx="10033000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5F6F8"/>
                </a:solidFill>
                <a:latin typeface="Arial"/>
              </a:rPr>
              <a:t>Предприниматель не обязан быть изобретателем или владельцем капитала: важна функция осуществления нового.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3250" y="6350000"/>
            <a:ext cx="10985500" cy="0"/>
          </a:xfrm>
          <a:prstGeom prst="line">
            <a:avLst/>
          </a:prstGeom>
          <a:ln w="7620">
            <a:solidFill>
              <a:srgbClr val="637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35000" y="6456934"/>
            <a:ext cx="10160000" cy="137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B5C0CC"/>
                </a:solidFill>
                <a:latin typeface="Arial"/>
              </a:rPr>
              <a:t>Schumpeter, The Theory of Economic Development — предприниматель осуществляет новые комбинации.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26750" y="6444996"/>
            <a:ext cx="698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E7B66D"/>
                </a:solidFill>
                <a:latin typeface="Arial"/>
              </a:rPr>
              <a:t>05 / 07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5000" y="6667500"/>
            <a:ext cx="10922000" cy="25400"/>
          </a:xfrm>
          <a:prstGeom prst="roundRect">
            <a:avLst/>
          </a:prstGeom>
          <a:solidFill>
            <a:srgbClr val="445A6D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5000" y="6661150"/>
            <a:ext cx="7801428" cy="38100"/>
          </a:xfrm>
          <a:prstGeom prst="roundRect">
            <a:avLst/>
          </a:prstGeom>
          <a:solidFill>
            <a:srgbClr val="E7B66D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creative-destruction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660527"/>
            <a:ext cx="6350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E7B66D"/>
                </a:solidFill>
                <a:latin typeface="Arial"/>
              </a:rPr>
              <a:t>ДИНАМИКА КАПИТАЛИЗМА  ·  1942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840105"/>
            <a:ext cx="8381999" cy="541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750" b="1">
                <a:solidFill>
                  <a:srgbClr val="F5F6F8"/>
                </a:solidFill>
                <a:latin typeface="Arial"/>
              </a:rPr>
              <a:t>Созидательное разрушение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" y="1329181"/>
            <a:ext cx="9080500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1DCE6"/>
                </a:solidFill>
                <a:latin typeface="Arial"/>
              </a:rPr>
              <a:t>Новая комбинация строит новый рынок — и одновременно вытесняет часть старого.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2317750"/>
            <a:ext cx="3175000" cy="1638300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C59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71500" y="2317750"/>
            <a:ext cx="38100" cy="1638300"/>
          </a:xfrm>
          <a:prstGeom prst="roundRect">
            <a:avLst/>
          </a:prstGeom>
          <a:solidFill>
            <a:srgbClr val="C59A6E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800" y="2553589"/>
            <a:ext cx="266700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D9B58A"/>
                </a:solidFill>
                <a:latin typeface="Arial"/>
              </a:rPr>
              <a:t>ПРЕЖНИЙ УКЛАД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892425"/>
            <a:ext cx="266700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5F6F8"/>
                </a:solidFill>
                <a:latin typeface="Arial"/>
              </a:rPr>
              <a:t>Старые продукты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165475"/>
            <a:ext cx="266700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5F6F8"/>
                </a:solidFill>
                <a:latin typeface="Arial"/>
              </a:rPr>
              <a:t>Привычные технологии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438525"/>
            <a:ext cx="266700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5F6F8"/>
                </a:solidFill>
                <a:latin typeface="Arial"/>
              </a:rPr>
              <a:t>Устоявшиеся отрасли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73499" y="3136900"/>
            <a:ext cx="508001" cy="0"/>
          </a:xfrm>
          <a:prstGeom prst="line">
            <a:avLst/>
          </a:prstGeom>
          <a:ln w="38100">
            <a:solidFill>
              <a:srgbClr val="E7B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013200" y="3022600"/>
            <a:ext cx="228600" cy="228600"/>
          </a:xfrm>
          <a:prstGeom prst="ellipse">
            <a:avLst/>
          </a:prstGeom>
          <a:solidFill>
            <a:srgbClr val="132335">
              <a:alpha val="100000"/>
            </a:srgbClr>
          </a:solidFill>
          <a:ln w="12700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16374" y="3008630"/>
            <a:ext cx="222250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E7B66D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8500" y="2476500"/>
            <a:ext cx="3175000" cy="1333500"/>
          </a:xfrm>
          <a:prstGeom prst="roundRect">
            <a:avLst/>
          </a:prstGeom>
          <a:solidFill>
            <a:srgbClr val="071827">
              <a:alpha val="90000"/>
            </a:srgbClr>
          </a:solidFill>
          <a:ln w="8890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08500" y="2476500"/>
            <a:ext cx="38100" cy="1333500"/>
          </a:xfrm>
          <a:prstGeom prst="roundRect">
            <a:avLst/>
          </a:prstGeom>
          <a:solidFill>
            <a:srgbClr val="E7B66D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62500" y="2717926"/>
            <a:ext cx="2667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E7B66D"/>
                </a:solidFill>
                <a:latin typeface="Arial"/>
              </a:rPr>
              <a:t>ПРЕДПРИНИМАТЕЛЬ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2500" y="2976118"/>
            <a:ext cx="2667000" cy="275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F6F8"/>
                </a:solidFill>
                <a:latin typeface="Arial"/>
              </a:rPr>
              <a:t>Новая комбинация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341370"/>
            <a:ext cx="2667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AD6E2"/>
                </a:solidFill>
                <a:latin typeface="Arial"/>
              </a:rPr>
              <a:t>внедрение → конкуренция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97800" y="3136900"/>
            <a:ext cx="508000" cy="0"/>
          </a:xfrm>
          <a:prstGeom prst="line">
            <a:avLst/>
          </a:prstGeom>
          <a:ln w="38100">
            <a:solidFill>
              <a:srgbClr val="65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937500" y="3022600"/>
            <a:ext cx="228600" cy="228600"/>
          </a:xfrm>
          <a:prstGeom prst="ellipse">
            <a:avLst/>
          </a:prstGeom>
          <a:solidFill>
            <a:srgbClr val="132335">
              <a:alpha val="100000"/>
            </a:srgbClr>
          </a:solidFill>
          <a:ln w="1270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40675" y="3008630"/>
            <a:ext cx="222250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65D8D0"/>
                </a:solidFill>
                <a:latin typeface="Arial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3750" y="2317750"/>
            <a:ext cx="3175000" cy="1638300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3750" y="2317750"/>
            <a:ext cx="38100" cy="1638300"/>
          </a:xfrm>
          <a:prstGeom prst="roundRect">
            <a:avLst/>
          </a:prstGeom>
          <a:solidFill>
            <a:srgbClr val="65D8D0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5050" y="2553589"/>
            <a:ext cx="266700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65D8D0"/>
                </a:solidFill>
                <a:latin typeface="Arial"/>
              </a:rPr>
              <a:t>НОВЫЙ УКЛАД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5050" y="2892425"/>
            <a:ext cx="266700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5F6F8"/>
                </a:solidFill>
                <a:latin typeface="Arial"/>
              </a:rPr>
              <a:t>Новые продукты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5050" y="3165475"/>
            <a:ext cx="266700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5F6F8"/>
                </a:solidFill>
                <a:latin typeface="Arial"/>
              </a:rPr>
              <a:t>Новые рынки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55050" y="3438525"/>
            <a:ext cx="266700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5F6F8"/>
                </a:solidFill>
                <a:latin typeface="Arial"/>
              </a:rPr>
              <a:t>Новые компании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2500" y="4508500"/>
            <a:ext cx="10287000" cy="736600"/>
          </a:xfrm>
          <a:prstGeom prst="roundRect">
            <a:avLst/>
          </a:prstGeom>
          <a:solidFill>
            <a:srgbClr val="081725">
              <a:alpha val="86000"/>
            </a:srgbClr>
          </a:solidFill>
          <a:ln w="6985">
            <a:solidFill>
              <a:srgbClr val="6175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6500" y="4699127"/>
            <a:ext cx="92075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E7B66D"/>
                </a:solidFill>
                <a:latin typeface="Arial"/>
              </a:rPr>
              <a:t>СОЗИДАНИЕ И ВЫТЕСНЕНИЕ ИДУТ ОДНОВРЕМЕННО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6500" y="4948301"/>
            <a:ext cx="9207500" cy="206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5F6F8"/>
                </a:solidFill>
                <a:latin typeface="Arial"/>
              </a:rPr>
              <a:t>Это описание динамики, а не обещание, что любая новая технология автоматически победит.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3250" y="6350000"/>
            <a:ext cx="10985500" cy="0"/>
          </a:xfrm>
          <a:prstGeom prst="line">
            <a:avLst/>
          </a:prstGeom>
          <a:ln w="7620">
            <a:solidFill>
              <a:srgbClr val="637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5000" y="6456934"/>
            <a:ext cx="10160000" cy="137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B5C0CC"/>
                </a:solidFill>
                <a:latin typeface="Arial"/>
              </a:rPr>
              <a:t>Schumpeter, Capitalism, Socialism and Democracy (1942), гл. VII.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6750" y="6444996"/>
            <a:ext cx="698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E7B66D"/>
                </a:solidFill>
                <a:latin typeface="Arial"/>
              </a:rPr>
              <a:t>06 / 07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000" y="6667500"/>
            <a:ext cx="10922000" cy="25400"/>
          </a:xfrm>
          <a:prstGeom prst="roundRect">
            <a:avLst/>
          </a:prstGeom>
          <a:solidFill>
            <a:srgbClr val="445A6D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5000" y="6661150"/>
            <a:ext cx="9361714" cy="38100"/>
          </a:xfrm>
          <a:prstGeom prst="roundRect">
            <a:avLst/>
          </a:prstGeom>
          <a:solidFill>
            <a:srgbClr val="E7B66D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hero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746999" cy="6096000"/>
          </a:xfrm>
          <a:prstGeom prst="rect">
            <a:avLst/>
          </a:prstGeom>
          <a:solidFill>
            <a:srgbClr val="071827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647827"/>
            <a:ext cx="6350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E7B66D"/>
                </a:solidFill>
                <a:latin typeface="Arial"/>
              </a:rPr>
              <a:t>ВКЛАД В ТЕОРИЮ ПРЕДПРИНИМАТЕЛЬСТВА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814705"/>
            <a:ext cx="7302500" cy="541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750" b="1">
                <a:solidFill>
                  <a:srgbClr val="F5F6F8"/>
                </a:solidFill>
                <a:latin typeface="Arial"/>
              </a:rPr>
              <a:t>Что именно он изменил?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900" y="1303782"/>
            <a:ext cx="7112000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1DCE6"/>
                </a:solidFill>
                <a:latin typeface="Arial"/>
              </a:rPr>
              <a:t>Шумпетер связал действие предпринимателя с развитием всей экономики.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4200" y="2000250"/>
            <a:ext cx="6921500" cy="787400"/>
          </a:xfrm>
          <a:prstGeom prst="roundRect">
            <a:avLst/>
          </a:prstGeom>
          <a:solidFill>
            <a:srgbClr val="071827">
              <a:alpha val="88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4200" y="2000250"/>
            <a:ext cx="38100" cy="787400"/>
          </a:xfrm>
          <a:prstGeom prst="roundRect">
            <a:avLst/>
          </a:prstGeom>
          <a:solidFill>
            <a:srgbClr val="65D8D0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300" y="2222500"/>
            <a:ext cx="342900" cy="342900"/>
          </a:xfrm>
          <a:prstGeom prst="ellipse">
            <a:avLst/>
          </a:prstGeom>
          <a:solidFill>
            <a:srgbClr val="65D8D0">
              <a:alpha val="15000"/>
            </a:srgbClr>
          </a:solidFill>
          <a:ln w="10795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500" y="2342515"/>
            <a:ext cx="4445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50" b="1">
                <a:solidFill>
                  <a:srgbClr val="65D8D0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300" y="2184908"/>
            <a:ext cx="5715000" cy="1771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5D8D0"/>
                </a:solidFill>
                <a:latin typeface="Arial"/>
              </a:rPr>
              <a:t>СМЕСТИЛ ФОКУС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7300" y="2395601"/>
            <a:ext cx="5810250" cy="206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5F6F8"/>
                </a:solidFill>
                <a:latin typeface="Arial"/>
              </a:rPr>
              <a:t>Не только собственность или риск — решающим стало внедрение нового.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4200" y="2952750"/>
            <a:ext cx="6921500" cy="787400"/>
          </a:xfrm>
          <a:prstGeom prst="roundRect">
            <a:avLst/>
          </a:prstGeom>
          <a:solidFill>
            <a:srgbClr val="071827">
              <a:alpha val="88000"/>
            </a:srgbClr>
          </a:solidFill>
          <a:ln w="8890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4200" y="2952750"/>
            <a:ext cx="38100" cy="787400"/>
          </a:xfrm>
          <a:prstGeom prst="roundRect">
            <a:avLst/>
          </a:prstGeom>
          <a:solidFill>
            <a:srgbClr val="E7B66D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9300" y="3175000"/>
            <a:ext cx="342900" cy="342900"/>
          </a:xfrm>
          <a:prstGeom prst="ellipse">
            <a:avLst/>
          </a:prstGeom>
          <a:solidFill>
            <a:srgbClr val="E7B66D">
              <a:alpha val="15000"/>
            </a:srgbClr>
          </a:solidFill>
          <a:ln w="10795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500" y="3295014"/>
            <a:ext cx="4445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50" b="1">
                <a:solidFill>
                  <a:srgbClr val="E7B66D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3137408"/>
            <a:ext cx="5715000" cy="1771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7B66D"/>
                </a:solidFill>
                <a:latin typeface="Arial"/>
              </a:rPr>
              <a:t>ДАЛ КАРТУ ИННОВАЦИЙ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7300" y="3348101"/>
            <a:ext cx="5810250" cy="206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5F6F8"/>
                </a:solidFill>
                <a:latin typeface="Arial"/>
              </a:rPr>
              <a:t>Пять новых комбинаций: продукт, метод, рынок, источник, организация.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4200" y="3905249"/>
            <a:ext cx="6921500" cy="787400"/>
          </a:xfrm>
          <a:prstGeom prst="roundRect">
            <a:avLst/>
          </a:prstGeom>
          <a:solidFill>
            <a:srgbClr val="071827">
              <a:alpha val="88000"/>
            </a:srgbClr>
          </a:solidFill>
          <a:ln w="8890">
            <a:solidFill>
              <a:srgbClr val="F28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4200" y="3905249"/>
            <a:ext cx="38100" cy="787400"/>
          </a:xfrm>
          <a:prstGeom prst="roundRect">
            <a:avLst/>
          </a:prstGeom>
          <a:solidFill>
            <a:srgbClr val="F28D7B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49300" y="4127500"/>
            <a:ext cx="342900" cy="342900"/>
          </a:xfrm>
          <a:prstGeom prst="ellipse">
            <a:avLst/>
          </a:prstGeom>
          <a:solidFill>
            <a:srgbClr val="F28D7B">
              <a:alpha val="15000"/>
            </a:srgbClr>
          </a:solidFill>
          <a:ln w="10795">
            <a:solidFill>
              <a:srgbClr val="F28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8500" y="4247515"/>
            <a:ext cx="4445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50" b="1">
                <a:solidFill>
                  <a:srgbClr val="F28D7B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57300" y="4089908"/>
            <a:ext cx="5715000" cy="1771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28D7B"/>
                </a:solidFill>
                <a:latin typeface="Arial"/>
              </a:rPr>
              <a:t>ОБЪЯСНИЛ ПЕРЕМЕНЫ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57300" y="4300601"/>
            <a:ext cx="5810250" cy="206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5F6F8"/>
                </a:solidFill>
                <a:latin typeface="Arial"/>
              </a:rPr>
              <a:t>Предприниматель запускает конкуренцию и перестройку отраслей.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4200" y="5048250"/>
            <a:ext cx="6921500" cy="596900"/>
          </a:xfrm>
          <a:prstGeom prst="roundRect">
            <a:avLst/>
          </a:prstGeom>
          <a:solidFill>
            <a:srgbClr val="0A1A29">
              <a:alpha val="93000"/>
            </a:srgbClr>
          </a:solidFill>
          <a:ln w="9525">
            <a:solidFill>
              <a:srgbClr val="E7B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" y="5231765"/>
            <a:ext cx="11430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E7B66D"/>
                </a:solidFill>
                <a:latin typeface="Arial"/>
              </a:rPr>
              <a:t>ФОРМУЛА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1500" y="5197094"/>
            <a:ext cx="53975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F6F8"/>
                </a:solidFill>
                <a:latin typeface="Arial"/>
              </a:rPr>
              <a:t>Идея → комбинация → внедрение → рынок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5766308"/>
            <a:ext cx="6985000" cy="1771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D0DAE4"/>
                </a:solidFill>
                <a:latin typeface="Arial"/>
              </a:rPr>
              <a:t>Это фундаментальная рамка, а не пошаговая инструкция по запуску современного стартапа.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3250" y="6350000"/>
            <a:ext cx="10985500" cy="0"/>
          </a:xfrm>
          <a:prstGeom prst="line">
            <a:avLst/>
          </a:prstGeom>
          <a:ln w="7620">
            <a:solidFill>
              <a:srgbClr val="637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5000" y="6456934"/>
            <a:ext cx="10160000" cy="137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B5C0CC"/>
                </a:solidFill>
                <a:latin typeface="Arial"/>
              </a:rPr>
              <a:t>Современные исследования: Teece (1986); Bailetti (2012); Nambisan (2017).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26750" y="6444996"/>
            <a:ext cx="698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E7B66D"/>
                </a:solidFill>
                <a:latin typeface="Arial"/>
              </a:rPr>
              <a:t>07 / 07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5000" y="6667500"/>
            <a:ext cx="10922000" cy="25400"/>
          </a:xfrm>
          <a:prstGeom prst="roundRect">
            <a:avLst/>
          </a:prstGeom>
          <a:solidFill>
            <a:srgbClr val="445A6D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5000" y="6661150"/>
            <a:ext cx="10922000" cy="38100"/>
          </a:xfrm>
          <a:prstGeom prst="roundRect">
            <a:avLst/>
          </a:prstGeom>
          <a:solidFill>
            <a:srgbClr val="E7B66D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Йозеф Шумпетер: биография, временная линия и вклад в теорию предпринимательства</dc:title>
  <dc:subject>Статическая презентация с редактируемым текстом и 3D-фонами, без анимации</dc:subject>
  <dc:creator>Arena 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