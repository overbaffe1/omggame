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04000" cy="6235700"/>
          </a:xfrm>
          <a:prstGeom prst="rect">
            <a:avLst/>
          </a:prstGeom>
          <a:solidFill>
            <a:srgbClr val="081725">
              <a:alpha val="2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6600" y="596582"/>
            <a:ext cx="7620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2B95F"/>
                </a:solidFill>
                <a:latin typeface="Arial"/>
              </a:rPr>
              <a:t>ЭКОНОМИЧЕСКАЯ ТЕОРИЯ  ·  ИННОВАЦИИ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600" y="1111250"/>
            <a:ext cx="31750" cy="2476500"/>
          </a:xfrm>
          <a:prstGeom prst="roundRect">
            <a:avLst/>
          </a:prstGeom>
          <a:solidFill>
            <a:srgbClr val="F2B95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9799" y="1418590"/>
            <a:ext cx="52070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4F6FA"/>
                </a:solidFill>
                <a:latin typeface="Arial"/>
              </a:rPr>
              <a:t>Йозеф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799" y="2209800"/>
            <a:ext cx="5715000" cy="1016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4F6FA"/>
                </a:solidFill>
                <a:latin typeface="Arial"/>
              </a:rPr>
              <a:t>Шумпетер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3096895"/>
            <a:ext cx="57150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5D8D0"/>
                </a:solidFill>
                <a:latin typeface="Arial"/>
              </a:rPr>
              <a:t>Предприниматель как двигатель перемен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900" y="3550285"/>
            <a:ext cx="57150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3DCE6"/>
                </a:solidFill>
                <a:latin typeface="Arial"/>
              </a:rPr>
              <a:t>1883–1950  ·  экономист  ·  профессор  ·  министр финансов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4445000"/>
            <a:ext cx="4889500" cy="457200"/>
          </a:xfrm>
          <a:prstGeom prst="roundRect">
            <a:avLst/>
          </a:prstGeom>
          <a:solidFill>
            <a:srgbClr val="081725">
              <a:alpha val="82000"/>
            </a:srgbClr>
          </a:solidFill>
          <a:ln w="7620">
            <a:solidFill>
              <a:srgbClr val="536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7600" y="4629150"/>
            <a:ext cx="88900" cy="88900"/>
          </a:xfrm>
          <a:prstGeom prst="ellipse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7150" y="4579620"/>
            <a:ext cx="43815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6FA"/>
                </a:solidFill>
                <a:latin typeface="Arial"/>
              </a:rPr>
              <a:t>Новая комбинация → внедрение → развитие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7521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FD8E2"/>
                </a:solidFill>
                <a:latin typeface="Arial"/>
              </a:rPr>
              <a:t>ОТ МОРАВИИ ДО ГАРВАРДА  ·  ШЕСТЬ СЛАЙДОВ  ·  ОКОЛО 4 МИНУТ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Биография: Oxford Learning Link; основные работы: Schumpeter (1911/12, 1942).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01 / 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" y="6673850"/>
            <a:ext cx="1820333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origi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9400" y="266700"/>
            <a:ext cx="6858000" cy="5715000"/>
          </a:xfrm>
          <a:prstGeom prst="rect">
            <a:avLst/>
          </a:prstGeom>
          <a:solidFill>
            <a:srgbClr val="08172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848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КТО 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86777"/>
            <a:ext cx="6350000" cy="538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F4F6FA"/>
                </a:solidFill>
                <a:latin typeface="Arial"/>
              </a:rPr>
              <a:t>От Моравии — к Гарварду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47469"/>
            <a:ext cx="63500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ED9E5"/>
                </a:solidFill>
                <a:latin typeface="Arial"/>
              </a:rPr>
              <a:t>Экономист, преподаватель и человек практики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4700" y="2000250"/>
            <a:ext cx="0" cy="3117850"/>
          </a:xfrm>
          <a:prstGeom prst="line">
            <a:avLst/>
          </a:prstGeom>
          <a:ln w="12700">
            <a:solidFill>
              <a:srgbClr val="6B82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54050" y="19304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25" y="20107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2B95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100" y="19608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B95F"/>
                </a:solidFill>
                <a:latin typeface="Arial"/>
              </a:rPr>
              <a:t>РОЖДЕНИЕ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4100" y="21739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8 февраля 1883 года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100" y="24384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Тршешть, Моравия — тогда Австро-Венгрия,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100" y="26162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сегодня Чехия.</a:t>
            </a:r>
          </a:p>
        </p:txBody>
      </p:sp>
      <p:sp>
        <p:nvSpPr>
          <p:cNvPr id="15" name="Oval 14"/>
          <p:cNvSpPr/>
          <p:nvPr/>
        </p:nvSpPr>
        <p:spPr>
          <a:xfrm>
            <a:off x="654050" y="30099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25" y="30902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65D8D0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100" y="30403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5D8D0"/>
                </a:solidFill>
                <a:latin typeface="Arial"/>
              </a:rPr>
              <a:t>ОБРАЗОВАНИЕ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100" y="32534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Венский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100" y="35179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Изучал право и экономику; в 1906 году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100" y="36957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получил степень доктора права.</a:t>
            </a:r>
          </a:p>
        </p:txBody>
      </p:sp>
      <p:sp>
        <p:nvSpPr>
          <p:cNvPr id="21" name="Oval 20"/>
          <p:cNvSpPr/>
          <p:nvPr/>
        </p:nvSpPr>
        <p:spPr>
          <a:xfrm>
            <a:off x="654050" y="4089400"/>
            <a:ext cx="241300" cy="241300"/>
          </a:xfrm>
          <a:prstGeom prst="ellipse">
            <a:avLst/>
          </a:prstGeom>
          <a:solidFill>
            <a:srgbClr val="0B1A29">
              <a:alpha val="98000"/>
            </a:srgbClr>
          </a:solidFill>
          <a:ln w="1270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25" y="4169727"/>
            <a:ext cx="285750" cy="132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65D8D0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100" y="4119880"/>
            <a:ext cx="5207000" cy="1625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5D8D0"/>
                </a:solidFill>
                <a:latin typeface="Arial"/>
              </a:rPr>
              <a:t>ЧЕМ ЗАНИМАЛСЯ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100" y="4332922"/>
            <a:ext cx="53975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F6FA"/>
                </a:solidFill>
                <a:latin typeface="Arial"/>
              </a:rPr>
              <a:t>Экономист и профессор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4100" y="45974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Преподавал в Европе и США; был министром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100" y="4775200"/>
            <a:ext cx="539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FD8E2"/>
                </a:solidFill>
                <a:latin typeface="Arial"/>
              </a:rPr>
              <a:t>финансов Австрии (1919) и банкиром (1921–24).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372100"/>
            <a:ext cx="6159500" cy="349250"/>
          </a:xfrm>
          <a:prstGeom prst="roundRect">
            <a:avLst/>
          </a:prstGeom>
          <a:solidFill>
            <a:srgbClr val="0A1A29">
              <a:alpha val="82000"/>
            </a:srgbClr>
          </a:solidFill>
          <a:ln w="6350">
            <a:solidFill>
              <a:srgbClr val="405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350" y="5492115"/>
            <a:ext cx="584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1919  МИНИСТР  →  1921–24  БАНК  →  1932  ГАРВАРД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Источники биографии: Oxford Learning Link; EBSCO Research Starters; Essential Scholars.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02 / 06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000" y="6673850"/>
            <a:ext cx="3640666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ideas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6419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ИСТОРИЯ ИДЕЙ  ·  ОТ ПРЕДЫСТОРИИ ДО XXI ВЕКА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89305"/>
            <a:ext cx="10414000" cy="467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4F6FA"/>
                </a:solidFill>
                <a:latin typeface="Arial"/>
              </a:rPr>
              <a:t>Где Шумпетер в истории предпринимательства?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219517"/>
            <a:ext cx="10414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0DAE4"/>
                </a:solidFill>
                <a:latin typeface="Arial"/>
              </a:rPr>
              <a:t>Он связал ранние идеи риска и организации с инновацией как источником развития.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" y="1651000"/>
            <a:ext cx="1397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9700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7649" y="1758950"/>
            <a:ext cx="1206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АНТИЧНОСТЬ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649" y="1992312"/>
            <a:ext cx="1206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ПРЕДЫСТОРИЯ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649" y="22178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Ксенофонт, Платон,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649" y="23575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Аристотель: хозяйство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649" y="24972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и управление — предыстория,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49" y="2636996"/>
            <a:ext cx="1206500" cy="157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5" b="0">
                <a:solidFill>
                  <a:srgbClr val="F4F6FA"/>
                </a:solidFill>
                <a:latin typeface="Arial"/>
              </a:rPr>
              <a:t>не теория предпринимателя.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82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858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37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32000" y="1651000"/>
            <a:ext cx="168275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32000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39950" y="1758950"/>
            <a:ext cx="149225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1755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39950" y="1992312"/>
            <a:ext cx="149225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КАНТИЛЬОН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950" y="221186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Предприниматель действует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9950" y="235791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при неопределённых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950" y="2503963"/>
            <a:ext cx="149225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ценах и выручке.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702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7178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257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73499" y="1651000"/>
            <a:ext cx="1778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73499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1450" y="1758950"/>
            <a:ext cx="1587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1803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1450" y="1992312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СЭЙ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1450" y="2211863"/>
            <a:ext cx="1587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Организует производство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1450" y="2357913"/>
            <a:ext cx="1587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и соединяет ресурсы.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625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6101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180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15000" y="1651000"/>
            <a:ext cx="2159000" cy="1460500"/>
          </a:xfrm>
          <a:prstGeom prst="roundRect">
            <a:avLst/>
          </a:prstGeom>
          <a:solidFill>
            <a:srgbClr val="0A2030">
              <a:alpha val="94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15000" y="1651000"/>
            <a:ext cx="38100" cy="14605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22950" y="1746885"/>
            <a:ext cx="1968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95F"/>
                </a:solidFill>
                <a:latin typeface="Arial"/>
              </a:rPr>
              <a:t>1911/12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950" y="1992312"/>
            <a:ext cx="1968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5D8D0"/>
                </a:solidFill>
                <a:latin typeface="Arial"/>
              </a:rPr>
              <a:t>ШУМПЕТЕР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2950" y="221186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Осуществляет новые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2950" y="235791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комбинации — источник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2950" y="2503963"/>
            <a:ext cx="19685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экономического развития.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794500" y="3124200"/>
            <a:ext cx="0" cy="2311400"/>
          </a:xfrm>
          <a:prstGeom prst="line">
            <a:avLst/>
          </a:prstGeom>
          <a:ln w="7620">
            <a:solidFill>
              <a:srgbClr val="65D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6421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0050" y="5568950"/>
            <a:ext cx="88900" cy="88900"/>
          </a:xfrm>
          <a:prstGeom prst="ellipse">
            <a:avLst/>
          </a:prstGeom>
          <a:solidFill>
            <a:srgbClr val="65D8D0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32749" y="1651000"/>
            <a:ext cx="17145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32749" y="1651000"/>
            <a:ext cx="38100" cy="14605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40700" y="1758950"/>
            <a:ext cx="1524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B95F"/>
                </a:solidFill>
                <a:latin typeface="Arial"/>
              </a:rPr>
              <a:t>1921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0700" y="1992312"/>
            <a:ext cx="1524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2B95F"/>
                </a:solidFill>
                <a:latin typeface="Arial"/>
              </a:rPr>
              <a:t>НАЙТ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40700" y="2211863"/>
            <a:ext cx="15240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Различает измеримый риск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40700" y="2357913"/>
            <a:ext cx="1524000" cy="167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F4F6FA"/>
                </a:solidFill>
                <a:latin typeface="Arial"/>
              </a:rPr>
              <a:t>и неопределённость.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890000" y="3124200"/>
            <a:ext cx="0" cy="2311400"/>
          </a:xfrm>
          <a:prstGeom prst="line">
            <a:avLst/>
          </a:prstGeom>
          <a:ln w="762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87376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455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842500" y="1651000"/>
            <a:ext cx="2159000" cy="1460500"/>
          </a:xfrm>
          <a:prstGeom prst="roundRect">
            <a:avLst/>
          </a:prstGeom>
          <a:solidFill>
            <a:srgbClr val="081725">
              <a:alpha val="86000"/>
            </a:srgbClr>
          </a:solidFill>
          <a:ln w="8890">
            <a:solidFill>
              <a:srgbClr val="8EA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842500" y="1651000"/>
            <a:ext cx="38100" cy="1460500"/>
          </a:xfrm>
          <a:prstGeom prst="roundRect">
            <a:avLst/>
          </a:prstGeom>
          <a:solidFill>
            <a:srgbClr val="8EAED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50450" y="1758950"/>
            <a:ext cx="1968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EAED7"/>
                </a:solidFill>
                <a:latin typeface="Arial"/>
              </a:rPr>
              <a:t>1947–49+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0450" y="1998345"/>
            <a:ext cx="196850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8EAED7"/>
                </a:solidFill>
                <a:latin typeface="Arial"/>
              </a:rPr>
              <a:t>РАСШИРЕНИЕ ПОЛЯ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0450" y="22239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Майлз Мейс: курс The Management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50450" y="234457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of New Enterprises (HBS, 1947);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0450" y="24652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Harvard Research Center (1948);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0450" y="258587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Explorations in Entrepreneurial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50450" y="2706528"/>
            <a:ext cx="1968500" cy="14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F4F6FA"/>
                </a:solidFill>
                <a:latin typeface="Arial"/>
              </a:rPr>
              <a:t>History starts in 1949.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922000" y="3124200"/>
            <a:ext cx="0" cy="2311400"/>
          </a:xfrm>
          <a:prstGeom prst="line">
            <a:avLst/>
          </a:prstGeom>
          <a:ln w="7620">
            <a:solidFill>
              <a:srgbClr val="8EAE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769600" y="5461000"/>
            <a:ext cx="304800" cy="304800"/>
          </a:xfrm>
          <a:prstGeom prst="ellipse">
            <a:avLst/>
          </a:prstGeom>
          <a:solidFill>
            <a:srgbClr val="081725">
              <a:alpha val="92000"/>
            </a:srgbClr>
          </a:solidFill>
          <a:ln w="14604">
            <a:solidFill>
              <a:srgbClr val="8EAE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877550" y="5568950"/>
            <a:ext cx="88900" cy="88900"/>
          </a:xfrm>
          <a:prstGeom prst="ellipse">
            <a:avLst/>
          </a:prstGeom>
          <a:solidFill>
            <a:srgbClr val="F2B95F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66750" y="5613400"/>
            <a:ext cx="10560050" cy="0"/>
          </a:xfrm>
          <a:prstGeom prst="line">
            <a:avLst/>
          </a:prstGeom>
          <a:ln w="11430">
            <a:solidFill>
              <a:srgbClr val="F2B9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98500" y="5797550"/>
            <a:ext cx="10795000" cy="444500"/>
          </a:xfrm>
          <a:prstGeom prst="roundRect">
            <a:avLst/>
          </a:prstGeom>
          <a:solidFill>
            <a:srgbClr val="071522">
              <a:alpha val="91000"/>
            </a:srgbClr>
          </a:solidFill>
          <a:ln w="6350">
            <a:solidFill>
              <a:srgbClr val="5A7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3600" y="5872797"/>
            <a:ext cx="1041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4F6FA"/>
                </a:solidFill>
                <a:latin typeface="Arial"/>
              </a:rPr>
              <a:t>ПОВОРОТ ШУМПЕТЕРА: новая комбинация становится двигателем развития, когда её осуществляют.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3600" y="6050597"/>
            <a:ext cx="1041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3DDE7"/>
                </a:solidFill>
                <a:latin typeface="Arial"/>
              </a:rPr>
              <a:t>ПОЗЖЕ: Купер · Тис · Байлетти · Намбисан; в России — Земцов · Рубин · Чепуренко.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Опорные точки: Xenophon / Plato / Aristotle (предыстория); Cantillon (1755); Say (1803); Schumpeter (1911/12); Knight (1921); Harvard (1947–49).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03 / 06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35000" y="6673850"/>
            <a:ext cx="5461000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new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6700" y="266700"/>
            <a:ext cx="7175500" cy="5715000"/>
          </a:xfrm>
          <a:prstGeom prst="rect">
            <a:avLst/>
          </a:prstGeom>
          <a:solidFill>
            <a:srgbClr val="081725">
              <a:alpha val="3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6848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ГЛАВНАЯ МЫСЛЬ  ·  1911/12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68680"/>
            <a:ext cx="6858000" cy="568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6FA"/>
                </a:solidFill>
                <a:latin typeface="Arial"/>
              </a:rPr>
              <a:t>Пять новых комбинаций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359535"/>
            <a:ext cx="6794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ED9E4"/>
                </a:solidFill>
                <a:latin typeface="Arial"/>
              </a:rPr>
              <a:t>Предприниматель осуществляет их — вводит новое в экономическую жизнь.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" y="1949450"/>
            <a:ext cx="0" cy="3448050"/>
          </a:xfrm>
          <a:prstGeom prst="line">
            <a:avLst/>
          </a:prstGeom>
          <a:ln w="12700">
            <a:solidFill>
              <a:srgbClr val="5D73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54050" y="19558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225" y="20554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2200" y="1854200"/>
            <a:ext cx="587375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2200" y="185420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7300" y="1961515"/>
            <a:ext cx="54292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ПРОДУКТ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2158682"/>
            <a:ext cx="542925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или новое качество знакомого товара</a:t>
            </a:r>
          </a:p>
        </p:txBody>
      </p:sp>
      <p:sp>
        <p:nvSpPr>
          <p:cNvPr id="15" name="Oval 14"/>
          <p:cNvSpPr/>
          <p:nvPr/>
        </p:nvSpPr>
        <p:spPr>
          <a:xfrm>
            <a:off x="654050" y="266065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25" y="276034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2200" y="2559050"/>
            <a:ext cx="587375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2200" y="255905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7300" y="2666364"/>
            <a:ext cx="54292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СПОСОБ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" y="2863532"/>
            <a:ext cx="542925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производства или коммерческого применения</a:t>
            </a:r>
          </a:p>
        </p:txBody>
      </p:sp>
      <p:sp>
        <p:nvSpPr>
          <p:cNvPr id="21" name="Oval 20"/>
          <p:cNvSpPr/>
          <p:nvPr/>
        </p:nvSpPr>
        <p:spPr>
          <a:xfrm>
            <a:off x="654050" y="33655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225" y="34651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2200" y="3263900"/>
            <a:ext cx="587375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2200" y="3263900"/>
            <a:ext cx="38100" cy="5588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3371215"/>
            <a:ext cx="54292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НОВЫЙ РЫНОК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3568382"/>
            <a:ext cx="542925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куда фирма прежде не выходила</a:t>
            </a:r>
          </a:p>
        </p:txBody>
      </p:sp>
      <p:sp>
        <p:nvSpPr>
          <p:cNvPr id="27" name="Oval 26"/>
          <p:cNvSpPr/>
          <p:nvPr/>
        </p:nvSpPr>
        <p:spPr>
          <a:xfrm>
            <a:off x="654050" y="407035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225" y="417004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2200" y="3968750"/>
            <a:ext cx="587375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2200" y="396875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4076065"/>
            <a:ext cx="54292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НОВЫЙ ИСТОЧНИК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4273232"/>
            <a:ext cx="542925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сырья или промежуточных ресурсов</a:t>
            </a:r>
          </a:p>
        </p:txBody>
      </p:sp>
      <p:sp>
        <p:nvSpPr>
          <p:cNvPr id="33" name="Oval 32"/>
          <p:cNvSpPr/>
          <p:nvPr/>
        </p:nvSpPr>
        <p:spPr>
          <a:xfrm>
            <a:off x="654050" y="4775200"/>
            <a:ext cx="292100" cy="292100"/>
          </a:xfrm>
          <a:prstGeom prst="ellipse">
            <a:avLst/>
          </a:prstGeom>
          <a:solidFill>
            <a:srgbClr val="0B1A29">
              <a:alpha val="98000"/>
            </a:srgbClr>
          </a:solidFill>
          <a:ln w="1143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" y="4874895"/>
            <a:ext cx="285750" cy="142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2B95F"/>
                </a:solidFill>
                <a:latin typeface="Arial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2200" y="4673600"/>
            <a:ext cx="5873750" cy="558800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92200" y="4673600"/>
            <a:ext cx="38100" cy="5588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4780915"/>
            <a:ext cx="54292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НОВАЯ ОРГАНИЗАЦИЯ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4978082"/>
            <a:ext cx="542925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4F6FA"/>
                </a:solidFill>
                <a:latin typeface="Arial"/>
              </a:rPr>
              <a:t>перестройка отрасли, создание или разрушение монополии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Theory of Economic Development, глава II (первое издание 1911/12).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04 / 06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5000" y="6673850"/>
            <a:ext cx="7281333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implementa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4318000"/>
          </a:xfrm>
          <a:prstGeom prst="rect">
            <a:avLst/>
          </a:prstGeom>
          <a:solidFill>
            <a:srgbClr val="06111E">
              <a:alpha val="2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69119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ЧТО ИМЕННО ДЕЛАЕТ ПРЕДПРИНИМАТЕЛЬ?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941069"/>
            <a:ext cx="10795000" cy="447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6FA"/>
                </a:solidFill>
                <a:latin typeface="Arial"/>
              </a:rPr>
              <a:t>Идею нужно не только придумать — её нужно осуществить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66202"/>
            <a:ext cx="104775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0DAE4"/>
                </a:solidFill>
                <a:latin typeface="Arial"/>
              </a:rPr>
              <a:t>У Шумпетера предпринимательская функция — провести новую комбинацию в жизнь.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2300" y="2051049"/>
            <a:ext cx="38100" cy="990599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645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01  ИЗОБРЕТЕНИЕ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5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техническая возможность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45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или знание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7300" y="2444115"/>
            <a:ext cx="444500" cy="38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0375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3750" y="2051049"/>
            <a:ext cx="38100" cy="990599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790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2B95F"/>
                </a:solidFill>
                <a:latin typeface="Arial"/>
              </a:rPr>
              <a:t>02  ПРЕДПРИНИМАТЕЛЬ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790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соединяет ресурсы,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790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организацию и рынок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750" y="2444115"/>
            <a:ext cx="444500" cy="38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85200" y="2051049"/>
            <a:ext cx="2984500" cy="990599"/>
          </a:xfrm>
          <a:prstGeom prst="roundRect">
            <a:avLst/>
          </a:prstGeom>
          <a:solidFill>
            <a:srgbClr val="071522">
              <a:alpha val="88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5200" y="2051049"/>
            <a:ext cx="38100" cy="990599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9350" y="2215515"/>
            <a:ext cx="2667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5D8D0"/>
                </a:solidFill>
                <a:latin typeface="Arial"/>
              </a:rPr>
              <a:t>03  ВНЕДРЕНИЕ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9350" y="2502217"/>
            <a:ext cx="2667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4F6FA"/>
                </a:solidFill>
                <a:latin typeface="Arial"/>
              </a:rPr>
              <a:t>новый продукт или способ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350" y="2717482"/>
            <a:ext cx="26670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FD9E4"/>
                </a:solidFill>
                <a:latin typeface="Arial"/>
              </a:rPr>
              <a:t>входит в хозяйственную жизнь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600" y="5295900"/>
            <a:ext cx="10718800" cy="514350"/>
          </a:xfrm>
          <a:prstGeom prst="roundRect">
            <a:avLst/>
          </a:prstGeom>
          <a:solidFill>
            <a:srgbClr val="071522">
              <a:alpha val="88000"/>
            </a:srgbClr>
          </a:solidFill>
          <a:ln w="7620">
            <a:solidFill>
              <a:srgbClr val="738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750" y="5487035"/>
            <a:ext cx="1035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6FA"/>
                </a:solidFill>
                <a:latin typeface="Arial"/>
              </a:rPr>
              <a:t>Он не обязан быть изобретателем или владельцем капитала: его вклад — организовать и внедрить новое.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Theory of Economic Development — предприниматель осуществляет новые комбинации.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05 / 06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5000" y="6673850"/>
            <a:ext cx="9101666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672147"/>
            <a:ext cx="7620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ВКЛАД В ТЕОРИЮ ПРЕДПРИНИМАТЕЛЬСТВА  ·  1942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2012"/>
            <a:ext cx="82550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4F6FA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347469"/>
            <a:ext cx="8255000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AE4"/>
                </a:solidFill>
                <a:latin typeface="Arial"/>
              </a:rPr>
              <a:t>Новые решения создают рынки — и вытесняют прежние.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69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65D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6900" y="2070100"/>
            <a:ext cx="38100" cy="1371600"/>
          </a:xfrm>
          <a:prstGeom prst="roundRect">
            <a:avLst/>
          </a:prstGeom>
          <a:solidFill>
            <a:srgbClr val="65D8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5D8D0"/>
                </a:solidFill>
                <a:latin typeface="Arial"/>
              </a:rPr>
              <a:t>НОВОЕ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Продукты, фирмы,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рынки и способы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производства.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85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08500" y="2070100"/>
            <a:ext cx="38100" cy="1371600"/>
          </a:xfrm>
          <a:prstGeom prst="roundRect">
            <a:avLst/>
          </a:prstGeom>
          <a:solidFill>
            <a:srgbClr val="F2B95F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17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2B95F"/>
                </a:solidFill>
                <a:latin typeface="Arial"/>
              </a:rPr>
              <a:t>КОНКУРЕНЦИЯ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17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Внедрение меняет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17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правила игры 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17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перераспределяет спрос.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0100" y="2070100"/>
            <a:ext cx="3175000" cy="1371600"/>
          </a:xfrm>
          <a:prstGeom prst="roundRect">
            <a:avLst/>
          </a:prstGeom>
          <a:solidFill>
            <a:srgbClr val="071522">
              <a:alpha val="87000"/>
            </a:srgbClr>
          </a:solidFill>
          <a:ln w="8890">
            <a:solidFill>
              <a:srgbClr val="F0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20100" y="2070100"/>
            <a:ext cx="38100" cy="1371600"/>
          </a:xfrm>
          <a:prstGeom prst="roundRect">
            <a:avLst/>
          </a:prstGeom>
          <a:solidFill>
            <a:srgbClr val="F08A78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3300" y="2260282"/>
            <a:ext cx="2730500" cy="19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08A78"/>
                </a:solidFill>
                <a:latin typeface="Arial"/>
              </a:rPr>
              <a:t>ВЫТЕСНЕНИЕ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3300" y="2547937"/>
            <a:ext cx="27305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6FA"/>
                </a:solidFill>
                <a:latin typeface="Arial"/>
              </a:rPr>
              <a:t>Старые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3300" y="27819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теряют позиции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3300" y="2997835"/>
            <a:ext cx="2730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6FA"/>
                </a:solidFill>
                <a:latin typeface="Arial"/>
              </a:rPr>
              <a:t>или исчезают.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5249" y="2625090"/>
            <a:ext cx="444500" cy="487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2B95F"/>
                </a:solidFill>
                <a:latin typeface="Arial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8750" y="2625090"/>
            <a:ext cx="444500" cy="487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5D8D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" y="4508500"/>
            <a:ext cx="10414000" cy="8001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10160">
            <a:solidFill>
              <a:srgbClr val="F2B9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723447"/>
            <a:ext cx="92075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ЧТО ИЗМЕНИЛ ШУМПЕТЕР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4959985"/>
            <a:ext cx="97155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F6FA"/>
                </a:solidFill>
                <a:latin typeface="Arial"/>
              </a:rPr>
              <a:t>Поставил предпринимателя в центр экономического развития: он осуществляет изменения, а не просто владеет бизнесом.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390515"/>
            <a:ext cx="97155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DE7"/>
                </a:solidFill>
                <a:latin typeface="Arial"/>
              </a:rPr>
              <a:t>Это объяснение динамики капитализма — не гарантия успеха любой инновации и не пошаговый гайд для стартапа.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6985">
            <a:solidFill>
              <a:srgbClr val="738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5000" y="6450012"/>
            <a:ext cx="103505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B6C2CF"/>
                </a:solidFill>
                <a:latin typeface="Arial"/>
              </a:rPr>
              <a:t>Источник: Schumpeter, Capitalism, Socialism and Democracy (1942), глава VII.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437947"/>
            <a:ext cx="635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2B95F"/>
                </a:solidFill>
                <a:latin typeface="Arial"/>
              </a:rPr>
              <a:t>06 / 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5596D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000" y="6673850"/>
            <a:ext cx="10922000" cy="38100"/>
          </a:xfrm>
          <a:prstGeom prst="roundRect">
            <a:avLst/>
          </a:prstGeom>
          <a:solidFill>
            <a:srgbClr val="F2B95F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 — предприниматель и инновации</dc:title>
  <dc:subject>Краткая биография, хронология и вклад в теорию предпринимательства</dc:subject>
  <dc:creator>Arena.ai</dc:creator>
  <cp:keywords>Шумпетер, предпринимательство, инновации, созидательное разрушение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